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học viên là người trực tiếp nói chuyện với người bệnh, nên mục tiêu số 3 quan trọng nhất: nói đúng, không hứa quá.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quan trọng nhất của buổi. Câu phải nhắc lại nhiều lần: đạt ngưỡng tiền MỚI LÀ MỘT NỬA điều kiện. Hỏi cả phòng cách kiểm tra vế 5 năm liên tục tại đơn vị mình.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giải thích trước ba hiểu nhầm lớn nhất, để phần sau không phải dừng lại giải thích từng cái.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đây là cách nên dùng mặc định tại quầy tiếp đón. Cách 2 chỉ dùng khi cần tra độc lập.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Nhiều người không biết có nút này nên vẫn sang màn hình riêng gõ lại từ đầu. Chỉ rõ vị trí trên ảnh.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Thanh địa chỉ trình duyệt tự cập nhật theo thẻ đang tra — sao chép được đường dẫn gửi cho người khác, hoặc F5 để mở lại. Nhưng nhớ: mở lại đường dẫn CŨNG là một lần tra mới trên cổng.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Lỗi nhập ngày sinh thiếu số 0 là lỗi gặp nhiều nhất. Cho học viên gõ thử 1/1/1964 để thấy thông báo.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Dừng lâu ở đây. Dạy học viên thói quen: đọc mốc thời gian TRƯỚC khi nói con số cho người bệnh. Câu mẫu: "Theo số liệu cổng bảo hiểm tính đến ngày …, bác đã cùng chi trả … đồng".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bắt học viên thuộc công thức. Mục tiêu duy nhất: hiểu vì sao con số ngưỡng trên màn hình lại khác 15.180.000, để không cãi nhau với người bệnh hoặc với đồng nghiệp.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cột Mã CSKCB: lũy kế bao gồm cả các đợt khám ở cơ sở khác. Đây là điều người bệnh hay không hiểu và cán bộ cần giải thích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giải quyết hành vi xấu phổ biến nhất: sốt ruột nên bấm đi bấm lại. Giải thích hậu quả thật: tài khoản của cơ sở có thể bị cổng hạn chế tra cứu.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thông báo này chiếm phần lớn số lần gọi hỗ trợ. Nếu học viên thuộc năm dòng này thì phòng CNTT đỡ được rất nhiều.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Dạy học viên chụp màn hình thông báo thay vì mô tả bằng lời. Một ảnh chụp tiết kiệm được cả buổi hỏi đi hỏi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bảng nên in ra dán tại quầy. Nhắc: mỗi lần Nhà nước điều chỉnh lương cơ sở, phòng CNTT phải bổ sung mốc mới vào cấu hình phần mềm.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nên đọc chậm từng dòng. Đây là ranh giới giữa "cung cấp thông tin" và "kết luận quyền lợi" — cán bộ tiếp đón chỉ làm việc thứ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đáng in ra dán ở quầy. Nhấn dòng cuối cột phải: đây là việc hay bị quên và hậu quả là ngưỡng tính sai suốt nhiều tháng.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p:bgPr>
    </p:bg>
    <p:spTree>
      <p:nvGrpSpPr>
        <p:cNvPr id="1" name=""/>
        <p:cNvGrpSpPr/>
        <p:nvPr/>
      </p:nvGrpSpPr>
      <p:grpSpPr>
        <a:xfrm>
          <a:off x="0" y="0"/>
          <a:ext cx="0" cy="0"/>
          <a:chOff x="0" y="0"/>
          <a:chExt cx="0" cy="0"/>
        </a:xfrm>
      </p:grpSpPr>
      <p:sp>
        <p:nvSpPr>
          <p:cNvPr id="2" name="Shape 0"/>
          <p:cNvSpPr/>
          <p:nvPr/>
        </p:nvSpPr>
        <p:spPr>
          <a:xfrm>
            <a:off x="0" y="6355080"/>
            <a:ext cx="12191695" cy="502920"/>
          </a:xfrm>
          <a:prstGeom prst="rect">
            <a:avLst/>
          </a:prstGeom>
          <a:solidFill>
            <a:srgbClr val="0E7C7B"/>
          </a:solidFill>
          <a:ln/>
        </p:spPr>
      </p:sp>
      <p:sp>
        <p:nvSpPr>
          <p:cNvPr id="3" name="Text 1"/>
          <p:cNvSpPr/>
          <p:nvPr/>
        </p:nvSpPr>
        <p:spPr>
          <a:xfrm>
            <a:off x="822960" y="1828800"/>
            <a:ext cx="10545775" cy="1371600"/>
          </a:xfrm>
          <a:prstGeom prst="rect">
            <a:avLst/>
          </a:prstGeom>
          <a:noFill/>
          <a:ln/>
        </p:spPr>
        <p:txBody>
          <a:bodyPr wrap="square" rtlCol="0" anchor="b"/>
          <a:lstStyle/>
          <a:p>
            <a:pPr indent="0" marL="0">
              <a:buNone/>
            </a:pPr>
            <a:r>
              <a:rPr lang="en-US" sz="4000" b="1" dirty="0">
                <a:solidFill>
                  <a:srgbClr val="FFFFFF"/>
                </a:solidFill>
                <a:latin typeface="Arial" pitchFamily="34" charset="0"/>
                <a:ea typeface="Arial" pitchFamily="34" charset="-122"/>
                <a:cs typeface="Arial" pitchFamily="34" charset="-120"/>
              </a:rPr>
              <a:t>Tra cứu tiền cùng chi trả</a:t>
            </a:r>
            <a:endParaRPr lang="en-US" sz="4000" dirty="0"/>
          </a:p>
          <a:p>
            <a:pPr indent="0" marL="0">
              <a:buNone/>
            </a:pPr>
            <a:r>
              <a:rPr lang="en-US" sz="4000" b="1" dirty="0">
                <a:solidFill>
                  <a:srgbClr val="FFFFFF"/>
                </a:solidFill>
                <a:latin typeface="Arial" pitchFamily="34" charset="0"/>
                <a:ea typeface="Arial" pitchFamily="34" charset="-122"/>
                <a:cs typeface="Arial" pitchFamily="34" charset="-120"/>
              </a:rPr>
              <a:t>và miễn cùng chi trả</a:t>
            </a:r>
            <a:endParaRPr lang="en-US" sz="4000" dirty="0"/>
          </a:p>
        </p:txBody>
      </p:sp>
      <p:sp>
        <p:nvSpPr>
          <p:cNvPr id="4" name="Text 2"/>
          <p:cNvSpPr/>
          <p:nvPr/>
        </p:nvSpPr>
        <p:spPr>
          <a:xfrm>
            <a:off x="822960" y="3246120"/>
            <a:ext cx="10545775" cy="548640"/>
          </a:xfrm>
          <a:prstGeom prst="rect">
            <a:avLst/>
          </a:prstGeom>
          <a:noFill/>
          <a:ln/>
        </p:spPr>
        <p:txBody>
          <a:bodyPr wrap="square" rtlCol="0" anchor="ctr"/>
          <a:lstStyle/>
          <a:p>
            <a:pPr indent="0" marL="0">
              <a:buNone/>
            </a:pPr>
            <a:r>
              <a:rPr lang="en-US" sz="2000" dirty="0">
                <a:solidFill>
                  <a:srgbClr val="C9DDF0"/>
                </a:solidFill>
                <a:latin typeface="Arial" pitchFamily="34" charset="0"/>
                <a:ea typeface="Arial" pitchFamily="34" charset="-122"/>
                <a:cs typeface="Arial" pitchFamily="34" charset="-120"/>
              </a:rPr>
              <a:t>Phần mềm quản lý bệnh viện qlbv</a:t>
            </a:r>
            <a:endParaRPr lang="en-US" sz="2000" dirty="0"/>
          </a:p>
        </p:txBody>
      </p:sp>
      <p:sp>
        <p:nvSpPr>
          <p:cNvPr id="5" name="Shape 3"/>
          <p:cNvSpPr/>
          <p:nvPr/>
        </p:nvSpPr>
        <p:spPr>
          <a:xfrm>
            <a:off x="822960" y="3977640"/>
            <a:ext cx="2926080" cy="0"/>
          </a:xfrm>
          <a:prstGeom prst="line">
            <a:avLst/>
          </a:prstGeom>
          <a:noFill/>
          <a:ln w="38100">
            <a:solidFill>
              <a:srgbClr val="0E7C7B"/>
            </a:solidFill>
            <a:prstDash val="solid"/>
          </a:ln>
        </p:spPr>
      </p:sp>
      <p:sp>
        <p:nvSpPr>
          <p:cNvPr id="6" name="Text 4"/>
          <p:cNvSpPr/>
          <p:nvPr/>
        </p:nvSpPr>
        <p:spPr>
          <a:xfrm>
            <a:off x="822960" y="4206240"/>
            <a:ext cx="10545775" cy="45720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Dành cho cán bộ tiếp đón và kế toán viện phí</a:t>
            </a:r>
            <a:endParaRPr lang="en-US" sz="1600" dirty="0"/>
          </a:p>
        </p:txBody>
      </p:sp>
      <p:sp>
        <p:nvSpPr>
          <p:cNvPr id="7" name="Text 5"/>
          <p:cNvSpPr/>
          <p:nvPr/>
        </p:nvSpPr>
        <p:spPr>
          <a:xfrm>
            <a:off x="822960" y="4800600"/>
            <a:ext cx="10545775" cy="822960"/>
          </a:xfrm>
          <a:prstGeom prst="rect">
            <a:avLst/>
          </a:prstGeom>
          <a:noFill/>
          <a:ln/>
        </p:spPr>
        <p:txBody>
          <a:bodyPr wrap="square" rtlCol="0" anchor="ctr"/>
          <a:lstStyle/>
          <a:p>
            <a:pPr indent="0" marL="0">
              <a:lnSpc>
                <a:spcPts val="1800"/>
              </a:lnSpc>
              <a:buNone/>
            </a:pPr>
            <a:r>
              <a:rPr lang="en-US" sz="1200" dirty="0">
                <a:solidFill>
                  <a:srgbClr val="A9C4DC"/>
                </a:solidFill>
                <a:latin typeface="Arial" pitchFamily="34" charset="0"/>
                <a:ea typeface="Arial" pitchFamily="34" charset="-122"/>
                <a:cs typeface="Arial" pitchFamily="34" charset="-120"/>
              </a:rPr>
              <a:t>Thời lượng: 45–60 phút</a:t>
            </a:r>
            <a:endParaRPr lang="en-US" sz="1200" dirty="0"/>
          </a:p>
          <a:p>
            <a:pPr indent="0" marL="0">
              <a:lnSpc>
                <a:spcPts val="1800"/>
              </a:lnSpc>
              <a:buNone/>
            </a:pPr>
            <a:r>
              <a:rPr lang="en-US" sz="1200" dirty="0">
                <a:solidFill>
                  <a:srgbClr val="A9C4DC"/>
                </a:solidFill>
                <a:latin typeface="Arial" pitchFamily="34" charset="0"/>
                <a:ea typeface="Arial" pitchFamily="34" charset="-122"/>
                <a:cs typeface="Arial" pitchFamily="34" charset="-120"/>
              </a:rPr>
              <a:t>Tài liệu gốc: Hướng dẫn sử dụng chức năng tra cứu tiền cùng chi trả (MCCT), phiên bản 2.2 — 15/9/2026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TIÊU</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Sau buổi này, anh/chị làm được gì</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4892040"/>
          </a:xfrm>
          <a:prstGeom prst="rect">
            <a:avLst/>
          </a:prstGeom>
          <a:noFill/>
          <a:ln/>
        </p:spPr>
        <p:txBody>
          <a:bodyPr wrap="square" rtlCol="0" anchor="t"/>
          <a:lstStyle/>
          <a:p>
            <a:pPr marL="342900" indent="-342900">
              <a:lnSpc>
                <a:spcPts val="2400"/>
              </a:lnSpc>
              <a:spcAft>
                <a:spcPts val="200"/>
              </a:spcAft>
              <a:buSzPct val="100000"/>
              <a:buChar char="▪"/>
            </a:pPr>
            <a:r>
              <a:rPr lang="en-US" sz="1600" b="1" dirty="0">
                <a:solidFill>
                  <a:srgbClr val="1A1A1A"/>
                </a:solidFill>
                <a:latin typeface="Arial" pitchFamily="34" charset="0"/>
                <a:ea typeface="Arial" pitchFamily="34" charset="-122"/>
                <a:cs typeface="Arial" pitchFamily="34" charset="-120"/>
              </a:rPr>
              <a:t>Tra được số tiền cùng chi trả lũy kế của một người bệnh bằng hai cách</a:t>
            </a:r>
            <a:endParaRPr lang="en-US" sz="1600" dirty="0"/>
          </a:p>
          <a:p>
            <a:pPr indent="0" marL="0">
              <a:lnSpc>
                <a:spcPts val="2400"/>
              </a:lnSpc>
              <a:spcAft>
                <a:spcPts val="1000"/>
              </a:spcAft>
              <a:buNone/>
            </a:pPr>
            <a:r>
              <a:rPr lang="en-US" sz="1300" dirty="0">
                <a:solidFill>
                  <a:srgbClr val="5A6472"/>
                </a:solidFill>
                <a:latin typeface="Arial" pitchFamily="34" charset="0"/>
                <a:ea typeface="Arial" pitchFamily="34" charset="-122"/>
                <a:cs typeface="Arial" pitchFamily="34" charset="-120"/>
              </a:rPr>
              <a:t>   Ngay trên màn Tra cứu thẻ BHYT, hoặc trên màn hình riêng</a:t>
            </a:r>
            <a:endParaRPr lang="en-US" sz="1600" dirty="0"/>
          </a:p>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Đọc đúng khối kết luận: lũy kế · ngưỡng cả năm · đủ hay còn thiếu bao nhiêu</a:t>
            </a:r>
            <a:endParaRPr lang="en-US" sz="1600" dirty="0"/>
          </a:p>
          <a:p>
            <a:pPr marL="342900" indent="-342900">
              <a:lnSpc>
                <a:spcPts val="2400"/>
              </a:lnSpc>
              <a:spcAft>
                <a:spcPts val="1000"/>
              </a:spcAft>
              <a:buSzPct val="100000"/>
              <a:buChar char="▪"/>
            </a:pPr>
            <a:r>
              <a:rPr lang="en-US" sz="1600" b="1" dirty="0">
                <a:solidFill>
                  <a:srgbClr val="C62828"/>
                </a:solidFill>
                <a:latin typeface="Arial" pitchFamily="34" charset="0"/>
                <a:ea typeface="Arial" pitchFamily="34" charset="-122"/>
                <a:cs typeface="Arial" pitchFamily="34" charset="-120"/>
              </a:rPr>
              <a:t>Trả lời người bệnh CHÍNH XÁC, không hứa quá khi mới chỉ đủ một nửa điều kiện</a:t>
            </a:r>
            <a:endParaRPr lang="en-US" sz="1600" dirty="0"/>
          </a:p>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Giải thích được vì sao con số của cổng có thể chưa bao gồm đợt khám vừa xong</a:t>
            </a:r>
            <a:endParaRPr lang="en-US" sz="1600" dirty="0"/>
          </a:p>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Xử lý được các thông báo hay gặp mà không gọi điện cho công nghệ thông tin</a:t>
            </a:r>
            <a:endParaRPr lang="en-US" sz="1600" dirty="0"/>
          </a:p>
        </p:txBody>
      </p:sp>
      <p:sp>
        <p:nvSpPr>
          <p:cNvPr id="7" name="Text 5"/>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C — Tiếp đón &amp; Viện phí</a:t>
            </a:r>
            <a:endParaRPr lang="en-US" sz="900" dirty="0"/>
          </a:p>
        </p:txBody>
      </p:sp>
      <p:sp>
        <p:nvSpPr>
          <p:cNvPr id="8" name="Text 6"/>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1</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Điều kiện miễn cùng chi trả gồm HAI vế</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Shape 4"/>
          <p:cNvSpPr/>
          <p:nvPr/>
        </p:nvSpPr>
        <p:spPr>
          <a:xfrm>
            <a:off x="566928" y="1325880"/>
            <a:ext cx="5410048" cy="3657600"/>
          </a:xfrm>
          <a:prstGeom prst="rect">
            <a:avLst/>
          </a:prstGeom>
          <a:solidFill>
            <a:srgbClr val="F2F6FA"/>
          </a:solidFill>
          <a:ln w="12700">
            <a:solidFill>
              <a:srgbClr val="D3DAE3"/>
            </a:solidFill>
            <a:prstDash val="solid"/>
          </a:ln>
        </p:spPr>
      </p:sp>
      <p:sp>
        <p:nvSpPr>
          <p:cNvPr id="7" name="Shape 5"/>
          <p:cNvSpPr/>
          <p:nvPr/>
        </p:nvSpPr>
        <p:spPr>
          <a:xfrm>
            <a:off x="566928" y="1325880"/>
            <a:ext cx="5410048" cy="91440"/>
          </a:xfrm>
          <a:prstGeom prst="rect">
            <a:avLst/>
          </a:prstGeom>
          <a:solidFill>
            <a:srgbClr val="B26A00"/>
          </a:solidFill>
          <a:ln w="12700">
            <a:solidFill>
              <a:srgbClr val="B26A00"/>
            </a:solidFill>
            <a:prstDash val="solid"/>
          </a:ln>
        </p:spPr>
      </p:sp>
      <p:sp>
        <p:nvSpPr>
          <p:cNvPr id="8" name="Text 6"/>
          <p:cNvSpPr/>
          <p:nvPr/>
        </p:nvSpPr>
        <p:spPr>
          <a:xfrm>
            <a:off x="768096" y="1600200"/>
            <a:ext cx="5007712" cy="685800"/>
          </a:xfrm>
          <a:prstGeom prst="rect">
            <a:avLst/>
          </a:prstGeom>
          <a:noFill/>
          <a:ln/>
        </p:spPr>
        <p:txBody>
          <a:bodyPr wrap="square" rtlCol="0" anchor="t"/>
          <a:lstStyle/>
          <a:p>
            <a:pPr indent="0" marL="0">
              <a:lnSpc>
                <a:spcPts val="2100"/>
              </a:lnSpc>
              <a:buNone/>
            </a:pPr>
            <a:r>
              <a:rPr lang="en-US" sz="1600" b="1" dirty="0">
                <a:solidFill>
                  <a:srgbClr val="1F4E79"/>
                </a:solidFill>
                <a:latin typeface="Arial" pitchFamily="34" charset="0"/>
                <a:ea typeface="Arial" pitchFamily="34" charset="-122"/>
                <a:cs typeface="Arial" pitchFamily="34" charset="-120"/>
              </a:rPr>
              <a:t>Vế 1 — Tham gia BHYT đủ 5 năm liên tục trở lên</a:t>
            </a:r>
            <a:endParaRPr lang="en-US" sz="1600" dirty="0"/>
          </a:p>
        </p:txBody>
      </p:sp>
      <p:sp>
        <p:nvSpPr>
          <p:cNvPr id="9" name="Text 7"/>
          <p:cNvSpPr/>
          <p:nvPr/>
        </p:nvSpPr>
        <p:spPr>
          <a:xfrm>
            <a:off x="768096" y="2313432"/>
            <a:ext cx="5007712" cy="2468880"/>
          </a:xfrm>
          <a:prstGeom prst="rect">
            <a:avLst/>
          </a:prstGeom>
          <a:noFill/>
          <a:ln/>
        </p:spPr>
        <p:txBody>
          <a:bodyPr wrap="square" rtlCol="0" anchor="t"/>
          <a:lstStyle/>
          <a:p>
            <a:pPr indent="0" marL="0">
              <a:lnSpc>
                <a:spcPts val="1900"/>
              </a:lnSpc>
              <a:buNone/>
            </a:pPr>
            <a:r>
              <a:rPr lang="en-US" sz="1300" dirty="0">
                <a:solidFill>
                  <a:srgbClr val="1A1A1A"/>
                </a:solidFill>
                <a:latin typeface="Arial" pitchFamily="34" charset="0"/>
                <a:ea typeface="Arial" pitchFamily="34" charset="-122"/>
                <a:cs typeface="Arial" pitchFamily="34" charset="-120"/>
              </a:rPr>
              <a:t>PHẦN MỀM KHÔNG KIỂM ĐƯỢC VẾ NÀY.</a:t>
            </a:r>
            <a:endParaRPr lang="en-US" sz="1300" dirty="0"/>
          </a:p>
          <a:p>
            <a:pPr indent="0" marL="0">
              <a:lnSpc>
                <a:spcPts val="1900"/>
              </a:lnSpc>
              <a:buNone/>
            </a:pPr>
            <a:endParaRPr lang="en-US" sz="1300" dirty="0"/>
          </a:p>
          <a:p>
            <a:pPr indent="0" marL="0">
              <a:lnSpc>
                <a:spcPts val="1900"/>
              </a:lnSpc>
              <a:buNone/>
            </a:pPr>
            <a:r>
              <a:rPr lang="en-US" sz="1300" dirty="0">
                <a:solidFill>
                  <a:srgbClr val="1A1A1A"/>
                </a:solidFill>
                <a:latin typeface="Arial" pitchFamily="34" charset="0"/>
                <a:ea typeface="Arial" pitchFamily="34" charset="-122"/>
                <a:cs typeface="Arial" pitchFamily="34" charset="-120"/>
              </a:rPr>
              <a:t>Hàm tra cứu của cổng BHXH không trả về dữ kiện 5 năm liên tục.</a:t>
            </a:r>
            <a:endParaRPr lang="en-US" sz="1300" dirty="0"/>
          </a:p>
          <a:p>
            <a:pPr indent="0" marL="0">
              <a:lnSpc>
                <a:spcPts val="1900"/>
              </a:lnSpc>
              <a:buNone/>
            </a:pPr>
            <a:endParaRPr lang="en-US" sz="1300" dirty="0"/>
          </a:p>
          <a:p>
            <a:pPr indent="0" marL="0">
              <a:lnSpc>
                <a:spcPts val="1900"/>
              </a:lnSpc>
              <a:buNone/>
            </a:pPr>
            <a:r>
              <a:rPr lang="en-US" sz="1300" dirty="0">
                <a:solidFill>
                  <a:srgbClr val="1A1A1A"/>
                </a:solidFill>
                <a:latin typeface="Arial" pitchFamily="34" charset="0"/>
                <a:ea typeface="Arial" pitchFamily="34" charset="-122"/>
                <a:cs typeface="Arial" pitchFamily="34" charset="-120"/>
              </a:rPr>
              <a:t>Cán bộ phải kiểm tra riêng vế này.</a:t>
            </a:r>
            <a:endParaRPr lang="en-US" sz="1300" dirty="0"/>
          </a:p>
        </p:txBody>
      </p:sp>
      <p:sp>
        <p:nvSpPr>
          <p:cNvPr id="10" name="Shape 8"/>
          <p:cNvSpPr/>
          <p:nvPr/>
        </p:nvSpPr>
        <p:spPr>
          <a:xfrm>
            <a:off x="6214720" y="1325880"/>
            <a:ext cx="5410048" cy="3657600"/>
          </a:xfrm>
          <a:prstGeom prst="rect">
            <a:avLst/>
          </a:prstGeom>
          <a:solidFill>
            <a:srgbClr val="F2F6FA"/>
          </a:solidFill>
          <a:ln w="12700">
            <a:solidFill>
              <a:srgbClr val="D3DAE3"/>
            </a:solidFill>
            <a:prstDash val="solid"/>
          </a:ln>
        </p:spPr>
      </p:sp>
      <p:sp>
        <p:nvSpPr>
          <p:cNvPr id="11" name="Shape 9"/>
          <p:cNvSpPr/>
          <p:nvPr/>
        </p:nvSpPr>
        <p:spPr>
          <a:xfrm>
            <a:off x="6214720" y="1325880"/>
            <a:ext cx="5410048" cy="91440"/>
          </a:xfrm>
          <a:prstGeom prst="rect">
            <a:avLst/>
          </a:prstGeom>
          <a:solidFill>
            <a:srgbClr val="2E7D32"/>
          </a:solidFill>
          <a:ln w="12700">
            <a:solidFill>
              <a:srgbClr val="2E7D32"/>
            </a:solidFill>
            <a:prstDash val="solid"/>
          </a:ln>
        </p:spPr>
      </p:sp>
      <p:sp>
        <p:nvSpPr>
          <p:cNvPr id="12" name="Text 10"/>
          <p:cNvSpPr/>
          <p:nvPr/>
        </p:nvSpPr>
        <p:spPr>
          <a:xfrm>
            <a:off x="6415888" y="1600200"/>
            <a:ext cx="5007712" cy="685800"/>
          </a:xfrm>
          <a:prstGeom prst="rect">
            <a:avLst/>
          </a:prstGeom>
          <a:noFill/>
          <a:ln/>
        </p:spPr>
        <p:txBody>
          <a:bodyPr wrap="square" rtlCol="0" anchor="t"/>
          <a:lstStyle/>
          <a:p>
            <a:pPr indent="0" marL="0">
              <a:lnSpc>
                <a:spcPts val="2100"/>
              </a:lnSpc>
              <a:buNone/>
            </a:pPr>
            <a:r>
              <a:rPr lang="en-US" sz="1600" b="1" dirty="0">
                <a:solidFill>
                  <a:srgbClr val="1F4E79"/>
                </a:solidFill>
                <a:latin typeface="Arial" pitchFamily="34" charset="0"/>
                <a:ea typeface="Arial" pitchFamily="34" charset="-122"/>
                <a:cs typeface="Arial" pitchFamily="34" charset="-120"/>
              </a:rPr>
              <a:t>Vế 2 — Lũy kế cùng chi trả trong năm LỚN HƠN 6 tháng lương cơ sở</a:t>
            </a:r>
            <a:endParaRPr lang="en-US" sz="1600" dirty="0"/>
          </a:p>
        </p:txBody>
      </p:sp>
      <p:sp>
        <p:nvSpPr>
          <p:cNvPr id="13" name="Text 11"/>
          <p:cNvSpPr/>
          <p:nvPr/>
        </p:nvSpPr>
        <p:spPr>
          <a:xfrm>
            <a:off x="6415888" y="2313432"/>
            <a:ext cx="5007712" cy="2468880"/>
          </a:xfrm>
          <a:prstGeom prst="rect">
            <a:avLst/>
          </a:prstGeom>
          <a:noFill/>
          <a:ln/>
        </p:spPr>
        <p:txBody>
          <a:bodyPr wrap="square" rtlCol="0" anchor="t"/>
          <a:lstStyle/>
          <a:p>
            <a:pPr indent="0" marL="0">
              <a:lnSpc>
                <a:spcPts val="1900"/>
              </a:lnSpc>
              <a:buNone/>
            </a:pPr>
            <a:r>
              <a:rPr lang="en-US" sz="1300" dirty="0">
                <a:solidFill>
                  <a:srgbClr val="1A1A1A"/>
                </a:solidFill>
                <a:latin typeface="Arial" pitchFamily="34" charset="0"/>
                <a:ea typeface="Arial" pitchFamily="34" charset="-122"/>
                <a:cs typeface="Arial" pitchFamily="34" charset="-120"/>
              </a:rPr>
              <a:t>Đây là vế phần mềm tra được.</a:t>
            </a:r>
            <a:endParaRPr lang="en-US" sz="1300" dirty="0"/>
          </a:p>
          <a:p>
            <a:pPr indent="0" marL="0">
              <a:lnSpc>
                <a:spcPts val="1900"/>
              </a:lnSpc>
              <a:buNone/>
            </a:pPr>
            <a:endParaRPr lang="en-US" sz="1300" dirty="0"/>
          </a:p>
          <a:p>
            <a:pPr indent="0" marL="0">
              <a:lnSpc>
                <a:spcPts val="1900"/>
              </a:lnSpc>
              <a:buNone/>
            </a:pPr>
            <a:r>
              <a:rPr lang="en-US" sz="1300" dirty="0">
                <a:solidFill>
                  <a:srgbClr val="1A1A1A"/>
                </a:solidFill>
                <a:latin typeface="Arial" pitchFamily="34" charset="0"/>
                <a:ea typeface="Arial" pitchFamily="34" charset="-122"/>
                <a:cs typeface="Arial" pitchFamily="34" charset="-120"/>
              </a:rPr>
              <a:t>Bằng đúng mức đó thì CHƯA ĐỦ — phải lớn hơn.</a:t>
            </a:r>
            <a:endParaRPr lang="en-US" sz="1300" dirty="0"/>
          </a:p>
          <a:p>
            <a:pPr indent="0" marL="0">
              <a:lnSpc>
                <a:spcPts val="1900"/>
              </a:lnSpc>
              <a:buNone/>
            </a:pPr>
            <a:endParaRPr lang="en-US" sz="1300" dirty="0"/>
          </a:p>
          <a:p>
            <a:pPr indent="0" marL="0">
              <a:lnSpc>
                <a:spcPts val="1900"/>
              </a:lnSpc>
              <a:buNone/>
            </a:pPr>
            <a:r>
              <a:rPr lang="en-US" sz="1300" dirty="0">
                <a:solidFill>
                  <a:srgbClr val="1A1A1A"/>
                </a:solidFill>
                <a:latin typeface="Arial" pitchFamily="34" charset="0"/>
                <a:ea typeface="Arial" pitchFamily="34" charset="-122"/>
                <a:cs typeface="Arial" pitchFamily="34" charset="-120"/>
              </a:rPr>
              <a:t>Khi đạt, màn hình chỉ ghi "ĐỦ NGƯỠNG 6 THÁNG LƯƠNG CƠ SỞ", không kết luận là đã đủ điều kiện miễn.</a:t>
            </a:r>
            <a:endParaRPr lang="en-US" sz="1300" dirty="0"/>
          </a:p>
        </p:txBody>
      </p:sp>
      <p:sp>
        <p:nvSpPr>
          <p:cNvPr id="14" name="Shape 12"/>
          <p:cNvSpPr/>
          <p:nvPr/>
        </p:nvSpPr>
        <p:spPr>
          <a:xfrm>
            <a:off x="566928" y="5074920"/>
            <a:ext cx="11057839" cy="1051560"/>
          </a:xfrm>
          <a:prstGeom prst="rect">
            <a:avLst/>
          </a:prstGeom>
          <a:solidFill>
            <a:srgbClr val="FFF6E5"/>
          </a:solidFill>
          <a:ln w="12700">
            <a:solidFill>
              <a:srgbClr val="FFF6E5"/>
            </a:solidFill>
            <a:prstDash val="solid"/>
          </a:ln>
        </p:spPr>
      </p:sp>
      <p:sp>
        <p:nvSpPr>
          <p:cNvPr id="15" name="Shape 13"/>
          <p:cNvSpPr/>
          <p:nvPr/>
        </p:nvSpPr>
        <p:spPr>
          <a:xfrm>
            <a:off x="566928" y="5074920"/>
            <a:ext cx="64008" cy="1051560"/>
          </a:xfrm>
          <a:prstGeom prst="rect">
            <a:avLst/>
          </a:prstGeom>
          <a:solidFill>
            <a:srgbClr val="B26A00"/>
          </a:solidFill>
          <a:ln w="12700">
            <a:solidFill>
              <a:srgbClr val="B26A00"/>
            </a:solidFill>
            <a:prstDash val="solid"/>
          </a:ln>
        </p:spPr>
      </p:sp>
      <p:sp>
        <p:nvSpPr>
          <p:cNvPr id="16" name="Text 14"/>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Căn cứ pháp lý: </a:t>
            </a:r>
            <a:pPr indent="0" marL="0">
              <a:lnSpc>
                <a:spcPts val="1900"/>
              </a:lnSpc>
              <a:buNone/>
            </a:pPr>
            <a:r>
              <a:rPr lang="en-US" sz="1300" dirty="0">
                <a:solidFill>
                  <a:srgbClr val="1A1A1A"/>
                </a:solidFill>
                <a:latin typeface="Arial" pitchFamily="34" charset="0"/>
                <a:ea typeface="Arial" pitchFamily="34" charset="-122"/>
                <a:cs typeface="Arial" pitchFamily="34" charset="-120"/>
              </a:rPr>
              <a:t>Điểm b khoản 2 Điều 18 Nghị định số 188/2025/NĐ-CP ngày 01/7/2025 · Công văn số 1839/CNTT-PM ngày 18/8/2026 của Trung tâm Công nghệ thông tin và Chuyển đổi số, Bảo hiểm xã hội Việt Nam.</a:t>
            </a:r>
            <a:endParaRPr lang="en-US" sz="1300" dirty="0"/>
          </a:p>
        </p:txBody>
      </p:sp>
      <p:sp>
        <p:nvSpPr>
          <p:cNvPr id="17" name="Text 15"/>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C — Tiếp đón &amp; Viện phí</a:t>
            </a:r>
            <a:endParaRPr lang="en-US" sz="900" dirty="0"/>
          </a:p>
        </p:txBody>
      </p:sp>
      <p:sp>
        <p:nvSpPr>
          <p:cNvPr id="18" name="Text 16"/>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BỐI CẢNH</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Số liệu đến từ đâu</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A6472"/>
                </a:solidFill>
                <a:latin typeface="Arial" pitchFamily="34" charset="0"/>
                <a:ea typeface="Arial" pitchFamily="34" charset="-122"/>
                <a:cs typeface="Arial" pitchFamily="34" charset="-120"/>
              </a:rPr>
              <a:t>Phần mềm không tự tính số tiền. Nó hỏi cổng BHXH và hiển thị lại đúng những gì cổng trả về.</a:t>
            </a:r>
            <a:endParaRPr lang="en-US" sz="1300" dirty="0"/>
          </a:p>
        </p:txBody>
      </p:sp>
      <p:sp>
        <p:nvSpPr>
          <p:cNvPr id="7" name="Shape 5"/>
          <p:cNvSpPr/>
          <p:nvPr/>
        </p:nvSpPr>
        <p:spPr>
          <a:xfrm>
            <a:off x="566928" y="1783080"/>
            <a:ext cx="2558720" cy="1417320"/>
          </a:xfrm>
          <a:prstGeom prst="roundRect">
            <a:avLst>
              <a:gd name="adj" fmla="val 5161"/>
            </a:avLst>
          </a:prstGeom>
          <a:solidFill>
            <a:srgbClr val="F2F6FA"/>
          </a:solidFill>
          <a:ln w="12700">
            <a:solidFill>
              <a:srgbClr val="D3DAE3"/>
            </a:solidFill>
            <a:prstDash val="solid"/>
          </a:ln>
        </p:spPr>
      </p:sp>
      <p:sp>
        <p:nvSpPr>
          <p:cNvPr id="8" name="Text 6"/>
          <p:cNvSpPr/>
          <p:nvPr/>
        </p:nvSpPr>
        <p:spPr>
          <a:xfrm>
            <a:off x="676656" y="1911096"/>
            <a:ext cx="2339264" cy="457200"/>
          </a:xfrm>
          <a:prstGeom prst="rect">
            <a:avLst/>
          </a:prstGeom>
          <a:noFill/>
          <a:ln/>
        </p:spPr>
        <p:txBody>
          <a:bodyPr wrap="square" rtlCol="0" anchor="ctr"/>
          <a:lstStyle/>
          <a:p>
            <a:pPr algn="ctr" indent="0" marL="0">
              <a:lnSpc>
                <a:spcPts val="1800"/>
              </a:lnSpc>
              <a:buNone/>
            </a:pPr>
            <a:r>
              <a:rPr lang="en-US" sz="1400" b="1" dirty="0">
                <a:solidFill>
                  <a:srgbClr val="1F4E79"/>
                </a:solidFill>
                <a:latin typeface="Arial" pitchFamily="34" charset="0"/>
                <a:ea typeface="Arial" pitchFamily="34" charset="-122"/>
                <a:cs typeface="Arial" pitchFamily="34" charset="-120"/>
              </a:rPr>
              <a:t>Các cơ sở KCB</a:t>
            </a:r>
            <a:endParaRPr lang="en-US" sz="1400" dirty="0"/>
          </a:p>
        </p:txBody>
      </p:sp>
      <p:sp>
        <p:nvSpPr>
          <p:cNvPr id="9" name="Text 7"/>
          <p:cNvSpPr/>
          <p:nvPr/>
        </p:nvSpPr>
        <p:spPr>
          <a:xfrm>
            <a:off x="676656" y="2368296"/>
            <a:ext cx="2339264" cy="704088"/>
          </a:xfrm>
          <a:prstGeom prst="rect">
            <a:avLst/>
          </a:prstGeom>
          <a:noFill/>
          <a:ln/>
        </p:spPr>
        <p:txBody>
          <a:bodyPr wrap="square" rtlCol="0" anchor="t"/>
          <a:lstStyle/>
          <a:p>
            <a:pPr algn="ctr" indent="0" marL="0">
              <a:lnSpc>
                <a:spcPts val="1600"/>
              </a:lnSpc>
              <a:buNone/>
            </a:pPr>
            <a:r>
              <a:rPr lang="en-US" sz="1100" dirty="0">
                <a:solidFill>
                  <a:srgbClr val="5A6472"/>
                </a:solidFill>
                <a:latin typeface="Arial" pitchFamily="34" charset="0"/>
                <a:ea typeface="Arial" pitchFamily="34" charset="-122"/>
                <a:cs typeface="Arial" pitchFamily="34" charset="-120"/>
              </a:rPr>
              <a:t>Gửi hồ sơ đề nghị thanh toán KCB BHYT lên Hệ thống thông tin giám định</a:t>
            </a:r>
            <a:endParaRPr lang="en-US" sz="1100" dirty="0"/>
          </a:p>
        </p:txBody>
      </p:sp>
      <p:sp>
        <p:nvSpPr>
          <p:cNvPr id="10" name="Text 8"/>
          <p:cNvSpPr/>
          <p:nvPr/>
        </p:nvSpPr>
        <p:spPr>
          <a:xfrm>
            <a:off x="3125648" y="2327148"/>
            <a:ext cx="274320" cy="329184"/>
          </a:xfrm>
          <a:prstGeom prst="rect">
            <a:avLst/>
          </a:prstGeom>
          <a:noFill/>
          <a:ln/>
        </p:spPr>
        <p:txBody>
          <a:bodyPr wrap="square" rtlCol="0" anchor="ctr"/>
          <a:lstStyle/>
          <a:p>
            <a:pPr algn="ctr" indent="0" marL="0">
              <a:buNone/>
            </a:pPr>
            <a:r>
              <a:rPr lang="en-US" sz="1400" dirty="0">
                <a:solidFill>
                  <a:srgbClr val="5A6472"/>
                </a:solidFill>
                <a:latin typeface="Arial" pitchFamily="34" charset="0"/>
                <a:ea typeface="Arial" pitchFamily="34" charset="-122"/>
                <a:cs typeface="Arial" pitchFamily="34" charset="-120"/>
              </a:rPr>
              <a:t>▶</a:t>
            </a:r>
            <a:endParaRPr lang="en-US" sz="1400" dirty="0"/>
          </a:p>
        </p:txBody>
      </p:sp>
      <p:sp>
        <p:nvSpPr>
          <p:cNvPr id="11" name="Shape 9"/>
          <p:cNvSpPr/>
          <p:nvPr/>
        </p:nvSpPr>
        <p:spPr>
          <a:xfrm>
            <a:off x="3399968" y="1783080"/>
            <a:ext cx="2558720" cy="1417320"/>
          </a:xfrm>
          <a:prstGeom prst="roundRect">
            <a:avLst>
              <a:gd name="adj" fmla="val 5161"/>
            </a:avLst>
          </a:prstGeom>
          <a:solidFill>
            <a:srgbClr val="1F4E79"/>
          </a:solidFill>
          <a:ln w="12700">
            <a:solidFill>
              <a:srgbClr val="1F4E79"/>
            </a:solidFill>
            <a:prstDash val="solid"/>
          </a:ln>
        </p:spPr>
      </p:sp>
      <p:sp>
        <p:nvSpPr>
          <p:cNvPr id="12" name="Text 10"/>
          <p:cNvSpPr/>
          <p:nvPr/>
        </p:nvSpPr>
        <p:spPr>
          <a:xfrm>
            <a:off x="3509696" y="1911096"/>
            <a:ext cx="2339264" cy="457200"/>
          </a:xfrm>
          <a:prstGeom prst="rect">
            <a:avLst/>
          </a:prstGeom>
          <a:noFill/>
          <a:ln/>
        </p:spPr>
        <p:txBody>
          <a:bodyPr wrap="square" rtlCol="0" anchor="ctr"/>
          <a:lstStyle/>
          <a:p>
            <a:pPr algn="ctr" indent="0" marL="0">
              <a:lnSpc>
                <a:spcPts val="1800"/>
              </a:lnSpc>
              <a:buNone/>
            </a:pPr>
            <a:r>
              <a:rPr lang="en-US" sz="1400" b="1" dirty="0">
                <a:solidFill>
                  <a:srgbClr val="FFFFFF"/>
                </a:solidFill>
                <a:latin typeface="Arial" pitchFamily="34" charset="0"/>
                <a:ea typeface="Arial" pitchFamily="34" charset="-122"/>
                <a:cs typeface="Arial" pitchFamily="34" charset="-120"/>
              </a:rPr>
              <a:t>Cổng BHXH</a:t>
            </a:r>
            <a:endParaRPr lang="en-US" sz="1400" dirty="0"/>
          </a:p>
        </p:txBody>
      </p:sp>
      <p:sp>
        <p:nvSpPr>
          <p:cNvPr id="13" name="Text 11"/>
          <p:cNvSpPr/>
          <p:nvPr/>
        </p:nvSpPr>
        <p:spPr>
          <a:xfrm>
            <a:off x="3509696" y="2368296"/>
            <a:ext cx="2339264" cy="704088"/>
          </a:xfrm>
          <a:prstGeom prst="rect">
            <a:avLst/>
          </a:prstGeom>
          <a:noFill/>
          <a:ln/>
        </p:spPr>
        <p:txBody>
          <a:bodyPr wrap="square" rtlCol="0" anchor="t"/>
          <a:lstStyle/>
          <a:p>
            <a:pPr algn="ctr" indent="0" marL="0">
              <a:lnSpc>
                <a:spcPts val="1600"/>
              </a:lnSpc>
              <a:buNone/>
            </a:pPr>
            <a:r>
              <a:rPr lang="en-US" sz="1100" dirty="0">
                <a:solidFill>
                  <a:srgbClr val="DCE9F5"/>
                </a:solidFill>
                <a:latin typeface="Arial" pitchFamily="34" charset="0"/>
                <a:ea typeface="Arial" pitchFamily="34" charset="-122"/>
                <a:cs typeface="Arial" pitchFamily="34" charset="-120"/>
              </a:rPr>
              <a:t>Cộng dồn tiền cùng chi trả của người bệnh trong năm, từ MỌI cơ sở</a:t>
            </a:r>
            <a:endParaRPr lang="en-US" sz="1100" dirty="0"/>
          </a:p>
        </p:txBody>
      </p:sp>
      <p:sp>
        <p:nvSpPr>
          <p:cNvPr id="14" name="Text 12"/>
          <p:cNvSpPr/>
          <p:nvPr/>
        </p:nvSpPr>
        <p:spPr>
          <a:xfrm>
            <a:off x="5958688" y="2327148"/>
            <a:ext cx="274320" cy="329184"/>
          </a:xfrm>
          <a:prstGeom prst="rect">
            <a:avLst/>
          </a:prstGeom>
          <a:noFill/>
          <a:ln/>
        </p:spPr>
        <p:txBody>
          <a:bodyPr wrap="square" rtlCol="0" anchor="ctr"/>
          <a:lstStyle/>
          <a:p>
            <a:pPr algn="ctr" indent="0" marL="0">
              <a:buNone/>
            </a:pPr>
            <a:r>
              <a:rPr lang="en-US" sz="1400" dirty="0">
                <a:solidFill>
                  <a:srgbClr val="5A6472"/>
                </a:solidFill>
                <a:latin typeface="Arial" pitchFamily="34" charset="0"/>
                <a:ea typeface="Arial" pitchFamily="34" charset="-122"/>
                <a:cs typeface="Arial" pitchFamily="34" charset="-120"/>
              </a:rPr>
              <a:t>▶</a:t>
            </a:r>
            <a:endParaRPr lang="en-US" sz="1400" dirty="0"/>
          </a:p>
        </p:txBody>
      </p:sp>
      <p:sp>
        <p:nvSpPr>
          <p:cNvPr id="15" name="Shape 13"/>
          <p:cNvSpPr/>
          <p:nvPr/>
        </p:nvSpPr>
        <p:spPr>
          <a:xfrm>
            <a:off x="6233008" y="1783080"/>
            <a:ext cx="2558720" cy="1417320"/>
          </a:xfrm>
          <a:prstGeom prst="roundRect">
            <a:avLst>
              <a:gd name="adj" fmla="val 5161"/>
            </a:avLst>
          </a:prstGeom>
          <a:solidFill>
            <a:srgbClr val="0E7C7B"/>
          </a:solidFill>
          <a:ln w="12700">
            <a:solidFill>
              <a:srgbClr val="0E7C7B"/>
            </a:solidFill>
            <a:prstDash val="solid"/>
          </a:ln>
        </p:spPr>
      </p:sp>
      <p:sp>
        <p:nvSpPr>
          <p:cNvPr id="16" name="Text 14"/>
          <p:cNvSpPr/>
          <p:nvPr/>
        </p:nvSpPr>
        <p:spPr>
          <a:xfrm>
            <a:off x="6342736" y="1911096"/>
            <a:ext cx="2339264" cy="457200"/>
          </a:xfrm>
          <a:prstGeom prst="rect">
            <a:avLst/>
          </a:prstGeom>
          <a:noFill/>
          <a:ln/>
        </p:spPr>
        <p:txBody>
          <a:bodyPr wrap="square" rtlCol="0" anchor="ctr"/>
          <a:lstStyle/>
          <a:p>
            <a:pPr algn="ctr" indent="0" marL="0">
              <a:lnSpc>
                <a:spcPts val="1800"/>
              </a:lnSpc>
              <a:buNone/>
            </a:pPr>
            <a:r>
              <a:rPr lang="en-US" sz="1400" b="1" dirty="0">
                <a:solidFill>
                  <a:srgbClr val="FFFFFF"/>
                </a:solidFill>
                <a:latin typeface="Arial" pitchFamily="34" charset="0"/>
                <a:ea typeface="Arial" pitchFamily="34" charset="-122"/>
                <a:cs typeface="Arial" pitchFamily="34" charset="-120"/>
              </a:rPr>
              <a:t>qlbv hỏi cổng</a:t>
            </a:r>
            <a:endParaRPr lang="en-US" sz="1400" dirty="0"/>
          </a:p>
        </p:txBody>
      </p:sp>
      <p:sp>
        <p:nvSpPr>
          <p:cNvPr id="17" name="Text 15"/>
          <p:cNvSpPr/>
          <p:nvPr/>
        </p:nvSpPr>
        <p:spPr>
          <a:xfrm>
            <a:off x="6342736" y="2368296"/>
            <a:ext cx="2339264" cy="704088"/>
          </a:xfrm>
          <a:prstGeom prst="rect">
            <a:avLst/>
          </a:prstGeom>
          <a:noFill/>
          <a:ln/>
        </p:spPr>
        <p:txBody>
          <a:bodyPr wrap="square" rtlCol="0" anchor="t"/>
          <a:lstStyle/>
          <a:p>
            <a:pPr algn="ctr" indent="0" marL="0">
              <a:lnSpc>
                <a:spcPts val="1600"/>
              </a:lnSpc>
              <a:buNone/>
            </a:pPr>
            <a:r>
              <a:rPr lang="en-US" sz="1100" dirty="0">
                <a:solidFill>
                  <a:srgbClr val="DCE9F5"/>
                </a:solidFill>
                <a:latin typeface="Arial" pitchFamily="34" charset="0"/>
                <a:ea typeface="Arial" pitchFamily="34" charset="-122"/>
                <a:cs typeface="Arial" pitchFamily="34" charset="-120"/>
              </a:rPr>
              <a:t>Mỗi lần tra là một lượt gọi thật, lấy số liệu mới nhất cổng đang có</a:t>
            </a:r>
            <a:endParaRPr lang="en-US" sz="1100" dirty="0"/>
          </a:p>
        </p:txBody>
      </p:sp>
      <p:sp>
        <p:nvSpPr>
          <p:cNvPr id="18" name="Text 16"/>
          <p:cNvSpPr/>
          <p:nvPr/>
        </p:nvSpPr>
        <p:spPr>
          <a:xfrm>
            <a:off x="8791727" y="2327148"/>
            <a:ext cx="274320" cy="329184"/>
          </a:xfrm>
          <a:prstGeom prst="rect">
            <a:avLst/>
          </a:prstGeom>
          <a:noFill/>
          <a:ln/>
        </p:spPr>
        <p:txBody>
          <a:bodyPr wrap="square" rtlCol="0" anchor="ctr"/>
          <a:lstStyle/>
          <a:p>
            <a:pPr algn="ctr" indent="0" marL="0">
              <a:buNone/>
            </a:pPr>
            <a:r>
              <a:rPr lang="en-US" sz="1400" dirty="0">
                <a:solidFill>
                  <a:srgbClr val="5A6472"/>
                </a:solidFill>
                <a:latin typeface="Arial" pitchFamily="34" charset="0"/>
                <a:ea typeface="Arial" pitchFamily="34" charset="-122"/>
                <a:cs typeface="Arial" pitchFamily="34" charset="-120"/>
              </a:rPr>
              <a:t>▶</a:t>
            </a:r>
            <a:endParaRPr lang="en-US" sz="1400" dirty="0"/>
          </a:p>
        </p:txBody>
      </p:sp>
      <p:sp>
        <p:nvSpPr>
          <p:cNvPr id="19" name="Shape 17"/>
          <p:cNvSpPr/>
          <p:nvPr/>
        </p:nvSpPr>
        <p:spPr>
          <a:xfrm>
            <a:off x="9066047" y="1783080"/>
            <a:ext cx="2558720" cy="1417320"/>
          </a:xfrm>
          <a:prstGeom prst="roundRect">
            <a:avLst>
              <a:gd name="adj" fmla="val 5161"/>
            </a:avLst>
          </a:prstGeom>
          <a:solidFill>
            <a:srgbClr val="F2F6FA"/>
          </a:solidFill>
          <a:ln w="12700">
            <a:solidFill>
              <a:srgbClr val="D3DAE3"/>
            </a:solidFill>
            <a:prstDash val="solid"/>
          </a:ln>
        </p:spPr>
      </p:sp>
      <p:sp>
        <p:nvSpPr>
          <p:cNvPr id="20" name="Text 18"/>
          <p:cNvSpPr/>
          <p:nvPr/>
        </p:nvSpPr>
        <p:spPr>
          <a:xfrm>
            <a:off x="9175775" y="1911096"/>
            <a:ext cx="2339264" cy="457200"/>
          </a:xfrm>
          <a:prstGeom prst="rect">
            <a:avLst/>
          </a:prstGeom>
          <a:noFill/>
          <a:ln/>
        </p:spPr>
        <p:txBody>
          <a:bodyPr wrap="square" rtlCol="0" anchor="ctr"/>
          <a:lstStyle/>
          <a:p>
            <a:pPr algn="ctr" indent="0" marL="0">
              <a:lnSpc>
                <a:spcPts val="1800"/>
              </a:lnSpc>
              <a:buNone/>
            </a:pPr>
            <a:r>
              <a:rPr lang="en-US" sz="1400" b="1" dirty="0">
                <a:solidFill>
                  <a:srgbClr val="1F4E79"/>
                </a:solidFill>
                <a:latin typeface="Arial" pitchFamily="34" charset="0"/>
                <a:ea typeface="Arial" pitchFamily="34" charset="-122"/>
                <a:cs typeface="Arial" pitchFamily="34" charset="-120"/>
              </a:rPr>
              <a:t>Cán bộ trả lời người bệnh</a:t>
            </a:r>
            <a:endParaRPr lang="en-US" sz="1400" dirty="0"/>
          </a:p>
        </p:txBody>
      </p:sp>
      <p:sp>
        <p:nvSpPr>
          <p:cNvPr id="21" name="Text 19"/>
          <p:cNvSpPr/>
          <p:nvPr/>
        </p:nvSpPr>
        <p:spPr>
          <a:xfrm>
            <a:off x="9175775" y="2368296"/>
            <a:ext cx="2339264" cy="704088"/>
          </a:xfrm>
          <a:prstGeom prst="rect">
            <a:avLst/>
          </a:prstGeom>
          <a:noFill/>
          <a:ln/>
        </p:spPr>
        <p:txBody>
          <a:bodyPr wrap="square" rtlCol="0" anchor="t"/>
          <a:lstStyle/>
          <a:p>
            <a:pPr algn="ctr" indent="0" marL="0">
              <a:lnSpc>
                <a:spcPts val="1600"/>
              </a:lnSpc>
              <a:buNone/>
            </a:pPr>
            <a:r>
              <a:rPr lang="en-US" sz="1100" dirty="0">
                <a:solidFill>
                  <a:srgbClr val="5A6472"/>
                </a:solidFill>
                <a:latin typeface="Arial" pitchFamily="34" charset="0"/>
                <a:ea typeface="Arial" pitchFamily="34" charset="-122"/>
                <a:cs typeface="Arial" pitchFamily="34" charset="-120"/>
              </a:rPr>
              <a:t>Kèm mốc thời gian "tính đến …" và lưu ý về điều kiện 5 năm liên tục</a:t>
            </a:r>
            <a:endParaRPr lang="en-US" sz="1100" dirty="0"/>
          </a:p>
        </p:txBody>
      </p:sp>
      <p:sp>
        <p:nvSpPr>
          <p:cNvPr id="22" name="Text 20"/>
          <p:cNvSpPr/>
          <p:nvPr/>
        </p:nvSpPr>
        <p:spPr>
          <a:xfrm>
            <a:off x="566928" y="3474720"/>
            <a:ext cx="11057839" cy="2770632"/>
          </a:xfrm>
          <a:prstGeom prst="rect">
            <a:avLst/>
          </a:prstGeom>
          <a:noFill/>
          <a:ln/>
        </p:spPr>
        <p:txBody>
          <a:bodyPr wrap="square" rtlCol="0" anchor="t"/>
          <a:lstStyle/>
          <a:p>
            <a:pPr marL="342900" indent="-342900">
              <a:lnSpc>
                <a:spcPts val="1900"/>
              </a:lnSpc>
              <a:spcAft>
                <a:spcPts val="800"/>
              </a:spcAft>
              <a:buSzPct val="100000"/>
              <a:buChar char="▪"/>
            </a:pPr>
            <a:r>
              <a:rPr lang="en-US" sz="1300" dirty="0">
                <a:solidFill>
                  <a:srgbClr val="1A1A1A"/>
                </a:solidFill>
                <a:latin typeface="Arial" pitchFamily="34" charset="0"/>
                <a:ea typeface="Arial" pitchFamily="34" charset="-122"/>
                <a:cs typeface="Arial" pitchFamily="34" charset="-120"/>
              </a:rPr>
              <a:t>Hệ quả 1: đợt khám vừa kết thúc hôm nay thường CHƯA có trong lũy kế, vì cơ sở chưa kịp gửi hồ sơ đề nghị thanh toán.</a:t>
            </a:r>
            <a:endParaRPr lang="en-US" sz="1300" dirty="0"/>
          </a:p>
          <a:p>
            <a:pPr marL="342900" indent="-342900">
              <a:lnSpc>
                <a:spcPts val="1900"/>
              </a:lnSpc>
              <a:spcAft>
                <a:spcPts val="800"/>
              </a:spcAft>
              <a:buSzPct val="100000"/>
              <a:buChar char="▪"/>
            </a:pPr>
            <a:r>
              <a:rPr lang="en-US" sz="1300" dirty="0">
                <a:solidFill>
                  <a:srgbClr val="1A1A1A"/>
                </a:solidFill>
                <a:latin typeface="Arial" pitchFamily="34" charset="0"/>
                <a:ea typeface="Arial" pitchFamily="34" charset="-122"/>
                <a:cs typeface="Arial" pitchFamily="34" charset="-120"/>
              </a:rPr>
              <a:t>Hệ quả 2: lũy kế bao gồm cả các đợt khám ở cơ sở khác — không chỉ riêng bệnh viện mình.</a:t>
            </a:r>
            <a:endParaRPr lang="en-US" sz="1300" dirty="0"/>
          </a:p>
          <a:p>
            <a:pPr marL="342900" indent="-342900">
              <a:lnSpc>
                <a:spcPts val="1900"/>
              </a:lnSpc>
              <a:spcAft>
                <a:spcPts val="800"/>
              </a:spcAft>
              <a:buSzPct val="100000"/>
              <a:buChar char="▪"/>
            </a:pPr>
            <a:r>
              <a:rPr lang="en-US" sz="1300" dirty="0">
                <a:solidFill>
                  <a:srgbClr val="1A1A1A"/>
                </a:solidFill>
                <a:latin typeface="Arial" pitchFamily="34" charset="0"/>
                <a:ea typeface="Arial" pitchFamily="34" charset="-122"/>
                <a:cs typeface="Arial" pitchFamily="34" charset="-120"/>
              </a:rPr>
              <a:t>Hệ quả 3: số liệu có độ trễ, nên luôn phải đọc mốc thời gian trước khi kết luận với người bệnh.</a:t>
            </a:r>
            <a:endParaRPr lang="en-US" sz="1300" dirty="0"/>
          </a:p>
        </p:txBody>
      </p:sp>
      <p:sp>
        <p:nvSpPr>
          <p:cNvPr id="23" name="Text 21"/>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C — Tiếp đón &amp; Viện phí</a:t>
            </a:r>
            <a:endParaRPr lang="en-US" sz="900" dirty="0"/>
          </a:p>
        </p:txBody>
      </p:sp>
      <p:sp>
        <p:nvSpPr>
          <p:cNvPr id="24" name="Text 22"/>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3.1</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Cách 1 — Tra ngay trên màn Tra cứu thẻ BHYT (khuyến nghị)</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A6472"/>
                </a:solidFill>
                <a:latin typeface="Arial" pitchFamily="34" charset="0"/>
                <a:ea typeface="Arial" pitchFamily="34" charset="-122"/>
                <a:cs typeface="Arial" pitchFamily="34" charset="-120"/>
              </a:rPr>
              <a:t>Nhanh nhất khi đang tiếp đón người bệnh, vì thông tin thẻ đã có sẵn, không phải nhập lại.</a:t>
            </a:r>
            <a:endParaRPr lang="en-US" sz="1300" dirty="0"/>
          </a:p>
        </p:txBody>
      </p:sp>
      <p:sp>
        <p:nvSpPr>
          <p:cNvPr id="7" name="Shape 5"/>
          <p:cNvSpPr/>
          <p:nvPr/>
        </p:nvSpPr>
        <p:spPr>
          <a:xfrm>
            <a:off x="566928" y="1709928"/>
            <a:ext cx="11057839" cy="736092"/>
          </a:xfrm>
          <a:prstGeom prst="rect">
            <a:avLst/>
          </a:prstGeom>
          <a:solidFill>
            <a:srgbClr val="F2F6FA"/>
          </a:solidFill>
          <a:ln w="12700">
            <a:solidFill>
              <a:srgbClr val="D3DAE3"/>
            </a:solidFill>
            <a:prstDash val="solid"/>
          </a:ln>
        </p:spPr>
      </p:sp>
      <p:sp>
        <p:nvSpPr>
          <p:cNvPr id="8" name="Shape 6"/>
          <p:cNvSpPr/>
          <p:nvPr/>
        </p:nvSpPr>
        <p:spPr>
          <a:xfrm>
            <a:off x="713232" y="1885950"/>
            <a:ext cx="384048" cy="384048"/>
          </a:xfrm>
          <a:prstGeom prst="ellipse">
            <a:avLst/>
          </a:prstGeom>
          <a:solidFill>
            <a:srgbClr val="1F4E79"/>
          </a:solidFill>
          <a:ln/>
        </p:spPr>
      </p:sp>
      <p:sp>
        <p:nvSpPr>
          <p:cNvPr id="9" name="Text 7"/>
          <p:cNvSpPr/>
          <p:nvPr/>
        </p:nvSpPr>
        <p:spPr>
          <a:xfrm>
            <a:off x="713232" y="188595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0" name="Text 8"/>
          <p:cNvSpPr/>
          <p:nvPr/>
        </p:nvSpPr>
        <p:spPr>
          <a:xfrm>
            <a:off x="1225296" y="1709928"/>
            <a:ext cx="5750076" cy="736092"/>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Vào menu Thẻ BHYT → Tra cứu thẻ BHYT</a:t>
            </a:r>
            <a:endParaRPr lang="en-US" sz="1400" dirty="0"/>
          </a:p>
        </p:txBody>
      </p:sp>
      <p:sp>
        <p:nvSpPr>
          <p:cNvPr id="11" name="Text 9"/>
          <p:cNvSpPr/>
          <p:nvPr/>
        </p:nvSpPr>
        <p:spPr>
          <a:xfrm>
            <a:off x="7085951" y="1709928"/>
            <a:ext cx="4088209" cy="736092"/>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Màn hình tra cứu thẻ hiện ra</a:t>
            </a:r>
            <a:endParaRPr lang="en-US" sz="1200" dirty="0"/>
          </a:p>
        </p:txBody>
      </p:sp>
      <p:sp>
        <p:nvSpPr>
          <p:cNvPr id="12" name="Shape 10"/>
          <p:cNvSpPr/>
          <p:nvPr/>
        </p:nvSpPr>
        <p:spPr>
          <a:xfrm>
            <a:off x="566928" y="2555748"/>
            <a:ext cx="11057839" cy="736092"/>
          </a:xfrm>
          <a:prstGeom prst="rect">
            <a:avLst/>
          </a:prstGeom>
          <a:solidFill>
            <a:srgbClr val="FFFFFF"/>
          </a:solidFill>
          <a:ln w="12700">
            <a:solidFill>
              <a:srgbClr val="D3DAE3"/>
            </a:solidFill>
            <a:prstDash val="solid"/>
          </a:ln>
        </p:spPr>
      </p:sp>
      <p:sp>
        <p:nvSpPr>
          <p:cNvPr id="13" name="Shape 11"/>
          <p:cNvSpPr/>
          <p:nvPr/>
        </p:nvSpPr>
        <p:spPr>
          <a:xfrm>
            <a:off x="713232" y="2731770"/>
            <a:ext cx="384048" cy="384048"/>
          </a:xfrm>
          <a:prstGeom prst="ellipse">
            <a:avLst/>
          </a:prstGeom>
          <a:solidFill>
            <a:srgbClr val="1F4E79"/>
          </a:solidFill>
          <a:ln/>
        </p:spPr>
      </p:sp>
      <p:sp>
        <p:nvSpPr>
          <p:cNvPr id="14" name="Text 12"/>
          <p:cNvSpPr/>
          <p:nvPr/>
        </p:nvSpPr>
        <p:spPr>
          <a:xfrm>
            <a:off x="713232" y="273177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3"/>
          <p:cNvSpPr/>
          <p:nvPr/>
        </p:nvSpPr>
        <p:spPr>
          <a:xfrm>
            <a:off x="1225296" y="2555748"/>
            <a:ext cx="5750076" cy="736092"/>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Chọn cơ sở KCB, nhập mã thẻ BHYT/CCCD, họ tên, ngày sinh rồi bấm Tra cứu</a:t>
            </a:r>
            <a:endParaRPr lang="en-US" sz="1400" dirty="0"/>
          </a:p>
        </p:txBody>
      </p:sp>
      <p:sp>
        <p:nvSpPr>
          <p:cNvPr id="16" name="Text 14"/>
          <p:cNvSpPr/>
          <p:nvPr/>
        </p:nvSpPr>
        <p:spPr>
          <a:xfrm>
            <a:off x="7085951" y="2555748"/>
            <a:ext cx="4088209" cy="736092"/>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Kết quả tra thẻ hiện ra</a:t>
            </a:r>
            <a:endParaRPr lang="en-US" sz="1200" dirty="0"/>
          </a:p>
        </p:txBody>
      </p:sp>
      <p:sp>
        <p:nvSpPr>
          <p:cNvPr id="17" name="Shape 15"/>
          <p:cNvSpPr/>
          <p:nvPr/>
        </p:nvSpPr>
        <p:spPr>
          <a:xfrm>
            <a:off x="566928" y="3401568"/>
            <a:ext cx="11057839" cy="736092"/>
          </a:xfrm>
          <a:prstGeom prst="rect">
            <a:avLst/>
          </a:prstGeom>
          <a:solidFill>
            <a:srgbClr val="F2F6FA"/>
          </a:solidFill>
          <a:ln w="12700">
            <a:solidFill>
              <a:srgbClr val="D3DAE3"/>
            </a:solidFill>
            <a:prstDash val="solid"/>
          </a:ln>
        </p:spPr>
      </p:sp>
      <p:sp>
        <p:nvSpPr>
          <p:cNvPr id="18" name="Shape 16"/>
          <p:cNvSpPr/>
          <p:nvPr/>
        </p:nvSpPr>
        <p:spPr>
          <a:xfrm>
            <a:off x="713232" y="3577590"/>
            <a:ext cx="384048" cy="384048"/>
          </a:xfrm>
          <a:prstGeom prst="ellipse">
            <a:avLst/>
          </a:prstGeom>
          <a:solidFill>
            <a:srgbClr val="1F4E79"/>
          </a:solidFill>
          <a:ln/>
        </p:spPr>
      </p:sp>
      <p:sp>
        <p:nvSpPr>
          <p:cNvPr id="19" name="Text 17"/>
          <p:cNvSpPr/>
          <p:nvPr/>
        </p:nvSpPr>
        <p:spPr>
          <a:xfrm>
            <a:off x="713232" y="357759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8"/>
          <p:cNvSpPr/>
          <p:nvPr/>
        </p:nvSpPr>
        <p:spPr>
          <a:xfrm>
            <a:off x="1225296" y="3401568"/>
            <a:ext cx="5750076" cy="736092"/>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Khi tra thẻ THÀNH CÔNG, nút "Tra tiền cùng chi trả" (màu xanh lá) hiện ra cạnh nút Tra cứu. Bấm vào đó</a:t>
            </a:r>
            <a:endParaRPr lang="en-US" sz="1400" dirty="0"/>
          </a:p>
        </p:txBody>
      </p:sp>
      <p:sp>
        <p:nvSpPr>
          <p:cNvPr id="21" name="Text 19"/>
          <p:cNvSpPr/>
          <p:nvPr/>
        </p:nvSpPr>
        <p:spPr>
          <a:xfrm>
            <a:off x="7085951" y="3401568"/>
            <a:ext cx="4088209" cy="736092"/>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Một cửa sổ hiện lên và bắt đầu hỏi cổng BHXH</a:t>
            </a:r>
            <a:endParaRPr lang="en-US" sz="1200" dirty="0"/>
          </a:p>
        </p:txBody>
      </p:sp>
      <p:sp>
        <p:nvSpPr>
          <p:cNvPr id="22" name="Shape 20"/>
          <p:cNvSpPr/>
          <p:nvPr/>
        </p:nvSpPr>
        <p:spPr>
          <a:xfrm>
            <a:off x="566928" y="4247388"/>
            <a:ext cx="11057839" cy="736092"/>
          </a:xfrm>
          <a:prstGeom prst="rect">
            <a:avLst/>
          </a:prstGeom>
          <a:solidFill>
            <a:srgbClr val="FFFFFF"/>
          </a:solidFill>
          <a:ln w="12700">
            <a:solidFill>
              <a:srgbClr val="D3DAE3"/>
            </a:solidFill>
            <a:prstDash val="solid"/>
          </a:ln>
        </p:spPr>
      </p:sp>
      <p:sp>
        <p:nvSpPr>
          <p:cNvPr id="23" name="Shape 21"/>
          <p:cNvSpPr/>
          <p:nvPr/>
        </p:nvSpPr>
        <p:spPr>
          <a:xfrm>
            <a:off x="713232" y="4423410"/>
            <a:ext cx="384048" cy="384048"/>
          </a:xfrm>
          <a:prstGeom prst="ellipse">
            <a:avLst/>
          </a:prstGeom>
          <a:solidFill>
            <a:srgbClr val="1F4E79"/>
          </a:solidFill>
          <a:ln/>
        </p:spPr>
      </p:sp>
      <p:sp>
        <p:nvSpPr>
          <p:cNvPr id="24" name="Text 22"/>
          <p:cNvSpPr/>
          <p:nvPr/>
        </p:nvSpPr>
        <p:spPr>
          <a:xfrm>
            <a:off x="713232" y="442341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5" name="Text 23"/>
          <p:cNvSpPr/>
          <p:nvPr/>
        </p:nvSpPr>
        <p:spPr>
          <a:xfrm>
            <a:off x="1225296" y="4247388"/>
            <a:ext cx="5750076" cy="736092"/>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Chờ cho tới khi có kết quả</a:t>
            </a:r>
            <a:endParaRPr lang="en-US" sz="1400" dirty="0"/>
          </a:p>
        </p:txBody>
      </p:sp>
      <p:sp>
        <p:nvSpPr>
          <p:cNvPr id="26" name="Text 24"/>
          <p:cNvSpPr/>
          <p:nvPr/>
        </p:nvSpPr>
        <p:spPr>
          <a:xfrm>
            <a:off x="7085951" y="4247388"/>
            <a:ext cx="4088209" cy="736092"/>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Đồng hồ đếm giây chạy trong lúc chờ — xem mục về thời gian chờ</a:t>
            </a:r>
            <a:endParaRPr lang="en-US" sz="1200" dirty="0"/>
          </a:p>
        </p:txBody>
      </p:sp>
      <p:sp>
        <p:nvSpPr>
          <p:cNvPr id="27" name="Shape 25"/>
          <p:cNvSpPr/>
          <p:nvPr/>
        </p:nvSpPr>
        <p:spPr>
          <a:xfrm>
            <a:off x="566928" y="5074920"/>
            <a:ext cx="11057839" cy="1051560"/>
          </a:xfrm>
          <a:prstGeom prst="rect">
            <a:avLst/>
          </a:prstGeom>
          <a:solidFill>
            <a:srgbClr val="FFF6E5"/>
          </a:solidFill>
          <a:ln w="12700">
            <a:solidFill>
              <a:srgbClr val="FFF6E5"/>
            </a:solidFill>
            <a:prstDash val="solid"/>
          </a:ln>
        </p:spPr>
      </p:sp>
      <p:sp>
        <p:nvSpPr>
          <p:cNvPr id="28" name="Shape 26"/>
          <p:cNvSpPr/>
          <p:nvPr/>
        </p:nvSpPr>
        <p:spPr>
          <a:xfrm>
            <a:off x="566928" y="5074920"/>
            <a:ext cx="64008" cy="1051560"/>
          </a:xfrm>
          <a:prstGeom prst="rect">
            <a:avLst/>
          </a:prstGeom>
          <a:solidFill>
            <a:srgbClr val="B26A00"/>
          </a:solidFill>
          <a:ln w="12700">
            <a:solidFill>
              <a:srgbClr val="B26A00"/>
            </a:solidFill>
            <a:prstDash val="solid"/>
          </a:ln>
        </p:spPr>
      </p:sp>
      <p:sp>
        <p:nvSpPr>
          <p:cNvPr id="29" name="Text 27"/>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Nút chỉ xuất hiện khi tra thẻ thành công: </a:t>
            </a:r>
            <a:pPr indent="0" marL="0">
              <a:lnSpc>
                <a:spcPts val="1900"/>
              </a:lnSpc>
              <a:buNone/>
            </a:pPr>
            <a:r>
              <a:rPr lang="en-US" sz="1300" dirty="0">
                <a:solidFill>
                  <a:srgbClr val="1A1A1A"/>
                </a:solidFill>
                <a:latin typeface="Arial" pitchFamily="34" charset="0"/>
                <a:ea typeface="Arial" pitchFamily="34" charset="-122"/>
                <a:cs typeface="Arial" pitchFamily="34" charset="-120"/>
              </a:rPr>
              <a:t>Nếu tra thẻ báo lỗi hoặc không tìm thấy thẻ thì nút không hiện, vì khi đó thông tin thẻ chưa đủ tin cậy để tra tiếp. Đây không phải lỗi hiển thị.</a:t>
            </a:r>
            <a:endParaRPr lang="en-US" sz="1300" dirty="0"/>
          </a:p>
        </p:txBody>
      </p:sp>
      <p:sp>
        <p:nvSpPr>
          <p:cNvPr id="30" name="Text 28"/>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C — Tiếp đón &amp; Viện phí</a:t>
            </a:r>
            <a:endParaRPr lang="en-US" sz="900" dirty="0"/>
          </a:p>
        </p:txBody>
      </p:sp>
      <p:sp>
        <p:nvSpPr>
          <p:cNvPr id="31" name="Text 29"/>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3.1</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Nút "Tra tiền cùng chi trả" nằm ở đâu</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Shape 4"/>
          <p:cNvSpPr/>
          <p:nvPr/>
        </p:nvSpPr>
        <p:spPr>
          <a:xfrm>
            <a:off x="566928" y="1325880"/>
            <a:ext cx="6634704" cy="4800600"/>
          </a:xfrm>
          <a:prstGeom prst="rect">
            <a:avLst/>
          </a:prstGeom>
          <a:solidFill>
            <a:srgbClr val="F2F6FA"/>
          </a:solidFill>
          <a:ln w="15875">
            <a:solidFill>
              <a:srgbClr val="5A6472"/>
            </a:solidFill>
            <a:prstDash val="dash"/>
          </a:ln>
        </p:spPr>
      </p:sp>
      <p:sp>
        <p:nvSpPr>
          <p:cNvPr id="7" name="Text 5"/>
          <p:cNvSpPr/>
          <p:nvPr/>
        </p:nvSpPr>
        <p:spPr>
          <a:xfrm>
            <a:off x="841248" y="1325880"/>
            <a:ext cx="6086064" cy="4800600"/>
          </a:xfrm>
          <a:prstGeom prst="rect">
            <a:avLst/>
          </a:prstGeom>
          <a:noFill/>
          <a:ln/>
        </p:spPr>
        <p:txBody>
          <a:bodyPr wrap="square" rtlCol="0" anchor="ctr"/>
          <a:lstStyle/>
          <a:p>
            <a:pPr algn="ctr" indent="0" marL="0">
              <a:lnSpc>
                <a:spcPts val="2000"/>
              </a:lnSpc>
              <a:buNone/>
            </a:pPr>
            <a:r>
              <a:rPr lang="en-US" sz="1500" b="1" dirty="0">
                <a:solidFill>
                  <a:srgbClr val="1F4E79"/>
                </a:solidFill>
                <a:latin typeface="Arial" pitchFamily="34" charset="0"/>
                <a:ea typeface="Arial" pitchFamily="34" charset="-122"/>
                <a:cs typeface="Arial" pitchFamily="34" charset="-120"/>
              </a:rPr>
              <a:t>[Ảnh 6]</a:t>
            </a:r>
            <a:endParaRPr lang="en-US" sz="1500" dirty="0"/>
          </a:p>
          <a:p>
            <a:pPr algn="ctr" indent="0" marL="0">
              <a:lnSpc>
                <a:spcPts val="2000"/>
              </a:lnSpc>
              <a:buNone/>
            </a:pPr>
            <a:r>
              <a:rPr lang="en-US" sz="1300" dirty="0">
                <a:solidFill>
                  <a:srgbClr val="5A6472"/>
                </a:solidFill>
                <a:latin typeface="Arial" pitchFamily="34" charset="0"/>
                <a:ea typeface="Arial" pitchFamily="34" charset="-122"/>
                <a:cs typeface="Arial" pitchFamily="34" charset="-120"/>
              </a:rPr>
              <a:t>Màn Thẻ BHYT → Tra cứu thẻ BHYT SAU KHI tra thẻ thành công.</a:t>
            </a:r>
            <a:endParaRPr lang="en-US" sz="1500" dirty="0"/>
          </a:p>
          <a:p>
            <a:pPr algn="ctr" indent="0" marL="0">
              <a:lnSpc>
                <a:spcPts val="2000"/>
              </a:lnSpc>
              <a:buNone/>
            </a:pPr>
            <a:r>
              <a:rPr lang="en-US" sz="1300" dirty="0">
                <a:solidFill>
                  <a:srgbClr val="5A6472"/>
                </a:solidFill>
                <a:latin typeface="Arial" pitchFamily="34" charset="0"/>
                <a:ea typeface="Arial" pitchFamily="34" charset="-122"/>
                <a:cs typeface="Arial" pitchFamily="34" charset="-120"/>
              </a:rPr>
              <a:t>Chụp cận khu vực hai nút: nút Tra cứu và nút Tra tiền cùng chi trả màu xanh lá ngay bên cạnh.</a:t>
            </a:r>
            <a:endParaRPr lang="en-US" sz="1500" dirty="0"/>
          </a:p>
        </p:txBody>
      </p:sp>
      <p:sp>
        <p:nvSpPr>
          <p:cNvPr id="8" name="Text 6"/>
          <p:cNvSpPr/>
          <p:nvPr/>
        </p:nvSpPr>
        <p:spPr>
          <a:xfrm>
            <a:off x="7475952" y="1325880"/>
            <a:ext cx="4148816" cy="4800600"/>
          </a:xfrm>
          <a:prstGeom prst="rect">
            <a:avLst/>
          </a:prstGeom>
          <a:noFill/>
          <a:ln/>
        </p:spPr>
        <p:txBody>
          <a:bodyPr wrap="square" rtlCol="0" anchor="t"/>
          <a:lstStyle/>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Nút chỉ hiện khi tra thẻ THÀNH CÔNG</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Tra thẻ lỗi hoặc không tìm thấy thẻ → nút không hiện, đây không phải lỗi hiển thị</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Bấm nút mở một cửa sổ riêng và bắt đầu hỏi cổng BHXH ngay</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Không phải nhập lại mã thẻ, họ tên, ngày sinh — đã lấy từ lần tra thẻ</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Đây là cách nên dùng mặc định khi đang tiếp đón người bệnh</a:t>
            </a:r>
            <a:endParaRPr lang="en-US" sz="1300" dirty="0"/>
          </a:p>
        </p:txBody>
      </p:sp>
      <p:sp>
        <p:nvSpPr>
          <p:cNvPr id="9" name="Text 7"/>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C — Tiếp đón &amp; Viện phí</a:t>
            </a:r>
            <a:endParaRPr lang="en-US" sz="900" dirty="0"/>
          </a:p>
        </p:txBody>
      </p:sp>
      <p:sp>
        <p:nvSpPr>
          <p:cNvPr id="10" name="Text 8"/>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3.2</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Cách 2 — Tra trên màn hình riêng</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A6472"/>
                </a:solidFill>
                <a:latin typeface="Arial" pitchFamily="34" charset="0"/>
                <a:ea typeface="Arial" pitchFamily="34" charset="-122"/>
                <a:cs typeface="Arial" pitchFamily="34" charset="-120"/>
              </a:rPr>
              <a:t>Dùng khi cần tra độc lập, không đi từ màn tra cứu thẻ.</a:t>
            </a:r>
            <a:endParaRPr lang="en-US" sz="1300" dirty="0"/>
          </a:p>
        </p:txBody>
      </p:sp>
      <p:sp>
        <p:nvSpPr>
          <p:cNvPr id="7" name="Shape 5"/>
          <p:cNvSpPr/>
          <p:nvPr/>
        </p:nvSpPr>
        <p:spPr>
          <a:xfrm>
            <a:off x="566928" y="1709928"/>
            <a:ext cx="11057839" cy="566928"/>
          </a:xfrm>
          <a:prstGeom prst="rect">
            <a:avLst/>
          </a:prstGeom>
          <a:solidFill>
            <a:srgbClr val="F2F6FA"/>
          </a:solidFill>
          <a:ln w="12700">
            <a:solidFill>
              <a:srgbClr val="D3DAE3"/>
            </a:solidFill>
            <a:prstDash val="solid"/>
          </a:ln>
        </p:spPr>
      </p:sp>
      <p:sp>
        <p:nvSpPr>
          <p:cNvPr id="8" name="Shape 6"/>
          <p:cNvSpPr/>
          <p:nvPr/>
        </p:nvSpPr>
        <p:spPr>
          <a:xfrm>
            <a:off x="713232" y="1801368"/>
            <a:ext cx="384048" cy="384048"/>
          </a:xfrm>
          <a:prstGeom prst="ellipse">
            <a:avLst/>
          </a:prstGeom>
          <a:solidFill>
            <a:srgbClr val="1F4E79"/>
          </a:solidFill>
          <a:ln/>
        </p:spPr>
      </p:sp>
      <p:sp>
        <p:nvSpPr>
          <p:cNvPr id="9" name="Text 7"/>
          <p:cNvSpPr/>
          <p:nvPr/>
        </p:nvSpPr>
        <p:spPr>
          <a:xfrm>
            <a:off x="713232" y="1801368"/>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0" name="Text 8"/>
          <p:cNvSpPr/>
          <p:nvPr/>
        </p:nvSpPr>
        <p:spPr>
          <a:xfrm>
            <a:off x="1225296" y="1709928"/>
            <a:ext cx="5750076" cy="56692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Vào menu Thẻ BHYT → Tra cứu tiền cùng chi trả</a:t>
            </a:r>
            <a:endParaRPr lang="en-US" sz="1400" dirty="0"/>
          </a:p>
        </p:txBody>
      </p:sp>
      <p:sp>
        <p:nvSpPr>
          <p:cNvPr id="11" name="Text 9"/>
          <p:cNvSpPr/>
          <p:nvPr/>
        </p:nvSpPr>
        <p:spPr>
          <a:xfrm>
            <a:off x="7085951" y="1709928"/>
            <a:ext cx="4088209" cy="56692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Hàng trên là ô Quét QR; hàng dưới là Cơ sở KCB, Mã thẻ/CCCD, Họ và tên, Ngày sinh và nút Tra cứu</a:t>
            </a:r>
            <a:endParaRPr lang="en-US" sz="1200" dirty="0"/>
          </a:p>
        </p:txBody>
      </p:sp>
      <p:sp>
        <p:nvSpPr>
          <p:cNvPr id="12" name="Shape 10"/>
          <p:cNvSpPr/>
          <p:nvPr/>
        </p:nvSpPr>
        <p:spPr>
          <a:xfrm>
            <a:off x="566928" y="2386584"/>
            <a:ext cx="11057839" cy="566928"/>
          </a:xfrm>
          <a:prstGeom prst="rect">
            <a:avLst/>
          </a:prstGeom>
          <a:solidFill>
            <a:srgbClr val="FFFFFF"/>
          </a:solidFill>
          <a:ln w="12700">
            <a:solidFill>
              <a:srgbClr val="D3DAE3"/>
            </a:solidFill>
            <a:prstDash val="solid"/>
          </a:ln>
        </p:spPr>
      </p:sp>
      <p:sp>
        <p:nvSpPr>
          <p:cNvPr id="13" name="Shape 11"/>
          <p:cNvSpPr/>
          <p:nvPr/>
        </p:nvSpPr>
        <p:spPr>
          <a:xfrm>
            <a:off x="713232" y="2478024"/>
            <a:ext cx="384048" cy="384048"/>
          </a:xfrm>
          <a:prstGeom prst="ellipse">
            <a:avLst/>
          </a:prstGeom>
          <a:solidFill>
            <a:srgbClr val="1F4E79"/>
          </a:solidFill>
          <a:ln/>
        </p:spPr>
      </p:sp>
      <p:sp>
        <p:nvSpPr>
          <p:cNvPr id="14" name="Text 12"/>
          <p:cNvSpPr/>
          <p:nvPr/>
        </p:nvSpPr>
        <p:spPr>
          <a:xfrm>
            <a:off x="713232" y="2478024"/>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3"/>
          <p:cNvSpPr/>
          <p:nvPr/>
        </p:nvSpPr>
        <p:spPr>
          <a:xfrm>
            <a:off x="1225296" y="2386584"/>
            <a:ext cx="5750076" cy="56692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Kiểm tra ô Cơ sở KCB — thông thường ô này đã được chọn sẵn</a:t>
            </a:r>
            <a:endParaRPr lang="en-US" sz="1400" dirty="0"/>
          </a:p>
        </p:txBody>
      </p:sp>
      <p:sp>
        <p:nvSpPr>
          <p:cNvPr id="16" name="Text 14"/>
          <p:cNvSpPr/>
          <p:nvPr/>
        </p:nvSpPr>
        <p:spPr>
          <a:xfrm>
            <a:off x="7085951" y="2386584"/>
            <a:ext cx="4088209" cy="56692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Phần mềm ghi nhớ lựa chọn từ lần trước</a:t>
            </a:r>
            <a:endParaRPr lang="en-US" sz="1200" dirty="0"/>
          </a:p>
        </p:txBody>
      </p:sp>
      <p:sp>
        <p:nvSpPr>
          <p:cNvPr id="17" name="Shape 15"/>
          <p:cNvSpPr/>
          <p:nvPr/>
        </p:nvSpPr>
        <p:spPr>
          <a:xfrm>
            <a:off x="566928" y="3063240"/>
            <a:ext cx="11057839" cy="566928"/>
          </a:xfrm>
          <a:prstGeom prst="rect">
            <a:avLst/>
          </a:prstGeom>
          <a:solidFill>
            <a:srgbClr val="F2F6FA"/>
          </a:solidFill>
          <a:ln w="12700">
            <a:solidFill>
              <a:srgbClr val="D3DAE3"/>
            </a:solidFill>
            <a:prstDash val="solid"/>
          </a:ln>
        </p:spPr>
      </p:sp>
      <p:sp>
        <p:nvSpPr>
          <p:cNvPr id="18" name="Shape 16"/>
          <p:cNvSpPr/>
          <p:nvPr/>
        </p:nvSpPr>
        <p:spPr>
          <a:xfrm>
            <a:off x="713232" y="3154680"/>
            <a:ext cx="384048" cy="384048"/>
          </a:xfrm>
          <a:prstGeom prst="ellipse">
            <a:avLst/>
          </a:prstGeom>
          <a:solidFill>
            <a:srgbClr val="1F4E79"/>
          </a:solidFill>
          <a:ln/>
        </p:spPr>
      </p:sp>
      <p:sp>
        <p:nvSpPr>
          <p:cNvPr id="19" name="Text 17"/>
          <p:cNvSpPr/>
          <p:nvPr/>
        </p:nvSpPr>
        <p:spPr>
          <a:xfrm>
            <a:off x="713232" y="315468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8"/>
          <p:cNvSpPr/>
          <p:nvPr/>
        </p:nvSpPr>
        <p:spPr>
          <a:xfrm>
            <a:off x="1225296" y="3063240"/>
            <a:ext cx="5750076" cy="56692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Cách nhanh: con trỏ đã nằm sẵn ở ô Quét QR, chỉ cần quét mã QR trên thẻ BHYT hoặc CCCD</a:t>
            </a:r>
            <a:endParaRPr lang="en-US" sz="1400" dirty="0"/>
          </a:p>
        </p:txBody>
      </p:sp>
      <p:sp>
        <p:nvSpPr>
          <p:cNvPr id="21" name="Text 19"/>
          <p:cNvSpPr/>
          <p:nvPr/>
        </p:nvSpPr>
        <p:spPr>
          <a:xfrm>
            <a:off x="7085951" y="3063240"/>
            <a:ext cx="4088209" cy="56692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Mã thẻ, họ tên, ngày sinh tự điền và phần mềm TỰ tra cứu luôn, không phải bấm thêm</a:t>
            </a:r>
            <a:endParaRPr lang="en-US" sz="1200" dirty="0"/>
          </a:p>
        </p:txBody>
      </p:sp>
      <p:sp>
        <p:nvSpPr>
          <p:cNvPr id="22" name="Shape 20"/>
          <p:cNvSpPr/>
          <p:nvPr/>
        </p:nvSpPr>
        <p:spPr>
          <a:xfrm>
            <a:off x="566928" y="3739896"/>
            <a:ext cx="11057839" cy="566928"/>
          </a:xfrm>
          <a:prstGeom prst="rect">
            <a:avLst/>
          </a:prstGeom>
          <a:solidFill>
            <a:srgbClr val="FFFFFF"/>
          </a:solidFill>
          <a:ln w="12700">
            <a:solidFill>
              <a:srgbClr val="D3DAE3"/>
            </a:solidFill>
            <a:prstDash val="solid"/>
          </a:ln>
        </p:spPr>
      </p:sp>
      <p:sp>
        <p:nvSpPr>
          <p:cNvPr id="23" name="Shape 21"/>
          <p:cNvSpPr/>
          <p:nvPr/>
        </p:nvSpPr>
        <p:spPr>
          <a:xfrm>
            <a:off x="713232" y="3831336"/>
            <a:ext cx="384048" cy="384048"/>
          </a:xfrm>
          <a:prstGeom prst="ellipse">
            <a:avLst/>
          </a:prstGeom>
          <a:solidFill>
            <a:srgbClr val="1F4E79"/>
          </a:solidFill>
          <a:ln/>
        </p:spPr>
      </p:sp>
      <p:sp>
        <p:nvSpPr>
          <p:cNvPr id="24" name="Text 22"/>
          <p:cNvSpPr/>
          <p:nvPr/>
        </p:nvSpPr>
        <p:spPr>
          <a:xfrm>
            <a:off x="713232" y="3831336"/>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5" name="Text 23"/>
          <p:cNvSpPr/>
          <p:nvPr/>
        </p:nvSpPr>
        <p:spPr>
          <a:xfrm>
            <a:off x="1225296" y="3739896"/>
            <a:ext cx="5750076" cy="56692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Cách thủ công: nhập mã thẻ/CCCD, họ tên, ngày sinh rồi bấm Tra cứu (hoặc nhấn Enter ở bất kỳ ô nào)</a:t>
            </a:r>
            <a:endParaRPr lang="en-US" sz="1400" dirty="0"/>
          </a:p>
        </p:txBody>
      </p:sp>
      <p:sp>
        <p:nvSpPr>
          <p:cNvPr id="26" name="Text 24"/>
          <p:cNvSpPr/>
          <p:nvPr/>
        </p:nvSpPr>
        <p:spPr>
          <a:xfrm>
            <a:off x="7085951" y="3739896"/>
            <a:ext cx="4088209" cy="56692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Yêu cầu được gửi lên cổng</a:t>
            </a:r>
            <a:endParaRPr lang="en-US" sz="1200" dirty="0"/>
          </a:p>
        </p:txBody>
      </p:sp>
      <p:sp>
        <p:nvSpPr>
          <p:cNvPr id="27" name="Shape 25"/>
          <p:cNvSpPr/>
          <p:nvPr/>
        </p:nvSpPr>
        <p:spPr>
          <a:xfrm>
            <a:off x="566928" y="4416552"/>
            <a:ext cx="11057839" cy="566928"/>
          </a:xfrm>
          <a:prstGeom prst="rect">
            <a:avLst/>
          </a:prstGeom>
          <a:solidFill>
            <a:srgbClr val="F2F6FA"/>
          </a:solidFill>
          <a:ln w="12700">
            <a:solidFill>
              <a:srgbClr val="D3DAE3"/>
            </a:solidFill>
            <a:prstDash val="solid"/>
          </a:ln>
        </p:spPr>
      </p:sp>
      <p:sp>
        <p:nvSpPr>
          <p:cNvPr id="28" name="Shape 26"/>
          <p:cNvSpPr/>
          <p:nvPr/>
        </p:nvSpPr>
        <p:spPr>
          <a:xfrm>
            <a:off x="713232" y="4507992"/>
            <a:ext cx="384048" cy="384048"/>
          </a:xfrm>
          <a:prstGeom prst="ellipse">
            <a:avLst/>
          </a:prstGeom>
          <a:solidFill>
            <a:srgbClr val="1F4E79"/>
          </a:solidFill>
          <a:ln/>
        </p:spPr>
      </p:sp>
      <p:sp>
        <p:nvSpPr>
          <p:cNvPr id="29" name="Text 27"/>
          <p:cNvSpPr/>
          <p:nvPr/>
        </p:nvSpPr>
        <p:spPr>
          <a:xfrm>
            <a:off x="713232" y="4507992"/>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30" name="Text 28"/>
          <p:cNvSpPr/>
          <p:nvPr/>
        </p:nvSpPr>
        <p:spPr>
          <a:xfrm>
            <a:off x="1225296" y="4416552"/>
            <a:ext cx="5750076" cy="56692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Chờ cổng BHXH trả lời</a:t>
            </a:r>
            <a:endParaRPr lang="en-US" sz="1400" dirty="0"/>
          </a:p>
        </p:txBody>
      </p:sp>
      <p:sp>
        <p:nvSpPr>
          <p:cNvPr id="31" name="Text 29"/>
          <p:cNvSpPr/>
          <p:nvPr/>
        </p:nvSpPr>
        <p:spPr>
          <a:xfrm>
            <a:off x="7085951" y="4416552"/>
            <a:ext cx="4088209" cy="56692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Kết quả hiện ra ngay bên dưới, trang KHÔNG tải lại</a:t>
            </a:r>
            <a:endParaRPr lang="en-US" sz="1200" dirty="0"/>
          </a:p>
        </p:txBody>
      </p:sp>
      <p:sp>
        <p:nvSpPr>
          <p:cNvPr id="32" name="Shape 30"/>
          <p:cNvSpPr/>
          <p:nvPr/>
        </p:nvSpPr>
        <p:spPr>
          <a:xfrm>
            <a:off x="566928" y="5074920"/>
            <a:ext cx="11057839" cy="1051560"/>
          </a:xfrm>
          <a:prstGeom prst="rect">
            <a:avLst/>
          </a:prstGeom>
          <a:solidFill>
            <a:srgbClr val="EAF5EC"/>
          </a:solidFill>
          <a:ln w="12700">
            <a:solidFill>
              <a:srgbClr val="EAF5EC"/>
            </a:solidFill>
            <a:prstDash val="solid"/>
          </a:ln>
        </p:spPr>
      </p:sp>
      <p:sp>
        <p:nvSpPr>
          <p:cNvPr id="33" name="Shape 31"/>
          <p:cNvSpPr/>
          <p:nvPr/>
        </p:nvSpPr>
        <p:spPr>
          <a:xfrm>
            <a:off x="566928" y="5074920"/>
            <a:ext cx="64008" cy="1051560"/>
          </a:xfrm>
          <a:prstGeom prst="rect">
            <a:avLst/>
          </a:prstGeom>
          <a:solidFill>
            <a:srgbClr val="2E7D32"/>
          </a:solidFill>
          <a:ln w="12700">
            <a:solidFill>
              <a:srgbClr val="2E7D32"/>
            </a:solidFill>
            <a:prstDash val="solid"/>
          </a:ln>
        </p:spPr>
      </p:sp>
      <p:sp>
        <p:nvSpPr>
          <p:cNvPr id="34" name="Text 32"/>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2E7D32"/>
                </a:solidFill>
                <a:latin typeface="Arial" pitchFamily="34" charset="0"/>
                <a:ea typeface="Arial" pitchFamily="34" charset="-122"/>
                <a:cs typeface="Arial" pitchFamily="34" charset="-120"/>
              </a:rPr>
              <a:t>Về mã QR: </a:t>
            </a:r>
            <a:pPr indent="0" marL="0">
              <a:lnSpc>
                <a:spcPts val="1900"/>
              </a:lnSpc>
              <a:buNone/>
            </a:pPr>
            <a:r>
              <a:rPr lang="en-US" sz="1300" dirty="0">
                <a:solidFill>
                  <a:srgbClr val="1A1A1A"/>
                </a:solidFill>
                <a:latin typeface="Arial" pitchFamily="34" charset="0"/>
                <a:ea typeface="Arial" pitchFamily="34" charset="-122"/>
                <a:cs typeface="Arial" pitchFamily="34" charset="-120"/>
              </a:rPr>
              <a:t>Mã QR trên thẻ thường ghi ngày sinh thành 8 chữ số liền (ví dụ 20101964). Phần mềm tự chuyển sang dạng 20/10/1964 trước khi tra, nên không bị báo sai định dạng.</a:t>
            </a:r>
            <a:endParaRPr lang="en-US" sz="1300" dirty="0"/>
          </a:p>
        </p:txBody>
      </p:sp>
      <p:sp>
        <p:nvSpPr>
          <p:cNvPr id="35" name="Text 33"/>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C — Tiếp đón &amp; Viện phí</a:t>
            </a:r>
            <a:endParaRPr lang="en-US" sz="900" dirty="0"/>
          </a:p>
        </p:txBody>
      </p:sp>
      <p:sp>
        <p:nvSpPr>
          <p:cNvPr id="36" name="Text 34"/>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4</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Quy tắc nhập liệu — bốn ô, bốn quy tắc</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11057839" cy="914400"/>
        </p:xfrm>
        <a:graphic>
          <a:graphicData uri="http://schemas.openxmlformats.org/drawingml/2006/table">
            <a:tbl>
              <a:tblPr/>
              <a:tblGrid>
                <a:gridCol w="2211568"/>
                <a:gridCol w="2875038"/>
                <a:gridCol w="5971233"/>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Trường</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Yêu cầu</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Ghi chú</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Cơ sở KCB</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Bắt buộc chọn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Chỉ hiện những cơ sở đã khai tài khoản cổng BHXH. Chưa chọn thì phần mềm nhắc chọn chứ không báo lỗi. Lựa chọn được ghi nhớ cho lần sau</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Mã thẻ BHYT/CCCD</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Đúng 10, 12, 15 hoặc 17 ký tự</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Mã thẻ BHYT 15 hoặc 17 ký tự; mã số BHXH / số CCCD 10 hoặc 12 ký tự. Gõ kèm dấu cách cho dễ đọc cũng được — phần mềm tự bỏ khoảng trắng</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Họ và tên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Bắt buộc</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Tự chuyển thành chữ IN HOA ngay khi gõ, kể cả họ tên điền từ mã QR. Không cần bật Caps Lock</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Ngày sinh</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20/10/1964 hoặc 10/1964 hoặc 1964</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Phải đủ HAI chữ số cho ngày và tháng. Gõ 1/1/1964 sẽ bị báo sai — phải gõ 01/01/1964</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bl>
          </a:graphicData>
        </a:graphic>
      </p:graphicFrame>
      <p:sp>
        <p:nvSpPr>
          <p:cNvPr id="7" name="Shape 4"/>
          <p:cNvSpPr/>
          <p:nvPr/>
        </p:nvSpPr>
        <p:spPr>
          <a:xfrm>
            <a:off x="566928" y="5074920"/>
            <a:ext cx="11057839" cy="1051560"/>
          </a:xfrm>
          <a:prstGeom prst="rect">
            <a:avLst/>
          </a:prstGeom>
          <a:solidFill>
            <a:srgbClr val="FFF6E5"/>
          </a:solidFill>
          <a:ln w="12700">
            <a:solidFill>
              <a:srgbClr val="FFF6E5"/>
            </a:solidFill>
            <a:prstDash val="solid"/>
          </a:ln>
        </p:spPr>
      </p:sp>
      <p:sp>
        <p:nvSpPr>
          <p:cNvPr id="8" name="Shape 5"/>
          <p:cNvSpPr/>
          <p:nvPr/>
        </p:nvSpPr>
        <p:spPr>
          <a:xfrm>
            <a:off x="566928" y="5074920"/>
            <a:ext cx="64008" cy="1051560"/>
          </a:xfrm>
          <a:prstGeom prst="rect">
            <a:avLst/>
          </a:prstGeom>
          <a:solidFill>
            <a:srgbClr val="B26A00"/>
          </a:solidFill>
          <a:ln w="12700">
            <a:solidFill>
              <a:srgbClr val="B26A00"/>
            </a:solidFill>
            <a:prstDash val="solid"/>
          </a:ln>
        </p:spPr>
      </p:sp>
      <p:sp>
        <p:nvSpPr>
          <p:cNvPr id="9" name="Text 6"/>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Về việc ghi nhớ cơ sở: </a:t>
            </a:r>
            <a:pPr indent="0" marL="0">
              <a:lnSpc>
                <a:spcPts val="1900"/>
              </a:lnSpc>
              <a:buNone/>
            </a:pPr>
            <a:r>
              <a:rPr lang="en-US" sz="1300" dirty="0">
                <a:solidFill>
                  <a:srgbClr val="1A1A1A"/>
                </a:solidFill>
                <a:latin typeface="Arial" pitchFamily="34" charset="0"/>
                <a:ea typeface="Arial" pitchFamily="34" charset="-122"/>
                <a:cs typeface="Arial" pitchFamily="34" charset="-120"/>
              </a:rPr>
              <a:t>Màn Tra cứu tiền cùng chi trả và màn Tra cứu thẻ BHYT dùng chung lựa chọn này. Việc ghi nhớ gắn với từng máy tính và từng trình duyệt — đổi máy, đổi trình duyệt, dùng cửa sổ ẩn danh hoặc xoá dữ liệu duyệt web thì phải chọn lại một lần. Phần mềm KHÔNG lưu tài khoản, mật khẩu hay thông tin người bệnh trên trình duyệt.</a:t>
            </a:r>
            <a:endParaRPr lang="en-US" sz="1300" dirty="0"/>
          </a:p>
        </p:txBody>
      </p:sp>
      <p:sp>
        <p:nvSpPr>
          <p:cNvPr id="10" name="Text 7"/>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C — Tiếp đón &amp; Viện phí</a:t>
            </a:r>
            <a:endParaRPr lang="en-US" sz="900" dirty="0"/>
          </a:p>
        </p:txBody>
      </p:sp>
      <p:sp>
        <p:nvSpPr>
          <p:cNvPr id="11" name="Text 8"/>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5.1 – 5.2</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Đọc kết quả — khối kết luận</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Shape 4"/>
          <p:cNvSpPr/>
          <p:nvPr/>
        </p:nvSpPr>
        <p:spPr>
          <a:xfrm>
            <a:off x="566928" y="1325880"/>
            <a:ext cx="6634704" cy="3657600"/>
          </a:xfrm>
          <a:prstGeom prst="rect">
            <a:avLst/>
          </a:prstGeom>
          <a:solidFill>
            <a:srgbClr val="F2F6FA"/>
          </a:solidFill>
          <a:ln w="15875">
            <a:solidFill>
              <a:srgbClr val="5A6472"/>
            </a:solidFill>
            <a:prstDash val="dash"/>
          </a:ln>
        </p:spPr>
      </p:sp>
      <p:sp>
        <p:nvSpPr>
          <p:cNvPr id="7" name="Text 5"/>
          <p:cNvSpPr/>
          <p:nvPr/>
        </p:nvSpPr>
        <p:spPr>
          <a:xfrm>
            <a:off x="841248" y="1325880"/>
            <a:ext cx="6086064" cy="3657600"/>
          </a:xfrm>
          <a:prstGeom prst="rect">
            <a:avLst/>
          </a:prstGeom>
          <a:noFill/>
          <a:ln/>
        </p:spPr>
        <p:txBody>
          <a:bodyPr wrap="square" rtlCol="0" anchor="ctr"/>
          <a:lstStyle/>
          <a:p>
            <a:pPr algn="ctr" indent="0" marL="0">
              <a:lnSpc>
                <a:spcPts val="2000"/>
              </a:lnSpc>
              <a:buNone/>
            </a:pPr>
            <a:r>
              <a:rPr lang="en-US" sz="1500" b="1" dirty="0">
                <a:solidFill>
                  <a:srgbClr val="1F4E79"/>
                </a:solidFill>
                <a:latin typeface="Arial" pitchFamily="34" charset="0"/>
                <a:ea typeface="Arial" pitchFamily="34" charset="-122"/>
                <a:cs typeface="Arial" pitchFamily="34" charset="-120"/>
              </a:rPr>
              <a:t>[Ảnh 5]</a:t>
            </a:r>
            <a:endParaRPr lang="en-US" sz="1500" dirty="0"/>
          </a:p>
          <a:p>
            <a:pPr algn="ctr" indent="0" marL="0">
              <a:lnSpc>
                <a:spcPts val="2000"/>
              </a:lnSpc>
              <a:buNone/>
            </a:pPr>
            <a:r>
              <a:rPr lang="en-US" sz="1300" dirty="0">
                <a:solidFill>
                  <a:srgbClr val="5A6472"/>
                </a:solidFill>
                <a:latin typeface="Arial" pitchFamily="34" charset="0"/>
                <a:ea typeface="Arial" pitchFamily="34" charset="-122"/>
                <a:cs typeface="Arial" pitchFamily="34" charset="-120"/>
              </a:rPr>
              <a:t>Màn Tra cứu tiền cùng chi trả sau khi có kết quả.</a:t>
            </a:r>
            <a:endParaRPr lang="en-US" sz="1500" dirty="0"/>
          </a:p>
          <a:p>
            <a:pPr algn="ctr" indent="0" marL="0">
              <a:lnSpc>
                <a:spcPts val="2000"/>
              </a:lnSpc>
              <a:buNone/>
            </a:pPr>
            <a:r>
              <a:rPr lang="en-US" sz="1300" dirty="0">
                <a:solidFill>
                  <a:srgbClr val="5A6472"/>
                </a:solidFill>
                <a:latin typeface="Arial" pitchFamily="34" charset="0"/>
                <a:ea typeface="Arial" pitchFamily="34" charset="-122"/>
                <a:cs typeface="Arial" pitchFamily="34" charset="-120"/>
              </a:rPr>
              <a:t>Chụp đủ: thông tin thẻ, khối kết luận với ba con số, nhãn kết luận, và DÒNG CHỮ NHỎ ghi nguồn dữ liệu bên dưới.</a:t>
            </a:r>
            <a:endParaRPr lang="en-US" sz="1500" dirty="0"/>
          </a:p>
        </p:txBody>
      </p:sp>
      <p:sp>
        <p:nvSpPr>
          <p:cNvPr id="8" name="Text 6"/>
          <p:cNvSpPr/>
          <p:nvPr/>
        </p:nvSpPr>
        <p:spPr>
          <a:xfrm>
            <a:off x="7475952" y="1325880"/>
            <a:ext cx="4148816" cy="3657600"/>
          </a:xfrm>
          <a:prstGeom prst="rect">
            <a:avLst/>
          </a:prstGeom>
          <a:noFill/>
          <a:ln/>
        </p:spPr>
        <p:txBody>
          <a:bodyPr wrap="square" rtlCol="0" anchor="t"/>
          <a:lstStyle/>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Lũy kế cùng chi trả — tổng tiền người bệnh đã cùng chi trả trong năm</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Ngưỡng cả năm — số tiền cần đạt. KHÔNG phải lúc nào cũng bằng 6 tháng lương cơ sở hiện hành</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Kết luận — nhãn xanh "ĐỦ NGƯỠNG 6 THÁNG LƯƠNG CƠ SỞ" hoặc nhãn vàng "CÒN THIẾU" kèm số tiền</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Hai số đầu đều tính từ 01/01 nên so sánh trực tiếp được với nhau</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Khi đạt ngưỡng, màn hình hiện thêm khung nhắc kiểm tra điều kiện 5 năm liên tục — đọc kỹ trước khi trả lời</a:t>
            </a:r>
            <a:endParaRPr lang="en-US" sz="1300" dirty="0"/>
          </a:p>
        </p:txBody>
      </p:sp>
      <p:sp>
        <p:nvSpPr>
          <p:cNvPr id="9" name="Shape 7"/>
          <p:cNvSpPr/>
          <p:nvPr/>
        </p:nvSpPr>
        <p:spPr>
          <a:xfrm>
            <a:off x="566928" y="5074920"/>
            <a:ext cx="11057839" cy="1051560"/>
          </a:xfrm>
          <a:prstGeom prst="rect">
            <a:avLst/>
          </a:prstGeom>
          <a:solidFill>
            <a:srgbClr val="FDECEC"/>
          </a:solidFill>
          <a:ln w="12700">
            <a:solidFill>
              <a:srgbClr val="FDECEC"/>
            </a:solidFill>
            <a:prstDash val="solid"/>
          </a:ln>
        </p:spPr>
      </p:sp>
      <p:sp>
        <p:nvSpPr>
          <p:cNvPr id="10" name="Shape 8"/>
          <p:cNvSpPr/>
          <p:nvPr/>
        </p:nvSpPr>
        <p:spPr>
          <a:xfrm>
            <a:off x="566928" y="5074920"/>
            <a:ext cx="64008" cy="1051560"/>
          </a:xfrm>
          <a:prstGeom prst="rect">
            <a:avLst/>
          </a:prstGeom>
          <a:solidFill>
            <a:srgbClr val="C62828"/>
          </a:solidFill>
          <a:ln w="12700">
            <a:solidFill>
              <a:srgbClr val="C62828"/>
            </a:solidFill>
            <a:prstDash val="solid"/>
          </a:ln>
        </p:spPr>
      </p:sp>
      <p:sp>
        <p:nvSpPr>
          <p:cNvPr id="11" name="Text 9"/>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62828"/>
                </a:solidFill>
                <a:latin typeface="Arial" pitchFamily="34" charset="0"/>
                <a:ea typeface="Arial" pitchFamily="34" charset="-122"/>
                <a:cs typeface="Arial" pitchFamily="34" charset="-120"/>
              </a:rPr>
              <a:t>BẮT BUỘC đọc dòng chữ nhỏ bên dưới: </a:t>
            </a:r>
            <a:pPr indent="0" marL="0">
              <a:lnSpc>
                <a:spcPts val="1900"/>
              </a:lnSpc>
              <a:buNone/>
            </a:pPr>
            <a:r>
              <a:rPr lang="en-US" sz="1300" dirty="0">
                <a:solidFill>
                  <a:srgbClr val="1A1A1A"/>
                </a:solidFill>
                <a:latin typeface="Arial" pitchFamily="34" charset="0"/>
                <a:ea typeface="Arial" pitchFamily="34" charset="-122"/>
                <a:cs typeface="Arial" pitchFamily="34" charset="-120"/>
              </a:rPr>
              <a:t>Dòng đó ghi nguồn dữ liệu và mốc thời gian, ví dụ "Nguồn DL lấy từ các CSKCB đề nghị thanh toán KCB BHYT trên HTTTGĐ BHYT tính đến: 14/08/2026 14:41". Số liệu của cổng CÓ ĐỘ TRỄ — đợt KCB mà cơ sở chưa gửi hồ sơ đề nghị thanh toán thì chưa được tính vào lũy kế.</a:t>
            </a:r>
            <a:endParaRPr lang="en-US" sz="1300" dirty="0"/>
          </a:p>
        </p:txBody>
      </p:sp>
      <p:sp>
        <p:nvSpPr>
          <p:cNvPr id="12" name="Text 10"/>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C — Tiếp đón &amp; Viện phí</a:t>
            </a:r>
            <a:endParaRPr lang="en-US" sz="900" dirty="0"/>
          </a:p>
        </p:txBody>
      </p:sp>
      <p:sp>
        <p:nvSpPr>
          <p:cNvPr id="13" name="Text 11"/>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5.3</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Khi lương cơ sở thay đổi giữa năm — ngưỡng KHÔNG phải 6 × lương mới</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4114800"/>
          </a:xfrm>
          <a:prstGeom prst="rect">
            <a:avLst/>
          </a:prstGeom>
          <a:noFill/>
          <a:ln/>
        </p:spPr>
        <p:txBody>
          <a:bodyPr wrap="square" rtlCol="0" anchor="t"/>
          <a:lstStyle/>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Năm 2026 lương cơ sở đổi từ 2.340.000 đ lên 2.530.000 đ kể từ 01/7/2026</a:t>
            </a:r>
            <a:endParaRPr lang="en-US" sz="1600" dirty="0"/>
          </a:p>
          <a:p>
            <a:pPr marL="342900" indent="-342900">
              <a:lnSpc>
                <a:spcPts val="2400"/>
              </a:lnSpc>
              <a:spcAft>
                <a:spcPts val="1000"/>
              </a:spcAft>
              <a:buSzPct val="100000"/>
              <a:buChar char="▪"/>
            </a:pPr>
            <a:r>
              <a:rPr lang="en-US" sz="1600" b="1" dirty="0">
                <a:solidFill>
                  <a:srgbClr val="C62828"/>
                </a:solidFill>
                <a:latin typeface="Arial" pitchFamily="34" charset="0"/>
                <a:ea typeface="Arial" pitchFamily="34" charset="-122"/>
                <a:cs typeface="Arial" pitchFamily="34" charset="-120"/>
              </a:rPr>
              <a:t>Ngưỡng cả năm KHÔNG phải là 6 × 2.530.000 = 15.180.000 đ</a:t>
            </a:r>
            <a:endParaRPr lang="en-US" sz="1600" dirty="0"/>
          </a:p>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Theo điểm c khoản 2 Điều 18 Nghị định 188/2025/NĐ-CP: phần tiền đã cùng chi trả trước ngày đổi lương được quy đổi ra số tháng theo LƯƠNG CŨ; phần còn thiếu mới tính theo LƯƠNG MỚI</a:t>
            </a:r>
            <a:endParaRPr lang="en-US" sz="1600" dirty="0"/>
          </a:p>
          <a:p>
            <a:pPr marL="342900" indent="-342900">
              <a:lnSpc>
                <a:spcPts val="2400"/>
              </a:lnSpc>
              <a:spcAft>
                <a:spcPts val="1000"/>
              </a:spcAft>
              <a:buSzPct val="100000"/>
              <a:buChar char="▪"/>
            </a:pPr>
            <a:r>
              <a:rPr lang="en-US" sz="1600" b="1" dirty="0">
                <a:solidFill>
                  <a:srgbClr val="1F4E79"/>
                </a:solidFill>
                <a:latin typeface="Arial" pitchFamily="34" charset="0"/>
                <a:ea typeface="Arial" pitchFamily="34" charset="-122"/>
                <a:cs typeface="Arial" pitchFamily="34" charset="-120"/>
              </a:rPr>
              <a:t>Số tiền còn phải cùng chi trả = ( 6 − Tiền đã đóng trước 01/7 ÷ Lương cũ ) × Lương mới</a:t>
            </a:r>
            <a:endParaRPr lang="en-US" sz="1600" dirty="0"/>
          </a:p>
          <a:p>
            <a:pPr marL="342900" indent="-342900">
              <a:lnSpc>
                <a:spcPts val="2400"/>
              </a:lnSpc>
              <a:spcAft>
                <a:spcPts val="1000"/>
              </a:spcAft>
              <a:buSzPct val="100000"/>
              <a:buChar char="▪"/>
            </a:pPr>
            <a:r>
              <a:rPr lang="en-US" sz="1600" b="1" dirty="0">
                <a:solidFill>
                  <a:srgbClr val="1F4E79"/>
                </a:solidFill>
                <a:latin typeface="Arial" pitchFamily="34" charset="0"/>
                <a:ea typeface="Arial" pitchFamily="34" charset="-122"/>
                <a:cs typeface="Arial" pitchFamily="34" charset="-120"/>
              </a:rPr>
              <a:t>Ngưỡng cả năm = Tiền đã đóng trước 01/7 + Số tiền còn phải cùng chi trả</a:t>
            </a:r>
            <a:endParaRPr lang="en-US" sz="1600" dirty="0"/>
          </a:p>
          <a:p>
            <a:pPr marL="342900" indent="-342900">
              <a:lnSpc>
                <a:spcPts val="2400"/>
              </a:lnSpc>
              <a:spcAft>
                <a:spcPts val="200"/>
              </a:spcAft>
              <a:buSzPct val="100000"/>
              <a:buChar char="▪"/>
            </a:pPr>
            <a:r>
              <a:rPr lang="en-US" sz="1600" b="1" dirty="0">
                <a:solidFill>
                  <a:srgbClr val="1A1A1A"/>
                </a:solidFill>
                <a:latin typeface="Arial" pitchFamily="34" charset="0"/>
                <a:ea typeface="Arial" pitchFamily="34" charset="-122"/>
                <a:cs typeface="Arial" pitchFamily="34" charset="-120"/>
              </a:rPr>
              <a:t>Ví dụ: đã cùng chi trả 13.000.000 đ tính đến 30/6/2026</a:t>
            </a:r>
            <a:endParaRPr lang="en-US" sz="1600" dirty="0"/>
          </a:p>
          <a:p>
            <a:pPr indent="0" marL="0">
              <a:lnSpc>
                <a:spcPts val="2400"/>
              </a:lnSpc>
              <a:spcAft>
                <a:spcPts val="1000"/>
              </a:spcAft>
              <a:buNone/>
            </a:pPr>
            <a:r>
              <a:rPr lang="en-US" sz="1300" dirty="0">
                <a:solidFill>
                  <a:srgbClr val="5A6472"/>
                </a:solidFill>
                <a:latin typeface="Arial" pitchFamily="34" charset="0"/>
                <a:ea typeface="Arial" pitchFamily="34" charset="-122"/>
                <a:cs typeface="Arial" pitchFamily="34" charset="-120"/>
              </a:rPr>
              <a:t>   Còn phải đóng = (6 − 13.000.000 ÷ 2.340.000) × 2.530.000 = 1.124.444 đ → Ngưỡng cả năm = 14.124.444 đ, CHƯA đủ miễn</a:t>
            </a:r>
            <a:endParaRPr lang="en-US" sz="1600" dirty="0"/>
          </a:p>
        </p:txBody>
      </p:sp>
      <p:sp>
        <p:nvSpPr>
          <p:cNvPr id="7" name="Shape 5"/>
          <p:cNvSpPr/>
          <p:nvPr/>
        </p:nvSpPr>
        <p:spPr>
          <a:xfrm>
            <a:off x="566928" y="5074920"/>
            <a:ext cx="11057839" cy="1051560"/>
          </a:xfrm>
          <a:prstGeom prst="rect">
            <a:avLst/>
          </a:prstGeom>
          <a:solidFill>
            <a:srgbClr val="EAF5EC"/>
          </a:solidFill>
          <a:ln w="12700">
            <a:solidFill>
              <a:srgbClr val="EAF5EC"/>
            </a:solidFill>
            <a:prstDash val="solid"/>
          </a:ln>
        </p:spPr>
      </p:sp>
      <p:sp>
        <p:nvSpPr>
          <p:cNvPr id="8" name="Shape 6"/>
          <p:cNvSpPr/>
          <p:nvPr/>
        </p:nvSpPr>
        <p:spPr>
          <a:xfrm>
            <a:off x="566928" y="5074920"/>
            <a:ext cx="64008" cy="1051560"/>
          </a:xfrm>
          <a:prstGeom prst="rect">
            <a:avLst/>
          </a:prstGeom>
          <a:solidFill>
            <a:srgbClr val="2E7D32"/>
          </a:solidFill>
          <a:ln w="12700">
            <a:solidFill>
              <a:srgbClr val="2E7D32"/>
            </a:solidFill>
            <a:prstDash val="solid"/>
          </a:ln>
        </p:spPr>
      </p:sp>
      <p:sp>
        <p:nvSpPr>
          <p:cNvPr id="9" name="Text 7"/>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2E7D32"/>
                </a:solidFill>
                <a:latin typeface="Arial" pitchFamily="34" charset="0"/>
                <a:ea typeface="Arial" pitchFamily="34" charset="-122"/>
                <a:cs typeface="Arial" pitchFamily="34" charset="-120"/>
              </a:rPr>
              <a:t>Không phải tính tay: </a:t>
            </a:r>
            <a:pPr indent="0" marL="0">
              <a:lnSpc>
                <a:spcPts val="1900"/>
              </a:lnSpc>
              <a:buNone/>
            </a:pPr>
            <a:r>
              <a:rPr lang="en-US" sz="1300" dirty="0">
                <a:solidFill>
                  <a:srgbClr val="1A1A1A"/>
                </a:solidFill>
                <a:latin typeface="Arial" pitchFamily="34" charset="0"/>
                <a:ea typeface="Arial" pitchFamily="34" charset="-122"/>
                <a:cs typeface="Arial" pitchFamily="34" charset="-120"/>
              </a:rPr>
              <a:t>Màn hình tự tính và hiện đầy đủ các bước này ngay dưới khối kết luận. Nếu người bệnh đã đóng đủ 6 tháng lương CŨ trước ngày đổi lương thì được hưởng quyền lợi ngay, không áp dụng công thức. Đợt KCB được xếp trước hay sau mốc đổi lương theo NGÀY RA VIỆN.</a:t>
            </a:r>
            <a:endParaRPr lang="en-US" sz="1300" dirty="0"/>
          </a:p>
        </p:txBody>
      </p:sp>
      <p:sp>
        <p:nvSpPr>
          <p:cNvPr id="10" name="Text 8"/>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C — Tiếp đón &amp; Viện phí</a:t>
            </a:r>
            <a:endParaRPr lang="en-US" sz="900" dirty="0"/>
          </a:p>
        </p:txBody>
      </p:sp>
      <p:sp>
        <p:nvSpPr>
          <p:cNvPr id="11" name="Text 9"/>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5.4 – 5.5</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Bảng chi tiết các đợt KCB và lịch sử tra cứu</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A6472"/>
                </a:solidFill>
                <a:latin typeface="Arial" pitchFamily="34" charset="0"/>
                <a:ea typeface="Arial" pitchFamily="34" charset="-122"/>
                <a:cs typeface="Arial" pitchFamily="34" charset="-120"/>
              </a:rPr>
              <a:t>Bảng chi tiết liệt kê từng đợt KCB có phát sinh cùng chi trả, sắp xếp giảm dần theo ngày ra viện.</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1709928"/>
          <a:ext cx="11057839" cy="914400"/>
        </p:xfrm>
        <a:graphic>
          <a:graphicData uri="http://schemas.openxmlformats.org/drawingml/2006/table">
            <a:tbl>
              <a:tblPr/>
              <a:tblGrid>
                <a:gridCol w="3317352"/>
                <a:gridCol w="7740487"/>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Cột</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Ý nghĩa</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Mã CSKCB</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Cơ sở nơi phát sinh đợt KCB đó — CÓ THỂ LÀ CƠ SỞ KHÁC, không phải cơ sở đang tra</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Ngày vào / Ngày ra</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Ngày vào viện và ngày ra viện của đợt đó</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Đối tượng</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Mã đối tượng khi đi khám chữa bệnh của đợt đó</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Tiền CCT thuộc diện miễn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Số tiền cùng chi trả của riêng đợt đó được tính vào diện xét miễn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Lũy kế</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Số tiền cùng chi trả cộng dồn tính đến hết đợt đó — đây là con số dùng để xét ngưỡng</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Ngày nhận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Ngày cổng tiếp nhận hồ sơ của đợt đó</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bl>
          </a:graphicData>
        </a:graphic>
      </p:graphicFrame>
      <p:sp>
        <p:nvSpPr>
          <p:cNvPr id="8" name="Shape 5"/>
          <p:cNvSpPr/>
          <p:nvPr/>
        </p:nvSpPr>
        <p:spPr>
          <a:xfrm>
            <a:off x="566928" y="5074920"/>
            <a:ext cx="11057839" cy="1051560"/>
          </a:xfrm>
          <a:prstGeom prst="rect">
            <a:avLst/>
          </a:prstGeom>
          <a:solidFill>
            <a:srgbClr val="FFF6E5"/>
          </a:solidFill>
          <a:ln w="12700">
            <a:solidFill>
              <a:srgbClr val="FFF6E5"/>
            </a:solidFill>
            <a:prstDash val="solid"/>
          </a:ln>
        </p:spPr>
      </p:sp>
      <p:sp>
        <p:nvSpPr>
          <p:cNvPr id="9" name="Shape 6"/>
          <p:cNvSpPr/>
          <p:nvPr/>
        </p:nvSpPr>
        <p:spPr>
          <a:xfrm>
            <a:off x="566928" y="5074920"/>
            <a:ext cx="64008" cy="1051560"/>
          </a:xfrm>
          <a:prstGeom prst="rect">
            <a:avLst/>
          </a:prstGeom>
          <a:solidFill>
            <a:srgbClr val="B26A00"/>
          </a:solidFill>
          <a:ln w="12700">
            <a:solidFill>
              <a:srgbClr val="B26A00"/>
            </a:solidFill>
            <a:prstDash val="solid"/>
          </a:ln>
        </p:spPr>
      </p:sp>
      <p:sp>
        <p:nvSpPr>
          <p:cNvPr id="10" name="Text 7"/>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Lịch sử tra cứu: </a:t>
            </a:r>
            <a:pPr indent="0" marL="0">
              <a:lnSpc>
                <a:spcPts val="1900"/>
              </a:lnSpc>
              <a:buNone/>
            </a:pPr>
            <a:r>
              <a:rPr lang="en-US" sz="1300" dirty="0">
                <a:solidFill>
                  <a:srgbClr val="1A1A1A"/>
                </a:solidFill>
                <a:latin typeface="Arial" pitchFamily="34" charset="0"/>
                <a:ea typeface="Arial" pitchFamily="34" charset="-122"/>
                <a:cs typeface="Arial" pitchFamily="34" charset="-120"/>
              </a:rPr>
              <a:t>Cuối trang (trên màn hình riêng) hiển thị vài lần tra gần nhất của chính thẻ đó: thời điểm, cơ sở, kết quả, lũy kế và NGƯỠNG ÁP DỤNG LÚC ĐÓ. Khi lương cơ sở tăng, các bản ghi cũ vẫn giữ nguyên kết luận cũ — đúng như tại thời điểm đó.</a:t>
            </a:r>
            <a:endParaRPr lang="en-US" sz="1300" dirty="0"/>
          </a:p>
        </p:txBody>
      </p:sp>
      <p:sp>
        <p:nvSpPr>
          <p:cNvPr id="11" name="Text 8"/>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C — Tiếp đón &amp; Viện phí</a:t>
            </a:r>
            <a:endParaRPr lang="en-US" sz="900" dirty="0"/>
          </a:p>
        </p:txBody>
      </p:sp>
      <p:sp>
        <p:nvSpPr>
          <p:cNvPr id="12" name="Text 9"/>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6</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Vì sao phải chờ, và vì sao không được bấm nhiều lần</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4114800"/>
          </a:xfrm>
          <a:prstGeom prst="rect">
            <a:avLst/>
          </a:prstGeom>
          <a:noFill/>
          <a:ln/>
        </p:spPr>
        <p:txBody>
          <a:bodyPr wrap="square" rtlCol="0" anchor="t"/>
          <a:lstStyle/>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Cổng BHXH thường trả lời trong khoảng 5 đến 30 giây, đôi khi lâu hơn</a:t>
            </a:r>
            <a:endParaRPr lang="en-US" sz="1600" dirty="0"/>
          </a:p>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Trong lúc chờ, màn hình hiển thị đồng hồ đếm số giây. Đồng hồ còn chạy nghĩa là hệ thống vẫn làm việc bình thường</a:t>
            </a:r>
            <a:endParaRPr lang="en-US" sz="1600" dirty="0"/>
          </a:p>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Sau 25 giây, dòng chữ tự đổi thành "Cổng BHXH đang phản hồi chậm, vẫn đang chờ…" — vẫn là trạng thái BÌNH THƯỜNG, không phải lỗi</a:t>
            </a:r>
            <a:endParaRPr lang="en-US" sz="1600" dirty="0"/>
          </a:p>
          <a:p>
            <a:pPr marL="342900" indent="-342900">
              <a:lnSpc>
                <a:spcPts val="2400"/>
              </a:lnSpc>
              <a:spcAft>
                <a:spcPts val="200"/>
              </a:spcAft>
              <a:buSzPct val="100000"/>
              <a:buChar char="▪"/>
            </a:pPr>
            <a:r>
              <a:rPr lang="en-US" sz="1600" b="1" dirty="0">
                <a:solidFill>
                  <a:srgbClr val="C62828"/>
                </a:solidFill>
                <a:latin typeface="Arial" pitchFamily="34" charset="0"/>
                <a:ea typeface="Arial" pitchFamily="34" charset="-122"/>
                <a:cs typeface="Arial" pitchFamily="34" charset="-120"/>
              </a:rPr>
              <a:t>KHÔNG bấm lại nhiều lần. Cơ quan BHXH giới hạn số lượt tra cứu của mỗi tài khoản và có danh sách tài khoản bị hạn chế tra cứu</a:t>
            </a:r>
            <a:endParaRPr lang="en-US" sz="1600" dirty="0"/>
          </a:p>
          <a:p>
            <a:pPr indent="0" marL="0">
              <a:lnSpc>
                <a:spcPts val="2400"/>
              </a:lnSpc>
              <a:spcAft>
                <a:spcPts val="1000"/>
              </a:spcAft>
              <a:buNone/>
            </a:pPr>
            <a:r>
              <a:rPr lang="en-US" sz="1300" dirty="0">
                <a:solidFill>
                  <a:srgbClr val="5A6472"/>
                </a:solidFill>
                <a:latin typeface="Arial" pitchFamily="34" charset="0"/>
                <a:ea typeface="Arial" pitchFamily="34" charset="-122"/>
                <a:cs typeface="Arial" pitchFamily="34" charset="-120"/>
              </a:rPr>
              <a:t>   Mỗi lần bấm là một lượt gọi thật. Vì vậy trong lúc chờ, phần mềm tự khoá nút và các ô nhập liệu</a:t>
            </a:r>
            <a:endParaRPr lang="en-US" sz="1600" dirty="0"/>
          </a:p>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Mỗi lần tra là một lượt hỏi cổng thật, kể cả khi mở lại đúng thẻ vừa tra. Chỉ tra khi cần</a:t>
            </a:r>
            <a:endParaRPr lang="en-US" sz="1600" dirty="0"/>
          </a:p>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Phần mềm chờ cổng tối đa 120 giây; quá thời gian đó thì dừng chờ và báo lỗi — đợi vài phút rồi bấm Thử lại</a:t>
            </a:r>
            <a:endParaRPr lang="en-US" sz="1600" dirty="0"/>
          </a:p>
        </p:txBody>
      </p:sp>
      <p:sp>
        <p:nvSpPr>
          <p:cNvPr id="7" name="Shape 5"/>
          <p:cNvSpPr/>
          <p:nvPr/>
        </p:nvSpPr>
        <p:spPr>
          <a:xfrm>
            <a:off x="566928" y="5074920"/>
            <a:ext cx="11057839" cy="1051560"/>
          </a:xfrm>
          <a:prstGeom prst="rect">
            <a:avLst/>
          </a:prstGeom>
          <a:solidFill>
            <a:srgbClr val="EAF5EC"/>
          </a:solidFill>
          <a:ln w="12700">
            <a:solidFill>
              <a:srgbClr val="EAF5EC"/>
            </a:solidFill>
            <a:prstDash val="solid"/>
          </a:ln>
        </p:spPr>
      </p:sp>
      <p:sp>
        <p:nvSpPr>
          <p:cNvPr id="8" name="Shape 6"/>
          <p:cNvSpPr/>
          <p:nvPr/>
        </p:nvSpPr>
        <p:spPr>
          <a:xfrm>
            <a:off x="566928" y="5074920"/>
            <a:ext cx="64008" cy="1051560"/>
          </a:xfrm>
          <a:prstGeom prst="rect">
            <a:avLst/>
          </a:prstGeom>
          <a:solidFill>
            <a:srgbClr val="2E7D32"/>
          </a:solidFill>
          <a:ln w="12700">
            <a:solidFill>
              <a:srgbClr val="2E7D32"/>
            </a:solidFill>
            <a:prstDash val="solid"/>
          </a:ln>
        </p:spPr>
      </p:sp>
      <p:sp>
        <p:nvSpPr>
          <p:cNvPr id="9" name="Text 7"/>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2E7D32"/>
                </a:solidFill>
                <a:latin typeface="Arial" pitchFamily="34" charset="0"/>
                <a:ea typeface="Arial" pitchFamily="34" charset="-122"/>
                <a:cs typeface="Arial" pitchFamily="34" charset="-120"/>
              </a:rPr>
              <a:t>Đổi lại việc phải chờ: </a:t>
            </a:r>
            <a:pPr indent="0" marL="0">
              <a:lnSpc>
                <a:spcPts val="1900"/>
              </a:lnSpc>
              <a:buNone/>
            </a:pPr>
            <a:r>
              <a:rPr lang="en-US" sz="1300" dirty="0">
                <a:solidFill>
                  <a:srgbClr val="1A1A1A"/>
                </a:solidFill>
                <a:latin typeface="Arial" pitchFamily="34" charset="0"/>
                <a:ea typeface="Arial" pitchFamily="34" charset="-122"/>
                <a:cs typeface="Arial" pitchFamily="34" charset="-120"/>
              </a:rPr>
              <a:t>Mỗi lần tra đều lấy số liệu MỚI NHẤT từ cổng, không phải số liệu đã lưu từ lần tra trước. Các lần tra trước của thẻ vẫn xem được ở bảng Lịch sử tra cứu cuối trang.</a:t>
            </a:r>
            <a:endParaRPr lang="en-US" sz="1300" dirty="0"/>
          </a:p>
        </p:txBody>
      </p:sp>
      <p:sp>
        <p:nvSpPr>
          <p:cNvPr id="10" name="Text 8"/>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C — Tiếp đón &amp; Viện phí</a:t>
            </a:r>
            <a:endParaRPr lang="en-US" sz="900" dirty="0"/>
          </a:p>
        </p:txBody>
      </p:sp>
      <p:sp>
        <p:nvSpPr>
          <p:cNvPr id="11" name="Text 9"/>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7</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Các thông báo hay gặp — phần cán bộ tự xử lý</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Shape 4"/>
          <p:cNvSpPr/>
          <p:nvPr/>
        </p:nvSpPr>
        <p:spPr>
          <a:xfrm>
            <a:off x="566928" y="1325880"/>
            <a:ext cx="11057839" cy="872338"/>
          </a:xfrm>
          <a:prstGeom prst="rect">
            <a:avLst/>
          </a:prstGeom>
          <a:solidFill>
            <a:srgbClr val="FFFFFF"/>
          </a:solidFill>
          <a:ln w="12700">
            <a:solidFill>
              <a:srgbClr val="D3DAE3"/>
            </a:solidFill>
            <a:prstDash val="solid"/>
          </a:ln>
        </p:spPr>
      </p:sp>
      <p:sp>
        <p:nvSpPr>
          <p:cNvPr id="7" name="Shape 5"/>
          <p:cNvSpPr/>
          <p:nvPr/>
        </p:nvSpPr>
        <p:spPr>
          <a:xfrm>
            <a:off x="566928" y="1325880"/>
            <a:ext cx="64008" cy="872338"/>
          </a:xfrm>
          <a:prstGeom prst="rect">
            <a:avLst/>
          </a:prstGeom>
          <a:solidFill>
            <a:srgbClr val="C62828"/>
          </a:solidFill>
          <a:ln w="12700">
            <a:solidFill>
              <a:srgbClr val="C62828"/>
            </a:solidFill>
            <a:prstDash val="solid"/>
          </a:ln>
        </p:spPr>
      </p:sp>
      <p:sp>
        <p:nvSpPr>
          <p:cNvPr id="8" name="Text 6"/>
          <p:cNvSpPr/>
          <p:nvPr/>
        </p:nvSpPr>
        <p:spPr>
          <a:xfrm>
            <a:off x="749808" y="1325880"/>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Không tìm thấy dữ liệu. Có thể do sai thông tin thẻ, hoặc thẻ chưa phát sinh chi phí cùng chi trả.</a:t>
            </a:r>
            <a:endParaRPr lang="en-US" sz="1300" dirty="0"/>
          </a:p>
        </p:txBody>
      </p:sp>
      <p:sp>
        <p:nvSpPr>
          <p:cNvPr id="9" name="Text 7"/>
          <p:cNvSpPr/>
          <p:nvPr/>
        </p:nvSpPr>
        <p:spPr>
          <a:xfrm>
            <a:off x="5211220" y="1325880"/>
            <a:ext cx="2653881" cy="8723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Cổng dùng CHUNG một mã cho hai tình huống khác nhau</a:t>
            </a:r>
            <a:endParaRPr lang="en-US" sz="1200" dirty="0"/>
          </a:p>
        </p:txBody>
      </p:sp>
      <p:sp>
        <p:nvSpPr>
          <p:cNvPr id="10" name="Text 8"/>
          <p:cNvSpPr/>
          <p:nvPr/>
        </p:nvSpPr>
        <p:spPr>
          <a:xfrm>
            <a:off x="7975680" y="1325880"/>
            <a:ext cx="3538509" cy="872338"/>
          </a:xfrm>
          <a:prstGeom prst="rect">
            <a:avLst/>
          </a:prstGeom>
          <a:noFill/>
          <a:ln/>
        </p:spPr>
        <p:txBody>
          <a:bodyPr wrap="square" rtlCol="0" anchor="ctr"/>
          <a:lstStyle/>
          <a:p>
            <a:pPr indent="0" marL="0">
              <a:lnSpc>
                <a:spcPts val="1700"/>
              </a:lnSpc>
              <a:buNone/>
            </a:pPr>
            <a:r>
              <a:rPr lang="en-US" sz="1250" dirty="0">
                <a:solidFill>
                  <a:srgbClr val="1A1A1A"/>
                </a:solidFill>
                <a:latin typeface="Arial" pitchFamily="34" charset="0"/>
                <a:ea typeface="Arial" pitchFamily="34" charset="-122"/>
                <a:cs typeface="Arial" pitchFamily="34" charset="-120"/>
              </a:rPr>
              <a:t>Kiểm tra lại mã thẻ, họ tên, ngày sinh. Thông tin đã đúng thì nghĩa là thẻ chưa phát sinh chi phí cùng chi trả trong năm — KHÔNG phải lỗi</a:t>
            </a:r>
            <a:endParaRPr lang="en-US" sz="1250" dirty="0"/>
          </a:p>
        </p:txBody>
      </p:sp>
      <p:sp>
        <p:nvSpPr>
          <p:cNvPr id="11" name="Shape 9"/>
          <p:cNvSpPr/>
          <p:nvPr/>
        </p:nvSpPr>
        <p:spPr>
          <a:xfrm>
            <a:off x="566928" y="2326234"/>
            <a:ext cx="11057839" cy="872338"/>
          </a:xfrm>
          <a:prstGeom prst="rect">
            <a:avLst/>
          </a:prstGeom>
          <a:solidFill>
            <a:srgbClr val="FFFFFF"/>
          </a:solidFill>
          <a:ln w="12700">
            <a:solidFill>
              <a:srgbClr val="D3DAE3"/>
            </a:solidFill>
            <a:prstDash val="solid"/>
          </a:ln>
        </p:spPr>
      </p:sp>
      <p:sp>
        <p:nvSpPr>
          <p:cNvPr id="12" name="Shape 10"/>
          <p:cNvSpPr/>
          <p:nvPr/>
        </p:nvSpPr>
        <p:spPr>
          <a:xfrm>
            <a:off x="566928" y="2326234"/>
            <a:ext cx="64008" cy="872338"/>
          </a:xfrm>
          <a:prstGeom prst="rect">
            <a:avLst/>
          </a:prstGeom>
          <a:solidFill>
            <a:srgbClr val="C62828"/>
          </a:solidFill>
          <a:ln w="12700">
            <a:solidFill>
              <a:srgbClr val="C62828"/>
            </a:solidFill>
            <a:prstDash val="solid"/>
          </a:ln>
        </p:spPr>
      </p:sp>
      <p:sp>
        <p:nvSpPr>
          <p:cNvPr id="13" name="Text 11"/>
          <p:cNvSpPr/>
          <p:nvPr/>
        </p:nvSpPr>
        <p:spPr>
          <a:xfrm>
            <a:off x="749808" y="2326234"/>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Chọn cơ sở khám chữa bệnh rồi bấm Tra cứu</a:t>
            </a:r>
            <a:endParaRPr lang="en-US" sz="1300" dirty="0"/>
          </a:p>
        </p:txBody>
      </p:sp>
      <p:sp>
        <p:nvSpPr>
          <p:cNvPr id="14" name="Text 12"/>
          <p:cNvSpPr/>
          <p:nvPr/>
        </p:nvSpPr>
        <p:spPr>
          <a:xfrm>
            <a:off x="5211220" y="2326234"/>
            <a:ext cx="2653881" cy="8723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Chưa chọn cơ sở</a:t>
            </a:r>
            <a:endParaRPr lang="en-US" sz="1200" dirty="0"/>
          </a:p>
        </p:txBody>
      </p:sp>
      <p:sp>
        <p:nvSpPr>
          <p:cNvPr id="15" name="Text 13"/>
          <p:cNvSpPr/>
          <p:nvPr/>
        </p:nvSpPr>
        <p:spPr>
          <a:xfrm>
            <a:off x="7975680" y="2326234"/>
            <a:ext cx="3538509" cy="872338"/>
          </a:xfrm>
          <a:prstGeom prst="rect">
            <a:avLst/>
          </a:prstGeom>
          <a:noFill/>
          <a:ln/>
        </p:spPr>
        <p:txBody>
          <a:bodyPr wrap="square" rtlCol="0" anchor="ctr"/>
          <a:lstStyle/>
          <a:p>
            <a:pPr indent="0" marL="0">
              <a:lnSpc>
                <a:spcPts val="1700"/>
              </a:lnSpc>
              <a:buNone/>
            </a:pPr>
            <a:r>
              <a:rPr lang="en-US" sz="1250" dirty="0">
                <a:solidFill>
                  <a:srgbClr val="1A1A1A"/>
                </a:solidFill>
                <a:latin typeface="Arial" pitchFamily="34" charset="0"/>
                <a:ea typeface="Arial" pitchFamily="34" charset="-122"/>
                <a:cs typeface="Arial" pitchFamily="34" charset="-120"/>
              </a:rPr>
              <a:t>Chọn cơ sở trong ô đầu tiên rồi tra lại</a:t>
            </a:r>
            <a:endParaRPr lang="en-US" sz="1250" dirty="0"/>
          </a:p>
        </p:txBody>
      </p:sp>
      <p:sp>
        <p:nvSpPr>
          <p:cNvPr id="16" name="Shape 14"/>
          <p:cNvSpPr/>
          <p:nvPr/>
        </p:nvSpPr>
        <p:spPr>
          <a:xfrm>
            <a:off x="566928" y="3326587"/>
            <a:ext cx="11057839" cy="872338"/>
          </a:xfrm>
          <a:prstGeom prst="rect">
            <a:avLst/>
          </a:prstGeom>
          <a:solidFill>
            <a:srgbClr val="FFFFFF"/>
          </a:solidFill>
          <a:ln w="12700">
            <a:solidFill>
              <a:srgbClr val="D3DAE3"/>
            </a:solidFill>
            <a:prstDash val="solid"/>
          </a:ln>
        </p:spPr>
      </p:sp>
      <p:sp>
        <p:nvSpPr>
          <p:cNvPr id="17" name="Shape 15"/>
          <p:cNvSpPr/>
          <p:nvPr/>
        </p:nvSpPr>
        <p:spPr>
          <a:xfrm>
            <a:off x="566928" y="3326587"/>
            <a:ext cx="64008" cy="872338"/>
          </a:xfrm>
          <a:prstGeom prst="rect">
            <a:avLst/>
          </a:prstGeom>
          <a:solidFill>
            <a:srgbClr val="C62828"/>
          </a:solidFill>
          <a:ln w="12700">
            <a:solidFill>
              <a:srgbClr val="C62828"/>
            </a:solidFill>
            <a:prstDash val="solid"/>
          </a:ln>
        </p:spPr>
      </p:sp>
      <p:sp>
        <p:nvSpPr>
          <p:cNvPr id="18" name="Text 16"/>
          <p:cNvSpPr/>
          <p:nvPr/>
        </p:nvSpPr>
        <p:spPr>
          <a:xfrm>
            <a:off x="749808" y="3326587"/>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Mã thẻ BHYT/CCCD phải có 10, 12, 15 hoặc 17 ký tự</a:t>
            </a:r>
            <a:endParaRPr lang="en-US" sz="1300" dirty="0"/>
          </a:p>
        </p:txBody>
      </p:sp>
      <p:sp>
        <p:nvSpPr>
          <p:cNvPr id="19" name="Text 17"/>
          <p:cNvSpPr/>
          <p:nvPr/>
        </p:nvSpPr>
        <p:spPr>
          <a:xfrm>
            <a:off x="5211220" y="3326587"/>
            <a:ext cx="2653881" cy="8723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Nhập sai số ký tự</a:t>
            </a:r>
            <a:endParaRPr lang="en-US" sz="1200" dirty="0"/>
          </a:p>
        </p:txBody>
      </p:sp>
      <p:sp>
        <p:nvSpPr>
          <p:cNvPr id="20" name="Text 18"/>
          <p:cNvSpPr/>
          <p:nvPr/>
        </p:nvSpPr>
        <p:spPr>
          <a:xfrm>
            <a:off x="7975680" y="3326587"/>
            <a:ext cx="3538509" cy="872338"/>
          </a:xfrm>
          <a:prstGeom prst="rect">
            <a:avLst/>
          </a:prstGeom>
          <a:noFill/>
          <a:ln/>
        </p:spPr>
        <p:txBody>
          <a:bodyPr wrap="square" rtlCol="0" anchor="ctr"/>
          <a:lstStyle/>
          <a:p>
            <a:pPr indent="0" marL="0">
              <a:lnSpc>
                <a:spcPts val="1700"/>
              </a:lnSpc>
              <a:buNone/>
            </a:pPr>
            <a:r>
              <a:rPr lang="en-US" sz="1250" dirty="0">
                <a:solidFill>
                  <a:srgbClr val="1A1A1A"/>
                </a:solidFill>
                <a:latin typeface="Arial" pitchFamily="34" charset="0"/>
                <a:ea typeface="Arial" pitchFamily="34" charset="-122"/>
                <a:cs typeface="Arial" pitchFamily="34" charset="-120"/>
              </a:rPr>
              <a:t>Kiểm tra lại mã trên thẻ BHYT hoặc trên căn cước công dân</a:t>
            </a:r>
            <a:endParaRPr lang="en-US" sz="1250" dirty="0"/>
          </a:p>
        </p:txBody>
      </p:sp>
      <p:sp>
        <p:nvSpPr>
          <p:cNvPr id="21" name="Shape 19"/>
          <p:cNvSpPr/>
          <p:nvPr/>
        </p:nvSpPr>
        <p:spPr>
          <a:xfrm>
            <a:off x="566928" y="4326941"/>
            <a:ext cx="11057839" cy="872338"/>
          </a:xfrm>
          <a:prstGeom prst="rect">
            <a:avLst/>
          </a:prstGeom>
          <a:solidFill>
            <a:srgbClr val="FFFFFF"/>
          </a:solidFill>
          <a:ln w="12700">
            <a:solidFill>
              <a:srgbClr val="D3DAE3"/>
            </a:solidFill>
            <a:prstDash val="solid"/>
          </a:ln>
        </p:spPr>
      </p:sp>
      <p:sp>
        <p:nvSpPr>
          <p:cNvPr id="22" name="Shape 20"/>
          <p:cNvSpPr/>
          <p:nvPr/>
        </p:nvSpPr>
        <p:spPr>
          <a:xfrm>
            <a:off x="566928" y="4326941"/>
            <a:ext cx="64008" cy="872338"/>
          </a:xfrm>
          <a:prstGeom prst="rect">
            <a:avLst/>
          </a:prstGeom>
          <a:solidFill>
            <a:srgbClr val="C62828"/>
          </a:solidFill>
          <a:ln w="12700">
            <a:solidFill>
              <a:srgbClr val="C62828"/>
            </a:solidFill>
            <a:prstDash val="solid"/>
          </a:ln>
        </p:spPr>
      </p:sp>
      <p:sp>
        <p:nvSpPr>
          <p:cNvPr id="23" name="Text 21"/>
          <p:cNvSpPr/>
          <p:nvPr/>
        </p:nvSpPr>
        <p:spPr>
          <a:xfrm>
            <a:off x="749808" y="4326941"/>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Ngày sinh phải theo dd/mm/yyyy, mm/yyyy hoặc yyyy</a:t>
            </a:r>
            <a:endParaRPr lang="en-US" sz="1300" dirty="0"/>
          </a:p>
        </p:txBody>
      </p:sp>
      <p:sp>
        <p:nvSpPr>
          <p:cNvPr id="24" name="Text 22"/>
          <p:cNvSpPr/>
          <p:nvPr/>
        </p:nvSpPr>
        <p:spPr>
          <a:xfrm>
            <a:off x="5211220" y="4326941"/>
            <a:ext cx="2653881" cy="8723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Nhập thiếu chữ số</a:t>
            </a:r>
            <a:endParaRPr lang="en-US" sz="1200" dirty="0"/>
          </a:p>
        </p:txBody>
      </p:sp>
      <p:sp>
        <p:nvSpPr>
          <p:cNvPr id="25" name="Text 23"/>
          <p:cNvSpPr/>
          <p:nvPr/>
        </p:nvSpPr>
        <p:spPr>
          <a:xfrm>
            <a:off x="7975680" y="4326941"/>
            <a:ext cx="3538509" cy="872338"/>
          </a:xfrm>
          <a:prstGeom prst="rect">
            <a:avLst/>
          </a:prstGeom>
          <a:noFill/>
          <a:ln/>
        </p:spPr>
        <p:txBody>
          <a:bodyPr wrap="square" rtlCol="0" anchor="ctr"/>
          <a:lstStyle/>
          <a:p>
            <a:pPr indent="0" marL="0">
              <a:lnSpc>
                <a:spcPts val="1700"/>
              </a:lnSpc>
              <a:buNone/>
            </a:pPr>
            <a:r>
              <a:rPr lang="en-US" sz="1250" dirty="0">
                <a:solidFill>
                  <a:srgbClr val="1A1A1A"/>
                </a:solidFill>
                <a:latin typeface="Arial" pitchFamily="34" charset="0"/>
                <a:ea typeface="Arial" pitchFamily="34" charset="-122"/>
                <a:cs typeface="Arial" pitchFamily="34" charset="-120"/>
              </a:rPr>
              <a:t>Phải gõ 01/01/1964 chứ không gõ 1/1/1964</a:t>
            </a:r>
            <a:endParaRPr lang="en-US" sz="1250" dirty="0"/>
          </a:p>
        </p:txBody>
      </p:sp>
      <p:sp>
        <p:nvSpPr>
          <p:cNvPr id="26" name="Shape 24"/>
          <p:cNvSpPr/>
          <p:nvPr/>
        </p:nvSpPr>
        <p:spPr>
          <a:xfrm>
            <a:off x="566928" y="5327294"/>
            <a:ext cx="11057839" cy="872338"/>
          </a:xfrm>
          <a:prstGeom prst="rect">
            <a:avLst/>
          </a:prstGeom>
          <a:solidFill>
            <a:srgbClr val="FFFFFF"/>
          </a:solidFill>
          <a:ln w="12700">
            <a:solidFill>
              <a:srgbClr val="D3DAE3"/>
            </a:solidFill>
            <a:prstDash val="solid"/>
          </a:ln>
        </p:spPr>
      </p:sp>
      <p:sp>
        <p:nvSpPr>
          <p:cNvPr id="27" name="Shape 25"/>
          <p:cNvSpPr/>
          <p:nvPr/>
        </p:nvSpPr>
        <p:spPr>
          <a:xfrm>
            <a:off x="566928" y="5327294"/>
            <a:ext cx="64008" cy="872338"/>
          </a:xfrm>
          <a:prstGeom prst="rect">
            <a:avLst/>
          </a:prstGeom>
          <a:solidFill>
            <a:srgbClr val="C62828"/>
          </a:solidFill>
          <a:ln w="12700">
            <a:solidFill>
              <a:srgbClr val="C62828"/>
            </a:solidFill>
            <a:prstDash val="solid"/>
          </a:ln>
        </p:spPr>
      </p:sp>
      <p:sp>
        <p:nvSpPr>
          <p:cNvPr id="28" name="Text 26"/>
          <p:cNvSpPr/>
          <p:nvPr/>
        </p:nvSpPr>
        <p:spPr>
          <a:xfrm>
            <a:off x="749808" y="5327294"/>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Cổng BHXH không trả lời sau 120 giây…</a:t>
            </a:r>
            <a:endParaRPr lang="en-US" sz="1300" dirty="0"/>
          </a:p>
        </p:txBody>
      </p:sp>
      <p:sp>
        <p:nvSpPr>
          <p:cNvPr id="29" name="Text 27"/>
          <p:cNvSpPr/>
          <p:nvPr/>
        </p:nvSpPr>
        <p:spPr>
          <a:xfrm>
            <a:off x="5211220" y="5327294"/>
            <a:ext cx="2653881" cy="8723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Cổng vẫn hoạt động nhưng trả lời quá chậm</a:t>
            </a:r>
            <a:endParaRPr lang="en-US" sz="1200" dirty="0"/>
          </a:p>
        </p:txBody>
      </p:sp>
      <p:sp>
        <p:nvSpPr>
          <p:cNvPr id="30" name="Text 28"/>
          <p:cNvSpPr/>
          <p:nvPr/>
        </p:nvSpPr>
        <p:spPr>
          <a:xfrm>
            <a:off x="7975680" y="5327294"/>
            <a:ext cx="3538509" cy="872338"/>
          </a:xfrm>
          <a:prstGeom prst="rect">
            <a:avLst/>
          </a:prstGeom>
          <a:noFill/>
          <a:ln/>
        </p:spPr>
        <p:txBody>
          <a:bodyPr wrap="square" rtlCol="0" anchor="ctr"/>
          <a:lstStyle/>
          <a:p>
            <a:pPr indent="0" marL="0">
              <a:lnSpc>
                <a:spcPts val="1700"/>
              </a:lnSpc>
              <a:buNone/>
            </a:pPr>
            <a:r>
              <a:rPr lang="en-US" sz="1250" dirty="0">
                <a:solidFill>
                  <a:srgbClr val="1A1A1A"/>
                </a:solidFill>
                <a:latin typeface="Arial" pitchFamily="34" charset="0"/>
                <a:ea typeface="Arial" pitchFamily="34" charset="-122"/>
                <a:cs typeface="Arial" pitchFamily="34" charset="-120"/>
              </a:rPr>
              <a:t>KHÔNG phải sự cố đường truyền của bệnh viện. Đợi vài phút rồi bấm Thử lại</a:t>
            </a:r>
            <a:endParaRPr lang="en-US" sz="1250" dirty="0"/>
          </a:p>
        </p:txBody>
      </p:sp>
      <p:sp>
        <p:nvSpPr>
          <p:cNvPr id="31" name="Text 29"/>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C — Tiếp đón &amp; Viện phí</a:t>
            </a:r>
            <a:endParaRPr lang="en-US" sz="900" dirty="0"/>
          </a:p>
        </p:txBody>
      </p:sp>
      <p:sp>
        <p:nvSpPr>
          <p:cNvPr id="32" name="Text 30"/>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7</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Các thông báo phải báo lên — không tự xử lý được</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Shape 4"/>
          <p:cNvSpPr/>
          <p:nvPr/>
        </p:nvSpPr>
        <p:spPr>
          <a:xfrm>
            <a:off x="566928" y="1325880"/>
            <a:ext cx="11057839" cy="629107"/>
          </a:xfrm>
          <a:prstGeom prst="rect">
            <a:avLst/>
          </a:prstGeom>
          <a:solidFill>
            <a:srgbClr val="FFFFFF"/>
          </a:solidFill>
          <a:ln w="12700">
            <a:solidFill>
              <a:srgbClr val="D3DAE3"/>
            </a:solidFill>
            <a:prstDash val="solid"/>
          </a:ln>
        </p:spPr>
      </p:sp>
      <p:sp>
        <p:nvSpPr>
          <p:cNvPr id="7" name="Shape 5"/>
          <p:cNvSpPr/>
          <p:nvPr/>
        </p:nvSpPr>
        <p:spPr>
          <a:xfrm>
            <a:off x="566928" y="1325880"/>
            <a:ext cx="64008" cy="629107"/>
          </a:xfrm>
          <a:prstGeom prst="rect">
            <a:avLst/>
          </a:prstGeom>
          <a:solidFill>
            <a:srgbClr val="C62828"/>
          </a:solidFill>
          <a:ln w="12700">
            <a:solidFill>
              <a:srgbClr val="C62828"/>
            </a:solidFill>
            <a:prstDash val="solid"/>
          </a:ln>
        </p:spPr>
      </p:sp>
      <p:sp>
        <p:nvSpPr>
          <p:cNvPr id="8" name="Text 6"/>
          <p:cNvSpPr/>
          <p:nvPr/>
        </p:nvSpPr>
        <p:spPr>
          <a:xfrm>
            <a:off x="749808" y="1325880"/>
            <a:ext cx="4423136" cy="629107"/>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Không xác thực được với cổng BHXH…</a:t>
            </a:r>
            <a:endParaRPr lang="en-US" sz="1300" dirty="0"/>
          </a:p>
        </p:txBody>
      </p:sp>
      <p:sp>
        <p:nvSpPr>
          <p:cNvPr id="9" name="Text 7"/>
          <p:cNvSpPr/>
          <p:nvPr/>
        </p:nvSpPr>
        <p:spPr>
          <a:xfrm>
            <a:off x="5211220" y="1325880"/>
            <a:ext cx="2653881" cy="629107"/>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Phiên làm việc hết hạn, hoặc địa chỉ IP của máy chủ khác IP đã đăng ký với cơ quan BHXH</a:t>
            </a:r>
            <a:endParaRPr lang="en-US" sz="1200" dirty="0"/>
          </a:p>
        </p:txBody>
      </p:sp>
      <p:sp>
        <p:nvSpPr>
          <p:cNvPr id="10" name="Text 8"/>
          <p:cNvSpPr/>
          <p:nvPr/>
        </p:nvSpPr>
        <p:spPr>
          <a:xfrm>
            <a:off x="7975680" y="1325880"/>
            <a:ext cx="3538509" cy="629107"/>
          </a:xfrm>
          <a:prstGeom prst="rect">
            <a:avLst/>
          </a:prstGeom>
          <a:noFill/>
          <a:ln/>
        </p:spPr>
        <p:txBody>
          <a:bodyPr wrap="square" rtlCol="0" anchor="ctr"/>
          <a:lstStyle/>
          <a:p>
            <a:pPr indent="0" marL="0">
              <a:lnSpc>
                <a:spcPts val="1700"/>
              </a:lnSpc>
              <a:buNone/>
            </a:pPr>
            <a:r>
              <a:rPr lang="en-US" sz="1250" dirty="0">
                <a:solidFill>
                  <a:srgbClr val="1A1A1A"/>
                </a:solidFill>
                <a:latin typeface="Arial" pitchFamily="34" charset="0"/>
                <a:ea typeface="Arial" pitchFamily="34" charset="-122"/>
                <a:cs typeface="Arial" pitchFamily="34" charset="-120"/>
              </a:rPr>
              <a:t>Báo bộ phận công nghệ thông tin</a:t>
            </a:r>
            <a:endParaRPr lang="en-US" sz="1250" dirty="0"/>
          </a:p>
        </p:txBody>
      </p:sp>
      <p:sp>
        <p:nvSpPr>
          <p:cNvPr id="11" name="Shape 9"/>
          <p:cNvSpPr/>
          <p:nvPr/>
        </p:nvSpPr>
        <p:spPr>
          <a:xfrm>
            <a:off x="566928" y="2083003"/>
            <a:ext cx="11057839" cy="629107"/>
          </a:xfrm>
          <a:prstGeom prst="rect">
            <a:avLst/>
          </a:prstGeom>
          <a:solidFill>
            <a:srgbClr val="FFFFFF"/>
          </a:solidFill>
          <a:ln w="12700">
            <a:solidFill>
              <a:srgbClr val="D3DAE3"/>
            </a:solidFill>
            <a:prstDash val="solid"/>
          </a:ln>
        </p:spPr>
      </p:sp>
      <p:sp>
        <p:nvSpPr>
          <p:cNvPr id="12" name="Shape 10"/>
          <p:cNvSpPr/>
          <p:nvPr/>
        </p:nvSpPr>
        <p:spPr>
          <a:xfrm>
            <a:off x="566928" y="2083003"/>
            <a:ext cx="64008" cy="629107"/>
          </a:xfrm>
          <a:prstGeom prst="rect">
            <a:avLst/>
          </a:prstGeom>
          <a:solidFill>
            <a:srgbClr val="C62828"/>
          </a:solidFill>
          <a:ln w="12700">
            <a:solidFill>
              <a:srgbClr val="C62828"/>
            </a:solidFill>
            <a:prstDash val="solid"/>
          </a:ln>
        </p:spPr>
      </p:sp>
      <p:sp>
        <p:nvSpPr>
          <p:cNvPr id="13" name="Text 11"/>
          <p:cNvSpPr/>
          <p:nvPr/>
        </p:nvSpPr>
        <p:spPr>
          <a:xfrm>
            <a:off x="749808" y="2083003"/>
            <a:ext cx="4423136" cy="629107"/>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Tài khoản của cơ sở … đang bị cổng hạn chế tra cứu</a:t>
            </a:r>
            <a:endParaRPr lang="en-US" sz="1300" dirty="0"/>
          </a:p>
        </p:txBody>
      </p:sp>
      <p:sp>
        <p:nvSpPr>
          <p:cNvPr id="14" name="Text 12"/>
          <p:cNvSpPr/>
          <p:nvPr/>
        </p:nvSpPr>
        <p:spPr>
          <a:xfrm>
            <a:off x="5211220" y="2083003"/>
            <a:ext cx="2653881" cy="629107"/>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Vấn đề tài khoản, KHÔNG phải lỗi phần mềm</a:t>
            </a:r>
            <a:endParaRPr lang="en-US" sz="1200" dirty="0"/>
          </a:p>
        </p:txBody>
      </p:sp>
      <p:sp>
        <p:nvSpPr>
          <p:cNvPr id="15" name="Text 13"/>
          <p:cNvSpPr/>
          <p:nvPr/>
        </p:nvSpPr>
        <p:spPr>
          <a:xfrm>
            <a:off x="7975680" y="2083003"/>
            <a:ext cx="3538509" cy="629107"/>
          </a:xfrm>
          <a:prstGeom prst="rect">
            <a:avLst/>
          </a:prstGeom>
          <a:noFill/>
          <a:ln/>
        </p:spPr>
        <p:txBody>
          <a:bodyPr wrap="square" rtlCol="0" anchor="ctr"/>
          <a:lstStyle/>
          <a:p>
            <a:pPr indent="0" marL="0">
              <a:lnSpc>
                <a:spcPts val="1700"/>
              </a:lnSpc>
              <a:buNone/>
            </a:pPr>
            <a:r>
              <a:rPr lang="en-US" sz="1250" dirty="0">
                <a:solidFill>
                  <a:srgbClr val="1A1A1A"/>
                </a:solidFill>
                <a:latin typeface="Arial" pitchFamily="34" charset="0"/>
                <a:ea typeface="Arial" pitchFamily="34" charset="-122"/>
                <a:cs typeface="Arial" pitchFamily="34" charset="-120"/>
              </a:rPr>
              <a:t>Liên hệ cơ quan BHXH tỉnh để được mở lại</a:t>
            </a:r>
            <a:endParaRPr lang="en-US" sz="1250" dirty="0"/>
          </a:p>
        </p:txBody>
      </p:sp>
      <p:sp>
        <p:nvSpPr>
          <p:cNvPr id="16" name="Shape 14"/>
          <p:cNvSpPr/>
          <p:nvPr/>
        </p:nvSpPr>
        <p:spPr>
          <a:xfrm>
            <a:off x="566928" y="2840126"/>
            <a:ext cx="11057839" cy="629107"/>
          </a:xfrm>
          <a:prstGeom prst="rect">
            <a:avLst/>
          </a:prstGeom>
          <a:solidFill>
            <a:srgbClr val="FFFFFF"/>
          </a:solidFill>
          <a:ln w="12700">
            <a:solidFill>
              <a:srgbClr val="D3DAE3"/>
            </a:solidFill>
            <a:prstDash val="solid"/>
          </a:ln>
        </p:spPr>
      </p:sp>
      <p:sp>
        <p:nvSpPr>
          <p:cNvPr id="17" name="Shape 15"/>
          <p:cNvSpPr/>
          <p:nvPr/>
        </p:nvSpPr>
        <p:spPr>
          <a:xfrm>
            <a:off x="566928" y="2840126"/>
            <a:ext cx="64008" cy="629107"/>
          </a:xfrm>
          <a:prstGeom prst="rect">
            <a:avLst/>
          </a:prstGeom>
          <a:solidFill>
            <a:srgbClr val="C62828"/>
          </a:solidFill>
          <a:ln w="12700">
            <a:solidFill>
              <a:srgbClr val="C62828"/>
            </a:solidFill>
            <a:prstDash val="solid"/>
          </a:ln>
        </p:spPr>
      </p:sp>
      <p:sp>
        <p:nvSpPr>
          <p:cNvPr id="18" name="Text 16"/>
          <p:cNvSpPr/>
          <p:nvPr/>
        </p:nvSpPr>
        <p:spPr>
          <a:xfrm>
            <a:off x="749808" y="2840126"/>
            <a:ext cx="4423136" cy="629107"/>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Cơ sở … chưa khai tài khoản cổng BHXH…</a:t>
            </a:r>
            <a:endParaRPr lang="en-US" sz="1300" dirty="0"/>
          </a:p>
        </p:txBody>
      </p:sp>
      <p:sp>
        <p:nvSpPr>
          <p:cNvPr id="19" name="Text 17"/>
          <p:cNvSpPr/>
          <p:nvPr/>
        </p:nvSpPr>
        <p:spPr>
          <a:xfrm>
            <a:off x="5211220" y="2840126"/>
            <a:ext cx="2653881" cy="629107"/>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Cơ sở chưa được cấu hình</a:t>
            </a:r>
            <a:endParaRPr lang="en-US" sz="1200" dirty="0"/>
          </a:p>
        </p:txBody>
      </p:sp>
      <p:sp>
        <p:nvSpPr>
          <p:cNvPr id="20" name="Text 18"/>
          <p:cNvSpPr/>
          <p:nvPr/>
        </p:nvSpPr>
        <p:spPr>
          <a:xfrm>
            <a:off x="7975680" y="2840126"/>
            <a:ext cx="3538509" cy="629107"/>
          </a:xfrm>
          <a:prstGeom prst="rect">
            <a:avLst/>
          </a:prstGeom>
          <a:noFill/>
          <a:ln/>
        </p:spPr>
        <p:txBody>
          <a:bodyPr wrap="square" rtlCol="0" anchor="ctr"/>
          <a:lstStyle/>
          <a:p>
            <a:pPr indent="0" marL="0">
              <a:lnSpc>
                <a:spcPts val="1700"/>
              </a:lnSpc>
              <a:buNone/>
            </a:pPr>
            <a:r>
              <a:rPr lang="en-US" sz="1250" dirty="0">
                <a:solidFill>
                  <a:srgbClr val="1A1A1A"/>
                </a:solidFill>
                <a:latin typeface="Arial" pitchFamily="34" charset="0"/>
                <a:ea typeface="Arial" pitchFamily="34" charset="-122"/>
                <a:cs typeface="Arial" pitchFamily="34" charset="-120"/>
              </a:rPr>
              <a:t>Báo bộ phận công nghệ thông tin khai tài khoản cho cơ sở đó</a:t>
            </a:r>
            <a:endParaRPr lang="en-US" sz="1250" dirty="0"/>
          </a:p>
        </p:txBody>
      </p:sp>
      <p:sp>
        <p:nvSpPr>
          <p:cNvPr id="21" name="Shape 19"/>
          <p:cNvSpPr/>
          <p:nvPr/>
        </p:nvSpPr>
        <p:spPr>
          <a:xfrm>
            <a:off x="566928" y="3597250"/>
            <a:ext cx="11057839" cy="629107"/>
          </a:xfrm>
          <a:prstGeom prst="rect">
            <a:avLst/>
          </a:prstGeom>
          <a:solidFill>
            <a:srgbClr val="FFFFFF"/>
          </a:solidFill>
          <a:ln w="12700">
            <a:solidFill>
              <a:srgbClr val="D3DAE3"/>
            </a:solidFill>
            <a:prstDash val="solid"/>
          </a:ln>
        </p:spPr>
      </p:sp>
      <p:sp>
        <p:nvSpPr>
          <p:cNvPr id="22" name="Shape 20"/>
          <p:cNvSpPr/>
          <p:nvPr/>
        </p:nvSpPr>
        <p:spPr>
          <a:xfrm>
            <a:off x="566928" y="3597250"/>
            <a:ext cx="64008" cy="629107"/>
          </a:xfrm>
          <a:prstGeom prst="rect">
            <a:avLst/>
          </a:prstGeom>
          <a:solidFill>
            <a:srgbClr val="C62828"/>
          </a:solidFill>
          <a:ln w="12700">
            <a:solidFill>
              <a:srgbClr val="C62828"/>
            </a:solidFill>
            <a:prstDash val="solid"/>
          </a:ln>
        </p:spPr>
      </p:sp>
      <p:sp>
        <p:nvSpPr>
          <p:cNvPr id="23" name="Text 21"/>
          <p:cNvSpPr/>
          <p:nvPr/>
        </p:nvSpPr>
        <p:spPr>
          <a:xfrm>
            <a:off x="749808" y="3597250"/>
            <a:ext cx="4423136" cy="629107"/>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Không kết nối được cổng BHXH / Cổng BHXH báo lỗi (500)…</a:t>
            </a:r>
            <a:endParaRPr lang="en-US" sz="1300" dirty="0"/>
          </a:p>
        </p:txBody>
      </p:sp>
      <p:sp>
        <p:nvSpPr>
          <p:cNvPr id="24" name="Text 22"/>
          <p:cNvSpPr/>
          <p:nvPr/>
        </p:nvSpPr>
        <p:spPr>
          <a:xfrm>
            <a:off x="5211220" y="3597250"/>
            <a:ext cx="2653881" cy="629107"/>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Sự cố đường truyền, cổng bảo trì, hoặc lỗi phía hệ thống của cổng</a:t>
            </a:r>
            <a:endParaRPr lang="en-US" sz="1200" dirty="0"/>
          </a:p>
        </p:txBody>
      </p:sp>
      <p:sp>
        <p:nvSpPr>
          <p:cNvPr id="25" name="Text 23"/>
          <p:cNvSpPr/>
          <p:nvPr/>
        </p:nvSpPr>
        <p:spPr>
          <a:xfrm>
            <a:off x="7975680" y="3597250"/>
            <a:ext cx="3538509" cy="629107"/>
          </a:xfrm>
          <a:prstGeom prst="rect">
            <a:avLst/>
          </a:prstGeom>
          <a:noFill/>
          <a:ln/>
        </p:spPr>
        <p:txBody>
          <a:bodyPr wrap="square" rtlCol="0" anchor="ctr"/>
          <a:lstStyle/>
          <a:p>
            <a:pPr indent="0" marL="0">
              <a:lnSpc>
                <a:spcPts val="1700"/>
              </a:lnSpc>
              <a:buNone/>
            </a:pPr>
            <a:r>
              <a:rPr lang="en-US" sz="1250" dirty="0">
                <a:solidFill>
                  <a:srgbClr val="1A1A1A"/>
                </a:solidFill>
                <a:latin typeface="Arial" pitchFamily="34" charset="0"/>
                <a:ea typeface="Arial" pitchFamily="34" charset="-122"/>
                <a:cs typeface="Arial" pitchFamily="34" charset="-120"/>
              </a:rPr>
              <a:t>Chờ vài phút rồi thử lại. Kéo dài thì báo công nghệ thông tin / cơ quan BHXH</a:t>
            </a:r>
            <a:endParaRPr lang="en-US" sz="1250" dirty="0"/>
          </a:p>
        </p:txBody>
      </p:sp>
      <p:sp>
        <p:nvSpPr>
          <p:cNvPr id="26" name="Shape 24"/>
          <p:cNvSpPr/>
          <p:nvPr/>
        </p:nvSpPr>
        <p:spPr>
          <a:xfrm>
            <a:off x="566928" y="4354373"/>
            <a:ext cx="11057839" cy="629107"/>
          </a:xfrm>
          <a:prstGeom prst="rect">
            <a:avLst/>
          </a:prstGeom>
          <a:solidFill>
            <a:srgbClr val="FFFFFF"/>
          </a:solidFill>
          <a:ln w="12700">
            <a:solidFill>
              <a:srgbClr val="D3DAE3"/>
            </a:solidFill>
            <a:prstDash val="solid"/>
          </a:ln>
        </p:spPr>
      </p:sp>
      <p:sp>
        <p:nvSpPr>
          <p:cNvPr id="27" name="Shape 25"/>
          <p:cNvSpPr/>
          <p:nvPr/>
        </p:nvSpPr>
        <p:spPr>
          <a:xfrm>
            <a:off x="566928" y="4354373"/>
            <a:ext cx="64008" cy="629107"/>
          </a:xfrm>
          <a:prstGeom prst="rect">
            <a:avLst/>
          </a:prstGeom>
          <a:solidFill>
            <a:srgbClr val="C62828"/>
          </a:solidFill>
          <a:ln w="12700">
            <a:solidFill>
              <a:srgbClr val="C62828"/>
            </a:solidFill>
            <a:prstDash val="solid"/>
          </a:ln>
        </p:spPr>
      </p:sp>
      <p:sp>
        <p:nvSpPr>
          <p:cNvPr id="28" name="Text 26"/>
          <p:cNvSpPr/>
          <p:nvPr/>
        </p:nvSpPr>
        <p:spPr>
          <a:xfrm>
            <a:off x="749808" y="4354373"/>
            <a:ext cx="4423136" cy="629107"/>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Đã tra cứu được nhưng không lưu được lịch sử tra cứu.</a:t>
            </a:r>
            <a:endParaRPr lang="en-US" sz="1300" dirty="0"/>
          </a:p>
        </p:txBody>
      </p:sp>
      <p:sp>
        <p:nvSpPr>
          <p:cNvPr id="29" name="Text 27"/>
          <p:cNvSpPr/>
          <p:nvPr/>
        </p:nvSpPr>
        <p:spPr>
          <a:xfrm>
            <a:off x="5211220" y="4354373"/>
            <a:ext cx="2653881" cy="629107"/>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Không ghi được vào cơ sở dữ liệu, thường do chưa chạy lệnh tạo bảng</a:t>
            </a:r>
            <a:endParaRPr lang="en-US" sz="1200" dirty="0"/>
          </a:p>
        </p:txBody>
      </p:sp>
      <p:sp>
        <p:nvSpPr>
          <p:cNvPr id="30" name="Text 28"/>
          <p:cNvSpPr/>
          <p:nvPr/>
        </p:nvSpPr>
        <p:spPr>
          <a:xfrm>
            <a:off x="7975680" y="4354373"/>
            <a:ext cx="3538509" cy="629107"/>
          </a:xfrm>
          <a:prstGeom prst="rect">
            <a:avLst/>
          </a:prstGeom>
          <a:noFill/>
          <a:ln/>
        </p:spPr>
        <p:txBody>
          <a:bodyPr wrap="square" rtlCol="0" anchor="ctr"/>
          <a:lstStyle/>
          <a:p>
            <a:pPr indent="0" marL="0">
              <a:lnSpc>
                <a:spcPts val="1700"/>
              </a:lnSpc>
              <a:buNone/>
            </a:pPr>
            <a:r>
              <a:rPr lang="en-US" sz="1250" dirty="0">
                <a:solidFill>
                  <a:srgbClr val="1A1A1A"/>
                </a:solidFill>
                <a:latin typeface="Arial" pitchFamily="34" charset="0"/>
                <a:ea typeface="Arial" pitchFamily="34" charset="-122"/>
                <a:cs typeface="Arial" pitchFamily="34" charset="-120"/>
              </a:rPr>
              <a:t>Kết quả hiển thị VẪN ĐÚNG và dùng được. Báo công nghệ thông tin để khắc phục phần lưu lịch sử</a:t>
            </a:r>
            <a:endParaRPr lang="en-US" sz="1250" dirty="0"/>
          </a:p>
        </p:txBody>
      </p:sp>
      <p:sp>
        <p:nvSpPr>
          <p:cNvPr id="31" name="Shape 29"/>
          <p:cNvSpPr/>
          <p:nvPr/>
        </p:nvSpPr>
        <p:spPr>
          <a:xfrm>
            <a:off x="566928" y="5074920"/>
            <a:ext cx="11057839" cy="1051560"/>
          </a:xfrm>
          <a:prstGeom prst="rect">
            <a:avLst/>
          </a:prstGeom>
          <a:solidFill>
            <a:srgbClr val="FFF6E5"/>
          </a:solidFill>
          <a:ln w="12700">
            <a:solidFill>
              <a:srgbClr val="FFF6E5"/>
            </a:solidFill>
            <a:prstDash val="solid"/>
          </a:ln>
        </p:spPr>
      </p:sp>
      <p:sp>
        <p:nvSpPr>
          <p:cNvPr id="32" name="Shape 30"/>
          <p:cNvSpPr/>
          <p:nvPr/>
        </p:nvSpPr>
        <p:spPr>
          <a:xfrm>
            <a:off x="566928" y="5074920"/>
            <a:ext cx="64008" cy="1051560"/>
          </a:xfrm>
          <a:prstGeom prst="rect">
            <a:avLst/>
          </a:prstGeom>
          <a:solidFill>
            <a:srgbClr val="B26A00"/>
          </a:solidFill>
          <a:ln w="12700">
            <a:solidFill>
              <a:srgbClr val="B26A00"/>
            </a:solidFill>
            <a:prstDash val="solid"/>
          </a:ln>
        </p:spPr>
      </p:sp>
      <p:sp>
        <p:nvSpPr>
          <p:cNvPr id="33" name="Text 31"/>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Khi báo lên, cung cấp đủ: </a:t>
            </a:r>
            <a:pPr indent="0" marL="0">
              <a:lnSpc>
                <a:spcPts val="1900"/>
              </a:lnSpc>
              <a:buNone/>
            </a:pPr>
            <a:r>
              <a:rPr lang="en-US" sz="1300" dirty="0">
                <a:solidFill>
                  <a:srgbClr val="1A1A1A"/>
                </a:solidFill>
                <a:latin typeface="Arial" pitchFamily="34" charset="0"/>
                <a:ea typeface="Arial" pitchFamily="34" charset="-122"/>
                <a:cs typeface="Arial" pitchFamily="34" charset="-120"/>
              </a:rPr>
              <a:t>Nguyên văn thông báo trên màn hình, cơ sở KCB đã chọn, thời điểm tra và mã thẻ đã tra. Thiếu những thông tin này thì bộ phận hỗ trợ phải hỏi lại và mất thêm thời gian.</a:t>
            </a:r>
            <a:endParaRPr lang="en-US" sz="1300" dirty="0"/>
          </a:p>
        </p:txBody>
      </p:sp>
      <p:sp>
        <p:nvSpPr>
          <p:cNvPr id="34" name="Text 32"/>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C — Tiếp đón &amp; Viện phí</a:t>
            </a:r>
            <a:endParaRPr lang="en-US" sz="900" dirty="0"/>
          </a:p>
        </p:txBody>
      </p:sp>
      <p:sp>
        <p:nvSpPr>
          <p:cNvPr id="35" name="Text 33"/>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PHỤ LỤC</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Mức lương cơ sở và 6 tháng lương cơ sở</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11057839" cy="914400"/>
        </p:xfrm>
        <a:graphic>
          <a:graphicData uri="http://schemas.openxmlformats.org/drawingml/2006/table">
            <a:tbl>
              <a:tblPr/>
              <a:tblGrid>
                <a:gridCol w="3649087"/>
                <a:gridCol w="3649087"/>
                <a:gridCol w="3759665"/>
              </a:tblGrid>
              <a:tr h="0">
                <a:tc>
                  <a:txBody>
                    <a:bodyPr/>
                    <a:lstStyle/>
                    <a:p>
                      <a:pPr indent="0" marL="0">
                        <a:buNone/>
                      </a:pPr>
                      <a:r>
                        <a:rPr lang="en-US" sz="1400" b="1" dirty="0">
                          <a:solidFill>
                            <a:srgbClr val="FFFFFF"/>
                          </a:solidFill>
                          <a:latin typeface="Arial" pitchFamily="34" charset="0"/>
                          <a:ea typeface="Arial" pitchFamily="34" charset="-122"/>
                          <a:cs typeface="Arial" pitchFamily="34" charset="-120"/>
                        </a:rPr>
                        <a:t>Áp dụng từ ngày</a:t>
                      </a:r>
                      <a:endParaRPr lang="en-US" sz="14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Lương cơ sở</a:t>
                      </a:r>
                      <a:endParaRPr lang="en-US" sz="14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6 tháng lương cơ sở</a:t>
                      </a:r>
                      <a:endParaRPr lang="en-US" sz="14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r>
              <a:tr h="0">
                <a:tc>
                  <a:txBody>
                    <a:bodyPr/>
                    <a:lstStyle/>
                    <a:p>
                      <a:pPr indent="0" marL="0">
                        <a:buNone/>
                      </a:pPr>
                      <a:r>
                        <a:rPr lang="en-US" sz="1400" dirty="0">
                          <a:solidFill>
                            <a:srgbClr val="1A1A1A"/>
                          </a:solidFill>
                          <a:latin typeface="Arial" pitchFamily="34" charset="0"/>
                          <a:ea typeface="Arial" pitchFamily="34" charset="-122"/>
                          <a:cs typeface="Arial" pitchFamily="34" charset="-120"/>
                        </a:rPr>
                        <a:t>01/7/2023</a:t>
                      </a:r>
                      <a:endParaRPr lang="en-US" sz="14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1.800.000 đ</a:t>
                      </a:r>
                      <a:endParaRPr lang="en-US" sz="14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10.800.000 đ</a:t>
                      </a:r>
                      <a:endParaRPr lang="en-US" sz="14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400" dirty="0">
                          <a:solidFill>
                            <a:srgbClr val="1A1A1A"/>
                          </a:solidFill>
                          <a:latin typeface="Arial" pitchFamily="34" charset="0"/>
                          <a:ea typeface="Arial" pitchFamily="34" charset="-122"/>
                          <a:cs typeface="Arial" pitchFamily="34" charset="-120"/>
                        </a:rPr>
                        <a:t>01/7/2024</a:t>
                      </a:r>
                      <a:endParaRPr lang="en-US" sz="14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2.340.000 đ</a:t>
                      </a:r>
                      <a:endParaRPr lang="en-US" sz="14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400" dirty="0">
                          <a:solidFill>
                            <a:srgbClr val="1A1A1A"/>
                          </a:solidFill>
                          <a:latin typeface="Arial" pitchFamily="34" charset="0"/>
                          <a:ea typeface="Arial" pitchFamily="34" charset="-122"/>
                          <a:cs typeface="Arial" pitchFamily="34" charset="-120"/>
                        </a:rPr>
                        <a:t>14.040.000 đ</a:t>
                      </a:r>
                      <a:endParaRPr lang="en-US" sz="14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A1A1A"/>
                          </a:solidFill>
                          <a:latin typeface="Arial" pitchFamily="34" charset="0"/>
                          <a:ea typeface="Arial" pitchFamily="34" charset="-122"/>
                          <a:cs typeface="Arial" pitchFamily="34" charset="-120"/>
                        </a:rPr>
                        <a:t>01/7/2026</a:t>
                      </a:r>
                      <a:endParaRPr lang="en-US" sz="14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400" b="1" dirty="0">
                          <a:solidFill>
                            <a:srgbClr val="1A1A1A"/>
                          </a:solidFill>
                          <a:latin typeface="Arial" pitchFamily="34" charset="0"/>
                          <a:ea typeface="Arial" pitchFamily="34" charset="-122"/>
                          <a:cs typeface="Arial" pitchFamily="34" charset="-120"/>
                        </a:rPr>
                        <a:t>2.530.000 đ</a:t>
                      </a:r>
                      <a:endParaRPr lang="en-US" sz="14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400" b="1" dirty="0">
                          <a:solidFill>
                            <a:srgbClr val="1A1A1A"/>
                          </a:solidFill>
                          <a:latin typeface="Arial" pitchFamily="34" charset="0"/>
                          <a:ea typeface="Arial" pitchFamily="34" charset="-122"/>
                          <a:cs typeface="Arial" pitchFamily="34" charset="-120"/>
                        </a:rPr>
                        <a:t>15.180.000 đ</a:t>
                      </a:r>
                      <a:endParaRPr lang="en-US" sz="14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bl>
          </a:graphicData>
        </a:graphic>
      </p:graphicFrame>
      <p:sp>
        <p:nvSpPr>
          <p:cNvPr id="7" name="Shape 4"/>
          <p:cNvSpPr/>
          <p:nvPr/>
        </p:nvSpPr>
        <p:spPr>
          <a:xfrm>
            <a:off x="566928" y="5074920"/>
            <a:ext cx="11057839" cy="1051560"/>
          </a:xfrm>
          <a:prstGeom prst="rect">
            <a:avLst/>
          </a:prstGeom>
          <a:solidFill>
            <a:srgbClr val="FFF6E5"/>
          </a:solidFill>
          <a:ln w="12700">
            <a:solidFill>
              <a:srgbClr val="FFF6E5"/>
            </a:solidFill>
            <a:prstDash val="solid"/>
          </a:ln>
        </p:spPr>
      </p:sp>
      <p:sp>
        <p:nvSpPr>
          <p:cNvPr id="8" name="Shape 5"/>
          <p:cNvSpPr/>
          <p:nvPr/>
        </p:nvSpPr>
        <p:spPr>
          <a:xfrm>
            <a:off x="566928" y="5074920"/>
            <a:ext cx="64008" cy="1051560"/>
          </a:xfrm>
          <a:prstGeom prst="rect">
            <a:avLst/>
          </a:prstGeom>
          <a:solidFill>
            <a:srgbClr val="B26A00"/>
          </a:solidFill>
          <a:ln w="12700">
            <a:solidFill>
              <a:srgbClr val="B26A00"/>
            </a:solidFill>
            <a:prstDash val="solid"/>
          </a:ln>
        </p:spPr>
      </p:sp>
      <p:sp>
        <p:nvSpPr>
          <p:cNvPr id="9" name="Text 6"/>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Nhắc lại: </a:t>
            </a:r>
            <a:pPr indent="0" marL="0">
              <a:lnSpc>
                <a:spcPts val="1900"/>
              </a:lnSpc>
              <a:buNone/>
            </a:pPr>
            <a:r>
              <a:rPr lang="en-US" sz="1300" dirty="0">
                <a:solidFill>
                  <a:srgbClr val="1A1A1A"/>
                </a:solidFill>
                <a:latin typeface="Arial" pitchFamily="34" charset="0"/>
                <a:ea typeface="Arial" pitchFamily="34" charset="-122"/>
                <a:cs typeface="Arial" pitchFamily="34" charset="-120"/>
              </a:rPr>
              <a:t>Con số 15.180.000 đ chỉ đúng khi người bệnh không có khoản cùng chi trả nào trước 01/7/2026. Có phát sinh trước mốc đó thì ngưỡng cả năm được tính theo công thức ở mục 5.3 và luôn thấp hơn 15.180.000 đ.</a:t>
            </a:r>
            <a:endParaRPr lang="en-US" sz="1300" dirty="0"/>
          </a:p>
        </p:txBody>
      </p:sp>
      <p:sp>
        <p:nvSpPr>
          <p:cNvPr id="10" name="Text 7"/>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C — Tiếp đón &amp; Viện phí</a:t>
            </a:r>
            <a:endParaRPr lang="en-US" sz="900" dirty="0"/>
          </a:p>
        </p:txBody>
      </p:sp>
      <p:sp>
        <p:nvSpPr>
          <p:cNvPr id="11" name="Text 8"/>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8</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Sáu điều cần lưu ý khi trả lời người bệnh</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4892040"/>
          </a:xfrm>
          <a:prstGeom prst="rect">
            <a:avLst/>
          </a:prstGeom>
          <a:noFill/>
          <a:ln/>
        </p:spPr>
        <p:txBody>
          <a:bodyPr wrap="square" rtlCol="0" anchor="t"/>
          <a:lstStyle/>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Số liệu do cổng BHXH cung cấp, phần mềm KHÔNG tự tính. Luôn đối chiếu mốc thời gian "tính đến …" trước khi trả lời</a:t>
            </a:r>
            <a:endParaRPr lang="en-US" sz="1600" dirty="0"/>
          </a:p>
          <a:p>
            <a:pPr marL="342900" indent="-342900">
              <a:lnSpc>
                <a:spcPts val="2400"/>
              </a:lnSpc>
              <a:spcAft>
                <a:spcPts val="1000"/>
              </a:spcAft>
              <a:buSzPct val="100000"/>
              <a:buChar char="▪"/>
            </a:pPr>
            <a:r>
              <a:rPr lang="en-US" sz="1600" b="1" dirty="0">
                <a:solidFill>
                  <a:srgbClr val="C62828"/>
                </a:solidFill>
                <a:latin typeface="Arial" pitchFamily="34" charset="0"/>
                <a:ea typeface="Arial" pitchFamily="34" charset="-122"/>
                <a:cs typeface="Arial" pitchFamily="34" charset="-120"/>
              </a:rPr>
              <a:t>Lũy kế chỉ gồm các đợt KCB mà cơ sở đã gửi hồ sơ đề nghị thanh toán lên cổng. Đợt vừa kết thúc hôm nay thường CHƯA có trong số liệu</a:t>
            </a:r>
            <a:endParaRPr lang="en-US" sz="1600" dirty="0"/>
          </a:p>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Lũy kế tính theo năm tài chính và bao gồm cả các đợt KCB tại CƠ SỞ KHÁC, không chỉ riêng cơ sở đang tra</a:t>
            </a:r>
            <a:endParaRPr lang="en-US" sz="1600" dirty="0"/>
          </a:p>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Mọi lần tra cứu đều được ghi lại, kể cả lần không thành công, phục vụ đối chiếu về sau</a:t>
            </a:r>
            <a:endParaRPr lang="en-US" sz="1600" dirty="0"/>
          </a:p>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Mỗi lần tra đều hỏi thẳng cổng nên kết quả là số liệu mới nhất cổng có tại thời điểm tra</a:t>
            </a:r>
            <a:endParaRPr lang="en-US" sz="1600" dirty="0"/>
          </a:p>
          <a:p>
            <a:pPr marL="342900" indent="-342900">
              <a:lnSpc>
                <a:spcPts val="2400"/>
              </a:lnSpc>
              <a:spcAft>
                <a:spcPts val="1000"/>
              </a:spcAft>
              <a:buSzPct val="100000"/>
              <a:buChar char="▪"/>
            </a:pPr>
            <a:r>
              <a:rPr lang="en-US" sz="1600" b="1" dirty="0">
                <a:solidFill>
                  <a:srgbClr val="1F4E79"/>
                </a:solidFill>
                <a:latin typeface="Arial" pitchFamily="34" charset="0"/>
                <a:ea typeface="Arial" pitchFamily="34" charset="-122"/>
                <a:cs typeface="Arial" pitchFamily="34" charset="-120"/>
              </a:rPr>
              <a:t>Kết quả tra cứu là căn cứ THAM KHẢO, không thay thế thủ tục. Việc xác định đủ điều kiện miễn và cấp giấy chứng nhận thực hiện theo quy định hiện hành</a:t>
            </a:r>
            <a:endParaRPr lang="en-US" sz="1600" dirty="0"/>
          </a:p>
        </p:txBody>
      </p:sp>
      <p:sp>
        <p:nvSpPr>
          <p:cNvPr id="7" name="Text 5"/>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C — Tiếp đón &amp; Viện phí</a:t>
            </a:r>
            <a:endParaRPr lang="en-US" sz="900" dirty="0"/>
          </a:p>
        </p:txBody>
      </p:sp>
      <p:sp>
        <p:nvSpPr>
          <p:cNvPr id="8" name="Text 6"/>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RANH GIỚI TRÁCH NHIỆM</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Việc của cán bộ và việc phải báo lên</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Shape 4"/>
          <p:cNvSpPr/>
          <p:nvPr/>
        </p:nvSpPr>
        <p:spPr>
          <a:xfrm>
            <a:off x="566928" y="1325880"/>
            <a:ext cx="5364328" cy="4800600"/>
          </a:xfrm>
          <a:prstGeom prst="rect">
            <a:avLst/>
          </a:prstGeom>
          <a:solidFill>
            <a:srgbClr val="FFFFFF"/>
          </a:solidFill>
          <a:ln w="12700">
            <a:solidFill>
              <a:srgbClr val="D3DAE3"/>
            </a:solidFill>
            <a:prstDash val="solid"/>
          </a:ln>
        </p:spPr>
      </p:sp>
      <p:sp>
        <p:nvSpPr>
          <p:cNvPr id="7" name="Shape 5"/>
          <p:cNvSpPr/>
          <p:nvPr/>
        </p:nvSpPr>
        <p:spPr>
          <a:xfrm>
            <a:off x="566928" y="1325880"/>
            <a:ext cx="5364328" cy="457200"/>
          </a:xfrm>
          <a:prstGeom prst="rect">
            <a:avLst/>
          </a:prstGeom>
          <a:solidFill>
            <a:srgbClr val="2E7D32"/>
          </a:solidFill>
          <a:ln w="12700">
            <a:solidFill>
              <a:srgbClr val="2E7D32"/>
            </a:solidFill>
            <a:prstDash val="solid"/>
          </a:ln>
        </p:spPr>
      </p:sp>
      <p:sp>
        <p:nvSpPr>
          <p:cNvPr id="8" name="Text 6"/>
          <p:cNvSpPr/>
          <p:nvPr/>
        </p:nvSpPr>
        <p:spPr>
          <a:xfrm>
            <a:off x="731520" y="1325880"/>
            <a:ext cx="5035144"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CÁN BỘ TIẾP ĐÓN / VIỆN PHÍ tự làm</a:t>
            </a:r>
            <a:endParaRPr lang="en-US" sz="1500" dirty="0"/>
          </a:p>
        </p:txBody>
      </p:sp>
      <p:sp>
        <p:nvSpPr>
          <p:cNvPr id="9" name="Text 7"/>
          <p:cNvSpPr/>
          <p:nvPr/>
        </p:nvSpPr>
        <p:spPr>
          <a:xfrm>
            <a:off x="768096" y="1929384"/>
            <a:ext cx="4961992" cy="4050792"/>
          </a:xfrm>
          <a:prstGeom prst="rect">
            <a:avLst/>
          </a:prstGeom>
          <a:noFill/>
          <a:ln/>
        </p:spPr>
        <p:txBody>
          <a:bodyPr wrap="square" rtlCol="0" anchor="t"/>
          <a:lstStyle/>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Chọn đúng cơ sở KCB, nhập hoặc quét đúng mã thẻ, họ tên, ngày sinh</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Chờ đủ thời gian, không bấm lại nhiều lần</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Đọc mốc thời gian "tính đến …" trước khi nói con số cho người bệnh</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Giải thích được vì sao ngưỡng cả năm khác 6 × lương cơ sở hiện hành</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Kiểm tra riêng điều kiện 5 năm liên tục theo quy trình của đơn vị</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Chụp màn hình thông báo lỗi trước khi báo lên</a:t>
            </a:r>
            <a:endParaRPr lang="en-US" sz="1350" dirty="0"/>
          </a:p>
        </p:txBody>
      </p:sp>
      <p:sp>
        <p:nvSpPr>
          <p:cNvPr id="10" name="Shape 8"/>
          <p:cNvSpPr/>
          <p:nvPr/>
        </p:nvSpPr>
        <p:spPr>
          <a:xfrm>
            <a:off x="6260440" y="1325880"/>
            <a:ext cx="5364328" cy="4800600"/>
          </a:xfrm>
          <a:prstGeom prst="rect">
            <a:avLst/>
          </a:prstGeom>
          <a:solidFill>
            <a:srgbClr val="FFFFFF"/>
          </a:solidFill>
          <a:ln w="12700">
            <a:solidFill>
              <a:srgbClr val="D3DAE3"/>
            </a:solidFill>
            <a:prstDash val="solid"/>
          </a:ln>
        </p:spPr>
      </p:sp>
      <p:sp>
        <p:nvSpPr>
          <p:cNvPr id="11" name="Shape 9"/>
          <p:cNvSpPr/>
          <p:nvPr/>
        </p:nvSpPr>
        <p:spPr>
          <a:xfrm>
            <a:off x="6260440" y="1325880"/>
            <a:ext cx="5364328" cy="457200"/>
          </a:xfrm>
          <a:prstGeom prst="rect">
            <a:avLst/>
          </a:prstGeom>
          <a:solidFill>
            <a:srgbClr val="1F4E79"/>
          </a:solidFill>
          <a:ln w="12700">
            <a:solidFill>
              <a:srgbClr val="1F4E79"/>
            </a:solidFill>
            <a:prstDash val="solid"/>
          </a:ln>
        </p:spPr>
      </p:sp>
      <p:sp>
        <p:nvSpPr>
          <p:cNvPr id="12" name="Text 10"/>
          <p:cNvSpPr/>
          <p:nvPr/>
        </p:nvSpPr>
        <p:spPr>
          <a:xfrm>
            <a:off x="6425032" y="1325880"/>
            <a:ext cx="5035144"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BÁO CÔNG NGHỆ THÔNG TIN / CƠ QUAN BHXH</a:t>
            </a:r>
            <a:endParaRPr lang="en-US" sz="1500" dirty="0"/>
          </a:p>
        </p:txBody>
      </p:sp>
      <p:sp>
        <p:nvSpPr>
          <p:cNvPr id="13" name="Text 11"/>
          <p:cNvSpPr/>
          <p:nvPr/>
        </p:nvSpPr>
        <p:spPr>
          <a:xfrm>
            <a:off x="6461608" y="1929384"/>
            <a:ext cx="4961992" cy="4050792"/>
          </a:xfrm>
          <a:prstGeom prst="rect">
            <a:avLst/>
          </a:prstGeom>
          <a:noFill/>
          <a:ln/>
        </p:spPr>
        <p:txBody>
          <a:bodyPr wrap="square" rtlCol="0" anchor="t"/>
          <a:lstStyle/>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"Không xác thực được với cổng BHXH" — phiên hết hạn hoặc sai địa chỉ IP đã đăng ký</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"Cơ sở … chưa khai tài khoản cổng BHXH" — cơ sở chưa được cấu hình</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"Tài khoản … đang bị cổng hạn chế tra cứu" — liên hệ cơ quan BHXH tỉnh để mở lại</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"Không lưu được lịch sử tra cứu" — kết quả vẫn đúng, chỉ là chưa ghi được vào cơ sở dữ liệu</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Cổng lỗi 500 hoặc không kết nối được kéo dài nhiều giờ</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Nhà nước điều chỉnh lương cơ sở — phải bổ sung mốc mới vào cấu hình phần mềm</a:t>
            </a:r>
            <a:endParaRPr lang="en-US" sz="1350" dirty="0"/>
          </a:p>
        </p:txBody>
      </p:sp>
      <p:sp>
        <p:nvSpPr>
          <p:cNvPr id="14" name="Text 12"/>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C — Tiếp đón &amp; Viện phí</a:t>
            </a:r>
            <a:endParaRPr lang="en-US" sz="900" dirty="0"/>
          </a:p>
        </p:txBody>
      </p:sp>
      <p:sp>
        <p:nvSpPr>
          <p:cNvPr id="15" name="Text 13"/>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F4E79"/>
        </a:solidFill>
      </p:bgPr>
    </p:bg>
    <p:spTree>
      <p:nvGrpSpPr>
        <p:cNvPr id="1" name=""/>
        <p:cNvGrpSpPr/>
        <p:nvPr/>
      </p:nvGrpSpPr>
      <p:grpSpPr>
        <a:xfrm>
          <a:off x="0" y="0"/>
          <a:ext cx="0" cy="0"/>
          <a:chOff x="0" y="0"/>
          <a:chExt cx="0" cy="0"/>
        </a:xfrm>
      </p:grpSpPr>
      <p:sp>
        <p:nvSpPr>
          <p:cNvPr id="2" name="Text 0"/>
          <p:cNvSpPr/>
          <p:nvPr/>
        </p:nvSpPr>
        <p:spPr>
          <a:xfrm>
            <a:off x="822960" y="1097280"/>
            <a:ext cx="10545775" cy="73152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Tóm lại — bốn điều không được quên</a:t>
            </a:r>
            <a:endParaRPr lang="en-US" sz="3200" dirty="0"/>
          </a:p>
        </p:txBody>
      </p:sp>
      <p:sp>
        <p:nvSpPr>
          <p:cNvPr id="3" name="Shape 1"/>
          <p:cNvSpPr/>
          <p:nvPr/>
        </p:nvSpPr>
        <p:spPr>
          <a:xfrm>
            <a:off x="822960" y="1920240"/>
            <a:ext cx="2926080" cy="0"/>
          </a:xfrm>
          <a:prstGeom prst="line">
            <a:avLst/>
          </a:prstGeom>
          <a:noFill/>
          <a:ln w="38100">
            <a:solidFill>
              <a:srgbClr val="0E7C7B"/>
            </a:solidFill>
            <a:prstDash val="solid"/>
          </a:ln>
        </p:spPr>
      </p:sp>
      <p:sp>
        <p:nvSpPr>
          <p:cNvPr id="4" name="Text 2"/>
          <p:cNvSpPr/>
          <p:nvPr/>
        </p:nvSpPr>
        <p:spPr>
          <a:xfrm>
            <a:off x="822960" y="2240280"/>
            <a:ext cx="10545775" cy="2743200"/>
          </a:xfrm>
          <a:prstGeom prst="rect">
            <a:avLst/>
          </a:prstGeom>
          <a:noFill/>
          <a:ln/>
        </p:spPr>
        <p:txBody>
          <a:bodyPr wrap="square" rtlCol="0" anchor="t"/>
          <a:lstStyle/>
          <a:p>
            <a:pPr marL="342900" indent="-342900">
              <a:lnSpc>
                <a:spcPts val="2400"/>
              </a:lnSpc>
              <a:spcAft>
                <a:spcPts val="1200"/>
              </a:spcAft>
              <a:buSzPct val="100000"/>
              <a:buChar char="▪"/>
            </a:pPr>
            <a:r>
              <a:rPr lang="en-US" sz="1600" dirty="0">
                <a:solidFill>
                  <a:srgbClr val="DCE9F5"/>
                </a:solidFill>
                <a:latin typeface="Arial" pitchFamily="34" charset="0"/>
                <a:ea typeface="Arial" pitchFamily="34" charset="-122"/>
                <a:cs typeface="Arial" pitchFamily="34" charset="-120"/>
              </a:rPr>
              <a:t>Đủ ngưỡng tiền MỚI LÀ MỘT NỬA điều kiện. Vế 5 năm liên tục phải kiểm tra riêng.</a:t>
            </a:r>
            <a:endParaRPr lang="en-US" sz="1600" dirty="0"/>
          </a:p>
          <a:p>
            <a:pPr marL="342900" indent="-342900">
              <a:lnSpc>
                <a:spcPts val="2400"/>
              </a:lnSpc>
              <a:spcAft>
                <a:spcPts val="1200"/>
              </a:spcAft>
              <a:buSzPct val="100000"/>
              <a:buChar char="▪"/>
            </a:pPr>
            <a:r>
              <a:rPr lang="en-US" sz="1600" dirty="0">
                <a:solidFill>
                  <a:srgbClr val="DCE9F5"/>
                </a:solidFill>
                <a:latin typeface="Arial" pitchFamily="34" charset="0"/>
                <a:ea typeface="Arial" pitchFamily="34" charset="-122"/>
                <a:cs typeface="Arial" pitchFamily="34" charset="-120"/>
              </a:rPr>
              <a:t>Luôn đọc mốc "tính đến …" trước khi nói con số cho người bệnh — số liệu của cổng có độ trễ.</a:t>
            </a:r>
            <a:endParaRPr lang="en-US" sz="1600" dirty="0"/>
          </a:p>
          <a:p>
            <a:pPr marL="342900" indent="-342900">
              <a:lnSpc>
                <a:spcPts val="2400"/>
              </a:lnSpc>
              <a:spcAft>
                <a:spcPts val="1200"/>
              </a:spcAft>
              <a:buSzPct val="100000"/>
              <a:buChar char="▪"/>
            </a:pPr>
            <a:r>
              <a:rPr lang="en-US" sz="1600" dirty="0">
                <a:solidFill>
                  <a:srgbClr val="DCE9F5"/>
                </a:solidFill>
                <a:latin typeface="Arial" pitchFamily="34" charset="0"/>
                <a:ea typeface="Arial" pitchFamily="34" charset="-122"/>
                <a:cs typeface="Arial" pitchFamily="34" charset="-120"/>
              </a:rPr>
              <a:t>Không bấm lại nhiều lần trong lúc chờ. Mỗi lần bấm là một lượt gọi thật lên cổng.</a:t>
            </a:r>
            <a:endParaRPr lang="en-US" sz="1600" dirty="0"/>
          </a:p>
          <a:p>
            <a:pPr marL="342900" indent="-342900">
              <a:lnSpc>
                <a:spcPts val="2400"/>
              </a:lnSpc>
              <a:spcAft>
                <a:spcPts val="1200"/>
              </a:spcAft>
              <a:buSzPct val="100000"/>
              <a:buChar char="▪"/>
            </a:pPr>
            <a:r>
              <a:rPr lang="en-US" sz="1600" dirty="0">
                <a:solidFill>
                  <a:srgbClr val="DCE9F5"/>
                </a:solidFill>
                <a:latin typeface="Arial" pitchFamily="34" charset="0"/>
                <a:ea typeface="Arial" pitchFamily="34" charset="-122"/>
                <a:cs typeface="Arial" pitchFamily="34" charset="-120"/>
              </a:rPr>
              <a:t>Ngưỡng cả năm có thể khác 6 × lương cơ sở hiện hành khi lương đổi giữa năm — tin con số màn hình tính.</a:t>
            </a:r>
            <a:endParaRPr lang="en-US" sz="1600" dirty="0"/>
          </a:p>
        </p:txBody>
      </p:sp>
      <p:sp>
        <p:nvSpPr>
          <p:cNvPr id="5" name="Text 3"/>
          <p:cNvSpPr/>
          <p:nvPr/>
        </p:nvSpPr>
        <p:spPr>
          <a:xfrm>
            <a:off x="822960" y="5394960"/>
            <a:ext cx="10545775" cy="822960"/>
          </a:xfrm>
          <a:prstGeom prst="rect">
            <a:avLst/>
          </a:prstGeom>
          <a:noFill/>
          <a:ln/>
        </p:spPr>
        <p:txBody>
          <a:bodyPr wrap="square" rtlCol="0" anchor="ctr"/>
          <a:lstStyle/>
          <a:p>
            <a:pPr indent="0" marL="0">
              <a:lnSpc>
                <a:spcPts val="2000"/>
              </a:lnSpc>
              <a:buNone/>
            </a:pPr>
            <a:r>
              <a:rPr lang="en-US" sz="1300" dirty="0">
                <a:solidFill>
                  <a:srgbClr val="A9C4DC"/>
                </a:solidFill>
                <a:latin typeface="Arial" pitchFamily="34" charset="0"/>
                <a:ea typeface="Arial" pitchFamily="34" charset="-122"/>
                <a:cs typeface="Arial" pitchFamily="34" charset="-120"/>
              </a:rPr>
              <a:t>Tra cứu chi tiết: Hướng dẫn sử dụng chức năng tra cứu tiền cùng chi trả (MCCT)</a:t>
            </a:r>
            <a:endParaRPr lang="en-US" sz="1300" dirty="0"/>
          </a:p>
          <a:p>
            <a:pPr indent="0" marL="0">
              <a:lnSpc>
                <a:spcPts val="2000"/>
              </a:lnSpc>
              <a:buNone/>
            </a:pPr>
            <a:r>
              <a:rPr lang="en-US" sz="1300" dirty="0">
                <a:solidFill>
                  <a:srgbClr val="A9C4DC"/>
                </a:solidFill>
                <a:latin typeface="Arial" pitchFamily="34" charset="0"/>
                <a:ea typeface="Arial" pitchFamily="34" charset="-122"/>
                <a:cs typeface="Arial" pitchFamily="34" charset="-120"/>
              </a:rPr>
              <a:t>Mục 5 (đọc kết quả) · Mục 6 (thời gian chờ) · Mục 7 (các thông báo) · Phụ lục (mức lương cơ sở)</a:t>
            </a:r>
            <a:endParaRPr lang="en-US" sz="1300" dirty="0"/>
          </a:p>
          <a:p>
            <a:pPr indent="0" marL="0">
              <a:lnSpc>
                <a:spcPts val="2000"/>
              </a:lnSpc>
              <a:buNone/>
            </a:pPr>
            <a:r>
              <a:rPr lang="en-US" sz="1300" dirty="0">
                <a:solidFill>
                  <a:srgbClr val="A9C4DC"/>
                </a:solidFill>
                <a:latin typeface="Arial" pitchFamily="34" charset="0"/>
                <a:ea typeface="Arial" pitchFamily="34" charset="-122"/>
                <a:cs typeface="Arial" pitchFamily="34" charset="-120"/>
              </a:rPr>
              <a:t>Hỗ trợ: Phòng Công nghệ thông tin — số máy lẻ: ………</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Phần mềm quản lý bệnh viện qlbv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Đào tạo tiếp đón – viện phí: Tra cứu tiền cùng chi trả (MCCT)</dc:title>
  <dc:subject>Hướng dẫn sử dụng chức năng tra cứu tiền cùng chi trả</dc:subject>
  <dc:creator>Phòng Công nghệ thông tin</dc:creator>
  <cp:lastModifiedBy>Phòng Công nghệ thông tin</cp:lastModifiedBy>
  <cp:revision>1</cp:revision>
  <dcterms:created xsi:type="dcterms:W3CDTF">2026-09-21T01:05:14Z</dcterms:created>
  <dcterms:modified xsi:type="dcterms:W3CDTF">2026-09-21T01:05:14Z</dcterms:modified>
</cp:coreProperties>
</file>