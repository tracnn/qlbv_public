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mở đầu, nói trong khoảng một phút. Hồ sơ BHYT đi từ HIS của bệnh viện tới Cổng giám định BHXH; Tiền giám định là trạm kiểm tra nằm giữa: kiểm từng hồ sơ XML 3176 theo bộ quy tắc, tra thẻ BHYT, đối chiếu danh mục. Lỗi nghiêm trọng chặn ký số và gửi cho tới khi được sửa — và sửa trên HIS, tại khoa phòng phát sinh, rồi nạp lại. Hệ thống đang vận hành tại Bệnh viện Bạch 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bằng nỗi đau mà lãnh đạo và phòng KHTH đều biết. Không đưa con số xuất toán cụ thể — mỗi viện có số riêng; nếu viện bạn có số liệu, mời họ tự liên hệ. Ý chính: phát hiện càng muộn, chi phí sửa càng lớn và lỗi càng dễ lặp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cho lãnh đạo chỉ nhấn một điểm kiểm soát: hồ sơ XML 3176 được kiểm trước khi ký số, lỗi nghiêm trọng thì không được ký, không được gửi. Phần mềm chỉ đọc HIS, không sửa hộ — khoa sửa trên HIS rồi nạp lại. Kiểm sai sót y lệnh là bước mở rộng: nó cần danh mục thuốc, vật tư, nhân sự của viện đã chuẩn, nếu không sẽ sinh rất nhiều cảnh báo giả. Nếu được hỏi về kiểm y lệnh tại Bạch Mai: đang ở giai đoạn làm sạch danh mục, chưa giao khoa xử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ĐIỀN SỐ LIỆU TRƯỚC KHI TRÌNH BÀY — và phải được Bệnh viện Bạch Mai đồng ý công bố. Số "sau" lấy từ Dashboard lỗi XML (thẻ chỉ số, phễu, tồn đọng); số "trước" phải lấy từ báo cáo kết quả giám định trên Cổng BHXH hoặc số liệu phòng KHTH lưu riêng, vì phần mềm chỉ lưu kết quả của lần kiểm mới nhất. Chọn hai kỳ dài bằng nhau. Nếu chưa có số đáng tin, bỏ slide này khỏi buổi trình bày — đừng thay bằng ước đoán; lãnh đạo hỏi lại một con số sai thì mất uy tín cả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lãnh đạo tự nhẩm với số của viện mình — con số họ tự ra thuyết phục hơn mọi con số ta đưa. Dòng ví dụ là giả định thuần tuý (20.000 × 5% × 1,5 triệu = 1,5 tỷ) để minh hoạ cách tính, nói rõ như vậy khi trình bày. Không hứa Tiền giám định xoá được toàn bộ khoản này: nó giảm phần lỗi nằm trong bộ quy tắc, và đưa phần còn lại ra ánh sáng sớm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cho lãnh đạo và phòng KHTH. Ngoài bốn biểu đồ còn có các thẻ chỉ số, trong đó "Chi phí BHYT bị treo" — tổng chi phí của hồ sơ chưa gửi được — là con số lãnh đạo hay hỏi nhất. Có thêm dashboard chứng từ điện tử và dashboard độ phủ danh mục TT12.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nỗi lo của lãnh đạo: làm hỏng HIS, lộ dữ liệu người bệnh, làm chậm hệ thống. Phần mềm triển khai trên máy chủ của viện (Windows Server, hoặc Linux / Docker), đọc HIS bằng tài khoản chỉ đọc. Kết nối ra ngoài duy nhất là Cổng giám định BHXH — để tra thẻ và gửi hồ sơ, đúng như viện đang làm. Đừng hứa chứng nhận an toàn thông tin nếu chưa có văn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rõ hai phần khi viện hỏi "HIS của chúng tôi có dùng được không": phần XML 3176 dùng được ngay vì đầu vào là tệp XML chuẩn; phần kiểm sai sót y lệnh đọc thẳng CSDL HIS nên với HIS khác cần khảo sát và làm lớp kết nối. Lộ trình lấy từ tài liệu tổng hợp mục 10.1; điều kiện chuyển giai đoạn: tỷ lệ lỗi nghiêm trọng ổn định, dương tính giả của kiểm y lệnh về mức chấp nhận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với lãnh đạo: một quyết định nhỏ, rủi ro thấp, có thước đo rõ. Thí điểm chạy song song, chưa bật tự gửi cổng — nên không ảnh hưởng quy trình đang chạy. Bốn chỉ số theo tài liệu tổng hợp mục 10.3. ĐIỀN CHI PHÍ và rà lại dòng "Chúng tôi làm" theo đúng cam kết của công ty trước khi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lại ba từ khoá rồi mở hỏi đáp. Điền số điện thoại và email đầu mối trước khi trình bày. Câu hỏi hay gặp: HIS khác có dùng được không (xem slide Triển khai), có thay bộ phận giám định không (không — xem slide Nguyên tắc và giới hạn), chi phí và thời gian (xem slide Đề xuất thí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2804008" y="566928"/>
            <a:ext cx="6583680" cy="384048"/>
          </a:xfrm>
          <a:prstGeom prst="roundRect">
            <a:avLst>
              <a:gd name="adj" fmla="val 50000"/>
            </a:avLst>
          </a:prstGeom>
          <a:solidFill>
            <a:srgbClr val="FFFFFF">
              <a:alpha val="6000"/>
            </a:srgbClr>
          </a:solidFill>
          <a:ln w="9525">
            <a:solidFill>
              <a:srgbClr val="4A6890"/>
            </a:solidFill>
            <a:prstDash val="solid"/>
          </a:ln>
        </p:spPr>
      </p:sp>
      <p:sp>
        <p:nvSpPr>
          <p:cNvPr id="3" name="Text 1"/>
          <p:cNvSpPr txBox="1"/>
          <p:nvPr/>
        </p:nvSpPr>
        <p:spPr>
          <a:xfrm>
            <a:off x="2804008" y="566928"/>
            <a:ext cx="6583680" cy="384048"/>
          </a:xfrm>
          <a:prstGeom prst="rect">
            <a:avLst/>
          </a:prstGeom>
          <a:noFill/>
          <a:ln/>
        </p:spPr>
        <p:txBody>
          <a:bodyPr wrap="square" lIns="0" tIns="0" rIns="0" bIns="0" rtlCol="0" anchor="ctr"/>
          <a:lstStyle/>
          <a:p>
            <a:pPr algn="ctr" indent="0" marL="0">
              <a:buNone/>
            </a:pPr>
            <a:r>
              <a:rPr lang="en-US" sz="1250" dirty="0">
                <a:solidFill>
                  <a:srgbClr val="C9D6E8"/>
                </a:solidFill>
                <a:latin typeface="Arial" pitchFamily="34" charset="0"/>
                <a:ea typeface="Arial" pitchFamily="34" charset="-122"/>
                <a:cs typeface="Arial" pitchFamily="34" charset="-120"/>
              </a:rPr>
              <a:t>Công ty Cổ phần Y tế Thông minh · Giải pháp Tiền giám định BHYT</a:t>
            </a:r>
            <a:endParaRPr lang="en-US" sz="1250" dirty="0"/>
          </a:p>
        </p:txBody>
      </p:sp>
      <p:sp>
        <p:nvSpPr>
          <p:cNvPr id="4" name="Text 2"/>
          <p:cNvSpPr txBox="1"/>
          <p:nvPr/>
        </p:nvSpPr>
        <p:spPr>
          <a:xfrm>
            <a:off x="457200" y="1078992"/>
            <a:ext cx="11277295" cy="1005840"/>
          </a:xfrm>
          <a:prstGeom prst="rect">
            <a:avLst/>
          </a:prstGeom>
          <a:noFill/>
          <a:ln/>
        </p:spPr>
        <p:txBody>
          <a:bodyPr wrap="square" lIns="0" tIns="0" rIns="0" bIns="0" rtlCol="0" anchor="ctr"/>
          <a:lstStyle/>
          <a:p>
            <a:pPr algn="ctr" indent="0" marL="0">
              <a:buNone/>
            </a:pPr>
            <a:r>
              <a:rPr lang="en-US" sz="6000" b="1" dirty="0">
                <a:solidFill>
                  <a:srgbClr val="FFFFFF"/>
                </a:solidFill>
                <a:latin typeface="Arial" pitchFamily="34" charset="0"/>
                <a:ea typeface="Arial" pitchFamily="34" charset="-122"/>
                <a:cs typeface="Arial" pitchFamily="34" charset="-120"/>
              </a:rPr>
              <a:t>Tiền </a:t>
            </a:r>
            <a:pPr algn="ctr" indent="0" marL="0">
              <a:buNone/>
            </a:pPr>
            <a:r>
              <a:rPr lang="en-US" sz="6000" b="1" dirty="0">
                <a:solidFill>
                  <a:srgbClr val="38BDF8"/>
                </a:solidFill>
                <a:latin typeface="Arial" pitchFamily="34" charset="0"/>
                <a:ea typeface="Arial" pitchFamily="34" charset="-122"/>
                <a:cs typeface="Arial" pitchFamily="34" charset="-120"/>
              </a:rPr>
              <a:t>giám định</a:t>
            </a:r>
            <a:endParaRPr lang="en-US" sz="6000" dirty="0"/>
          </a:p>
        </p:txBody>
      </p:sp>
      <p:sp>
        <p:nvSpPr>
          <p:cNvPr id="5" name="Text 3"/>
          <p:cNvSpPr txBox="1"/>
          <p:nvPr/>
        </p:nvSpPr>
        <p:spPr>
          <a:xfrm>
            <a:off x="914400" y="2121408"/>
            <a:ext cx="10362895" cy="868680"/>
          </a:xfrm>
          <a:prstGeom prst="rect">
            <a:avLst/>
          </a:prstGeom>
          <a:noFill/>
          <a:ln/>
        </p:spPr>
        <p:txBody>
          <a:bodyPr wrap="square" lIns="0" tIns="0" rIns="0" bIns="0" rtlCol="0" anchor="t"/>
          <a:lstStyle/>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Kiểm tra hồ sơ khám chữa bệnh BHYT ngay tại bệnh viện</a:t>
            </a:r>
            <a:endParaRPr lang="en-US" sz="1900" dirty="0"/>
          </a:p>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trước khi ký số và gửi Cổng giám định BHXH</a:t>
            </a:r>
            <a:endParaRPr lang="en-US" sz="1900" dirty="0"/>
          </a:p>
        </p:txBody>
      </p:sp>
      <p:sp>
        <p:nvSpPr>
          <p:cNvPr id="6" name="Text 4"/>
          <p:cNvSpPr txBox="1"/>
          <p:nvPr/>
        </p:nvSpPr>
        <p:spPr>
          <a:xfrm>
            <a:off x="457200" y="3200400"/>
            <a:ext cx="11277295" cy="411480"/>
          </a:xfrm>
          <a:prstGeom prst="rect">
            <a:avLst/>
          </a:prstGeom>
          <a:noFill/>
          <a:ln/>
        </p:spPr>
        <p:txBody>
          <a:bodyPr wrap="square" lIns="0" tIns="0" rIns="0" bIns="0" rtlCol="0" anchor="ctr"/>
          <a:lstStyle/>
          <a:p>
            <a:pPr algn="ctr" indent="0" marL="0">
              <a:buNone/>
            </a:pPr>
            <a:r>
              <a:rPr lang="en-US" sz="1700" dirty="0">
                <a:solidFill>
                  <a:srgbClr val="A9BCD6"/>
                </a:solidFill>
                <a:latin typeface="Arial" pitchFamily="34" charset="0"/>
                <a:ea typeface="Arial" pitchFamily="34" charset="-122"/>
                <a:cs typeface="Arial" pitchFamily="34" charset="-120"/>
              </a:rPr>
              <a:t>Tiền giám định đặt điểm kiểm soát trước khi hồ sơ rời bệnh viện</a:t>
            </a:r>
            <a:endParaRPr lang="en-US" sz="1700" dirty="0"/>
          </a:p>
        </p:txBody>
      </p:sp>
      <p:sp>
        <p:nvSpPr>
          <p:cNvPr id="7" name="Shape 5"/>
          <p:cNvSpPr/>
          <p:nvPr/>
        </p:nvSpPr>
        <p:spPr>
          <a:xfrm>
            <a:off x="685800" y="3767328"/>
            <a:ext cx="2279828" cy="1783080"/>
          </a:xfrm>
          <a:prstGeom prst="roundRect">
            <a:avLst>
              <a:gd name="adj" fmla="val 5128"/>
            </a:avLst>
          </a:prstGeom>
          <a:solidFill>
            <a:srgbClr val="1C3558">
              <a:alpha val="85000"/>
            </a:srgbClr>
          </a:solidFill>
          <a:ln w="9525">
            <a:solidFill>
              <a:srgbClr val="2E4B74"/>
            </a:solidFill>
            <a:prstDash val="solid"/>
          </a:ln>
        </p:spPr>
      </p:sp>
      <p:sp>
        <p:nvSpPr>
          <p:cNvPr id="8" name="Text 6"/>
          <p:cNvSpPr txBox="1"/>
          <p:nvPr/>
        </p:nvSpPr>
        <p:spPr>
          <a:xfrm>
            <a:off x="685800"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9" name="Text 7"/>
          <p:cNvSpPr txBox="1"/>
          <p:nvPr/>
        </p:nvSpPr>
        <p:spPr>
          <a:xfrm>
            <a:off x="777240"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Bệnh viện</a:t>
            </a:r>
            <a:endParaRPr lang="en-US" sz="1900" dirty="0"/>
          </a:p>
        </p:txBody>
      </p:sp>
      <p:sp>
        <p:nvSpPr>
          <p:cNvPr id="10" name="Text 8"/>
          <p:cNvSpPr txBox="1"/>
          <p:nvPr/>
        </p:nvSpPr>
        <p:spPr>
          <a:xfrm>
            <a:off x="850392"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Bác sĩ ra y lệnh trên HIS,</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xuất hồ sơ XML 3176</a:t>
            </a:r>
            <a:endParaRPr lang="en-US" sz="1300" dirty="0"/>
          </a:p>
        </p:txBody>
      </p:sp>
      <p:sp>
        <p:nvSpPr>
          <p:cNvPr id="11" name="Text 9"/>
          <p:cNvSpPr txBox="1"/>
          <p:nvPr/>
        </p:nvSpPr>
        <p:spPr>
          <a:xfrm>
            <a:off x="2965628" y="4430268"/>
            <a:ext cx="566928" cy="457200"/>
          </a:xfrm>
          <a:prstGeom prst="rect">
            <a:avLst/>
          </a:prstGeom>
          <a:noFill/>
          <a:ln/>
        </p:spPr>
        <p:txBody>
          <a:bodyPr wrap="square" lIns="0" tIns="0" rIns="0" bIns="0" rtlCol="0" anchor="ctr"/>
          <a:lstStyle/>
          <a:p>
            <a:pPr algn="ctr" indent="0" marL="0">
              <a:buNone/>
            </a:pPr>
            <a:r>
              <a:rPr lang="en-US" sz="2200" dirty="0">
                <a:solidFill>
                  <a:srgbClr val="C9D6E8"/>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3532556" y="3767328"/>
            <a:ext cx="2279828" cy="1783080"/>
          </a:xfrm>
          <a:prstGeom prst="roundRect">
            <a:avLst>
              <a:gd name="adj" fmla="val 5128"/>
            </a:avLst>
          </a:prstGeom>
          <a:solidFill>
            <a:srgbClr val="25324A">
              <a:alpha val="85000"/>
            </a:srgbClr>
          </a:solidFill>
          <a:ln w="19050">
            <a:solidFill>
              <a:srgbClr val="FBBF24"/>
            </a:solidFill>
            <a:prstDash val="solid"/>
          </a:ln>
        </p:spPr>
      </p:sp>
      <p:sp>
        <p:nvSpPr>
          <p:cNvPr id="13" name="Text 11"/>
          <p:cNvSpPr txBox="1"/>
          <p:nvPr/>
        </p:nvSpPr>
        <p:spPr>
          <a:xfrm>
            <a:off x="3532556"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4" name="Text 12"/>
          <p:cNvSpPr txBox="1"/>
          <p:nvPr/>
        </p:nvSpPr>
        <p:spPr>
          <a:xfrm>
            <a:off x="3623996"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Tiền giám định</a:t>
            </a:r>
            <a:endParaRPr lang="en-US" sz="1900" dirty="0"/>
          </a:p>
        </p:txBody>
      </p:sp>
      <p:sp>
        <p:nvSpPr>
          <p:cNvPr id="15" name="Text 13"/>
          <p:cNvSpPr txBox="1"/>
          <p:nvPr/>
        </p:nvSpPr>
        <p:spPr>
          <a:xfrm>
            <a:off x="3697148"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Kiểm lỗi, tra thẻ BHYT,</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đối chiếu danh mục</a:t>
            </a:r>
            <a:endParaRPr lang="en-US" sz="1300" dirty="0"/>
          </a:p>
        </p:txBody>
      </p:sp>
      <p:sp>
        <p:nvSpPr>
          <p:cNvPr id="16" name="Text 14"/>
          <p:cNvSpPr txBox="1"/>
          <p:nvPr/>
        </p:nvSpPr>
        <p:spPr>
          <a:xfrm>
            <a:off x="5812384" y="4430268"/>
            <a:ext cx="566928" cy="457200"/>
          </a:xfrm>
          <a:prstGeom prst="rect">
            <a:avLst/>
          </a:prstGeom>
          <a:noFill/>
          <a:ln/>
        </p:spPr>
        <p:txBody>
          <a:bodyPr wrap="square" lIns="0" tIns="0" rIns="0" bIns="0" rtlCol="0" anchor="ctr"/>
          <a:lstStyle/>
          <a:p>
            <a:pPr algn="ctr" indent="0" marL="0">
              <a:buNone/>
            </a:pPr>
            <a:r>
              <a:rPr lang="en-US" sz="2200" dirty="0">
                <a:solidFill>
                  <a:srgbClr val="C9D6E8"/>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6379312" y="3767328"/>
            <a:ext cx="2279828" cy="1783080"/>
          </a:xfrm>
          <a:prstGeom prst="roundRect">
            <a:avLst>
              <a:gd name="adj" fmla="val 5128"/>
            </a:avLst>
          </a:prstGeom>
          <a:solidFill>
            <a:srgbClr val="1C3558">
              <a:alpha val="85000"/>
            </a:srgbClr>
          </a:solidFill>
          <a:ln w="9525">
            <a:solidFill>
              <a:srgbClr val="2E4B74"/>
            </a:solidFill>
            <a:prstDash val="solid"/>
          </a:ln>
        </p:spPr>
      </p:sp>
      <p:sp>
        <p:nvSpPr>
          <p:cNvPr id="18" name="Text 16"/>
          <p:cNvSpPr txBox="1"/>
          <p:nvPr/>
        </p:nvSpPr>
        <p:spPr>
          <a:xfrm>
            <a:off x="6379312"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19" name="Text 17"/>
          <p:cNvSpPr txBox="1"/>
          <p:nvPr/>
        </p:nvSpPr>
        <p:spPr>
          <a:xfrm>
            <a:off x="6470752"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Ký số</a:t>
            </a:r>
            <a:endParaRPr lang="en-US" sz="1900" dirty="0"/>
          </a:p>
        </p:txBody>
      </p:sp>
      <p:sp>
        <p:nvSpPr>
          <p:cNvPr id="20" name="Text 18"/>
          <p:cNvSpPr txBox="1"/>
          <p:nvPr/>
        </p:nvSpPr>
        <p:spPr>
          <a:xfrm>
            <a:off x="6543904"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HSM hoặc USB Token,</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khi hết lỗi nghiêm trọng</a:t>
            </a:r>
            <a:endParaRPr lang="en-US" sz="1300" dirty="0"/>
          </a:p>
        </p:txBody>
      </p:sp>
      <p:sp>
        <p:nvSpPr>
          <p:cNvPr id="21" name="Text 19"/>
          <p:cNvSpPr txBox="1"/>
          <p:nvPr/>
        </p:nvSpPr>
        <p:spPr>
          <a:xfrm>
            <a:off x="8659139" y="4430268"/>
            <a:ext cx="566928" cy="457200"/>
          </a:xfrm>
          <a:prstGeom prst="rect">
            <a:avLst/>
          </a:prstGeom>
          <a:noFill/>
          <a:ln/>
        </p:spPr>
        <p:txBody>
          <a:bodyPr wrap="square" lIns="0" tIns="0" rIns="0" bIns="0" rtlCol="0" anchor="ctr"/>
          <a:lstStyle/>
          <a:p>
            <a:pPr algn="ctr" indent="0" marL="0">
              <a:buNone/>
            </a:pPr>
            <a:r>
              <a:rPr lang="en-US" sz="2200" dirty="0">
                <a:solidFill>
                  <a:srgbClr val="C9D6E8"/>
                </a:solidFill>
                <a:latin typeface="Arial" pitchFamily="34" charset="0"/>
                <a:ea typeface="Arial" pitchFamily="34" charset="-122"/>
                <a:cs typeface="Arial" pitchFamily="34" charset="-120"/>
              </a:rPr>
              <a:t>→</a:t>
            </a:r>
            <a:endParaRPr lang="en-US" sz="2200" dirty="0"/>
          </a:p>
        </p:txBody>
      </p:sp>
      <p:sp>
        <p:nvSpPr>
          <p:cNvPr id="22" name="Shape 20"/>
          <p:cNvSpPr/>
          <p:nvPr/>
        </p:nvSpPr>
        <p:spPr>
          <a:xfrm>
            <a:off x="9226067" y="3767328"/>
            <a:ext cx="2279828" cy="1783080"/>
          </a:xfrm>
          <a:prstGeom prst="roundRect">
            <a:avLst>
              <a:gd name="adj" fmla="val 5128"/>
            </a:avLst>
          </a:prstGeom>
          <a:solidFill>
            <a:srgbClr val="1C3558">
              <a:alpha val="85000"/>
            </a:srgbClr>
          </a:solidFill>
          <a:ln w="9525">
            <a:solidFill>
              <a:srgbClr val="2E4B74"/>
            </a:solidFill>
            <a:prstDash val="solid"/>
          </a:ln>
        </p:spPr>
      </p:sp>
      <p:sp>
        <p:nvSpPr>
          <p:cNvPr id="23" name="Text 21"/>
          <p:cNvSpPr txBox="1"/>
          <p:nvPr/>
        </p:nvSpPr>
        <p:spPr>
          <a:xfrm>
            <a:off x="9226067" y="3913632"/>
            <a:ext cx="2279828" cy="512064"/>
          </a:xfrm>
          <a:prstGeom prst="rect">
            <a:avLst/>
          </a:prstGeom>
          <a:noFill/>
          <a:ln/>
        </p:spPr>
        <p:txBody>
          <a:bodyPr wrap="square" lIns="0" tIns="0" rIns="0" bIns="0" rtlCol="0" anchor="ctr"/>
          <a:lstStyle/>
          <a:p>
            <a:pPr algn="ctr" indent="0" marL="0">
              <a:buNone/>
            </a:pPr>
            <a:r>
              <a:rPr lang="en-US" sz="2800" dirty="0">
                <a:solidFill>
                  <a:srgbClr val="000000"/>
                </a:solidFill>
                <a:latin typeface="Segoe UI Emoji" pitchFamily="34" charset="0"/>
                <a:ea typeface="Segoe UI Emoji" pitchFamily="34" charset="-122"/>
                <a:cs typeface="Segoe UI Emoji" pitchFamily="34" charset="-120"/>
              </a:rPr>
              <a:t>🌐</a:t>
            </a:r>
            <a:endParaRPr lang="en-US" sz="2800" dirty="0"/>
          </a:p>
        </p:txBody>
      </p:sp>
      <p:sp>
        <p:nvSpPr>
          <p:cNvPr id="24" name="Text 22"/>
          <p:cNvSpPr txBox="1"/>
          <p:nvPr/>
        </p:nvSpPr>
        <p:spPr>
          <a:xfrm>
            <a:off x="9317507" y="4462272"/>
            <a:ext cx="2096948" cy="42062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Cổng BHXH</a:t>
            </a:r>
            <a:endParaRPr lang="en-US" sz="1900" dirty="0"/>
          </a:p>
        </p:txBody>
      </p:sp>
      <p:sp>
        <p:nvSpPr>
          <p:cNvPr id="25" name="Text 23"/>
          <p:cNvSpPr txBox="1"/>
          <p:nvPr/>
        </p:nvSpPr>
        <p:spPr>
          <a:xfrm>
            <a:off x="9390659" y="4882896"/>
            <a:ext cx="1950644" cy="566928"/>
          </a:xfrm>
          <a:prstGeom prst="rect">
            <a:avLst/>
          </a:prstGeom>
          <a:noFill/>
          <a:ln/>
        </p:spPr>
        <p:txBody>
          <a:bodyPr wrap="square" lIns="0" tIns="0" rIns="0" bIns="0" rtlCol="0" anchor="t"/>
          <a:lstStyle/>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Tiếp nhận hồ sơ</a:t>
            </a:r>
            <a:endParaRPr lang="en-US" sz="1300" dirty="0"/>
          </a:p>
          <a:p>
            <a:pPr algn="ctr" indent="0" marL="0">
              <a:lnSpc>
                <a:spcPts val="1800"/>
              </a:lnSpc>
              <a:buNone/>
            </a:pPr>
            <a:r>
              <a:rPr lang="en-US" sz="1300" dirty="0">
                <a:solidFill>
                  <a:srgbClr val="A9BCD6"/>
                </a:solidFill>
                <a:latin typeface="Arial" pitchFamily="34" charset="0"/>
                <a:ea typeface="Arial" pitchFamily="34" charset="-122"/>
                <a:cs typeface="Arial" pitchFamily="34" charset="-120"/>
              </a:rPr>
              <a:t>đã sạch lỗi</a:t>
            </a:r>
            <a:endParaRPr lang="en-US" sz="1300" dirty="0"/>
          </a:p>
        </p:txBody>
      </p:sp>
      <p:sp>
        <p:nvSpPr>
          <p:cNvPr id="26" name="Text 24"/>
          <p:cNvSpPr txBox="1"/>
          <p:nvPr/>
        </p:nvSpPr>
        <p:spPr>
          <a:xfrm>
            <a:off x="640080" y="5779008"/>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Lỗi được phát hiện sớm và sửa tại nơi phát sinh — trên HIS, trước khi gửi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BÀI TOÁN</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Lỗi hồ sơ BHYT thường được phát hiện quá muộn</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Khi cổng giám định báo lỗi, hồ sơ đã rời bệnh viện từ lâu — người ra y lệnh, người lập hồ sơ đã chuyển sang việc khác.</a:t>
            </a:r>
            <a:endParaRPr lang="en-US" sz="1500" dirty="0"/>
          </a:p>
        </p:txBody>
      </p:sp>
      <p:sp>
        <p:nvSpPr>
          <p:cNvPr id="5" name="Shape 3"/>
          <p:cNvSpPr/>
          <p:nvPr/>
        </p:nvSpPr>
        <p:spPr>
          <a:xfrm>
            <a:off x="1463040" y="2697480"/>
            <a:ext cx="9265615" cy="0"/>
          </a:xfrm>
          <a:prstGeom prst="line">
            <a:avLst/>
          </a:prstGeom>
          <a:noFill/>
          <a:ln w="25400">
            <a:solidFill>
              <a:srgbClr val="4A6890"/>
            </a:solidFill>
            <a:prstDash val="solid"/>
          </a:ln>
        </p:spPr>
      </p:sp>
      <p:sp>
        <p:nvSpPr>
          <p:cNvPr id="6" name="Shape 4"/>
          <p:cNvSpPr/>
          <p:nvPr/>
        </p:nvSpPr>
        <p:spPr>
          <a:xfrm>
            <a:off x="1353312" y="2587752"/>
            <a:ext cx="219456" cy="219456"/>
          </a:xfrm>
          <a:prstGeom prst="ellipse">
            <a:avLst/>
          </a:prstGeom>
          <a:solidFill>
            <a:srgbClr val="4A6890"/>
          </a:solidFill>
          <a:ln w="12700">
            <a:solidFill>
              <a:srgbClr val="4A6890"/>
            </a:solidFill>
            <a:prstDash val="solid"/>
          </a:ln>
        </p:spPr>
      </p:sp>
      <p:sp>
        <p:nvSpPr>
          <p:cNvPr id="7" name="Text 5"/>
          <p:cNvSpPr txBox="1"/>
          <p:nvPr/>
        </p:nvSpPr>
        <p:spPr>
          <a:xfrm>
            <a:off x="411480"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Ra y lệnh</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Bác sĩ chỉ định trên HIS</a:t>
            </a:r>
            <a:endParaRPr lang="en-US" sz="1500" dirty="0"/>
          </a:p>
        </p:txBody>
      </p:sp>
      <p:sp>
        <p:nvSpPr>
          <p:cNvPr id="8" name="Shape 6"/>
          <p:cNvSpPr/>
          <p:nvPr/>
        </p:nvSpPr>
        <p:spPr>
          <a:xfrm>
            <a:off x="3669716" y="2587752"/>
            <a:ext cx="219456" cy="219456"/>
          </a:xfrm>
          <a:prstGeom prst="ellipse">
            <a:avLst/>
          </a:prstGeom>
          <a:solidFill>
            <a:srgbClr val="4A6890"/>
          </a:solidFill>
          <a:ln w="12700">
            <a:solidFill>
              <a:srgbClr val="4A6890"/>
            </a:solidFill>
            <a:prstDash val="solid"/>
          </a:ln>
        </p:spPr>
      </p:sp>
      <p:sp>
        <p:nvSpPr>
          <p:cNvPr id="9" name="Text 7"/>
          <p:cNvSpPr txBox="1"/>
          <p:nvPr/>
        </p:nvSpPr>
        <p:spPr>
          <a:xfrm>
            <a:off x="2727884"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Ra viện</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Kết thúc điều trị</a:t>
            </a:r>
            <a:endParaRPr lang="en-US" sz="1500" dirty="0"/>
          </a:p>
        </p:txBody>
      </p:sp>
      <p:sp>
        <p:nvSpPr>
          <p:cNvPr id="10" name="Shape 8"/>
          <p:cNvSpPr/>
          <p:nvPr/>
        </p:nvSpPr>
        <p:spPr>
          <a:xfrm>
            <a:off x="5986120" y="2587752"/>
            <a:ext cx="219456" cy="219456"/>
          </a:xfrm>
          <a:prstGeom prst="ellipse">
            <a:avLst/>
          </a:prstGeom>
          <a:solidFill>
            <a:srgbClr val="4A6890"/>
          </a:solidFill>
          <a:ln w="12700">
            <a:solidFill>
              <a:srgbClr val="4A6890"/>
            </a:solidFill>
            <a:prstDash val="solid"/>
          </a:ln>
        </p:spPr>
      </p:sp>
      <p:sp>
        <p:nvSpPr>
          <p:cNvPr id="11" name="Text 9"/>
          <p:cNvSpPr txBox="1"/>
          <p:nvPr/>
        </p:nvSpPr>
        <p:spPr>
          <a:xfrm>
            <a:off x="5044288"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Lập hồ sơ XML</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Kết xuất từ HIS</a:t>
            </a:r>
            <a:endParaRPr lang="en-US" sz="1500" dirty="0"/>
          </a:p>
        </p:txBody>
      </p:sp>
      <p:sp>
        <p:nvSpPr>
          <p:cNvPr id="12" name="Shape 10"/>
          <p:cNvSpPr/>
          <p:nvPr/>
        </p:nvSpPr>
        <p:spPr>
          <a:xfrm>
            <a:off x="8302523" y="2587752"/>
            <a:ext cx="219456" cy="219456"/>
          </a:xfrm>
          <a:prstGeom prst="ellipse">
            <a:avLst/>
          </a:prstGeom>
          <a:solidFill>
            <a:srgbClr val="4A6890"/>
          </a:solidFill>
          <a:ln w="12700">
            <a:solidFill>
              <a:srgbClr val="4A6890"/>
            </a:solidFill>
            <a:prstDash val="solid"/>
          </a:ln>
        </p:spPr>
      </p:sp>
      <p:sp>
        <p:nvSpPr>
          <p:cNvPr id="13" name="Text 11"/>
          <p:cNvSpPr txBox="1"/>
          <p:nvPr/>
        </p:nvSpPr>
        <p:spPr>
          <a:xfrm>
            <a:off x="7360691"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Ký số, gửi cổng</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Cổng giám định BHXH</a:t>
            </a:r>
            <a:endParaRPr lang="en-US" sz="1500" dirty="0"/>
          </a:p>
        </p:txBody>
      </p:sp>
      <p:sp>
        <p:nvSpPr>
          <p:cNvPr id="14" name="Shape 12"/>
          <p:cNvSpPr/>
          <p:nvPr/>
        </p:nvSpPr>
        <p:spPr>
          <a:xfrm>
            <a:off x="10573207" y="2542032"/>
            <a:ext cx="310896" cy="310896"/>
          </a:xfrm>
          <a:prstGeom prst="ellipse">
            <a:avLst/>
          </a:prstGeom>
          <a:solidFill>
            <a:srgbClr val="F87171"/>
          </a:solidFill>
          <a:ln w="12700">
            <a:solidFill>
              <a:srgbClr val="F87171"/>
            </a:solidFill>
            <a:prstDash val="solid"/>
          </a:ln>
        </p:spPr>
      </p:sp>
      <p:sp>
        <p:nvSpPr>
          <p:cNvPr id="15" name="Shape 13"/>
          <p:cNvSpPr/>
          <p:nvPr/>
        </p:nvSpPr>
        <p:spPr>
          <a:xfrm>
            <a:off x="9448495" y="2039112"/>
            <a:ext cx="2103120" cy="329184"/>
          </a:xfrm>
          <a:prstGeom prst="roundRect">
            <a:avLst>
              <a:gd name="adj" fmla="val 50000"/>
            </a:avLst>
          </a:prstGeom>
          <a:solidFill>
            <a:srgbClr val="F87171"/>
          </a:solidFill>
          <a:ln w="12700">
            <a:solidFill>
              <a:srgbClr val="F87171"/>
            </a:solidFill>
            <a:prstDash val="solid"/>
          </a:ln>
        </p:spPr>
      </p:sp>
      <p:sp>
        <p:nvSpPr>
          <p:cNvPr id="16" name="Text 14"/>
          <p:cNvSpPr txBox="1"/>
          <p:nvPr/>
        </p:nvSpPr>
        <p:spPr>
          <a:xfrm>
            <a:off x="9448495" y="2039112"/>
            <a:ext cx="2103120" cy="329184"/>
          </a:xfrm>
          <a:prstGeom prst="rect">
            <a:avLst/>
          </a:prstGeom>
          <a:noFill/>
          <a:ln/>
        </p:spPr>
        <p:txBody>
          <a:bodyPr wrap="square" lIns="0" tIns="0" rIns="0" bIns="0" rtlCol="0" anchor="ctr"/>
          <a:lstStyle/>
          <a:p>
            <a:pPr algn="ctr" indent="0" marL="0">
              <a:buNone/>
            </a:pPr>
            <a:r>
              <a:rPr lang="en-US" sz="1100" b="1" dirty="0">
                <a:solidFill>
                  <a:srgbClr val="0B1A30"/>
                </a:solidFill>
                <a:latin typeface="Arial" pitchFamily="34" charset="0"/>
                <a:ea typeface="Arial" pitchFamily="34" charset="-122"/>
                <a:cs typeface="Arial" pitchFamily="34" charset="-120"/>
              </a:rPr>
              <a:t>LÚC NÀY MỚI BIẾT LỖI</a:t>
            </a:r>
            <a:endParaRPr lang="en-US" sz="1100" dirty="0"/>
          </a:p>
        </p:txBody>
      </p:sp>
      <p:sp>
        <p:nvSpPr>
          <p:cNvPr id="17" name="Text 15"/>
          <p:cNvSpPr txBox="1"/>
          <p:nvPr/>
        </p:nvSpPr>
        <p:spPr>
          <a:xfrm>
            <a:off x="9677095"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87171"/>
                </a:solidFill>
                <a:latin typeface="Arial" pitchFamily="34" charset="0"/>
                <a:ea typeface="Arial" pitchFamily="34" charset="-122"/>
                <a:cs typeface="Arial" pitchFamily="34" charset="-120"/>
              </a:rPr>
              <a:t>Cổng báo lỗi</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Hàng tuần lễ sau</a:t>
            </a:r>
            <a:endParaRPr lang="en-US" sz="1500" dirty="0"/>
          </a:p>
        </p:txBody>
      </p:sp>
      <p:sp>
        <p:nvSpPr>
          <p:cNvPr id="18" name="Shape 16"/>
          <p:cNvSpPr/>
          <p:nvPr/>
        </p:nvSpPr>
        <p:spPr>
          <a:xfrm>
            <a:off x="640080" y="3931920"/>
            <a:ext cx="3454298" cy="1554480"/>
          </a:xfrm>
          <a:prstGeom prst="roundRect">
            <a:avLst>
              <a:gd name="adj" fmla="val 5882"/>
            </a:avLst>
          </a:prstGeom>
          <a:solidFill>
            <a:srgbClr val="1C3558">
              <a:alpha val="85000"/>
            </a:srgbClr>
          </a:solidFill>
          <a:ln w="9525">
            <a:solidFill>
              <a:srgbClr val="2E4B74"/>
            </a:solidFill>
            <a:prstDash val="solid"/>
          </a:ln>
        </p:spPr>
      </p:sp>
      <p:sp>
        <p:nvSpPr>
          <p:cNvPr id="19" name="Text 17"/>
          <p:cNvSpPr txBox="1"/>
          <p:nvPr/>
        </p:nvSpPr>
        <p:spPr>
          <a:xfrm>
            <a:off x="822960" y="41148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0" name="Text 18"/>
          <p:cNvSpPr txBox="1"/>
          <p:nvPr/>
        </p:nvSpPr>
        <p:spPr>
          <a:xfrm>
            <a:off x="1417320" y="4114800"/>
            <a:ext cx="2494178" cy="5029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Sửa muộn, tốn công</a:t>
            </a:r>
            <a:endParaRPr lang="en-US" sz="1700" dirty="0"/>
          </a:p>
        </p:txBody>
      </p:sp>
      <p:sp>
        <p:nvSpPr>
          <p:cNvPr id="21" name="Text 19"/>
          <p:cNvSpPr txBox="1"/>
          <p:nvPr/>
        </p:nvSpPr>
        <p:spPr>
          <a:xfrm>
            <a:off x="868680" y="4709160"/>
            <a:ext cx="2997098" cy="685800"/>
          </a:xfrm>
          <a:prstGeom prst="rect">
            <a:avLst/>
          </a:prstGeom>
          <a:noFill/>
          <a:ln/>
        </p:spPr>
        <p:txBody>
          <a:bodyPr wrap="square" lIns="0" tIns="0" rIns="0" bIns="0" rtlCol="0" anchor="t"/>
          <a:lstStyle/>
          <a:p>
            <a:pPr indent="0" marL="0">
              <a:lnSpc>
                <a:spcPts val="1800"/>
              </a:lnSpc>
              <a:buNone/>
            </a:pPr>
            <a:r>
              <a:rPr lang="en-US" sz="1300" dirty="0">
                <a:solidFill>
                  <a:srgbClr val="A9BCD6"/>
                </a:solidFill>
                <a:latin typeface="Arial" pitchFamily="34" charset="0"/>
                <a:ea typeface="Arial" pitchFamily="34" charset="-122"/>
                <a:cs typeface="Arial" pitchFamily="34" charset="-120"/>
              </a:rPr>
              <a:t>Phải truy lại khoa, người thực hiện, bệnh án đã đóng — một lỗi nhỏ thành nhiều vòng trao đổi.</a:t>
            </a:r>
            <a:endParaRPr lang="en-US" sz="1300" dirty="0"/>
          </a:p>
        </p:txBody>
      </p:sp>
      <p:sp>
        <p:nvSpPr>
          <p:cNvPr id="22" name="Shape 20"/>
          <p:cNvSpPr/>
          <p:nvPr/>
        </p:nvSpPr>
        <p:spPr>
          <a:xfrm>
            <a:off x="4368698" y="3931920"/>
            <a:ext cx="3454298" cy="1554480"/>
          </a:xfrm>
          <a:prstGeom prst="roundRect">
            <a:avLst>
              <a:gd name="adj" fmla="val 5882"/>
            </a:avLst>
          </a:prstGeom>
          <a:solidFill>
            <a:srgbClr val="1C3558">
              <a:alpha val="85000"/>
            </a:srgbClr>
          </a:solidFill>
          <a:ln w="9525">
            <a:solidFill>
              <a:srgbClr val="2E4B74"/>
            </a:solidFill>
            <a:prstDash val="solid"/>
          </a:ln>
        </p:spPr>
      </p:sp>
      <p:sp>
        <p:nvSpPr>
          <p:cNvPr id="23" name="Text 21"/>
          <p:cNvSpPr txBox="1"/>
          <p:nvPr/>
        </p:nvSpPr>
        <p:spPr>
          <a:xfrm>
            <a:off x="4551578" y="41148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4" name="Text 22"/>
          <p:cNvSpPr txBox="1"/>
          <p:nvPr/>
        </p:nvSpPr>
        <p:spPr>
          <a:xfrm>
            <a:off x="5145938" y="4114800"/>
            <a:ext cx="2494178" cy="5029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Rủi ro xuất toán</a:t>
            </a:r>
            <a:endParaRPr lang="en-US" sz="1700" dirty="0"/>
          </a:p>
        </p:txBody>
      </p:sp>
      <p:sp>
        <p:nvSpPr>
          <p:cNvPr id="25" name="Text 23"/>
          <p:cNvSpPr txBox="1"/>
          <p:nvPr/>
        </p:nvSpPr>
        <p:spPr>
          <a:xfrm>
            <a:off x="4597298" y="4709160"/>
            <a:ext cx="2997098" cy="685800"/>
          </a:xfrm>
          <a:prstGeom prst="rect">
            <a:avLst/>
          </a:prstGeom>
          <a:noFill/>
          <a:ln/>
        </p:spPr>
        <p:txBody>
          <a:bodyPr wrap="square" lIns="0" tIns="0" rIns="0" bIns="0" rtlCol="0" anchor="t"/>
          <a:lstStyle/>
          <a:p>
            <a:pPr indent="0" marL="0">
              <a:lnSpc>
                <a:spcPts val="1800"/>
              </a:lnSpc>
              <a:buNone/>
            </a:pPr>
            <a:r>
              <a:rPr lang="en-US" sz="1300" dirty="0">
                <a:solidFill>
                  <a:srgbClr val="A9BCD6"/>
                </a:solidFill>
                <a:latin typeface="Arial" pitchFamily="34" charset="0"/>
                <a:ea typeface="Arial" pitchFamily="34" charset="-122"/>
                <a:cs typeface="Arial" pitchFamily="34" charset="-120"/>
              </a:rPr>
              <a:t>Chi phí của hồ sơ lỗi có thể không được thanh toán, hoặc bị treo trong lúc chờ sửa.</a:t>
            </a:r>
            <a:endParaRPr lang="en-US" sz="1300" dirty="0"/>
          </a:p>
        </p:txBody>
      </p:sp>
      <p:sp>
        <p:nvSpPr>
          <p:cNvPr id="26" name="Shape 24"/>
          <p:cNvSpPr/>
          <p:nvPr/>
        </p:nvSpPr>
        <p:spPr>
          <a:xfrm>
            <a:off x="8097317" y="3931920"/>
            <a:ext cx="3454298" cy="1554480"/>
          </a:xfrm>
          <a:prstGeom prst="roundRect">
            <a:avLst>
              <a:gd name="adj" fmla="val 5882"/>
            </a:avLst>
          </a:prstGeom>
          <a:solidFill>
            <a:srgbClr val="1C3558">
              <a:alpha val="85000"/>
            </a:srgbClr>
          </a:solidFill>
          <a:ln w="9525">
            <a:solidFill>
              <a:srgbClr val="2E4B74"/>
            </a:solidFill>
            <a:prstDash val="solid"/>
          </a:ln>
        </p:spPr>
      </p:sp>
      <p:sp>
        <p:nvSpPr>
          <p:cNvPr id="27" name="Text 25"/>
          <p:cNvSpPr txBox="1"/>
          <p:nvPr/>
        </p:nvSpPr>
        <p:spPr>
          <a:xfrm>
            <a:off x="8280197" y="41148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8" name="Text 26"/>
          <p:cNvSpPr txBox="1"/>
          <p:nvPr/>
        </p:nvSpPr>
        <p:spPr>
          <a:xfrm>
            <a:off x="8874557" y="4114800"/>
            <a:ext cx="2494178" cy="50292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Lỗi cứ lặp lại</a:t>
            </a:r>
            <a:endParaRPr lang="en-US" sz="1700" dirty="0"/>
          </a:p>
        </p:txBody>
      </p:sp>
      <p:sp>
        <p:nvSpPr>
          <p:cNvPr id="29" name="Text 27"/>
          <p:cNvSpPr txBox="1"/>
          <p:nvPr/>
        </p:nvSpPr>
        <p:spPr>
          <a:xfrm>
            <a:off x="8325917" y="4709160"/>
            <a:ext cx="2997098" cy="685800"/>
          </a:xfrm>
          <a:prstGeom prst="rect">
            <a:avLst/>
          </a:prstGeom>
          <a:noFill/>
          <a:ln/>
        </p:spPr>
        <p:txBody>
          <a:bodyPr wrap="square" lIns="0" tIns="0" rIns="0" bIns="0" rtlCol="0" anchor="t"/>
          <a:lstStyle/>
          <a:p>
            <a:pPr indent="0" marL="0">
              <a:lnSpc>
                <a:spcPts val="1800"/>
              </a:lnSpc>
              <a:buNone/>
            </a:pPr>
            <a:r>
              <a:rPr lang="en-US" sz="1300" dirty="0">
                <a:solidFill>
                  <a:srgbClr val="A9BCD6"/>
                </a:solidFill>
                <a:latin typeface="Arial" pitchFamily="34" charset="0"/>
                <a:ea typeface="Arial" pitchFamily="34" charset="-122"/>
                <a:cs typeface="Arial" pitchFamily="34" charset="-120"/>
              </a:rPr>
              <a:t>Không thấy lỗi tập trung ở khoa nào, mã lỗi nào — nên không sửa được tận gốc.</a:t>
            </a:r>
            <a:endParaRPr lang="en-US" sz="1300" dirty="0"/>
          </a:p>
        </p:txBody>
      </p:sp>
      <p:sp>
        <p:nvSpPr>
          <p:cNvPr id="30" name="Text 28"/>
          <p:cNvSpPr txBox="1"/>
          <p:nvPr/>
        </p:nvSpPr>
        <p:spPr>
          <a:xfrm>
            <a:off x="640080" y="576072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Câu hỏi: làm sao biết lỗi khi người làm sai còn đang ở đó, và hồ sơ còn chưa rời bệnh viện?</a:t>
            </a:r>
            <a:endParaRPr lang="en-US" sz="1600" dirty="0"/>
          </a:p>
        </p:txBody>
      </p:sp>
      <p:sp>
        <p:nvSpPr>
          <p:cNvPr id="32" name="Text 29"/>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02 / 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GIẢI PHÁP</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Chặn lỗi ngay trong bệnh viện, trước khi gửi đi</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Tiền giám định đặt một điểm kiểm soát bên trong bệnh viện — mọi hồ sơ được kiểm trước khi ký số và gửi cổng.</a:t>
            </a:r>
            <a:endParaRPr lang="en-US" sz="1500" dirty="0"/>
          </a:p>
        </p:txBody>
      </p:sp>
      <p:sp>
        <p:nvSpPr>
          <p:cNvPr id="5" name="Shape 3"/>
          <p:cNvSpPr/>
          <p:nvPr/>
        </p:nvSpPr>
        <p:spPr>
          <a:xfrm>
            <a:off x="1463040" y="2697480"/>
            <a:ext cx="9265615" cy="0"/>
          </a:xfrm>
          <a:prstGeom prst="line">
            <a:avLst/>
          </a:prstGeom>
          <a:noFill/>
          <a:ln w="25400">
            <a:solidFill>
              <a:srgbClr val="4A6890"/>
            </a:solidFill>
            <a:prstDash val="solid"/>
          </a:ln>
        </p:spPr>
      </p:sp>
      <p:sp>
        <p:nvSpPr>
          <p:cNvPr id="6" name="Shape 4"/>
          <p:cNvSpPr/>
          <p:nvPr/>
        </p:nvSpPr>
        <p:spPr>
          <a:xfrm>
            <a:off x="1353312" y="2587752"/>
            <a:ext cx="219456" cy="219456"/>
          </a:xfrm>
          <a:prstGeom prst="ellipse">
            <a:avLst/>
          </a:prstGeom>
          <a:solidFill>
            <a:srgbClr val="4A6890"/>
          </a:solidFill>
          <a:ln w="12700">
            <a:solidFill>
              <a:srgbClr val="4A6890"/>
            </a:solidFill>
            <a:prstDash val="solid"/>
          </a:ln>
        </p:spPr>
      </p:sp>
      <p:sp>
        <p:nvSpPr>
          <p:cNvPr id="7" name="Text 5"/>
          <p:cNvSpPr txBox="1"/>
          <p:nvPr/>
        </p:nvSpPr>
        <p:spPr>
          <a:xfrm>
            <a:off x="411480"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Ra y lệnh</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Bác sĩ chỉ định trên HIS</a:t>
            </a:r>
            <a:endParaRPr lang="en-US" sz="1500" dirty="0"/>
          </a:p>
        </p:txBody>
      </p:sp>
      <p:sp>
        <p:nvSpPr>
          <p:cNvPr id="8" name="Shape 6"/>
          <p:cNvSpPr/>
          <p:nvPr/>
        </p:nvSpPr>
        <p:spPr>
          <a:xfrm>
            <a:off x="3669716" y="2587752"/>
            <a:ext cx="219456" cy="219456"/>
          </a:xfrm>
          <a:prstGeom prst="ellipse">
            <a:avLst/>
          </a:prstGeom>
          <a:solidFill>
            <a:srgbClr val="4A6890"/>
          </a:solidFill>
          <a:ln w="12700">
            <a:solidFill>
              <a:srgbClr val="4A6890"/>
            </a:solidFill>
            <a:prstDash val="solid"/>
          </a:ln>
        </p:spPr>
      </p:sp>
      <p:sp>
        <p:nvSpPr>
          <p:cNvPr id="9" name="Text 7"/>
          <p:cNvSpPr txBox="1"/>
          <p:nvPr/>
        </p:nvSpPr>
        <p:spPr>
          <a:xfrm>
            <a:off x="2727884"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Ra viện</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Kết thúc điều trị</a:t>
            </a:r>
            <a:endParaRPr lang="en-US" sz="1500" dirty="0"/>
          </a:p>
        </p:txBody>
      </p:sp>
      <p:sp>
        <p:nvSpPr>
          <p:cNvPr id="10" name="Shape 8"/>
          <p:cNvSpPr/>
          <p:nvPr/>
        </p:nvSpPr>
        <p:spPr>
          <a:xfrm>
            <a:off x="5986120" y="2587752"/>
            <a:ext cx="219456" cy="219456"/>
          </a:xfrm>
          <a:prstGeom prst="ellipse">
            <a:avLst/>
          </a:prstGeom>
          <a:solidFill>
            <a:srgbClr val="4A6890"/>
          </a:solidFill>
          <a:ln w="12700">
            <a:solidFill>
              <a:srgbClr val="4A6890"/>
            </a:solidFill>
            <a:prstDash val="solid"/>
          </a:ln>
        </p:spPr>
      </p:sp>
      <p:sp>
        <p:nvSpPr>
          <p:cNvPr id="11" name="Text 9"/>
          <p:cNvSpPr txBox="1"/>
          <p:nvPr/>
        </p:nvSpPr>
        <p:spPr>
          <a:xfrm>
            <a:off x="5044288"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FFFFF"/>
                </a:solidFill>
                <a:latin typeface="Arial" pitchFamily="34" charset="0"/>
                <a:ea typeface="Arial" pitchFamily="34" charset="-122"/>
                <a:cs typeface="Arial" pitchFamily="34" charset="-120"/>
              </a:rPr>
              <a:t>Lập hồ sơ XML</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Nạp vào Tiền giám định</a:t>
            </a:r>
            <a:endParaRPr lang="en-US" sz="1500" dirty="0"/>
          </a:p>
        </p:txBody>
      </p:sp>
      <p:sp>
        <p:nvSpPr>
          <p:cNvPr id="12" name="Shape 10"/>
          <p:cNvSpPr/>
          <p:nvPr/>
        </p:nvSpPr>
        <p:spPr>
          <a:xfrm>
            <a:off x="8256803" y="2542032"/>
            <a:ext cx="310896" cy="310896"/>
          </a:xfrm>
          <a:prstGeom prst="ellipse">
            <a:avLst/>
          </a:prstGeom>
          <a:solidFill>
            <a:srgbClr val="FBBF24"/>
          </a:solidFill>
          <a:ln w="12700">
            <a:solidFill>
              <a:srgbClr val="FBBF24"/>
            </a:solidFill>
            <a:prstDash val="solid"/>
          </a:ln>
        </p:spPr>
      </p:sp>
      <p:sp>
        <p:nvSpPr>
          <p:cNvPr id="13" name="Shape 11"/>
          <p:cNvSpPr/>
          <p:nvPr/>
        </p:nvSpPr>
        <p:spPr>
          <a:xfrm>
            <a:off x="7360691" y="2039112"/>
            <a:ext cx="2103120" cy="329184"/>
          </a:xfrm>
          <a:prstGeom prst="roundRect">
            <a:avLst>
              <a:gd name="adj" fmla="val 50000"/>
            </a:avLst>
          </a:prstGeom>
          <a:solidFill>
            <a:srgbClr val="FBBF24"/>
          </a:solidFill>
          <a:ln w="12700">
            <a:solidFill>
              <a:srgbClr val="FBBF24"/>
            </a:solidFill>
            <a:prstDash val="solid"/>
          </a:ln>
        </p:spPr>
      </p:sp>
      <p:sp>
        <p:nvSpPr>
          <p:cNvPr id="14" name="Text 12"/>
          <p:cNvSpPr txBox="1"/>
          <p:nvPr/>
        </p:nvSpPr>
        <p:spPr>
          <a:xfrm>
            <a:off x="7360691" y="2039112"/>
            <a:ext cx="2103120" cy="329184"/>
          </a:xfrm>
          <a:prstGeom prst="rect">
            <a:avLst/>
          </a:prstGeom>
          <a:noFill/>
          <a:ln/>
        </p:spPr>
        <p:txBody>
          <a:bodyPr wrap="square" lIns="0" tIns="0" rIns="0" bIns="0" rtlCol="0" anchor="ctr"/>
          <a:lstStyle/>
          <a:p>
            <a:pPr algn="ctr" indent="0" marL="0">
              <a:buNone/>
            </a:pPr>
            <a:r>
              <a:rPr lang="en-US" sz="1100" b="1" dirty="0">
                <a:solidFill>
                  <a:srgbClr val="0B1A30"/>
                </a:solidFill>
                <a:latin typeface="Arial" pitchFamily="34" charset="0"/>
                <a:ea typeface="Arial" pitchFamily="34" charset="-122"/>
                <a:cs typeface="Arial" pitchFamily="34" charset="-120"/>
              </a:rPr>
              <a:t>ĐIỂM KIỂM SOÁT</a:t>
            </a:r>
            <a:endParaRPr lang="en-US" sz="1100" dirty="0"/>
          </a:p>
        </p:txBody>
      </p:sp>
      <p:sp>
        <p:nvSpPr>
          <p:cNvPr id="15" name="Text 13"/>
          <p:cNvSpPr txBox="1"/>
          <p:nvPr/>
        </p:nvSpPr>
        <p:spPr>
          <a:xfrm>
            <a:off x="7360691"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FBBF24"/>
                </a:solidFill>
                <a:latin typeface="Arial" pitchFamily="34" charset="0"/>
                <a:ea typeface="Arial" pitchFamily="34" charset="-122"/>
                <a:cs typeface="Arial" pitchFamily="34" charset="-120"/>
              </a:rPr>
              <a:t>Kiểm hồ sơ</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Lỗi nghiêm trọng bị chặn</a:t>
            </a:r>
            <a:endParaRPr lang="en-US" sz="1500" dirty="0"/>
          </a:p>
        </p:txBody>
      </p:sp>
      <p:sp>
        <p:nvSpPr>
          <p:cNvPr id="16" name="Shape 14"/>
          <p:cNvSpPr/>
          <p:nvPr/>
        </p:nvSpPr>
        <p:spPr>
          <a:xfrm>
            <a:off x="10573207" y="2542032"/>
            <a:ext cx="310896" cy="310896"/>
          </a:xfrm>
          <a:prstGeom prst="ellipse">
            <a:avLst/>
          </a:prstGeom>
          <a:solidFill>
            <a:srgbClr val="4ADE80"/>
          </a:solidFill>
          <a:ln w="12700">
            <a:solidFill>
              <a:srgbClr val="4ADE80"/>
            </a:solidFill>
            <a:prstDash val="solid"/>
          </a:ln>
        </p:spPr>
      </p:sp>
      <p:sp>
        <p:nvSpPr>
          <p:cNvPr id="17" name="Text 15"/>
          <p:cNvSpPr txBox="1"/>
          <p:nvPr/>
        </p:nvSpPr>
        <p:spPr>
          <a:xfrm>
            <a:off x="9677095" y="2953512"/>
            <a:ext cx="2103120" cy="731520"/>
          </a:xfrm>
          <a:prstGeom prst="rect">
            <a:avLst/>
          </a:prstGeom>
          <a:noFill/>
          <a:ln/>
        </p:spPr>
        <p:txBody>
          <a:bodyPr wrap="square" lIns="0" tIns="0" rIns="0" bIns="0" rtlCol="0" anchor="t"/>
          <a:lstStyle/>
          <a:p>
            <a:pPr algn="ctr" indent="0" marL="0">
              <a:lnSpc>
                <a:spcPts val="1800"/>
              </a:lnSpc>
              <a:buNone/>
            </a:pPr>
            <a:r>
              <a:rPr lang="en-US" sz="1500" b="1" dirty="0">
                <a:solidFill>
                  <a:srgbClr val="4ADE80"/>
                </a:solidFill>
                <a:latin typeface="Arial" pitchFamily="34" charset="0"/>
                <a:ea typeface="Arial" pitchFamily="34" charset="-122"/>
                <a:cs typeface="Arial" pitchFamily="34" charset="-120"/>
              </a:rPr>
              <a:t>Ký số, gửi cổng</a:t>
            </a:r>
            <a:endParaRPr lang="en-US" sz="1500" dirty="0"/>
          </a:p>
          <a:p>
            <a:pPr algn="ctr" indent="0" marL="0">
              <a:lnSpc>
                <a:spcPts val="1800"/>
              </a:lnSpc>
              <a:buNone/>
            </a:pPr>
            <a:r>
              <a:rPr lang="en-US" sz="1200" dirty="0">
                <a:solidFill>
                  <a:srgbClr val="A9BCD6"/>
                </a:solidFill>
                <a:latin typeface="Arial" pitchFamily="34" charset="0"/>
                <a:ea typeface="Arial" pitchFamily="34" charset="-122"/>
                <a:cs typeface="Arial" pitchFamily="34" charset="-120"/>
              </a:rPr>
              <a:t>Hồ sơ đã sạch lỗi hơn</a:t>
            </a:r>
            <a:endParaRPr lang="en-US" sz="1500" dirty="0"/>
          </a:p>
        </p:txBody>
      </p:sp>
      <p:sp>
        <p:nvSpPr>
          <p:cNvPr id="18" name="Text 16"/>
          <p:cNvSpPr txBox="1"/>
          <p:nvPr/>
        </p:nvSpPr>
        <p:spPr>
          <a:xfrm>
            <a:off x="640080" y="3913632"/>
            <a:ext cx="10911535" cy="274320"/>
          </a:xfrm>
          <a:prstGeom prst="rect">
            <a:avLst/>
          </a:prstGeom>
          <a:noFill/>
          <a:ln/>
        </p:spPr>
        <p:txBody>
          <a:bodyPr wrap="square" lIns="0" tIns="0" rIns="0" bIns="0" rtlCol="0" anchor="ctr"/>
          <a:lstStyle/>
          <a:p>
            <a:pPr indent="0" marL="0">
              <a:buNone/>
            </a:pPr>
            <a:r>
              <a:rPr lang="en-US" sz="1100" b="1" spc="200" kern="0" dirty="0">
                <a:solidFill>
                  <a:srgbClr val="7F93B0"/>
                </a:solidFill>
                <a:latin typeface="Arial" pitchFamily="34" charset="0"/>
                <a:ea typeface="Arial" pitchFamily="34" charset="-122"/>
                <a:cs typeface="Arial" pitchFamily="34" charset="-120"/>
              </a:rPr>
              <a:t>VÒNG SỬA LỖI</a:t>
            </a:r>
            <a:endParaRPr lang="en-US" sz="1100" dirty="0"/>
          </a:p>
        </p:txBody>
      </p:sp>
      <p:sp>
        <p:nvSpPr>
          <p:cNvPr id="19" name="Shape 17"/>
          <p:cNvSpPr/>
          <p:nvPr/>
        </p:nvSpPr>
        <p:spPr>
          <a:xfrm>
            <a:off x="640080"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20" name="Text 18"/>
          <p:cNvSpPr txBox="1"/>
          <p:nvPr/>
        </p:nvSpPr>
        <p:spPr>
          <a:xfrm>
            <a:off x="640080"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Phát hiện lỗi</a:t>
            </a:r>
            <a:endParaRPr lang="en-US" sz="1400" dirty="0"/>
          </a:p>
        </p:txBody>
      </p:sp>
      <p:sp>
        <p:nvSpPr>
          <p:cNvPr id="21" name="Text 19"/>
          <p:cNvSpPr txBox="1"/>
          <p:nvPr/>
        </p:nvSpPr>
        <p:spPr>
          <a:xfrm>
            <a:off x="2529779"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22" name="Shape 20"/>
          <p:cNvSpPr/>
          <p:nvPr/>
        </p:nvSpPr>
        <p:spPr>
          <a:xfrm>
            <a:off x="2895539"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23" name="Text 21"/>
          <p:cNvSpPr txBox="1"/>
          <p:nvPr/>
        </p:nvSpPr>
        <p:spPr>
          <a:xfrm>
            <a:off x="2895539"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Báo về khoa phát sinh</a:t>
            </a:r>
            <a:endParaRPr lang="en-US" sz="1400" dirty="0"/>
          </a:p>
        </p:txBody>
      </p:sp>
      <p:sp>
        <p:nvSpPr>
          <p:cNvPr id="24" name="Text 22"/>
          <p:cNvSpPr txBox="1"/>
          <p:nvPr/>
        </p:nvSpPr>
        <p:spPr>
          <a:xfrm>
            <a:off x="4785238"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25" name="Shape 23"/>
          <p:cNvSpPr/>
          <p:nvPr/>
        </p:nvSpPr>
        <p:spPr>
          <a:xfrm>
            <a:off x="5150998"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26" name="Text 24"/>
          <p:cNvSpPr txBox="1"/>
          <p:nvPr/>
        </p:nvSpPr>
        <p:spPr>
          <a:xfrm>
            <a:off x="5150998" y="4251960"/>
            <a:ext cx="1889699" cy="502920"/>
          </a:xfrm>
          <a:prstGeom prst="rect">
            <a:avLst/>
          </a:prstGeom>
          <a:noFill/>
          <a:ln/>
        </p:spPr>
        <p:txBody>
          <a:bodyPr wrap="square" lIns="0" tIns="0" rIns="0" bIns="0" rtlCol="0" anchor="ctr"/>
          <a:lstStyle/>
          <a:p>
            <a:pPr algn="ctr" indent="0" marL="0">
              <a:buNone/>
            </a:pPr>
            <a:r>
              <a:rPr lang="en-US" sz="1400" b="1" dirty="0">
                <a:solidFill>
                  <a:srgbClr val="FBBF24"/>
                </a:solidFill>
                <a:latin typeface="Arial" pitchFamily="34" charset="0"/>
                <a:ea typeface="Arial" pitchFamily="34" charset="-122"/>
                <a:cs typeface="Arial" pitchFamily="34" charset="-120"/>
              </a:rPr>
              <a:t>Sửa trên HIS</a:t>
            </a:r>
            <a:endParaRPr lang="en-US" sz="1400" dirty="0"/>
          </a:p>
        </p:txBody>
      </p:sp>
      <p:sp>
        <p:nvSpPr>
          <p:cNvPr id="27" name="Text 25"/>
          <p:cNvSpPr txBox="1"/>
          <p:nvPr/>
        </p:nvSpPr>
        <p:spPr>
          <a:xfrm>
            <a:off x="7040697"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28" name="Shape 26"/>
          <p:cNvSpPr/>
          <p:nvPr/>
        </p:nvSpPr>
        <p:spPr>
          <a:xfrm>
            <a:off x="7406457"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29" name="Text 27"/>
          <p:cNvSpPr txBox="1"/>
          <p:nvPr/>
        </p:nvSpPr>
        <p:spPr>
          <a:xfrm>
            <a:off x="7406457"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Nạp lại</a:t>
            </a:r>
            <a:endParaRPr lang="en-US" sz="1400" dirty="0"/>
          </a:p>
        </p:txBody>
      </p:sp>
      <p:sp>
        <p:nvSpPr>
          <p:cNvPr id="30" name="Text 28"/>
          <p:cNvSpPr txBox="1"/>
          <p:nvPr/>
        </p:nvSpPr>
        <p:spPr>
          <a:xfrm>
            <a:off x="9296156" y="4251960"/>
            <a:ext cx="365760" cy="502920"/>
          </a:xfrm>
          <a:prstGeom prst="rect">
            <a:avLst/>
          </a:prstGeom>
          <a:noFill/>
          <a:ln/>
        </p:spPr>
        <p:txBody>
          <a:bodyPr wrap="square" lIns="0" tIns="0" rIns="0" bIns="0" rtlCol="0" anchor="ctr"/>
          <a:lstStyle/>
          <a:p>
            <a:pPr algn="ctr" indent="0" marL="0">
              <a:buNone/>
            </a:pPr>
            <a:r>
              <a:rPr lang="en-US" sz="1800" dirty="0">
                <a:solidFill>
                  <a:srgbClr val="C9D6E8"/>
                </a:solidFill>
                <a:latin typeface="Arial" pitchFamily="34" charset="0"/>
                <a:ea typeface="Arial" pitchFamily="34" charset="-122"/>
                <a:cs typeface="Arial" pitchFamily="34" charset="-120"/>
              </a:rPr>
              <a:t>→</a:t>
            </a:r>
            <a:endParaRPr lang="en-US" sz="1800" dirty="0"/>
          </a:p>
        </p:txBody>
      </p:sp>
      <p:sp>
        <p:nvSpPr>
          <p:cNvPr id="31" name="Shape 29"/>
          <p:cNvSpPr/>
          <p:nvPr/>
        </p:nvSpPr>
        <p:spPr>
          <a:xfrm>
            <a:off x="9661916" y="4251960"/>
            <a:ext cx="1889699" cy="502920"/>
          </a:xfrm>
          <a:prstGeom prst="roundRect">
            <a:avLst>
              <a:gd name="adj" fmla="val 49091"/>
            </a:avLst>
          </a:prstGeom>
          <a:solidFill>
            <a:srgbClr val="1C3558">
              <a:alpha val="85000"/>
            </a:srgbClr>
          </a:solidFill>
          <a:ln w="9525">
            <a:solidFill>
              <a:srgbClr val="2E4B74"/>
            </a:solidFill>
            <a:prstDash val="solid"/>
          </a:ln>
        </p:spPr>
      </p:sp>
      <p:sp>
        <p:nvSpPr>
          <p:cNvPr id="32" name="Text 30"/>
          <p:cNvSpPr txBox="1"/>
          <p:nvPr/>
        </p:nvSpPr>
        <p:spPr>
          <a:xfrm>
            <a:off x="9661916" y="4251960"/>
            <a:ext cx="1889699" cy="502920"/>
          </a:xfrm>
          <a:prstGeom prst="rect">
            <a:avLst/>
          </a:prstGeom>
          <a:noFill/>
          <a:ln/>
        </p:spPr>
        <p:txBody>
          <a:bodyPr wrap="square" lIns="0" tIns="0" rIns="0" bIns="0" rtlCol="0" anchor="ctr"/>
          <a:lstStyle/>
          <a:p>
            <a:pPr algn="ctr" indent="0" marL="0">
              <a:buNone/>
            </a:pPr>
            <a:r>
              <a:rPr lang="en-US" sz="1400" dirty="0">
                <a:solidFill>
                  <a:srgbClr val="FFFFFF"/>
                </a:solidFill>
                <a:latin typeface="Arial" pitchFamily="34" charset="0"/>
                <a:ea typeface="Arial" pitchFamily="34" charset="-122"/>
                <a:cs typeface="Arial" pitchFamily="34" charset="-120"/>
              </a:rPr>
              <a:t>Kiểm lại</a:t>
            </a:r>
            <a:endParaRPr lang="en-US" sz="1400" dirty="0"/>
          </a:p>
        </p:txBody>
      </p:sp>
      <p:sp>
        <p:nvSpPr>
          <p:cNvPr id="33" name="Text 31"/>
          <p:cNvSpPr txBox="1"/>
          <p:nvPr/>
        </p:nvSpPr>
        <p:spPr>
          <a:xfrm>
            <a:off x="640080" y="4983480"/>
            <a:ext cx="10911535" cy="548640"/>
          </a:xfrm>
          <a:prstGeom prst="rect">
            <a:avLst/>
          </a:prstGeom>
          <a:noFill/>
          <a:ln/>
        </p:spPr>
        <p:txBody>
          <a:bodyPr wrap="square" lIns="0" tIns="0" rIns="0" bIns="0" rtlCol="0" anchor="ctr"/>
          <a:lstStyle/>
          <a:p>
            <a:pPr algn="ctr" indent="0" marL="0">
              <a:buNone/>
            </a:pPr>
            <a:r>
              <a:rPr lang="en-US" sz="1400" dirty="0">
                <a:solidFill>
                  <a:srgbClr val="A9BCD6"/>
                </a:solidFill>
                <a:latin typeface="Arial" pitchFamily="34" charset="0"/>
                <a:ea typeface="Arial" pitchFamily="34" charset="-122"/>
                <a:cs typeface="Arial" pitchFamily="34" charset="-120"/>
              </a:rPr>
              <a:t>Mở rộng về sau: kiểm sai sót ngay khi bác sĩ ra y lệnh, để bắt lỗi sớm hơn nữa — sau khi danh mục của viện đã chuẩn.</a:t>
            </a:r>
            <a:endParaRPr lang="en-US" sz="1400" dirty="0"/>
          </a:p>
        </p:txBody>
      </p:sp>
      <p:sp>
        <p:nvSpPr>
          <p:cNvPr id="34" name="Text 32"/>
          <p:cNvSpPr txBox="1"/>
          <p:nvPr/>
        </p:nvSpPr>
        <p:spPr>
          <a:xfrm>
            <a:off x="640080" y="576072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Phát hiện sớm  ·  Sửa tại nguồn  ·  Gửi hồ sơ sạch</a:t>
            </a:r>
            <a:endParaRPr lang="en-US" sz="1600" dirty="0"/>
          </a:p>
        </p:txBody>
      </p:sp>
      <p:sp>
        <p:nvSpPr>
          <p:cNvPr id="36" name="Text 33"/>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03 / 10</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KẾT QUẢ TẠI BẠCH MAI</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Trước và sau khi áp dụng Tiền giám định</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Kỳ trước: ………………   ·   Kỳ sau: ………………   ·   Nguồn số liệu: ………………</a:t>
            </a:r>
            <a:endParaRPr lang="en-US" sz="1500" dirty="0"/>
          </a:p>
        </p:txBody>
      </p:sp>
      <p:sp>
        <p:nvSpPr>
          <p:cNvPr id="5" name="Text 3"/>
          <p:cNvSpPr txBox="1"/>
          <p:nvPr/>
        </p:nvSpPr>
        <p:spPr>
          <a:xfrm>
            <a:off x="914400" y="1874520"/>
            <a:ext cx="4297680" cy="292608"/>
          </a:xfrm>
          <a:prstGeom prst="rect">
            <a:avLst/>
          </a:prstGeom>
          <a:noFill/>
          <a:ln/>
        </p:spPr>
        <p:txBody>
          <a:bodyPr wrap="square" lIns="0" tIns="0" rIns="0" bIns="0" rtlCol="0" anchor="ctr"/>
          <a:lstStyle/>
          <a:p>
            <a:pPr algn="l" indent="0" marL="0">
              <a:buNone/>
            </a:pPr>
            <a:r>
              <a:rPr lang="en-US" sz="1100" b="1" spc="200" kern="0" dirty="0">
                <a:solidFill>
                  <a:srgbClr val="38BDF8"/>
                </a:solidFill>
                <a:latin typeface="Arial" pitchFamily="34" charset="0"/>
                <a:ea typeface="Arial" pitchFamily="34" charset="-122"/>
                <a:cs typeface="Arial" pitchFamily="34" charset="-120"/>
              </a:rPr>
              <a:t>CHỈ SỐ</a:t>
            </a:r>
            <a:endParaRPr lang="en-US" sz="1100" dirty="0"/>
          </a:p>
        </p:txBody>
      </p:sp>
      <p:sp>
        <p:nvSpPr>
          <p:cNvPr id="6" name="Text 4"/>
          <p:cNvSpPr txBox="1"/>
          <p:nvPr/>
        </p:nvSpPr>
        <p:spPr>
          <a:xfrm>
            <a:off x="5760720" y="1874520"/>
            <a:ext cx="1280160" cy="292608"/>
          </a:xfrm>
          <a:prstGeom prst="rect">
            <a:avLst/>
          </a:prstGeom>
          <a:noFill/>
          <a:ln/>
        </p:spPr>
        <p:txBody>
          <a:bodyPr wrap="square" lIns="0" tIns="0" rIns="0" bIns="0" rtlCol="0" anchor="ctr"/>
          <a:lstStyle/>
          <a:p>
            <a:pPr algn="ctr" indent="0" marL="0">
              <a:buNone/>
            </a:pPr>
            <a:r>
              <a:rPr lang="en-US" sz="1100" b="1" spc="200" kern="0" dirty="0">
                <a:solidFill>
                  <a:srgbClr val="38BDF8"/>
                </a:solidFill>
                <a:latin typeface="Arial" pitchFamily="34" charset="0"/>
                <a:ea typeface="Arial" pitchFamily="34" charset="-122"/>
                <a:cs typeface="Arial" pitchFamily="34" charset="-120"/>
              </a:rPr>
              <a:t>TRƯỚC</a:t>
            </a:r>
            <a:endParaRPr lang="en-US" sz="1100" dirty="0"/>
          </a:p>
        </p:txBody>
      </p:sp>
      <p:sp>
        <p:nvSpPr>
          <p:cNvPr id="7" name="Text 5"/>
          <p:cNvSpPr txBox="1"/>
          <p:nvPr/>
        </p:nvSpPr>
        <p:spPr>
          <a:xfrm>
            <a:off x="7589520" y="1874520"/>
            <a:ext cx="1280160" cy="292608"/>
          </a:xfrm>
          <a:prstGeom prst="rect">
            <a:avLst/>
          </a:prstGeom>
          <a:noFill/>
          <a:ln/>
        </p:spPr>
        <p:txBody>
          <a:bodyPr wrap="square" lIns="0" tIns="0" rIns="0" bIns="0" rtlCol="0" anchor="ctr"/>
          <a:lstStyle/>
          <a:p>
            <a:pPr algn="ctr" indent="0" marL="0">
              <a:buNone/>
            </a:pPr>
            <a:r>
              <a:rPr lang="en-US" sz="1100" b="1" spc="200" kern="0" dirty="0">
                <a:solidFill>
                  <a:srgbClr val="38BDF8"/>
                </a:solidFill>
                <a:latin typeface="Arial" pitchFamily="34" charset="0"/>
                <a:ea typeface="Arial" pitchFamily="34" charset="-122"/>
                <a:cs typeface="Arial" pitchFamily="34" charset="-120"/>
              </a:rPr>
              <a:t>SAU</a:t>
            </a:r>
            <a:endParaRPr lang="en-US" sz="1100" dirty="0"/>
          </a:p>
        </p:txBody>
      </p:sp>
      <p:sp>
        <p:nvSpPr>
          <p:cNvPr id="8" name="Text 6"/>
          <p:cNvSpPr txBox="1"/>
          <p:nvPr/>
        </p:nvSpPr>
        <p:spPr>
          <a:xfrm>
            <a:off x="9418320" y="1874520"/>
            <a:ext cx="1858975" cy="292608"/>
          </a:xfrm>
          <a:prstGeom prst="rect">
            <a:avLst/>
          </a:prstGeom>
          <a:noFill/>
          <a:ln/>
        </p:spPr>
        <p:txBody>
          <a:bodyPr wrap="square" lIns="0" tIns="0" rIns="0" bIns="0" rtlCol="0" anchor="ctr"/>
          <a:lstStyle/>
          <a:p>
            <a:pPr algn="ctr" indent="0" marL="0">
              <a:buNone/>
            </a:pPr>
            <a:r>
              <a:rPr lang="en-US" sz="1100" b="1" spc="200" kern="0" dirty="0">
                <a:solidFill>
                  <a:srgbClr val="38BDF8"/>
                </a:solidFill>
                <a:latin typeface="Arial" pitchFamily="34" charset="0"/>
                <a:ea typeface="Arial" pitchFamily="34" charset="-122"/>
                <a:cs typeface="Arial" pitchFamily="34" charset="-120"/>
              </a:rPr>
              <a:t>THAY ĐỔI</a:t>
            </a:r>
            <a:endParaRPr lang="en-US" sz="1100" dirty="0"/>
          </a:p>
        </p:txBody>
      </p:sp>
      <p:sp>
        <p:nvSpPr>
          <p:cNvPr id="9" name="Shape 7"/>
          <p:cNvSpPr/>
          <p:nvPr/>
        </p:nvSpPr>
        <p:spPr>
          <a:xfrm>
            <a:off x="640080" y="2286000"/>
            <a:ext cx="10911535" cy="694944"/>
          </a:xfrm>
          <a:prstGeom prst="roundRect">
            <a:avLst>
              <a:gd name="adj" fmla="val 13158"/>
            </a:avLst>
          </a:prstGeom>
          <a:solidFill>
            <a:srgbClr val="1C3558">
              <a:alpha val="85000"/>
            </a:srgbClr>
          </a:solidFill>
          <a:ln w="9525">
            <a:solidFill>
              <a:srgbClr val="2E4B74"/>
            </a:solidFill>
            <a:prstDash val="solid"/>
          </a:ln>
        </p:spPr>
      </p:sp>
      <p:sp>
        <p:nvSpPr>
          <p:cNvPr id="10" name="Text 8"/>
          <p:cNvSpPr txBox="1"/>
          <p:nvPr/>
        </p:nvSpPr>
        <p:spPr>
          <a:xfrm>
            <a:off x="914400" y="2286000"/>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Tỷ lệ hồ sơ còn lỗi nghiêm trọng khi gửi cổng</a:t>
            </a:r>
            <a:endParaRPr lang="en-US" sz="1500" dirty="0"/>
          </a:p>
        </p:txBody>
      </p:sp>
      <p:sp>
        <p:nvSpPr>
          <p:cNvPr id="11" name="Text 9"/>
          <p:cNvSpPr txBox="1"/>
          <p:nvPr/>
        </p:nvSpPr>
        <p:spPr>
          <a:xfrm>
            <a:off x="5486400" y="2286000"/>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2" name="Text 10"/>
          <p:cNvSpPr txBox="1"/>
          <p:nvPr/>
        </p:nvSpPr>
        <p:spPr>
          <a:xfrm>
            <a:off x="7315200" y="2286000"/>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3" name="Text 11"/>
          <p:cNvSpPr txBox="1"/>
          <p:nvPr/>
        </p:nvSpPr>
        <p:spPr>
          <a:xfrm>
            <a:off x="9144000" y="2286000"/>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640080" y="3090672"/>
            <a:ext cx="10911535" cy="694944"/>
          </a:xfrm>
          <a:prstGeom prst="roundRect">
            <a:avLst>
              <a:gd name="adj" fmla="val 13158"/>
            </a:avLst>
          </a:prstGeom>
          <a:solidFill>
            <a:srgbClr val="1C3558">
              <a:alpha val="85000"/>
            </a:srgbClr>
          </a:solidFill>
          <a:ln w="9525">
            <a:solidFill>
              <a:srgbClr val="2E4B74"/>
            </a:solidFill>
            <a:prstDash val="solid"/>
          </a:ln>
        </p:spPr>
      </p:sp>
      <p:sp>
        <p:nvSpPr>
          <p:cNvPr id="15" name="Text 13"/>
          <p:cNvSpPr txBox="1"/>
          <p:nvPr/>
        </p:nvSpPr>
        <p:spPr>
          <a:xfrm>
            <a:off x="914400" y="3090672"/>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Số hồ sơ bị cổng giám định trả về mỗi tháng</a:t>
            </a:r>
            <a:endParaRPr lang="en-US" sz="1500" dirty="0"/>
          </a:p>
        </p:txBody>
      </p:sp>
      <p:sp>
        <p:nvSpPr>
          <p:cNvPr id="16" name="Text 14"/>
          <p:cNvSpPr txBox="1"/>
          <p:nvPr/>
        </p:nvSpPr>
        <p:spPr>
          <a:xfrm>
            <a:off x="5486400" y="3090672"/>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7" name="Text 15"/>
          <p:cNvSpPr txBox="1"/>
          <p:nvPr/>
        </p:nvSpPr>
        <p:spPr>
          <a:xfrm>
            <a:off x="7315200" y="3090672"/>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18" name="Text 16"/>
          <p:cNvSpPr txBox="1"/>
          <p:nvPr/>
        </p:nvSpPr>
        <p:spPr>
          <a:xfrm>
            <a:off x="9144000" y="3090672"/>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640080" y="3895344"/>
            <a:ext cx="10911535" cy="694944"/>
          </a:xfrm>
          <a:prstGeom prst="roundRect">
            <a:avLst>
              <a:gd name="adj" fmla="val 13158"/>
            </a:avLst>
          </a:prstGeom>
          <a:solidFill>
            <a:srgbClr val="1C3558">
              <a:alpha val="85000"/>
            </a:srgbClr>
          </a:solidFill>
          <a:ln w="9525">
            <a:solidFill>
              <a:srgbClr val="2E4B74"/>
            </a:solidFill>
            <a:prstDash val="solid"/>
          </a:ln>
        </p:spPr>
      </p:sp>
      <p:sp>
        <p:nvSpPr>
          <p:cNvPr id="20" name="Text 18"/>
          <p:cNvSpPr txBox="1"/>
          <p:nvPr/>
        </p:nvSpPr>
        <p:spPr>
          <a:xfrm>
            <a:off x="914400" y="3895344"/>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Số tiền BHYT bị xuất toán mỗi tháng</a:t>
            </a:r>
            <a:endParaRPr lang="en-US" sz="1500" dirty="0"/>
          </a:p>
        </p:txBody>
      </p:sp>
      <p:sp>
        <p:nvSpPr>
          <p:cNvPr id="21" name="Text 19"/>
          <p:cNvSpPr txBox="1"/>
          <p:nvPr/>
        </p:nvSpPr>
        <p:spPr>
          <a:xfrm>
            <a:off x="5486400" y="3895344"/>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2" name="Text 20"/>
          <p:cNvSpPr txBox="1"/>
          <p:nvPr/>
        </p:nvSpPr>
        <p:spPr>
          <a:xfrm>
            <a:off x="7315200" y="3895344"/>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3" name="Text 21"/>
          <p:cNvSpPr txBox="1"/>
          <p:nvPr/>
        </p:nvSpPr>
        <p:spPr>
          <a:xfrm>
            <a:off x="9144000" y="3895344"/>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640080" y="4700016"/>
            <a:ext cx="10911535" cy="694944"/>
          </a:xfrm>
          <a:prstGeom prst="roundRect">
            <a:avLst>
              <a:gd name="adj" fmla="val 13158"/>
            </a:avLst>
          </a:prstGeom>
          <a:solidFill>
            <a:srgbClr val="1C3558">
              <a:alpha val="85000"/>
            </a:srgbClr>
          </a:solidFill>
          <a:ln w="9525">
            <a:solidFill>
              <a:srgbClr val="2E4B74"/>
            </a:solidFill>
            <a:prstDash val="solid"/>
          </a:ln>
        </p:spPr>
      </p:sp>
      <p:sp>
        <p:nvSpPr>
          <p:cNvPr id="25" name="Text 23"/>
          <p:cNvSpPr txBox="1"/>
          <p:nvPr/>
        </p:nvSpPr>
        <p:spPr>
          <a:xfrm>
            <a:off x="914400" y="4700016"/>
            <a:ext cx="4480560" cy="69494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Thời gian từ khi phát sinh lỗi tới khi sửa xong</a:t>
            </a:r>
            <a:endParaRPr lang="en-US" sz="1500" dirty="0"/>
          </a:p>
        </p:txBody>
      </p:sp>
      <p:sp>
        <p:nvSpPr>
          <p:cNvPr id="26" name="Text 24"/>
          <p:cNvSpPr txBox="1"/>
          <p:nvPr/>
        </p:nvSpPr>
        <p:spPr>
          <a:xfrm>
            <a:off x="5486400" y="4700016"/>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7" name="Text 25"/>
          <p:cNvSpPr txBox="1"/>
          <p:nvPr/>
        </p:nvSpPr>
        <p:spPr>
          <a:xfrm>
            <a:off x="7315200" y="4700016"/>
            <a:ext cx="1828800" cy="694944"/>
          </a:xfrm>
          <a:prstGeom prst="rect">
            <a:avLst/>
          </a:prstGeom>
          <a:noFill/>
          <a:ln/>
        </p:spPr>
        <p:txBody>
          <a:bodyPr wrap="square" lIns="0" tIns="0" rIns="0" bIns="0" rtlCol="0" anchor="ctr"/>
          <a:lstStyle/>
          <a:p>
            <a:pPr algn="ctr" indent="0" marL="0">
              <a:buNone/>
            </a:pPr>
            <a:r>
              <a:rPr lang="en-US" sz="2000" dirty="0">
                <a:solidFill>
                  <a:srgbClr val="A9BCD6"/>
                </a:solidFill>
                <a:latin typeface="Arial" pitchFamily="34" charset="0"/>
                <a:ea typeface="Arial" pitchFamily="34" charset="-122"/>
                <a:cs typeface="Arial" pitchFamily="34" charset="-120"/>
              </a:rPr>
              <a:t>………</a:t>
            </a:r>
            <a:endParaRPr lang="en-US" sz="2000" dirty="0"/>
          </a:p>
        </p:txBody>
      </p:sp>
      <p:sp>
        <p:nvSpPr>
          <p:cNvPr id="28" name="Text 26"/>
          <p:cNvSpPr txBox="1"/>
          <p:nvPr/>
        </p:nvSpPr>
        <p:spPr>
          <a:xfrm>
            <a:off x="9144000" y="4700016"/>
            <a:ext cx="2407615" cy="694944"/>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29" name="Text 27"/>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Viện của anh chị sẽ tự đo được đúng các chỉ số này ngay trong giai đoạn thí điểm</a:t>
            </a:r>
            <a:endParaRPr lang="en-US" sz="1600" dirty="0"/>
          </a:p>
        </p:txBody>
      </p:sp>
      <p:sp>
        <p:nvSpPr>
          <p:cNvPr id="31" name="Text 28"/>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04 /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QUY RA TIỀN</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Viện mình đang có bao nhiêu tiền chịu rủi ro mỗi tháng?</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Ba con số đầu vào phòng KHTH và Phòng BHYT của viện đều có sẵn.</a:t>
            </a:r>
            <a:endParaRPr lang="en-US" sz="1500" dirty="0"/>
          </a:p>
        </p:txBody>
      </p:sp>
      <p:sp>
        <p:nvSpPr>
          <p:cNvPr id="5" name="Shape 3"/>
          <p:cNvSpPr/>
          <p:nvPr/>
        </p:nvSpPr>
        <p:spPr>
          <a:xfrm>
            <a:off x="640080" y="1920240"/>
            <a:ext cx="2350694" cy="1691640"/>
          </a:xfrm>
          <a:prstGeom prst="roundRect">
            <a:avLst>
              <a:gd name="adj" fmla="val 5405"/>
            </a:avLst>
          </a:prstGeom>
          <a:solidFill>
            <a:srgbClr val="1C3558">
              <a:alpha val="85000"/>
            </a:srgbClr>
          </a:solidFill>
          <a:ln w="9525">
            <a:solidFill>
              <a:srgbClr val="2E4B74"/>
            </a:solidFill>
            <a:prstDash val="solid"/>
          </a:ln>
        </p:spPr>
      </p:sp>
      <p:sp>
        <p:nvSpPr>
          <p:cNvPr id="6" name="Text 4"/>
          <p:cNvSpPr txBox="1"/>
          <p:nvPr/>
        </p:nvSpPr>
        <p:spPr>
          <a:xfrm>
            <a:off x="640080"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7" name="Text 5"/>
          <p:cNvSpPr txBox="1"/>
          <p:nvPr/>
        </p:nvSpPr>
        <p:spPr>
          <a:xfrm>
            <a:off x="731520"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Số hồ sơ BHYT</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mỗi tháng</a:t>
            </a:r>
            <a:endParaRPr lang="en-US" sz="1600" dirty="0"/>
          </a:p>
        </p:txBody>
      </p:sp>
      <p:sp>
        <p:nvSpPr>
          <p:cNvPr id="8" name="Text 6"/>
          <p:cNvSpPr txBox="1"/>
          <p:nvPr/>
        </p:nvSpPr>
        <p:spPr>
          <a:xfrm>
            <a:off x="640080" y="3063240"/>
            <a:ext cx="2350694" cy="438912"/>
          </a:xfrm>
          <a:prstGeom prst="rect">
            <a:avLst/>
          </a:prstGeom>
          <a:noFill/>
          <a:ln/>
        </p:spPr>
        <p:txBody>
          <a:bodyPr wrap="square" lIns="0" tIns="0" rIns="0" bIns="0" rtlCol="0" anchor="ctr"/>
          <a:lstStyle/>
          <a:p>
            <a:pPr algn="ctr" indent="0" marL="0">
              <a:buNone/>
            </a:pPr>
            <a:r>
              <a:rPr lang="en-US" sz="2000" b="1" dirty="0">
                <a:solidFill>
                  <a:srgbClr val="38BDF8"/>
                </a:solidFill>
                <a:latin typeface="Arial" pitchFamily="34" charset="0"/>
                <a:ea typeface="Arial" pitchFamily="34" charset="-122"/>
                <a:cs typeface="Arial" pitchFamily="34" charset="-120"/>
              </a:rPr>
              <a:t>………</a:t>
            </a:r>
            <a:endParaRPr lang="en-US" sz="2000" dirty="0"/>
          </a:p>
        </p:txBody>
      </p:sp>
      <p:sp>
        <p:nvSpPr>
          <p:cNvPr id="9" name="Text 7"/>
          <p:cNvSpPr txBox="1"/>
          <p:nvPr/>
        </p:nvSpPr>
        <p:spPr>
          <a:xfrm>
            <a:off x="2990774" y="2491740"/>
            <a:ext cx="502920" cy="548640"/>
          </a:xfrm>
          <a:prstGeom prst="rect">
            <a:avLst/>
          </a:prstGeom>
          <a:noFill/>
          <a:ln/>
        </p:spPr>
        <p:txBody>
          <a:bodyPr wrap="square" lIns="0" tIns="0" rIns="0" bIns="0" rtlCol="0" anchor="ctr"/>
          <a:lstStyle/>
          <a:p>
            <a:pPr algn="ctr" indent="0" marL="0">
              <a:buNone/>
            </a:pPr>
            <a:r>
              <a:rPr lang="en-US" sz="2600" b="1" dirty="0">
                <a:solidFill>
                  <a:srgbClr val="C9D6E8"/>
                </a:solidFill>
                <a:latin typeface="Arial" pitchFamily="34" charset="0"/>
                <a:ea typeface="Arial" pitchFamily="34" charset="-122"/>
                <a:cs typeface="Arial" pitchFamily="34" charset="-120"/>
              </a:rPr>
              <a:t>×</a:t>
            </a:r>
            <a:endParaRPr lang="en-US" sz="2600" dirty="0"/>
          </a:p>
        </p:txBody>
      </p:sp>
      <p:sp>
        <p:nvSpPr>
          <p:cNvPr id="10" name="Shape 8"/>
          <p:cNvSpPr/>
          <p:nvPr/>
        </p:nvSpPr>
        <p:spPr>
          <a:xfrm>
            <a:off x="3493694" y="1920240"/>
            <a:ext cx="2350694" cy="1691640"/>
          </a:xfrm>
          <a:prstGeom prst="roundRect">
            <a:avLst>
              <a:gd name="adj" fmla="val 5405"/>
            </a:avLst>
          </a:prstGeom>
          <a:solidFill>
            <a:srgbClr val="1C3558">
              <a:alpha val="85000"/>
            </a:srgbClr>
          </a:solidFill>
          <a:ln w="9525">
            <a:solidFill>
              <a:srgbClr val="2E4B74"/>
            </a:solidFill>
            <a:prstDash val="solid"/>
          </a:ln>
        </p:spPr>
      </p:sp>
      <p:sp>
        <p:nvSpPr>
          <p:cNvPr id="11" name="Text 9"/>
          <p:cNvSpPr txBox="1"/>
          <p:nvPr/>
        </p:nvSpPr>
        <p:spPr>
          <a:xfrm>
            <a:off x="3493694"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2" name="Text 10"/>
          <p:cNvSpPr txBox="1"/>
          <p:nvPr/>
        </p:nvSpPr>
        <p:spPr>
          <a:xfrm>
            <a:off x="3585134"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Tỷ lệ hồ sơ</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bị cổng trả lỗi</a:t>
            </a:r>
            <a:endParaRPr lang="en-US" sz="1600" dirty="0"/>
          </a:p>
        </p:txBody>
      </p:sp>
      <p:sp>
        <p:nvSpPr>
          <p:cNvPr id="13" name="Text 11"/>
          <p:cNvSpPr txBox="1"/>
          <p:nvPr/>
        </p:nvSpPr>
        <p:spPr>
          <a:xfrm>
            <a:off x="3493694" y="3063240"/>
            <a:ext cx="2350694" cy="438912"/>
          </a:xfrm>
          <a:prstGeom prst="rect">
            <a:avLst/>
          </a:prstGeom>
          <a:noFill/>
          <a:ln/>
        </p:spPr>
        <p:txBody>
          <a:bodyPr wrap="square" lIns="0" tIns="0" rIns="0" bIns="0" rtlCol="0" anchor="ctr"/>
          <a:lstStyle/>
          <a:p>
            <a:pPr algn="ctr" indent="0" marL="0">
              <a:buNone/>
            </a:pPr>
            <a:r>
              <a:rPr lang="en-US" sz="2000" b="1" dirty="0">
                <a:solidFill>
                  <a:srgbClr val="38BDF8"/>
                </a:solidFill>
                <a:latin typeface="Arial" pitchFamily="34" charset="0"/>
                <a:ea typeface="Arial" pitchFamily="34" charset="-122"/>
                <a:cs typeface="Arial" pitchFamily="34" charset="-120"/>
              </a:rPr>
              <a:t>………</a:t>
            </a:r>
            <a:endParaRPr lang="en-US" sz="2000" dirty="0"/>
          </a:p>
        </p:txBody>
      </p:sp>
      <p:sp>
        <p:nvSpPr>
          <p:cNvPr id="14" name="Text 12"/>
          <p:cNvSpPr txBox="1"/>
          <p:nvPr/>
        </p:nvSpPr>
        <p:spPr>
          <a:xfrm>
            <a:off x="5844388" y="2491740"/>
            <a:ext cx="502920" cy="548640"/>
          </a:xfrm>
          <a:prstGeom prst="rect">
            <a:avLst/>
          </a:prstGeom>
          <a:noFill/>
          <a:ln/>
        </p:spPr>
        <p:txBody>
          <a:bodyPr wrap="square" lIns="0" tIns="0" rIns="0" bIns="0" rtlCol="0" anchor="ctr"/>
          <a:lstStyle/>
          <a:p>
            <a:pPr algn="ctr" indent="0" marL="0">
              <a:buNone/>
            </a:pPr>
            <a:r>
              <a:rPr lang="en-US" sz="2600" b="1" dirty="0">
                <a:solidFill>
                  <a:srgbClr val="C9D6E8"/>
                </a:solidFill>
                <a:latin typeface="Arial" pitchFamily="34" charset="0"/>
                <a:ea typeface="Arial" pitchFamily="34" charset="-122"/>
                <a:cs typeface="Arial" pitchFamily="34" charset="-120"/>
              </a:rPr>
              <a:t>×</a:t>
            </a:r>
            <a:endParaRPr lang="en-US" sz="2600" dirty="0"/>
          </a:p>
        </p:txBody>
      </p:sp>
      <p:sp>
        <p:nvSpPr>
          <p:cNvPr id="15" name="Shape 13"/>
          <p:cNvSpPr/>
          <p:nvPr/>
        </p:nvSpPr>
        <p:spPr>
          <a:xfrm>
            <a:off x="6347308" y="1920240"/>
            <a:ext cx="2350694" cy="1691640"/>
          </a:xfrm>
          <a:prstGeom prst="roundRect">
            <a:avLst>
              <a:gd name="adj" fmla="val 5405"/>
            </a:avLst>
          </a:prstGeom>
          <a:solidFill>
            <a:srgbClr val="1C3558">
              <a:alpha val="85000"/>
            </a:srgbClr>
          </a:solidFill>
          <a:ln w="9525">
            <a:solidFill>
              <a:srgbClr val="2E4B74"/>
            </a:solidFill>
            <a:prstDash val="solid"/>
          </a:ln>
        </p:spPr>
      </p:sp>
      <p:sp>
        <p:nvSpPr>
          <p:cNvPr id="16" name="Text 14"/>
          <p:cNvSpPr txBox="1"/>
          <p:nvPr/>
        </p:nvSpPr>
        <p:spPr>
          <a:xfrm>
            <a:off x="6347308"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7" name="Text 15"/>
          <p:cNvSpPr txBox="1"/>
          <p:nvPr/>
        </p:nvSpPr>
        <p:spPr>
          <a:xfrm>
            <a:off x="6438748"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Chi phí BHYT</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trung bình mỗi hồ sơ</a:t>
            </a:r>
            <a:endParaRPr lang="en-US" sz="1600" dirty="0"/>
          </a:p>
        </p:txBody>
      </p:sp>
      <p:sp>
        <p:nvSpPr>
          <p:cNvPr id="18" name="Text 16"/>
          <p:cNvSpPr txBox="1"/>
          <p:nvPr/>
        </p:nvSpPr>
        <p:spPr>
          <a:xfrm>
            <a:off x="6347308" y="3063240"/>
            <a:ext cx="2350694" cy="438912"/>
          </a:xfrm>
          <a:prstGeom prst="rect">
            <a:avLst/>
          </a:prstGeom>
          <a:noFill/>
          <a:ln/>
        </p:spPr>
        <p:txBody>
          <a:bodyPr wrap="square" lIns="0" tIns="0" rIns="0" bIns="0" rtlCol="0" anchor="ctr"/>
          <a:lstStyle/>
          <a:p>
            <a:pPr algn="ctr" indent="0" marL="0">
              <a:buNone/>
            </a:pPr>
            <a:r>
              <a:rPr lang="en-US" sz="2000" b="1" dirty="0">
                <a:solidFill>
                  <a:srgbClr val="38BDF8"/>
                </a:solidFill>
                <a:latin typeface="Arial" pitchFamily="34" charset="0"/>
                <a:ea typeface="Arial" pitchFamily="34" charset="-122"/>
                <a:cs typeface="Arial" pitchFamily="34" charset="-120"/>
              </a:rPr>
              <a:t>………</a:t>
            </a:r>
            <a:endParaRPr lang="en-US" sz="2000" dirty="0"/>
          </a:p>
        </p:txBody>
      </p:sp>
      <p:sp>
        <p:nvSpPr>
          <p:cNvPr id="19" name="Text 17"/>
          <p:cNvSpPr txBox="1"/>
          <p:nvPr/>
        </p:nvSpPr>
        <p:spPr>
          <a:xfrm>
            <a:off x="8698001" y="2491740"/>
            <a:ext cx="502920" cy="548640"/>
          </a:xfrm>
          <a:prstGeom prst="rect">
            <a:avLst/>
          </a:prstGeom>
          <a:noFill/>
          <a:ln/>
        </p:spPr>
        <p:txBody>
          <a:bodyPr wrap="square" lIns="0" tIns="0" rIns="0" bIns="0" rtlCol="0" anchor="ctr"/>
          <a:lstStyle/>
          <a:p>
            <a:pPr algn="ctr" indent="0" marL="0">
              <a:buNone/>
            </a:pPr>
            <a:r>
              <a:rPr lang="en-US" sz="2600" b="1" dirty="0">
                <a:solidFill>
                  <a:srgbClr val="C9D6E8"/>
                </a:solidFill>
                <a:latin typeface="Arial" pitchFamily="34" charset="0"/>
                <a:ea typeface="Arial" pitchFamily="34" charset="-122"/>
                <a:cs typeface="Arial" pitchFamily="34" charset="-120"/>
              </a:rPr>
              <a:t>=</a:t>
            </a:r>
            <a:endParaRPr lang="en-US" sz="2600" dirty="0"/>
          </a:p>
        </p:txBody>
      </p:sp>
      <p:sp>
        <p:nvSpPr>
          <p:cNvPr id="20" name="Shape 18"/>
          <p:cNvSpPr/>
          <p:nvPr/>
        </p:nvSpPr>
        <p:spPr>
          <a:xfrm>
            <a:off x="9200921" y="1920240"/>
            <a:ext cx="2350694" cy="1691640"/>
          </a:xfrm>
          <a:prstGeom prst="roundRect">
            <a:avLst>
              <a:gd name="adj" fmla="val 5405"/>
            </a:avLst>
          </a:prstGeom>
          <a:solidFill>
            <a:srgbClr val="25324A">
              <a:alpha val="85000"/>
            </a:srgbClr>
          </a:solidFill>
          <a:ln w="19050">
            <a:solidFill>
              <a:srgbClr val="FBBF24"/>
            </a:solidFill>
            <a:prstDash val="solid"/>
          </a:ln>
        </p:spPr>
      </p:sp>
      <p:sp>
        <p:nvSpPr>
          <p:cNvPr id="21" name="Text 19"/>
          <p:cNvSpPr txBox="1"/>
          <p:nvPr/>
        </p:nvSpPr>
        <p:spPr>
          <a:xfrm>
            <a:off x="9200921" y="2029968"/>
            <a:ext cx="2350694"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22" name="Text 20"/>
          <p:cNvSpPr txBox="1"/>
          <p:nvPr/>
        </p:nvSpPr>
        <p:spPr>
          <a:xfrm>
            <a:off x="9292361" y="2487168"/>
            <a:ext cx="2167814" cy="566928"/>
          </a:xfrm>
          <a:prstGeom prst="rect">
            <a:avLst/>
          </a:prstGeom>
          <a:noFill/>
          <a:ln/>
        </p:spPr>
        <p:txBody>
          <a:bodyPr wrap="square" lIns="0" tIns="0" rIns="0" bIns="0" rtlCol="0" anchor="t"/>
          <a:lstStyle/>
          <a:p>
            <a:pPr algn="ctr" indent="0" marL="0">
              <a:lnSpc>
                <a:spcPts val="1800"/>
              </a:lnSpc>
              <a:buNone/>
            </a:pPr>
            <a:r>
              <a:rPr lang="en-US" sz="1600" b="1" dirty="0">
                <a:solidFill>
                  <a:srgbClr val="FFFFFF"/>
                </a:solidFill>
                <a:latin typeface="Arial" pitchFamily="34" charset="0"/>
                <a:ea typeface="Arial" pitchFamily="34" charset="-122"/>
                <a:cs typeface="Arial" pitchFamily="34" charset="-120"/>
              </a:rPr>
              <a:t>Tiền chịu rủi ro</a:t>
            </a:r>
            <a:endParaRPr lang="en-US" sz="1600" dirty="0"/>
          </a:p>
          <a:p>
            <a:pPr algn="ctr" indent="0" marL="0">
              <a:lnSpc>
                <a:spcPts val="1800"/>
              </a:lnSpc>
              <a:buNone/>
            </a:pPr>
            <a:r>
              <a:rPr lang="en-US" sz="1250" dirty="0">
                <a:solidFill>
                  <a:srgbClr val="A9BCD6"/>
                </a:solidFill>
                <a:latin typeface="Arial" pitchFamily="34" charset="0"/>
                <a:ea typeface="Arial" pitchFamily="34" charset="-122"/>
                <a:cs typeface="Arial" pitchFamily="34" charset="-120"/>
              </a:rPr>
              <a:t>mỗi tháng</a:t>
            </a:r>
            <a:endParaRPr lang="en-US" sz="1600" dirty="0"/>
          </a:p>
        </p:txBody>
      </p:sp>
      <p:sp>
        <p:nvSpPr>
          <p:cNvPr id="23" name="Text 21"/>
          <p:cNvSpPr txBox="1"/>
          <p:nvPr/>
        </p:nvSpPr>
        <p:spPr>
          <a:xfrm>
            <a:off x="9200921" y="3063240"/>
            <a:ext cx="2350694" cy="438912"/>
          </a:xfrm>
          <a:prstGeom prst="rect">
            <a:avLst/>
          </a:prstGeom>
          <a:noFill/>
          <a:ln/>
        </p:spPr>
        <p:txBody>
          <a:bodyPr wrap="square" lIns="0" tIns="0" rIns="0" bIns="0" rtlCol="0" anchor="ctr"/>
          <a:lstStyle/>
          <a:p>
            <a:pPr algn="ctr" indent="0" marL="0">
              <a:buNone/>
            </a:pPr>
            <a:r>
              <a:rPr lang="en-US" sz="2000" b="1" dirty="0">
                <a:solidFill>
                  <a:srgbClr val="FBBF24"/>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640080" y="3840480"/>
            <a:ext cx="10911535" cy="566928"/>
          </a:xfrm>
          <a:prstGeom prst="roundRect">
            <a:avLst>
              <a:gd name="adj" fmla="val 12903"/>
            </a:avLst>
          </a:prstGeom>
          <a:solidFill>
            <a:srgbClr val="FFFFFF">
              <a:alpha val="6000"/>
            </a:srgbClr>
          </a:solidFill>
          <a:ln w="9525">
            <a:solidFill>
              <a:srgbClr val="4A6890"/>
            </a:solidFill>
            <a:prstDash val="dash"/>
          </a:ln>
        </p:spPr>
      </p:sp>
      <p:sp>
        <p:nvSpPr>
          <p:cNvPr id="25" name="Text 23"/>
          <p:cNvSpPr txBox="1"/>
          <p:nvPr/>
        </p:nvSpPr>
        <p:spPr>
          <a:xfrm>
            <a:off x="640080" y="3840480"/>
            <a:ext cx="10911535" cy="566928"/>
          </a:xfrm>
          <a:prstGeom prst="rect">
            <a:avLst/>
          </a:prstGeom>
          <a:noFill/>
          <a:ln/>
        </p:spPr>
        <p:txBody>
          <a:bodyPr wrap="square" lIns="0" tIns="0" rIns="0" bIns="0" rtlCol="0" anchor="ctr"/>
          <a:lstStyle/>
          <a:p>
            <a:pPr algn="ctr" indent="0" marL="0">
              <a:buNone/>
            </a:pPr>
            <a:r>
              <a:rPr lang="en-US" sz="1100" b="1" spc="100" kern="0" dirty="0">
                <a:solidFill>
                  <a:srgbClr val="7F93B0"/>
                </a:solidFill>
                <a:latin typeface="Arial" pitchFamily="34" charset="0"/>
                <a:ea typeface="Arial" pitchFamily="34" charset="-122"/>
                <a:cs typeface="Arial" pitchFamily="34" charset="-120"/>
              </a:rPr>
              <a:t>VÍ DỤ GIẢ ĐỊNH   </a:t>
            </a:r>
            <a:pPr algn="ctr" indent="0" marL="0">
              <a:buNone/>
            </a:pPr>
            <a:r>
              <a:rPr lang="en-US" sz="1600" b="1" dirty="0">
                <a:solidFill>
                  <a:srgbClr val="FFFFFF"/>
                </a:solidFill>
                <a:latin typeface="Arial" pitchFamily="34" charset="0"/>
                <a:ea typeface="Arial" pitchFamily="34" charset="-122"/>
                <a:cs typeface="Arial" pitchFamily="34" charset="-120"/>
              </a:rPr>
              <a:t>20.000 hồ sơ  ×  5%  ×  1.500.000 đ  =  1,5 tỷ đồng mỗi tháng</a:t>
            </a:r>
            <a:pPr algn="ctr" indent="0" marL="0">
              <a:buNone/>
            </a:pPr>
            <a:r>
              <a:rPr lang="en-US" sz="1200" i="1" dirty="0">
                <a:solidFill>
                  <a:srgbClr val="7F93B0"/>
                </a:solidFill>
                <a:latin typeface="Arial" pitchFamily="34" charset="0"/>
                <a:ea typeface="Arial" pitchFamily="34" charset="-122"/>
                <a:cs typeface="Arial" pitchFamily="34" charset="-120"/>
              </a:rPr>
              <a:t>   — không phải số liệu của bệnh viện nào</a:t>
            </a:r>
            <a:endParaRPr lang="en-US" sz="1100" dirty="0"/>
          </a:p>
        </p:txBody>
      </p:sp>
      <p:sp>
        <p:nvSpPr>
          <p:cNvPr id="26" name="Shape 24"/>
          <p:cNvSpPr/>
          <p:nvPr/>
        </p:nvSpPr>
        <p:spPr>
          <a:xfrm>
            <a:off x="640080" y="4617720"/>
            <a:ext cx="5318608" cy="868680"/>
          </a:xfrm>
          <a:prstGeom prst="roundRect">
            <a:avLst>
              <a:gd name="adj" fmla="val 10526"/>
            </a:avLst>
          </a:prstGeom>
          <a:solidFill>
            <a:srgbClr val="1C3558">
              <a:alpha val="85000"/>
            </a:srgbClr>
          </a:solidFill>
          <a:ln w="9525">
            <a:solidFill>
              <a:srgbClr val="2E4B74"/>
            </a:solidFill>
            <a:prstDash val="solid"/>
          </a:ln>
        </p:spPr>
      </p:sp>
      <p:sp>
        <p:nvSpPr>
          <p:cNvPr id="27" name="Text 25"/>
          <p:cNvSpPr txBox="1"/>
          <p:nvPr/>
        </p:nvSpPr>
        <p:spPr>
          <a:xfrm>
            <a:off x="914400" y="4617720"/>
            <a:ext cx="4769968" cy="868680"/>
          </a:xfrm>
          <a:prstGeom prst="rect">
            <a:avLst/>
          </a:prstGeom>
          <a:noFill/>
          <a:ln/>
        </p:spPr>
        <p:txBody>
          <a:bodyPr wrap="square" lIns="0" tIns="0" rIns="0" bIns="0" rtlCol="0" anchor="ctr"/>
          <a:lstStyle/>
          <a:p>
            <a:pPr indent="0" marL="0">
              <a:lnSpc>
                <a:spcPts val="1800"/>
              </a:lnSpc>
              <a:buNone/>
            </a:pPr>
            <a:r>
              <a:rPr lang="en-US" sz="1500" b="1" dirty="0">
                <a:solidFill>
                  <a:srgbClr val="FBBF24"/>
                </a:solidFill>
                <a:latin typeface="Arial" pitchFamily="34" charset="0"/>
                <a:ea typeface="Arial" pitchFamily="34" charset="-122"/>
                <a:cs typeface="Arial" pitchFamily="34" charset="-120"/>
              </a:rPr>
              <a:t>Tiền bị treo</a:t>
            </a:r>
            <a:endParaRPr lang="en-US" sz="1500" dirty="0"/>
          </a:p>
          <a:p>
            <a:pPr indent="0" marL="0">
              <a:lnSpc>
                <a:spcPts val="1800"/>
              </a:lnSpc>
              <a:buNone/>
            </a:pPr>
            <a:r>
              <a:rPr lang="en-US" sz="1300" dirty="0">
                <a:solidFill>
                  <a:srgbClr val="A9BCD6"/>
                </a:solidFill>
                <a:latin typeface="Arial" pitchFamily="34" charset="0"/>
                <a:ea typeface="Arial" pitchFamily="34" charset="-122"/>
                <a:cs typeface="Arial" pitchFamily="34" charset="-120"/>
              </a:rPr>
              <a:t>Hồ sơ lỗi chưa gửi được: chậm thanh toán, ảnh hưởng dòng tiền của viện.</a:t>
            </a:r>
            <a:endParaRPr lang="en-US" sz="1500" dirty="0"/>
          </a:p>
        </p:txBody>
      </p:sp>
      <p:sp>
        <p:nvSpPr>
          <p:cNvPr id="28" name="Shape 26"/>
          <p:cNvSpPr/>
          <p:nvPr/>
        </p:nvSpPr>
        <p:spPr>
          <a:xfrm>
            <a:off x="6233008" y="4617720"/>
            <a:ext cx="5318608" cy="868680"/>
          </a:xfrm>
          <a:prstGeom prst="roundRect">
            <a:avLst>
              <a:gd name="adj" fmla="val 10526"/>
            </a:avLst>
          </a:prstGeom>
          <a:solidFill>
            <a:srgbClr val="1C3558">
              <a:alpha val="85000"/>
            </a:srgbClr>
          </a:solidFill>
          <a:ln w="9525">
            <a:solidFill>
              <a:srgbClr val="2E4B74"/>
            </a:solidFill>
            <a:prstDash val="solid"/>
          </a:ln>
        </p:spPr>
      </p:sp>
      <p:sp>
        <p:nvSpPr>
          <p:cNvPr id="29" name="Text 27"/>
          <p:cNvSpPr txBox="1"/>
          <p:nvPr/>
        </p:nvSpPr>
        <p:spPr>
          <a:xfrm>
            <a:off x="6507328" y="4617720"/>
            <a:ext cx="4769968" cy="868680"/>
          </a:xfrm>
          <a:prstGeom prst="rect">
            <a:avLst/>
          </a:prstGeom>
          <a:noFill/>
          <a:ln/>
        </p:spPr>
        <p:txBody>
          <a:bodyPr wrap="square" lIns="0" tIns="0" rIns="0" bIns="0" rtlCol="0" anchor="ctr"/>
          <a:lstStyle/>
          <a:p>
            <a:pPr indent="0" marL="0">
              <a:lnSpc>
                <a:spcPts val="1800"/>
              </a:lnSpc>
              <a:buNone/>
            </a:pPr>
            <a:r>
              <a:rPr lang="en-US" sz="1500" b="1" dirty="0">
                <a:solidFill>
                  <a:srgbClr val="F87171"/>
                </a:solidFill>
                <a:latin typeface="Arial" pitchFamily="34" charset="0"/>
                <a:ea typeface="Arial" pitchFamily="34" charset="-122"/>
                <a:cs typeface="Arial" pitchFamily="34" charset="-120"/>
              </a:rPr>
              <a:t>Tiền bị mất</a:t>
            </a:r>
            <a:endParaRPr lang="en-US" sz="1500" dirty="0"/>
          </a:p>
          <a:p>
            <a:pPr indent="0" marL="0">
              <a:lnSpc>
                <a:spcPts val="1800"/>
              </a:lnSpc>
              <a:buNone/>
            </a:pPr>
            <a:r>
              <a:rPr lang="en-US" sz="1300" dirty="0">
                <a:solidFill>
                  <a:srgbClr val="A9BCD6"/>
                </a:solidFill>
                <a:latin typeface="Arial" pitchFamily="34" charset="0"/>
                <a:ea typeface="Arial" pitchFamily="34" charset="-122"/>
                <a:cs typeface="Arial" pitchFamily="34" charset="-120"/>
              </a:rPr>
              <a:t>Chi phí bị xuất toán sau giám định — phần không lấy lại được.</a:t>
            </a:r>
            <a:endParaRPr lang="en-US" sz="1500" dirty="0"/>
          </a:p>
        </p:txBody>
      </p:sp>
      <p:sp>
        <p:nvSpPr>
          <p:cNvPr id="30" name="Text 28"/>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Tiền giám định kéo phần rủi ro này về lại trong tầm kiểm soát của bệnh viện</a:t>
            </a:r>
            <a:endParaRPr lang="en-US" sz="1600" dirty="0"/>
          </a:p>
        </p:txBody>
      </p:sp>
      <p:sp>
        <p:nvSpPr>
          <p:cNvPr id="32" name="Text 29"/>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05 / 10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QUẢN TRỊ</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Dashboard trả lời bốn câu hỏi của lãnh đạo</a:t>
            </a:r>
            <a:endParaRPr lang="en-US" sz="2800" dirty="0"/>
          </a:p>
        </p:txBody>
      </p:sp>
      <p:sp>
        <p:nvSpPr>
          <p:cNvPr id="4" name="Text 2"/>
          <p:cNvSpPr txBox="1"/>
          <p:nvPr/>
        </p:nvSpPr>
        <p:spPr>
          <a:xfrm>
            <a:off x="640080" y="1298448"/>
            <a:ext cx="10911535" cy="329184"/>
          </a:xfrm>
          <a:prstGeom prst="rect">
            <a:avLst/>
          </a:prstGeom>
          <a:noFill/>
          <a:ln/>
        </p:spPr>
        <p:txBody>
          <a:bodyPr wrap="square" lIns="0" tIns="0" rIns="0" bIns="0" rtlCol="0" anchor="ctr"/>
          <a:lstStyle/>
          <a:p>
            <a:pPr indent="0" marL="0">
              <a:buNone/>
            </a:pPr>
            <a:r>
              <a:rPr lang="en-US" sz="1500" dirty="0">
                <a:solidFill>
                  <a:srgbClr val="A9BCD6"/>
                </a:solidFill>
                <a:latin typeface="Arial" pitchFamily="34" charset="0"/>
                <a:ea typeface="Arial" pitchFamily="34" charset="-122"/>
                <a:cs typeface="Arial" pitchFamily="34" charset="-120"/>
              </a:rPr>
              <a:t>Dashboard lỗi XML có bốn biểu đồ — mỗi biểu đồ dẫn tới một hành động cụ thể.</a:t>
            </a:r>
            <a:endParaRPr lang="en-US" sz="1500" dirty="0"/>
          </a:p>
        </p:txBody>
      </p:sp>
      <p:sp>
        <p:nvSpPr>
          <p:cNvPr id="5" name="Shape 3"/>
          <p:cNvSpPr/>
          <p:nvPr/>
        </p:nvSpPr>
        <p:spPr>
          <a:xfrm>
            <a:off x="640080" y="1783080"/>
            <a:ext cx="5318608" cy="1920240"/>
          </a:xfrm>
          <a:prstGeom prst="roundRect">
            <a:avLst>
              <a:gd name="adj" fmla="val 4762"/>
            </a:avLst>
          </a:prstGeom>
          <a:solidFill>
            <a:srgbClr val="1C3558">
              <a:alpha val="85000"/>
            </a:srgbClr>
          </a:solidFill>
          <a:ln w="9525">
            <a:solidFill>
              <a:srgbClr val="2E4B74"/>
            </a:solidFill>
            <a:prstDash val="solid"/>
          </a:ln>
        </p:spPr>
      </p:sp>
      <p:sp>
        <p:nvSpPr>
          <p:cNvPr id="6" name="Shape 4"/>
          <p:cNvSpPr/>
          <p:nvPr/>
        </p:nvSpPr>
        <p:spPr>
          <a:xfrm>
            <a:off x="868680" y="2057400"/>
            <a:ext cx="1828800" cy="219456"/>
          </a:xfrm>
          <a:prstGeom prst="rect">
            <a:avLst/>
          </a:prstGeom>
          <a:solidFill>
            <a:srgbClr val="38BDF8">
              <a:alpha val="85000"/>
            </a:srgbClr>
          </a:solidFill>
          <a:ln w="12700">
            <a:solidFill>
              <a:srgbClr val="38BDF8"/>
            </a:solidFill>
            <a:prstDash val="solid"/>
          </a:ln>
        </p:spPr>
      </p:sp>
      <p:sp>
        <p:nvSpPr>
          <p:cNvPr id="7" name="Shape 5"/>
          <p:cNvSpPr/>
          <p:nvPr/>
        </p:nvSpPr>
        <p:spPr>
          <a:xfrm>
            <a:off x="1033272" y="2331720"/>
            <a:ext cx="1499616" cy="219456"/>
          </a:xfrm>
          <a:prstGeom prst="rect">
            <a:avLst/>
          </a:prstGeom>
          <a:solidFill>
            <a:srgbClr val="38BDF8">
              <a:alpha val="77000"/>
            </a:srgbClr>
          </a:solidFill>
          <a:ln w="12700">
            <a:solidFill>
              <a:srgbClr val="38BDF8"/>
            </a:solidFill>
            <a:prstDash val="solid"/>
          </a:ln>
        </p:spPr>
      </p:sp>
      <p:sp>
        <p:nvSpPr>
          <p:cNvPr id="8" name="Shape 6"/>
          <p:cNvSpPr/>
          <p:nvPr/>
        </p:nvSpPr>
        <p:spPr>
          <a:xfrm>
            <a:off x="1179576" y="2606040"/>
            <a:ext cx="1207008" cy="219456"/>
          </a:xfrm>
          <a:prstGeom prst="rect">
            <a:avLst/>
          </a:prstGeom>
          <a:solidFill>
            <a:srgbClr val="38BDF8">
              <a:alpha val="69000"/>
            </a:srgbClr>
          </a:solidFill>
          <a:ln w="12700">
            <a:solidFill>
              <a:srgbClr val="38BDF8"/>
            </a:solidFill>
            <a:prstDash val="solid"/>
          </a:ln>
        </p:spPr>
      </p:sp>
      <p:sp>
        <p:nvSpPr>
          <p:cNvPr id="9" name="Shape 7"/>
          <p:cNvSpPr/>
          <p:nvPr/>
        </p:nvSpPr>
        <p:spPr>
          <a:xfrm>
            <a:off x="1307592" y="2880360"/>
            <a:ext cx="950976" cy="219456"/>
          </a:xfrm>
          <a:prstGeom prst="rect">
            <a:avLst/>
          </a:prstGeom>
          <a:solidFill>
            <a:srgbClr val="38BDF8">
              <a:alpha val="61000"/>
            </a:srgbClr>
          </a:solidFill>
          <a:ln w="12700">
            <a:solidFill>
              <a:srgbClr val="38BDF8"/>
            </a:solidFill>
            <a:prstDash val="solid"/>
          </a:ln>
        </p:spPr>
      </p:sp>
      <p:sp>
        <p:nvSpPr>
          <p:cNvPr id="10" name="Shape 8"/>
          <p:cNvSpPr/>
          <p:nvPr/>
        </p:nvSpPr>
        <p:spPr>
          <a:xfrm>
            <a:off x="1417320" y="3154680"/>
            <a:ext cx="731520" cy="219456"/>
          </a:xfrm>
          <a:prstGeom prst="rect">
            <a:avLst/>
          </a:prstGeom>
          <a:solidFill>
            <a:srgbClr val="4ADE80">
              <a:alpha val="53000"/>
            </a:srgbClr>
          </a:solidFill>
          <a:ln w="12700">
            <a:solidFill>
              <a:srgbClr val="38BDF8"/>
            </a:solidFill>
            <a:prstDash val="solid"/>
          </a:ln>
        </p:spPr>
      </p:sp>
      <p:sp>
        <p:nvSpPr>
          <p:cNvPr id="11" name="Text 9"/>
          <p:cNvSpPr txBox="1"/>
          <p:nvPr/>
        </p:nvSpPr>
        <p:spPr>
          <a:xfrm>
            <a:off x="2971800" y="1984248"/>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Phễu xử lý hồ sơ</a:t>
            </a:r>
            <a:endParaRPr lang="en-US" sz="1600" dirty="0"/>
          </a:p>
        </p:txBody>
      </p:sp>
      <p:sp>
        <p:nvSpPr>
          <p:cNvPr id="12" name="Text 10"/>
          <p:cNvSpPr txBox="1"/>
          <p:nvPr/>
        </p:nvSpPr>
        <p:spPr>
          <a:xfrm>
            <a:off x="2971800" y="2377440"/>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Hồ sơ đang nghẽn ở bậc nào?</a:t>
            </a:r>
            <a:endParaRPr lang="en-US" sz="1400" dirty="0"/>
          </a:p>
        </p:txBody>
      </p:sp>
      <p:sp>
        <p:nvSpPr>
          <p:cNvPr id="13" name="Text 11"/>
          <p:cNvSpPr txBox="1"/>
          <p:nvPr/>
        </p:nvSpPr>
        <p:spPr>
          <a:xfrm>
            <a:off x="2971800" y="2788920"/>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Đã nạp → Không lỗi nghiêm trọng → Đã xuất → Đã ký → Đã gửi</a:t>
            </a:r>
            <a:endParaRPr lang="en-US" sz="1250" dirty="0"/>
          </a:p>
        </p:txBody>
      </p:sp>
      <p:sp>
        <p:nvSpPr>
          <p:cNvPr id="14" name="Shape 12"/>
          <p:cNvSpPr/>
          <p:nvPr/>
        </p:nvSpPr>
        <p:spPr>
          <a:xfrm>
            <a:off x="6233008" y="1783080"/>
            <a:ext cx="5318608" cy="1920240"/>
          </a:xfrm>
          <a:prstGeom prst="roundRect">
            <a:avLst>
              <a:gd name="adj" fmla="val 4762"/>
            </a:avLst>
          </a:prstGeom>
          <a:solidFill>
            <a:srgbClr val="1C3558">
              <a:alpha val="85000"/>
            </a:srgbClr>
          </a:solidFill>
          <a:ln w="9525">
            <a:solidFill>
              <a:srgbClr val="2E4B74"/>
            </a:solidFill>
            <a:prstDash val="solid"/>
          </a:ln>
        </p:spPr>
      </p:sp>
      <p:sp>
        <p:nvSpPr>
          <p:cNvPr id="15" name="Shape 13"/>
          <p:cNvSpPr/>
          <p:nvPr/>
        </p:nvSpPr>
        <p:spPr>
          <a:xfrm>
            <a:off x="6461608" y="2057400"/>
            <a:ext cx="173736" cy="1371600"/>
          </a:xfrm>
          <a:prstGeom prst="rect">
            <a:avLst/>
          </a:prstGeom>
          <a:solidFill>
            <a:srgbClr val="FBBF24"/>
          </a:solidFill>
          <a:ln w="12700">
            <a:solidFill>
              <a:srgbClr val="38BDF8"/>
            </a:solidFill>
            <a:prstDash val="solid"/>
          </a:ln>
        </p:spPr>
      </p:sp>
      <p:sp>
        <p:nvSpPr>
          <p:cNvPr id="16" name="Shape 14"/>
          <p:cNvSpPr/>
          <p:nvPr/>
        </p:nvSpPr>
        <p:spPr>
          <a:xfrm>
            <a:off x="6690208" y="2441448"/>
            <a:ext cx="173736" cy="987552"/>
          </a:xfrm>
          <a:prstGeom prst="rect">
            <a:avLst/>
          </a:prstGeom>
          <a:solidFill>
            <a:srgbClr val="FBBF24"/>
          </a:solidFill>
          <a:ln w="12700">
            <a:solidFill>
              <a:srgbClr val="38BDF8"/>
            </a:solidFill>
            <a:prstDash val="solid"/>
          </a:ln>
        </p:spPr>
      </p:sp>
      <p:sp>
        <p:nvSpPr>
          <p:cNvPr id="17" name="Shape 15"/>
          <p:cNvSpPr/>
          <p:nvPr/>
        </p:nvSpPr>
        <p:spPr>
          <a:xfrm>
            <a:off x="6918808" y="2743200"/>
            <a:ext cx="173736" cy="685800"/>
          </a:xfrm>
          <a:prstGeom prst="rect">
            <a:avLst/>
          </a:prstGeom>
          <a:solidFill>
            <a:srgbClr val="38BDF8">
              <a:alpha val="70000"/>
            </a:srgbClr>
          </a:solidFill>
          <a:ln w="12700">
            <a:solidFill>
              <a:srgbClr val="38BDF8"/>
            </a:solidFill>
            <a:prstDash val="solid"/>
          </a:ln>
        </p:spPr>
      </p:sp>
      <p:sp>
        <p:nvSpPr>
          <p:cNvPr id="18" name="Shape 16"/>
          <p:cNvSpPr/>
          <p:nvPr/>
        </p:nvSpPr>
        <p:spPr>
          <a:xfrm>
            <a:off x="7147408" y="2935224"/>
            <a:ext cx="173736" cy="493776"/>
          </a:xfrm>
          <a:prstGeom prst="rect">
            <a:avLst/>
          </a:prstGeom>
          <a:solidFill>
            <a:srgbClr val="38BDF8">
              <a:alpha val="70000"/>
            </a:srgbClr>
          </a:solidFill>
          <a:ln w="12700">
            <a:solidFill>
              <a:srgbClr val="38BDF8"/>
            </a:solidFill>
            <a:prstDash val="solid"/>
          </a:ln>
        </p:spPr>
      </p:sp>
      <p:sp>
        <p:nvSpPr>
          <p:cNvPr id="19" name="Shape 17"/>
          <p:cNvSpPr/>
          <p:nvPr/>
        </p:nvSpPr>
        <p:spPr>
          <a:xfrm>
            <a:off x="7376008" y="3072384"/>
            <a:ext cx="173736" cy="356616"/>
          </a:xfrm>
          <a:prstGeom prst="rect">
            <a:avLst/>
          </a:prstGeom>
          <a:solidFill>
            <a:srgbClr val="38BDF8">
              <a:alpha val="70000"/>
            </a:srgbClr>
          </a:solidFill>
          <a:ln w="12700">
            <a:solidFill>
              <a:srgbClr val="38BDF8"/>
            </a:solidFill>
            <a:prstDash val="solid"/>
          </a:ln>
        </p:spPr>
      </p:sp>
      <p:sp>
        <p:nvSpPr>
          <p:cNvPr id="20" name="Shape 18"/>
          <p:cNvSpPr/>
          <p:nvPr/>
        </p:nvSpPr>
        <p:spPr>
          <a:xfrm>
            <a:off x="7604608" y="3168396"/>
            <a:ext cx="173736" cy="260604"/>
          </a:xfrm>
          <a:prstGeom prst="rect">
            <a:avLst/>
          </a:prstGeom>
          <a:solidFill>
            <a:srgbClr val="38BDF8">
              <a:alpha val="70000"/>
            </a:srgbClr>
          </a:solidFill>
          <a:ln w="12700">
            <a:solidFill>
              <a:srgbClr val="38BDF8"/>
            </a:solidFill>
            <a:prstDash val="solid"/>
          </a:ln>
        </p:spPr>
      </p:sp>
      <p:sp>
        <p:nvSpPr>
          <p:cNvPr id="21" name="Shape 19"/>
          <p:cNvSpPr/>
          <p:nvPr/>
        </p:nvSpPr>
        <p:spPr>
          <a:xfrm>
            <a:off x="7833208" y="3236976"/>
            <a:ext cx="173736" cy="192024"/>
          </a:xfrm>
          <a:prstGeom prst="rect">
            <a:avLst/>
          </a:prstGeom>
          <a:solidFill>
            <a:srgbClr val="38BDF8">
              <a:alpha val="70000"/>
            </a:srgbClr>
          </a:solidFill>
          <a:ln w="12700">
            <a:solidFill>
              <a:srgbClr val="38BDF8"/>
            </a:solidFill>
            <a:prstDash val="solid"/>
          </a:ln>
        </p:spPr>
      </p:sp>
      <p:sp>
        <p:nvSpPr>
          <p:cNvPr id="22" name="Shape 20"/>
          <p:cNvSpPr/>
          <p:nvPr/>
        </p:nvSpPr>
        <p:spPr>
          <a:xfrm>
            <a:off x="8061808" y="3291840"/>
            <a:ext cx="173736" cy="137160"/>
          </a:xfrm>
          <a:prstGeom prst="rect">
            <a:avLst/>
          </a:prstGeom>
          <a:solidFill>
            <a:srgbClr val="38BDF8">
              <a:alpha val="70000"/>
            </a:srgbClr>
          </a:solidFill>
          <a:ln w="12700">
            <a:solidFill>
              <a:srgbClr val="38BDF8"/>
            </a:solidFill>
            <a:prstDash val="solid"/>
          </a:ln>
        </p:spPr>
      </p:sp>
      <p:sp>
        <p:nvSpPr>
          <p:cNvPr id="23" name="Text 21"/>
          <p:cNvSpPr txBox="1"/>
          <p:nvPr/>
        </p:nvSpPr>
        <p:spPr>
          <a:xfrm>
            <a:off x="8564728" y="1984248"/>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Top 15 mã lỗi (Pareto)</a:t>
            </a:r>
            <a:endParaRPr lang="en-US" sz="1600" dirty="0"/>
          </a:p>
        </p:txBody>
      </p:sp>
      <p:sp>
        <p:nvSpPr>
          <p:cNvPr id="24" name="Text 22"/>
          <p:cNvSpPr txBox="1"/>
          <p:nvPr/>
        </p:nvSpPr>
        <p:spPr>
          <a:xfrm>
            <a:off x="8564728" y="2377440"/>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Sửa lỗi nào thì được nhiều nhất?</a:t>
            </a:r>
            <a:endParaRPr lang="en-US" sz="1400" dirty="0"/>
          </a:p>
        </p:txBody>
      </p:sp>
      <p:sp>
        <p:nvSpPr>
          <p:cNvPr id="25" name="Text 23"/>
          <p:cNvSpPr txBox="1"/>
          <p:nvPr/>
        </p:nvSpPr>
        <p:spPr>
          <a:xfrm>
            <a:off x="8564728" y="2788920"/>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Xử lý vài mã đầu bảng giải quyết phần lớn hồ sơ lỗi</a:t>
            </a:r>
            <a:endParaRPr lang="en-US" sz="1250" dirty="0"/>
          </a:p>
        </p:txBody>
      </p:sp>
      <p:sp>
        <p:nvSpPr>
          <p:cNvPr id="26" name="Shape 24"/>
          <p:cNvSpPr/>
          <p:nvPr/>
        </p:nvSpPr>
        <p:spPr>
          <a:xfrm>
            <a:off x="640080" y="3904488"/>
            <a:ext cx="5318608" cy="1920240"/>
          </a:xfrm>
          <a:prstGeom prst="roundRect">
            <a:avLst>
              <a:gd name="adj" fmla="val 4762"/>
            </a:avLst>
          </a:prstGeom>
          <a:solidFill>
            <a:srgbClr val="1C3558">
              <a:alpha val="85000"/>
            </a:srgbClr>
          </a:solidFill>
          <a:ln w="9525">
            <a:solidFill>
              <a:srgbClr val="2E4B74"/>
            </a:solidFill>
            <a:prstDash val="solid"/>
          </a:ln>
        </p:spPr>
      </p:sp>
      <p:sp>
        <p:nvSpPr>
          <p:cNvPr id="27" name="Shape 25"/>
          <p:cNvSpPr/>
          <p:nvPr/>
        </p:nvSpPr>
        <p:spPr>
          <a:xfrm>
            <a:off x="868680" y="4933188"/>
            <a:ext cx="329184" cy="617220"/>
          </a:xfrm>
          <a:prstGeom prst="rect">
            <a:avLst/>
          </a:prstGeom>
          <a:solidFill>
            <a:srgbClr val="38BDF8">
              <a:alpha val="70000"/>
            </a:srgbClr>
          </a:solidFill>
          <a:ln w="12700">
            <a:solidFill>
              <a:srgbClr val="38BDF8"/>
            </a:solidFill>
            <a:prstDash val="solid"/>
          </a:ln>
        </p:spPr>
      </p:sp>
      <p:sp>
        <p:nvSpPr>
          <p:cNvPr id="28" name="Shape 26"/>
          <p:cNvSpPr/>
          <p:nvPr/>
        </p:nvSpPr>
        <p:spPr>
          <a:xfrm>
            <a:off x="1325880" y="4590288"/>
            <a:ext cx="329184" cy="960120"/>
          </a:xfrm>
          <a:prstGeom prst="rect">
            <a:avLst/>
          </a:prstGeom>
          <a:solidFill>
            <a:srgbClr val="38BDF8">
              <a:alpha val="70000"/>
            </a:srgbClr>
          </a:solidFill>
          <a:ln w="12700">
            <a:solidFill>
              <a:srgbClr val="38BDF8"/>
            </a:solidFill>
            <a:prstDash val="solid"/>
          </a:ln>
        </p:spPr>
      </p:sp>
      <p:sp>
        <p:nvSpPr>
          <p:cNvPr id="29" name="Shape 27"/>
          <p:cNvSpPr/>
          <p:nvPr/>
        </p:nvSpPr>
        <p:spPr>
          <a:xfrm>
            <a:off x="1783080" y="4796028"/>
            <a:ext cx="329184" cy="754380"/>
          </a:xfrm>
          <a:prstGeom prst="rect">
            <a:avLst/>
          </a:prstGeom>
          <a:solidFill>
            <a:srgbClr val="38BDF8">
              <a:alpha val="70000"/>
            </a:srgbClr>
          </a:solidFill>
          <a:ln w="12700">
            <a:solidFill>
              <a:srgbClr val="38BDF8"/>
            </a:solidFill>
            <a:prstDash val="solid"/>
          </a:ln>
        </p:spPr>
      </p:sp>
      <p:sp>
        <p:nvSpPr>
          <p:cNvPr id="30" name="Shape 28"/>
          <p:cNvSpPr/>
          <p:nvPr/>
        </p:nvSpPr>
        <p:spPr>
          <a:xfrm>
            <a:off x="2240280" y="4178808"/>
            <a:ext cx="329184" cy="1371600"/>
          </a:xfrm>
          <a:prstGeom prst="rect">
            <a:avLst/>
          </a:prstGeom>
          <a:solidFill>
            <a:srgbClr val="F87171"/>
          </a:solidFill>
          <a:ln w="12700">
            <a:solidFill>
              <a:srgbClr val="38BDF8"/>
            </a:solidFill>
            <a:prstDash val="solid"/>
          </a:ln>
        </p:spPr>
      </p:sp>
      <p:sp>
        <p:nvSpPr>
          <p:cNvPr id="31" name="Text 29"/>
          <p:cNvSpPr txBox="1"/>
          <p:nvPr/>
        </p:nvSpPr>
        <p:spPr>
          <a:xfrm>
            <a:off x="2971800" y="4105656"/>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Tồn đọng theo tuổi hồ sơ</a:t>
            </a:r>
            <a:endParaRPr lang="en-US" sz="1600" dirty="0"/>
          </a:p>
        </p:txBody>
      </p:sp>
      <p:sp>
        <p:nvSpPr>
          <p:cNvPr id="32" name="Text 30"/>
          <p:cNvSpPr txBox="1"/>
          <p:nvPr/>
        </p:nvSpPr>
        <p:spPr>
          <a:xfrm>
            <a:off x="2971800" y="4498848"/>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Hồ sơ nào sắp quá hạn?</a:t>
            </a:r>
            <a:endParaRPr lang="en-US" sz="1400" dirty="0"/>
          </a:p>
        </p:txBody>
      </p:sp>
      <p:sp>
        <p:nvSpPr>
          <p:cNvPr id="33" name="Text 31"/>
          <p:cNvSpPr txBox="1"/>
          <p:nvPr/>
        </p:nvSpPr>
        <p:spPr>
          <a:xfrm>
            <a:off x="2971800" y="4910328"/>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0–7 · 8–15 · 16–30 · trên 30 ngày — nhóm trên 30 ngày xử lý trước</a:t>
            </a:r>
            <a:endParaRPr lang="en-US" sz="1250" dirty="0"/>
          </a:p>
        </p:txBody>
      </p:sp>
      <p:sp>
        <p:nvSpPr>
          <p:cNvPr id="34" name="Shape 32"/>
          <p:cNvSpPr/>
          <p:nvPr/>
        </p:nvSpPr>
        <p:spPr>
          <a:xfrm>
            <a:off x="6233008" y="3904488"/>
            <a:ext cx="5318608" cy="1920240"/>
          </a:xfrm>
          <a:prstGeom prst="roundRect">
            <a:avLst>
              <a:gd name="adj" fmla="val 4762"/>
            </a:avLst>
          </a:prstGeom>
          <a:solidFill>
            <a:srgbClr val="1C3558">
              <a:alpha val="85000"/>
            </a:srgbClr>
          </a:solidFill>
          <a:ln w="9525">
            <a:solidFill>
              <a:srgbClr val="2E4B74"/>
            </a:solidFill>
            <a:prstDash val="solid"/>
          </a:ln>
        </p:spPr>
      </p:sp>
      <p:sp>
        <p:nvSpPr>
          <p:cNvPr id="35" name="Shape 33"/>
          <p:cNvSpPr/>
          <p:nvPr/>
        </p:nvSpPr>
        <p:spPr>
          <a:xfrm>
            <a:off x="6461608" y="4178808"/>
            <a:ext cx="1828800" cy="201168"/>
          </a:xfrm>
          <a:prstGeom prst="rect">
            <a:avLst/>
          </a:prstGeom>
          <a:solidFill>
            <a:srgbClr val="FBBF24"/>
          </a:solidFill>
          <a:ln w="12700">
            <a:solidFill>
              <a:srgbClr val="38BDF8"/>
            </a:solidFill>
            <a:prstDash val="solid"/>
          </a:ln>
        </p:spPr>
      </p:sp>
      <p:sp>
        <p:nvSpPr>
          <p:cNvPr id="36" name="Shape 34"/>
          <p:cNvSpPr/>
          <p:nvPr/>
        </p:nvSpPr>
        <p:spPr>
          <a:xfrm>
            <a:off x="6461608" y="4453128"/>
            <a:ext cx="1426464" cy="201168"/>
          </a:xfrm>
          <a:prstGeom prst="rect">
            <a:avLst/>
          </a:prstGeom>
          <a:solidFill>
            <a:srgbClr val="38BDF8">
              <a:alpha val="70000"/>
            </a:srgbClr>
          </a:solidFill>
          <a:ln w="12700">
            <a:solidFill>
              <a:srgbClr val="38BDF8"/>
            </a:solidFill>
            <a:prstDash val="solid"/>
          </a:ln>
        </p:spPr>
      </p:sp>
      <p:sp>
        <p:nvSpPr>
          <p:cNvPr id="37" name="Shape 35"/>
          <p:cNvSpPr/>
          <p:nvPr/>
        </p:nvSpPr>
        <p:spPr>
          <a:xfrm>
            <a:off x="6461608" y="4727448"/>
            <a:ext cx="1097280" cy="201168"/>
          </a:xfrm>
          <a:prstGeom prst="rect">
            <a:avLst/>
          </a:prstGeom>
          <a:solidFill>
            <a:srgbClr val="38BDF8">
              <a:alpha val="70000"/>
            </a:srgbClr>
          </a:solidFill>
          <a:ln w="12700">
            <a:solidFill>
              <a:srgbClr val="38BDF8"/>
            </a:solidFill>
            <a:prstDash val="solid"/>
          </a:ln>
        </p:spPr>
      </p:sp>
      <p:sp>
        <p:nvSpPr>
          <p:cNvPr id="38" name="Shape 36"/>
          <p:cNvSpPr/>
          <p:nvPr/>
        </p:nvSpPr>
        <p:spPr>
          <a:xfrm>
            <a:off x="6461608" y="5001768"/>
            <a:ext cx="768096" cy="201168"/>
          </a:xfrm>
          <a:prstGeom prst="rect">
            <a:avLst/>
          </a:prstGeom>
          <a:solidFill>
            <a:srgbClr val="38BDF8">
              <a:alpha val="70000"/>
            </a:srgbClr>
          </a:solidFill>
          <a:ln w="12700">
            <a:solidFill>
              <a:srgbClr val="38BDF8"/>
            </a:solidFill>
            <a:prstDash val="solid"/>
          </a:ln>
        </p:spPr>
      </p:sp>
      <p:sp>
        <p:nvSpPr>
          <p:cNvPr id="39" name="Shape 37"/>
          <p:cNvSpPr/>
          <p:nvPr/>
        </p:nvSpPr>
        <p:spPr>
          <a:xfrm>
            <a:off x="6461608" y="5276088"/>
            <a:ext cx="548640" cy="201168"/>
          </a:xfrm>
          <a:prstGeom prst="rect">
            <a:avLst/>
          </a:prstGeom>
          <a:solidFill>
            <a:srgbClr val="38BDF8">
              <a:alpha val="70000"/>
            </a:srgbClr>
          </a:solidFill>
          <a:ln w="12700">
            <a:solidFill>
              <a:srgbClr val="38BDF8"/>
            </a:solidFill>
            <a:prstDash val="solid"/>
          </a:ln>
        </p:spPr>
      </p:sp>
      <p:sp>
        <p:nvSpPr>
          <p:cNvPr id="40" name="Text 38"/>
          <p:cNvSpPr txBox="1"/>
          <p:nvPr/>
        </p:nvSpPr>
        <p:spPr>
          <a:xfrm>
            <a:off x="8564728" y="4105656"/>
            <a:ext cx="2758288"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Lỗi nghiêm trọng theo khoa</a:t>
            </a:r>
            <a:endParaRPr lang="en-US" sz="1600" dirty="0"/>
          </a:p>
        </p:txBody>
      </p:sp>
      <p:sp>
        <p:nvSpPr>
          <p:cNvPr id="41" name="Text 39"/>
          <p:cNvSpPr txBox="1"/>
          <p:nvPr/>
        </p:nvSpPr>
        <p:spPr>
          <a:xfrm>
            <a:off x="8564728" y="4498848"/>
            <a:ext cx="2758288" cy="365760"/>
          </a:xfrm>
          <a:prstGeom prst="rect">
            <a:avLst/>
          </a:prstGeom>
          <a:noFill/>
          <a:ln/>
        </p:spPr>
        <p:txBody>
          <a:bodyPr wrap="square" lIns="0" tIns="0" rIns="0" bIns="0" rtlCol="0" anchor="ctr"/>
          <a:lstStyle/>
          <a:p>
            <a:pPr indent="0" marL="0">
              <a:buNone/>
            </a:pPr>
            <a:r>
              <a:rPr lang="en-US" sz="1400" i="1" dirty="0">
                <a:solidFill>
                  <a:srgbClr val="FBBF24"/>
                </a:solidFill>
                <a:latin typeface="Arial" pitchFamily="34" charset="0"/>
                <a:ea typeface="Arial" pitchFamily="34" charset="-122"/>
                <a:cs typeface="Arial" pitchFamily="34" charset="-120"/>
              </a:rPr>
              <a:t>Giao việc cho ai?</a:t>
            </a:r>
            <a:endParaRPr lang="en-US" sz="1400" dirty="0"/>
          </a:p>
        </p:txBody>
      </p:sp>
      <p:sp>
        <p:nvSpPr>
          <p:cNvPr id="42" name="Text 40"/>
          <p:cNvSpPr txBox="1"/>
          <p:nvPr/>
        </p:nvSpPr>
        <p:spPr>
          <a:xfrm>
            <a:off x="8564728" y="4910328"/>
            <a:ext cx="2758288" cy="77724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Phân bổ lỗi theo khoa thực hiện để giao đúng đầu mối</a:t>
            </a:r>
            <a:endParaRPr lang="en-US" sz="1250" dirty="0"/>
          </a:p>
        </p:txBody>
      </p:sp>
      <p:sp>
        <p:nvSpPr>
          <p:cNvPr id="43" name="Text 41"/>
          <p:cNvSpPr txBox="1"/>
          <p:nvPr/>
        </p:nvSpPr>
        <p:spPr>
          <a:xfrm>
            <a:off x="640080" y="6035040"/>
            <a:ext cx="10911535" cy="256032"/>
          </a:xfrm>
          <a:prstGeom prst="rect">
            <a:avLst/>
          </a:prstGeom>
          <a:noFill/>
          <a:ln/>
        </p:spPr>
        <p:txBody>
          <a:bodyPr wrap="square" lIns="0" tIns="0" rIns="0" bIns="0" rtlCol="0" anchor="ctr"/>
          <a:lstStyle/>
          <a:p>
            <a:pPr indent="0" marL="0">
              <a:buNone/>
            </a:pPr>
            <a:r>
              <a:rPr lang="en-US" sz="1050" i="1" dirty="0">
                <a:solidFill>
                  <a:srgbClr val="7F93B0"/>
                </a:solidFill>
                <a:latin typeface="Arial" pitchFamily="34" charset="0"/>
                <a:ea typeface="Arial" pitchFamily="34" charset="-122"/>
                <a:cs typeface="Arial" pitchFamily="34" charset="-120"/>
              </a:rPr>
              <a:t>Hình bên trái mỗi ô là minh hoạ dạng biểu đồ, không phải số liệu thật.</a:t>
            </a:r>
            <a:endParaRPr lang="en-US" sz="1050" dirty="0"/>
          </a:p>
        </p:txBody>
      </p:sp>
      <p:sp>
        <p:nvSpPr>
          <p:cNvPr id="45" name="Text 42"/>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06 / 10</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AN TOÀN</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Dữ liệu người bệnh và hệ thống HIS được bảo vệ thế nào</a:t>
            </a:r>
            <a:endParaRPr lang="en-US" sz="2800" dirty="0"/>
          </a:p>
        </p:txBody>
      </p:sp>
      <p:sp>
        <p:nvSpPr>
          <p:cNvPr id="4" name="Shape 2"/>
          <p:cNvSpPr/>
          <p:nvPr/>
        </p:nvSpPr>
        <p:spPr>
          <a:xfrm>
            <a:off x="640080" y="1508760"/>
            <a:ext cx="5318608" cy="1783080"/>
          </a:xfrm>
          <a:prstGeom prst="roundRect">
            <a:avLst>
              <a:gd name="adj" fmla="val 5128"/>
            </a:avLst>
          </a:prstGeom>
          <a:solidFill>
            <a:srgbClr val="1C3558">
              <a:alpha val="85000"/>
            </a:srgbClr>
          </a:solidFill>
          <a:ln w="9525">
            <a:solidFill>
              <a:srgbClr val="2E4B74"/>
            </a:solidFill>
            <a:prstDash val="solid"/>
          </a:ln>
        </p:spPr>
      </p:sp>
      <p:sp>
        <p:nvSpPr>
          <p:cNvPr id="5" name="Shape 3"/>
          <p:cNvSpPr/>
          <p:nvPr/>
        </p:nvSpPr>
        <p:spPr>
          <a:xfrm>
            <a:off x="914400" y="1783080"/>
            <a:ext cx="731520" cy="731520"/>
          </a:xfrm>
          <a:prstGeom prst="ellipse">
            <a:avLst/>
          </a:prstGeom>
          <a:solidFill>
            <a:srgbClr val="25324A"/>
          </a:solidFill>
          <a:ln w="12700">
            <a:solidFill>
              <a:srgbClr val="38BDF8"/>
            </a:solidFill>
            <a:prstDash val="solid"/>
          </a:ln>
        </p:spPr>
      </p:sp>
      <p:sp>
        <p:nvSpPr>
          <p:cNvPr id="6" name="Text 4"/>
          <p:cNvSpPr txBox="1"/>
          <p:nvPr/>
        </p:nvSpPr>
        <p:spPr>
          <a:xfrm>
            <a:off x="914400" y="178308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7" name="Text 5"/>
          <p:cNvSpPr txBox="1"/>
          <p:nvPr/>
        </p:nvSpPr>
        <p:spPr>
          <a:xfrm>
            <a:off x="1874520" y="178308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Đặt tại bệnh viện</a:t>
            </a:r>
            <a:endParaRPr lang="en-US" sz="1800" dirty="0"/>
          </a:p>
        </p:txBody>
      </p:sp>
      <p:sp>
        <p:nvSpPr>
          <p:cNvPr id="8" name="Text 6"/>
          <p:cNvSpPr txBox="1"/>
          <p:nvPr/>
        </p:nvSpPr>
        <p:spPr>
          <a:xfrm>
            <a:off x="1874520" y="228600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Máy chủ đặt trong mạng nội bộ của viện. Dữ liệu chỉ gửi lên Cổng giám định BHXH — như quy trình hiện nay.</a:t>
            </a:r>
            <a:endParaRPr lang="en-US" sz="1350" dirty="0"/>
          </a:p>
        </p:txBody>
      </p:sp>
      <p:sp>
        <p:nvSpPr>
          <p:cNvPr id="9" name="Shape 7"/>
          <p:cNvSpPr/>
          <p:nvPr/>
        </p:nvSpPr>
        <p:spPr>
          <a:xfrm>
            <a:off x="6233008" y="1508760"/>
            <a:ext cx="5318608" cy="1783080"/>
          </a:xfrm>
          <a:prstGeom prst="roundRect">
            <a:avLst>
              <a:gd name="adj" fmla="val 5128"/>
            </a:avLst>
          </a:prstGeom>
          <a:solidFill>
            <a:srgbClr val="1C3558">
              <a:alpha val="85000"/>
            </a:srgbClr>
          </a:solidFill>
          <a:ln w="9525">
            <a:solidFill>
              <a:srgbClr val="2E4B74"/>
            </a:solidFill>
            <a:prstDash val="solid"/>
          </a:ln>
        </p:spPr>
      </p:sp>
      <p:sp>
        <p:nvSpPr>
          <p:cNvPr id="10" name="Shape 8"/>
          <p:cNvSpPr/>
          <p:nvPr/>
        </p:nvSpPr>
        <p:spPr>
          <a:xfrm>
            <a:off x="6507328" y="1783080"/>
            <a:ext cx="731520" cy="731520"/>
          </a:xfrm>
          <a:prstGeom prst="ellipse">
            <a:avLst/>
          </a:prstGeom>
          <a:solidFill>
            <a:srgbClr val="25324A"/>
          </a:solidFill>
          <a:ln w="12700">
            <a:solidFill>
              <a:srgbClr val="38BDF8"/>
            </a:solidFill>
            <a:prstDash val="solid"/>
          </a:ln>
        </p:spPr>
      </p:sp>
      <p:sp>
        <p:nvSpPr>
          <p:cNvPr id="11" name="Text 9"/>
          <p:cNvSpPr txBox="1"/>
          <p:nvPr/>
        </p:nvSpPr>
        <p:spPr>
          <a:xfrm>
            <a:off x="6507328" y="178308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2" name="Text 10"/>
          <p:cNvSpPr txBox="1"/>
          <p:nvPr/>
        </p:nvSpPr>
        <p:spPr>
          <a:xfrm>
            <a:off x="7467448" y="178308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Chỉ đọc HIS</a:t>
            </a:r>
            <a:endParaRPr lang="en-US" sz="1800" dirty="0"/>
          </a:p>
        </p:txBody>
      </p:sp>
      <p:sp>
        <p:nvSpPr>
          <p:cNvPr id="13" name="Text 11"/>
          <p:cNvSpPr txBox="1"/>
          <p:nvPr/>
        </p:nvSpPr>
        <p:spPr>
          <a:xfrm>
            <a:off x="7467448" y="228600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Tài khoản chỉ có quyền đọc: không ghi, không cài trigger, không đổi cấu trúc cơ sở dữ liệu HIS.</a:t>
            </a:r>
            <a:endParaRPr lang="en-US" sz="1350" dirty="0"/>
          </a:p>
        </p:txBody>
      </p:sp>
      <p:sp>
        <p:nvSpPr>
          <p:cNvPr id="14" name="Shape 12"/>
          <p:cNvSpPr/>
          <p:nvPr/>
        </p:nvSpPr>
        <p:spPr>
          <a:xfrm>
            <a:off x="640080" y="3520440"/>
            <a:ext cx="5318608" cy="1783080"/>
          </a:xfrm>
          <a:prstGeom prst="roundRect">
            <a:avLst>
              <a:gd name="adj" fmla="val 5128"/>
            </a:avLst>
          </a:prstGeom>
          <a:solidFill>
            <a:srgbClr val="1C3558">
              <a:alpha val="85000"/>
            </a:srgbClr>
          </a:solidFill>
          <a:ln w="9525">
            <a:solidFill>
              <a:srgbClr val="2E4B74"/>
            </a:solidFill>
            <a:prstDash val="solid"/>
          </a:ln>
        </p:spPr>
      </p:sp>
      <p:sp>
        <p:nvSpPr>
          <p:cNvPr id="15" name="Shape 13"/>
          <p:cNvSpPr/>
          <p:nvPr/>
        </p:nvSpPr>
        <p:spPr>
          <a:xfrm>
            <a:off x="914400" y="3794760"/>
            <a:ext cx="731520" cy="731520"/>
          </a:xfrm>
          <a:prstGeom prst="ellipse">
            <a:avLst/>
          </a:prstGeom>
          <a:solidFill>
            <a:srgbClr val="25324A"/>
          </a:solidFill>
          <a:ln w="12700">
            <a:solidFill>
              <a:srgbClr val="38BDF8"/>
            </a:solidFill>
            <a:prstDash val="solid"/>
          </a:ln>
        </p:spPr>
      </p:sp>
      <p:sp>
        <p:nvSpPr>
          <p:cNvPr id="16" name="Text 14"/>
          <p:cNvSpPr txBox="1"/>
          <p:nvPr/>
        </p:nvSpPr>
        <p:spPr>
          <a:xfrm>
            <a:off x="914400" y="379476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7" name="Text 15"/>
          <p:cNvSpPr txBox="1"/>
          <p:nvPr/>
        </p:nvSpPr>
        <p:spPr>
          <a:xfrm>
            <a:off x="1874520" y="379476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Không làm nặng HIS</a:t>
            </a:r>
            <a:endParaRPr lang="en-US" sz="1800" dirty="0"/>
          </a:p>
        </p:txBody>
      </p:sp>
      <p:sp>
        <p:nvSpPr>
          <p:cNvPr id="18" name="Text 16"/>
          <p:cNvSpPr txBox="1"/>
          <p:nvPr/>
        </p:nvSpPr>
        <p:spPr>
          <a:xfrm>
            <a:off x="1874520" y="429768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Truy vấn chạy nền theo lô; khảo sát chỉ mục các bảng HIS lớn trước khi bật.</a:t>
            </a:r>
            <a:endParaRPr lang="en-US" sz="1350" dirty="0"/>
          </a:p>
        </p:txBody>
      </p:sp>
      <p:sp>
        <p:nvSpPr>
          <p:cNvPr id="19" name="Shape 17"/>
          <p:cNvSpPr/>
          <p:nvPr/>
        </p:nvSpPr>
        <p:spPr>
          <a:xfrm>
            <a:off x="6233008" y="3520440"/>
            <a:ext cx="5318608" cy="1783080"/>
          </a:xfrm>
          <a:prstGeom prst="roundRect">
            <a:avLst>
              <a:gd name="adj" fmla="val 5128"/>
            </a:avLst>
          </a:prstGeom>
          <a:solidFill>
            <a:srgbClr val="1C3558">
              <a:alpha val="85000"/>
            </a:srgbClr>
          </a:solidFill>
          <a:ln w="9525">
            <a:solidFill>
              <a:srgbClr val="2E4B74"/>
            </a:solidFill>
            <a:prstDash val="solid"/>
          </a:ln>
        </p:spPr>
      </p:sp>
      <p:sp>
        <p:nvSpPr>
          <p:cNvPr id="20" name="Shape 18"/>
          <p:cNvSpPr/>
          <p:nvPr/>
        </p:nvSpPr>
        <p:spPr>
          <a:xfrm>
            <a:off x="6507328" y="3794760"/>
            <a:ext cx="731520" cy="731520"/>
          </a:xfrm>
          <a:prstGeom prst="ellipse">
            <a:avLst/>
          </a:prstGeom>
          <a:solidFill>
            <a:srgbClr val="25324A"/>
          </a:solidFill>
          <a:ln w="12700">
            <a:solidFill>
              <a:srgbClr val="38BDF8"/>
            </a:solidFill>
            <a:prstDash val="solid"/>
          </a:ln>
        </p:spPr>
      </p:sp>
      <p:sp>
        <p:nvSpPr>
          <p:cNvPr id="21" name="Text 19"/>
          <p:cNvSpPr txBox="1"/>
          <p:nvPr/>
        </p:nvSpPr>
        <p:spPr>
          <a:xfrm>
            <a:off x="6507328" y="3794760"/>
            <a:ext cx="731520" cy="731520"/>
          </a:xfrm>
          <a:prstGeom prst="rect">
            <a:avLst/>
          </a:prstGeom>
          <a:no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2" name="Text 20"/>
          <p:cNvSpPr txBox="1"/>
          <p:nvPr/>
        </p:nvSpPr>
        <p:spPr>
          <a:xfrm>
            <a:off x="7467448" y="3794760"/>
            <a:ext cx="3855568"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Phân quyền và ghi vết</a:t>
            </a:r>
            <a:endParaRPr lang="en-US" sz="1800" dirty="0"/>
          </a:p>
        </p:txBody>
      </p:sp>
      <p:sp>
        <p:nvSpPr>
          <p:cNvPr id="23" name="Text 21"/>
          <p:cNvSpPr txBox="1"/>
          <p:nvPr/>
        </p:nvSpPr>
        <p:spPr>
          <a:xfrm>
            <a:off x="7467448" y="4297680"/>
            <a:ext cx="3855568" cy="868680"/>
          </a:xfrm>
          <a:prstGeom prst="rect">
            <a:avLst/>
          </a:prstGeom>
          <a:noFill/>
          <a:ln/>
        </p:spPr>
        <p:txBody>
          <a:bodyPr wrap="square" lIns="0" tIns="0" rIns="0" bIns="0" rtlCol="0" anchor="t"/>
          <a:lstStyle/>
          <a:p>
            <a:pPr indent="0" marL="0">
              <a:lnSpc>
                <a:spcPts val="1900"/>
              </a:lnSpc>
              <a:buNone/>
            </a:pPr>
            <a:r>
              <a:rPr lang="en-US" sz="1350" dirty="0">
                <a:solidFill>
                  <a:srgbClr val="A9BCD6"/>
                </a:solidFill>
                <a:latin typeface="Arial" pitchFamily="34" charset="0"/>
                <a:ea typeface="Arial" pitchFamily="34" charset="-122"/>
                <a:cs typeface="Arial" pitchFamily="34" charset="-120"/>
              </a:rPr>
              <a:t>Mỗi người chỉ thấy chức năng được cấp; ghi lại ai nạp, ai gửi hồ sơ, ai tra cứu thẻ.</a:t>
            </a:r>
            <a:endParaRPr lang="en-US" sz="1350" dirty="0"/>
          </a:p>
        </p:txBody>
      </p:sp>
      <p:sp>
        <p:nvSpPr>
          <p:cNvPr id="24" name="Text 22"/>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Dữ liệu người bệnh ở lại trong bệnh viện</a:t>
            </a:r>
            <a:endParaRPr lang="en-US" sz="1600" dirty="0"/>
          </a:p>
        </p:txBody>
      </p:sp>
      <p:sp>
        <p:nvSpPr>
          <p:cNvPr id="26" name="Text 23"/>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07 / 10</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TRIỂN KHAI</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Điều kiện và lộ trình triển khai tại bệnh viện</a:t>
            </a:r>
            <a:endParaRPr lang="en-US" sz="2800" dirty="0"/>
          </a:p>
        </p:txBody>
      </p:sp>
      <p:sp>
        <p:nvSpPr>
          <p:cNvPr id="4" name="Shape 2"/>
          <p:cNvSpPr/>
          <p:nvPr/>
        </p:nvSpPr>
        <p:spPr>
          <a:xfrm>
            <a:off x="640080" y="1508760"/>
            <a:ext cx="4846320" cy="1325880"/>
          </a:xfrm>
          <a:prstGeom prst="roundRect">
            <a:avLst>
              <a:gd name="adj" fmla="val 6897"/>
            </a:avLst>
          </a:prstGeom>
          <a:solidFill>
            <a:srgbClr val="1C3558">
              <a:alpha val="85000"/>
            </a:srgbClr>
          </a:solidFill>
          <a:ln w="9525">
            <a:solidFill>
              <a:srgbClr val="2E4B74"/>
            </a:solidFill>
            <a:prstDash val="solid"/>
          </a:ln>
        </p:spPr>
      </p:sp>
      <p:sp>
        <p:nvSpPr>
          <p:cNvPr id="5" name="Text 3"/>
          <p:cNvSpPr txBox="1"/>
          <p:nvPr/>
        </p:nvSpPr>
        <p:spPr>
          <a:xfrm>
            <a:off x="822960" y="1691640"/>
            <a:ext cx="45720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6" name="Text 4"/>
          <p:cNvSpPr txBox="1"/>
          <p:nvPr/>
        </p:nvSpPr>
        <p:spPr>
          <a:xfrm>
            <a:off x="1417320" y="1691640"/>
            <a:ext cx="38862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Dùng được với mọi HIS</a:t>
            </a:r>
            <a:endParaRPr lang="en-US" sz="1600" dirty="0"/>
          </a:p>
        </p:txBody>
      </p:sp>
      <p:sp>
        <p:nvSpPr>
          <p:cNvPr id="7" name="Text 5"/>
          <p:cNvSpPr txBox="1"/>
          <p:nvPr/>
        </p:nvSpPr>
        <p:spPr>
          <a:xfrm>
            <a:off x="914400" y="2194560"/>
            <a:ext cx="4343400" cy="59436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Hồ sơ XML 3176 — nhận tệp XML chuẩn theo Quyết định 3176, không phụ thuộc phần mềm HIS</a:t>
            </a:r>
            <a:endParaRPr lang="en-US" sz="1250" dirty="0"/>
          </a:p>
        </p:txBody>
      </p:sp>
      <p:sp>
        <p:nvSpPr>
          <p:cNvPr id="8" name="Shape 6"/>
          <p:cNvSpPr/>
          <p:nvPr/>
        </p:nvSpPr>
        <p:spPr>
          <a:xfrm>
            <a:off x="640080" y="2990088"/>
            <a:ext cx="4846320" cy="1325880"/>
          </a:xfrm>
          <a:prstGeom prst="roundRect">
            <a:avLst>
              <a:gd name="adj" fmla="val 6897"/>
            </a:avLst>
          </a:prstGeom>
          <a:solidFill>
            <a:srgbClr val="25324A">
              <a:alpha val="85000"/>
            </a:srgbClr>
          </a:solidFill>
          <a:ln w="19050">
            <a:solidFill>
              <a:srgbClr val="FBBF24"/>
            </a:solidFill>
            <a:prstDash val="solid"/>
          </a:ln>
        </p:spPr>
      </p:sp>
      <p:sp>
        <p:nvSpPr>
          <p:cNvPr id="9" name="Text 7"/>
          <p:cNvSpPr txBox="1"/>
          <p:nvPr/>
        </p:nvSpPr>
        <p:spPr>
          <a:xfrm>
            <a:off x="822960" y="3172968"/>
            <a:ext cx="457200" cy="457200"/>
          </a:xfrm>
          <a:prstGeom prst="rect">
            <a:avLst/>
          </a:prstGeom>
          <a:noFill/>
          <a:ln/>
        </p:spPr>
        <p:txBody>
          <a:bodyPr wrap="square" lIns="0" tIns="0" rIns="0" bIns="0" rtlCol="0" anchor="ctr"/>
          <a:lstStyle/>
          <a:p>
            <a:pPr algn="ctr" indent="0" marL="0">
              <a:buNone/>
            </a:pPr>
            <a:r>
              <a:rPr lang="en-US" sz="2000" dirty="0">
                <a:solidFill>
                  <a:srgbClr val="000000"/>
                </a:solidFill>
                <a:latin typeface="Segoe UI Emoji" pitchFamily="34" charset="0"/>
                <a:ea typeface="Segoe UI Emoji" pitchFamily="34" charset="-122"/>
                <a:cs typeface="Segoe UI Emoji" pitchFamily="34" charset="-120"/>
              </a:rPr>
              <a:t>🧩</a:t>
            </a:r>
            <a:endParaRPr lang="en-US" sz="2000" dirty="0"/>
          </a:p>
        </p:txBody>
      </p:sp>
      <p:sp>
        <p:nvSpPr>
          <p:cNvPr id="10" name="Text 8"/>
          <p:cNvSpPr txBox="1"/>
          <p:nvPr/>
        </p:nvSpPr>
        <p:spPr>
          <a:xfrm>
            <a:off x="1417320" y="3172968"/>
            <a:ext cx="3886200" cy="457200"/>
          </a:xfrm>
          <a:prstGeom prst="rect">
            <a:avLst/>
          </a:prstGeom>
          <a:noFill/>
          <a:ln/>
        </p:spPr>
        <p:txBody>
          <a:bodyPr wrap="square" lIns="0" tIns="0" rIns="0" bIns="0" rtlCol="0" anchor="ctr"/>
          <a:lstStyle/>
          <a:p>
            <a:pPr indent="0" marL="0">
              <a:buNone/>
            </a:pPr>
            <a:r>
              <a:rPr lang="en-US" sz="1600" b="1" dirty="0">
                <a:solidFill>
                  <a:srgbClr val="FBBF24"/>
                </a:solidFill>
                <a:latin typeface="Arial" pitchFamily="34" charset="0"/>
                <a:ea typeface="Arial" pitchFamily="34" charset="-122"/>
                <a:cs typeface="Arial" pitchFamily="34" charset="-120"/>
              </a:rPr>
              <a:t>Cần kết nối riêng với HIS của viện</a:t>
            </a:r>
            <a:endParaRPr lang="en-US" sz="1600" dirty="0"/>
          </a:p>
        </p:txBody>
      </p:sp>
      <p:sp>
        <p:nvSpPr>
          <p:cNvPr id="11" name="Text 9"/>
          <p:cNvSpPr txBox="1"/>
          <p:nvPr/>
        </p:nvSpPr>
        <p:spPr>
          <a:xfrm>
            <a:off x="914400" y="3675888"/>
            <a:ext cx="4343400" cy="59436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Kiểm sai sót y lệnh — đọc trực tiếp CSDL HIS (chỉ đọc); viện dùng HIS khác cần làm lớp kết nối riêng</a:t>
            </a:r>
            <a:endParaRPr lang="en-US" sz="1250" dirty="0"/>
          </a:p>
        </p:txBody>
      </p:sp>
      <p:sp>
        <p:nvSpPr>
          <p:cNvPr id="12" name="Shape 10"/>
          <p:cNvSpPr/>
          <p:nvPr/>
        </p:nvSpPr>
        <p:spPr>
          <a:xfrm>
            <a:off x="5806440" y="1508760"/>
            <a:ext cx="5745175" cy="2807208"/>
          </a:xfrm>
          <a:prstGeom prst="roundRect">
            <a:avLst>
              <a:gd name="adj" fmla="val 3257"/>
            </a:avLst>
          </a:prstGeom>
          <a:solidFill>
            <a:srgbClr val="1C3558">
              <a:alpha val="85000"/>
            </a:srgbClr>
          </a:solidFill>
          <a:ln w="9525">
            <a:solidFill>
              <a:srgbClr val="2E4B74"/>
            </a:solidFill>
            <a:prstDash val="solid"/>
          </a:ln>
        </p:spPr>
      </p:sp>
      <p:sp>
        <p:nvSpPr>
          <p:cNvPr id="13" name="Text 11"/>
          <p:cNvSpPr txBox="1"/>
          <p:nvPr/>
        </p:nvSpPr>
        <p:spPr>
          <a:xfrm>
            <a:off x="6080760" y="1691640"/>
            <a:ext cx="5196535" cy="292608"/>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VIỆN CẦN CHUẨN BỊ</a:t>
            </a:r>
            <a:endParaRPr lang="en-US" sz="1200" dirty="0"/>
          </a:p>
        </p:txBody>
      </p:sp>
      <p:sp>
        <p:nvSpPr>
          <p:cNvPr id="14" name="Text 12"/>
          <p:cNvSpPr txBox="1"/>
          <p:nvPr/>
        </p:nvSpPr>
        <p:spPr>
          <a:xfrm>
            <a:off x="6080760" y="2075688"/>
            <a:ext cx="5196535" cy="2148840"/>
          </a:xfrm>
          <a:prstGeom prst="rect">
            <a:avLst/>
          </a:prstGeom>
          <a:noFill/>
          <a:ln/>
        </p:spPr>
        <p:txBody>
          <a:bodyPr wrap="square" lIns="0" tIns="0" rIns="0" bIns="0" rtlCol="0" anchor="t"/>
          <a:lstStyle/>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Máy chủ: Windows Server, hoặc Linux / Docker</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Tài khoản chỉ đọc vào cơ sở dữ liệu HIS</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Thư mục nhận tệp XML do HIS xuất ra</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HSM hoặc USB Token để ký số</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Tài khoản Cổng giám định BHXH và mã cơ sở KCB</a:t>
            </a:r>
            <a:endParaRPr lang="en-US" sz="1350" dirty="0"/>
          </a:p>
          <a:p>
            <a:pPr marL="203200" indent="-203200">
              <a:lnSpc>
                <a:spcPts val="1800"/>
              </a:lnSpc>
              <a:spcAft>
                <a:spcPts val="500"/>
              </a:spcAft>
              <a:buSzPct val="100000"/>
              <a:buChar char="•"/>
            </a:pPr>
            <a:r>
              <a:rPr lang="en-US" sz="1350" dirty="0">
                <a:solidFill>
                  <a:srgbClr val="FFFFFF"/>
                </a:solidFill>
                <a:latin typeface="Arial" pitchFamily="34" charset="0"/>
                <a:ea typeface="Arial" pitchFamily="34" charset="-122"/>
                <a:cs typeface="Arial" pitchFamily="34" charset="-120"/>
              </a:rPr>
              <a:t>Người phụ trách danh mục BHYT của viện</a:t>
            </a:r>
            <a:endParaRPr lang="en-US" sz="1350" dirty="0"/>
          </a:p>
        </p:txBody>
      </p:sp>
      <p:sp>
        <p:nvSpPr>
          <p:cNvPr id="15" name="Shape 13"/>
          <p:cNvSpPr/>
          <p:nvPr/>
        </p:nvSpPr>
        <p:spPr>
          <a:xfrm>
            <a:off x="640080" y="4572000"/>
            <a:ext cx="2769032" cy="548640"/>
          </a:xfrm>
          <a:prstGeom prst="homePlate">
            <a:avLst/>
          </a:prstGeom>
          <a:solidFill>
            <a:srgbClr val="1E4E86"/>
          </a:solidFill>
          <a:ln w="12700">
            <a:solidFill>
              <a:srgbClr val="0B1A30"/>
            </a:solidFill>
            <a:prstDash val="solid"/>
          </a:ln>
        </p:spPr>
      </p:sp>
      <p:sp>
        <p:nvSpPr>
          <p:cNvPr id="16" name="Text 14"/>
          <p:cNvSpPr txBox="1"/>
          <p:nvPr/>
        </p:nvSpPr>
        <p:spPr>
          <a:xfrm>
            <a:off x="841248"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Chuẩn bị  </a:t>
            </a:r>
            <a:pPr indent="0" marL="0">
              <a:buNone/>
            </a:pPr>
            <a:r>
              <a:rPr lang="en-US" sz="1250" dirty="0">
                <a:solidFill>
                  <a:srgbClr val="38BDF8"/>
                </a:solidFill>
                <a:latin typeface="Arial" pitchFamily="34" charset="0"/>
                <a:ea typeface="Arial" pitchFamily="34" charset="-122"/>
                <a:cs typeface="Arial" pitchFamily="34" charset="-120"/>
              </a:rPr>
              <a:t>2–4 tuần</a:t>
            </a:r>
            <a:endParaRPr lang="en-US" sz="1500" dirty="0"/>
          </a:p>
        </p:txBody>
      </p:sp>
      <p:sp>
        <p:nvSpPr>
          <p:cNvPr id="17" name="Text 15"/>
          <p:cNvSpPr txBox="1"/>
          <p:nvPr/>
        </p:nvSpPr>
        <p:spPr>
          <a:xfrm>
            <a:off x="841248"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Lập tổ, chốt chủ sở hữu danh mục, ban hành no-blame</a:t>
            </a:r>
            <a:endParaRPr lang="en-US" sz="1250" dirty="0"/>
          </a:p>
        </p:txBody>
      </p:sp>
      <p:sp>
        <p:nvSpPr>
          <p:cNvPr id="18" name="Shape 16"/>
          <p:cNvSpPr/>
          <p:nvPr/>
        </p:nvSpPr>
        <p:spPr>
          <a:xfrm>
            <a:off x="3390824" y="4572000"/>
            <a:ext cx="2769032" cy="548640"/>
          </a:xfrm>
          <a:prstGeom prst="chevron">
            <a:avLst/>
          </a:prstGeom>
          <a:solidFill>
            <a:srgbClr val="1E4E86"/>
          </a:solidFill>
          <a:ln w="12700">
            <a:solidFill>
              <a:srgbClr val="0B1A30"/>
            </a:solidFill>
            <a:prstDash val="solid"/>
          </a:ln>
        </p:spPr>
      </p:sp>
      <p:sp>
        <p:nvSpPr>
          <p:cNvPr id="19" name="Text 17"/>
          <p:cNvSpPr txBox="1"/>
          <p:nvPr/>
        </p:nvSpPr>
        <p:spPr>
          <a:xfrm>
            <a:off x="3756584"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Chạy thử  </a:t>
            </a:r>
            <a:pPr indent="0" marL="0">
              <a:buNone/>
            </a:pPr>
            <a:r>
              <a:rPr lang="en-US" sz="1250" dirty="0">
                <a:solidFill>
                  <a:srgbClr val="38BDF8"/>
                </a:solidFill>
                <a:latin typeface="Arial" pitchFamily="34" charset="0"/>
                <a:ea typeface="Arial" pitchFamily="34" charset="-122"/>
                <a:cs typeface="Arial" pitchFamily="34" charset="-120"/>
              </a:rPr>
              <a:t>4–8 tuần</a:t>
            </a:r>
            <a:endParaRPr lang="en-US" sz="1500" dirty="0"/>
          </a:p>
        </p:txBody>
      </p:sp>
      <p:sp>
        <p:nvSpPr>
          <p:cNvPr id="20" name="Text 18"/>
          <p:cNvSpPr txBox="1"/>
          <p:nvPr/>
        </p:nvSpPr>
        <p:spPr>
          <a:xfrm>
            <a:off x="3756584"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1–2 khoa, chạy song song quy trình cũ</a:t>
            </a:r>
            <a:endParaRPr lang="en-US" sz="1250" dirty="0"/>
          </a:p>
        </p:txBody>
      </p:sp>
      <p:sp>
        <p:nvSpPr>
          <p:cNvPr id="21" name="Shape 19"/>
          <p:cNvSpPr/>
          <p:nvPr/>
        </p:nvSpPr>
        <p:spPr>
          <a:xfrm>
            <a:off x="6141568" y="4572000"/>
            <a:ext cx="2769032" cy="548640"/>
          </a:xfrm>
          <a:prstGeom prst="chevron">
            <a:avLst/>
          </a:prstGeom>
          <a:solidFill>
            <a:srgbClr val="1E4E86"/>
          </a:solidFill>
          <a:ln w="12700">
            <a:solidFill>
              <a:srgbClr val="0B1A30"/>
            </a:solidFill>
            <a:prstDash val="solid"/>
          </a:ln>
        </p:spPr>
      </p:sp>
      <p:sp>
        <p:nvSpPr>
          <p:cNvPr id="22" name="Text 20"/>
          <p:cNvSpPr txBox="1"/>
          <p:nvPr/>
        </p:nvSpPr>
        <p:spPr>
          <a:xfrm>
            <a:off x="6507328"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Nhân rộng  </a:t>
            </a:r>
            <a:pPr indent="0" marL="0">
              <a:buNone/>
            </a:pPr>
            <a:r>
              <a:rPr lang="en-US" sz="1250" dirty="0">
                <a:solidFill>
                  <a:srgbClr val="38BDF8"/>
                </a:solidFill>
                <a:latin typeface="Arial" pitchFamily="34" charset="0"/>
                <a:ea typeface="Arial" pitchFamily="34" charset="-122"/>
                <a:cs typeface="Arial" pitchFamily="34" charset="-120"/>
              </a:rPr>
              <a:t>2–4 tháng</a:t>
            </a:r>
            <a:endParaRPr lang="en-US" sz="1500" dirty="0"/>
          </a:p>
        </p:txBody>
      </p:sp>
      <p:sp>
        <p:nvSpPr>
          <p:cNvPr id="23" name="Text 21"/>
          <p:cNvSpPr txBox="1"/>
          <p:nvPr/>
        </p:nvSpPr>
        <p:spPr>
          <a:xfrm>
            <a:off x="6507328"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Mở rộng theo khoa, đào tạo người dùng nòng cốt</a:t>
            </a:r>
            <a:endParaRPr lang="en-US" sz="1250" dirty="0"/>
          </a:p>
        </p:txBody>
      </p:sp>
      <p:sp>
        <p:nvSpPr>
          <p:cNvPr id="24" name="Shape 22"/>
          <p:cNvSpPr/>
          <p:nvPr/>
        </p:nvSpPr>
        <p:spPr>
          <a:xfrm>
            <a:off x="8892311" y="4572000"/>
            <a:ext cx="2659304" cy="548640"/>
          </a:xfrm>
          <a:prstGeom prst="chevron">
            <a:avLst/>
          </a:prstGeom>
          <a:solidFill>
            <a:srgbClr val="1F6B45"/>
          </a:solidFill>
          <a:ln w="12700">
            <a:solidFill>
              <a:srgbClr val="0B1A30"/>
            </a:solidFill>
            <a:prstDash val="solid"/>
          </a:ln>
        </p:spPr>
      </p:sp>
      <p:sp>
        <p:nvSpPr>
          <p:cNvPr id="25" name="Text 23"/>
          <p:cNvSpPr txBox="1"/>
          <p:nvPr/>
        </p:nvSpPr>
        <p:spPr>
          <a:xfrm>
            <a:off x="9258071" y="4572000"/>
            <a:ext cx="2202104"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Thường quy  </a:t>
            </a:r>
            <a:pPr indent="0" marL="0">
              <a:buNone/>
            </a:pPr>
            <a:r>
              <a:rPr lang="en-US" sz="1250" dirty="0">
                <a:solidFill>
                  <a:srgbClr val="4ADE80"/>
                </a:solidFill>
                <a:latin typeface="Arial" pitchFamily="34" charset="0"/>
                <a:ea typeface="Arial" pitchFamily="34" charset="-122"/>
                <a:cs typeface="Arial" pitchFamily="34" charset="-120"/>
              </a:rPr>
              <a:t>sau ổn định</a:t>
            </a:r>
            <a:endParaRPr lang="en-US" sz="1500" dirty="0"/>
          </a:p>
        </p:txBody>
      </p:sp>
      <p:sp>
        <p:nvSpPr>
          <p:cNvPr id="26" name="Text 24"/>
          <p:cNvSpPr txBox="1"/>
          <p:nvPr/>
        </p:nvSpPr>
        <p:spPr>
          <a:xfrm>
            <a:off x="9258071" y="5212080"/>
            <a:ext cx="2156384" cy="640080"/>
          </a:xfrm>
          <a:prstGeom prst="rect">
            <a:avLst/>
          </a:prstGeom>
          <a:noFill/>
          <a:ln/>
        </p:spPr>
        <p:txBody>
          <a:bodyPr wrap="square" lIns="0" tIns="0" rIns="0" bIns="0" rtlCol="0" anchor="t"/>
          <a:lstStyle/>
          <a:p>
            <a:pPr indent="0" marL="0">
              <a:lnSpc>
                <a:spcPts val="1700"/>
              </a:lnSpc>
              <a:buNone/>
            </a:pPr>
            <a:r>
              <a:rPr lang="en-US" sz="1250" dirty="0">
                <a:solidFill>
                  <a:srgbClr val="A9BCD6"/>
                </a:solidFill>
                <a:latin typeface="Arial" pitchFamily="34" charset="0"/>
                <a:ea typeface="Arial" pitchFamily="34" charset="-122"/>
                <a:cs typeface="Arial" pitchFamily="34" charset="-120"/>
              </a:rPr>
              <a:t>Bật tự gửi cổng, đưa vào quy chế</a:t>
            </a:r>
            <a:endParaRPr lang="en-US" sz="1250" dirty="0"/>
          </a:p>
        </p:txBody>
      </p:sp>
      <p:sp>
        <p:nvSpPr>
          <p:cNvPr id="28" name="Text 25"/>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08 / 10</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411480"/>
            <a:ext cx="10911535" cy="274320"/>
          </a:xfrm>
          <a:prstGeom prst="rect">
            <a:avLst/>
          </a:prstGeom>
          <a:noFill/>
          <a:ln/>
        </p:spPr>
        <p:txBody>
          <a:bodyPr wrap="square" lIns="0" tIns="0" rIns="0" bIns="0" rtlCol="0" anchor="ctr"/>
          <a:lstStyle/>
          <a:p>
            <a:pPr indent="0" marL="0">
              <a:buNone/>
            </a:pPr>
            <a:r>
              <a:rPr lang="en-US" sz="1200" b="1" spc="200" kern="0" dirty="0">
                <a:solidFill>
                  <a:srgbClr val="38BDF8"/>
                </a:solidFill>
                <a:latin typeface="Arial" pitchFamily="34" charset="0"/>
                <a:ea typeface="Arial" pitchFamily="34" charset="-122"/>
                <a:cs typeface="Arial" pitchFamily="34" charset="-120"/>
              </a:rPr>
              <a:t>ĐỀ XUẤT</a:t>
            </a:r>
            <a:endParaRPr lang="en-US" sz="1200" dirty="0"/>
          </a:p>
        </p:txBody>
      </p:sp>
      <p:sp>
        <p:nvSpPr>
          <p:cNvPr id="3" name="Text 1"/>
          <p:cNvSpPr txBox="1"/>
          <p:nvPr/>
        </p:nvSpPr>
        <p:spPr>
          <a:xfrm>
            <a:off x="640080" y="713232"/>
            <a:ext cx="10911535" cy="566928"/>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Thí điểm 4–8 tuần, đo bằng số liệu của chính viện</a:t>
            </a:r>
            <a:endParaRPr lang="en-US" sz="2800" dirty="0"/>
          </a:p>
        </p:txBody>
      </p:sp>
      <p:sp>
        <p:nvSpPr>
          <p:cNvPr id="4" name="Shape 2"/>
          <p:cNvSpPr/>
          <p:nvPr/>
        </p:nvSpPr>
        <p:spPr>
          <a:xfrm>
            <a:off x="640080" y="1508760"/>
            <a:ext cx="6309360" cy="841248"/>
          </a:xfrm>
          <a:prstGeom prst="roundRect">
            <a:avLst>
              <a:gd name="adj" fmla="val 10870"/>
            </a:avLst>
          </a:prstGeom>
          <a:solidFill>
            <a:srgbClr val="1C3558">
              <a:alpha val="85000"/>
            </a:srgbClr>
          </a:solidFill>
          <a:ln w="9525">
            <a:solidFill>
              <a:srgbClr val="2E4B74"/>
            </a:solidFill>
            <a:prstDash val="solid"/>
          </a:ln>
        </p:spPr>
      </p:sp>
      <p:sp>
        <p:nvSpPr>
          <p:cNvPr id="5" name="Text 3"/>
          <p:cNvSpPr txBox="1"/>
          <p:nvPr/>
        </p:nvSpPr>
        <p:spPr>
          <a:xfrm>
            <a:off x="914400" y="1508760"/>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PHẠM VI</a:t>
            </a:r>
            <a:endParaRPr lang="en-US" sz="1100" dirty="0"/>
          </a:p>
        </p:txBody>
      </p:sp>
      <p:sp>
        <p:nvSpPr>
          <p:cNvPr id="6" name="Text 4"/>
          <p:cNvSpPr txBox="1"/>
          <p:nvPr/>
        </p:nvSpPr>
        <p:spPr>
          <a:xfrm>
            <a:off x="2697480" y="1508760"/>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Kiểm hồ sơ XML 3176 chạy song song quy trình hiện tại; chưa bật tự gửi cổng.</a:t>
            </a:r>
            <a:endParaRPr lang="en-US" sz="1400" dirty="0"/>
          </a:p>
        </p:txBody>
      </p:sp>
      <p:sp>
        <p:nvSpPr>
          <p:cNvPr id="7" name="Shape 5"/>
          <p:cNvSpPr/>
          <p:nvPr/>
        </p:nvSpPr>
        <p:spPr>
          <a:xfrm>
            <a:off x="640080" y="2478024"/>
            <a:ext cx="6309360" cy="841248"/>
          </a:xfrm>
          <a:prstGeom prst="roundRect">
            <a:avLst>
              <a:gd name="adj" fmla="val 10870"/>
            </a:avLst>
          </a:prstGeom>
          <a:solidFill>
            <a:srgbClr val="1C3558">
              <a:alpha val="85000"/>
            </a:srgbClr>
          </a:solidFill>
          <a:ln w="9525">
            <a:solidFill>
              <a:srgbClr val="2E4B74"/>
            </a:solidFill>
            <a:prstDash val="solid"/>
          </a:ln>
        </p:spPr>
      </p:sp>
      <p:sp>
        <p:nvSpPr>
          <p:cNvPr id="8" name="Text 6"/>
          <p:cNvSpPr txBox="1"/>
          <p:nvPr/>
        </p:nvSpPr>
        <p:spPr>
          <a:xfrm>
            <a:off x="914400" y="2478024"/>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VIỆN CỬ</a:t>
            </a:r>
            <a:endParaRPr lang="en-US" sz="1100" dirty="0"/>
          </a:p>
        </p:txBody>
      </p:sp>
      <p:sp>
        <p:nvSpPr>
          <p:cNvPr id="9" name="Text 7"/>
          <p:cNvSpPr txBox="1"/>
          <p:nvPr/>
        </p:nvSpPr>
        <p:spPr>
          <a:xfrm>
            <a:off x="2697480" y="2478024"/>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1 đầu mối phòng KHTH  ·  1 người phụ trách danh mục BHYT  ·  1 cán bộ CNTT</a:t>
            </a:r>
            <a:endParaRPr lang="en-US" sz="1400" dirty="0"/>
          </a:p>
        </p:txBody>
      </p:sp>
      <p:sp>
        <p:nvSpPr>
          <p:cNvPr id="10" name="Shape 8"/>
          <p:cNvSpPr/>
          <p:nvPr/>
        </p:nvSpPr>
        <p:spPr>
          <a:xfrm>
            <a:off x="640080" y="3447288"/>
            <a:ext cx="6309360" cy="841248"/>
          </a:xfrm>
          <a:prstGeom prst="roundRect">
            <a:avLst>
              <a:gd name="adj" fmla="val 10870"/>
            </a:avLst>
          </a:prstGeom>
          <a:solidFill>
            <a:srgbClr val="1C3558">
              <a:alpha val="85000"/>
            </a:srgbClr>
          </a:solidFill>
          <a:ln w="9525">
            <a:solidFill>
              <a:srgbClr val="2E4B74"/>
            </a:solidFill>
            <a:prstDash val="solid"/>
          </a:ln>
        </p:spPr>
      </p:sp>
      <p:sp>
        <p:nvSpPr>
          <p:cNvPr id="11" name="Text 9"/>
          <p:cNvSpPr txBox="1"/>
          <p:nvPr/>
        </p:nvSpPr>
        <p:spPr>
          <a:xfrm>
            <a:off x="914400" y="3447288"/>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CHÚNG TÔI LÀM</a:t>
            </a:r>
            <a:endParaRPr lang="en-US" sz="1100" dirty="0"/>
          </a:p>
        </p:txBody>
      </p:sp>
      <p:sp>
        <p:nvSpPr>
          <p:cNvPr id="12" name="Text 10"/>
          <p:cNvSpPr txBox="1"/>
          <p:nvPr/>
        </p:nvSpPr>
        <p:spPr>
          <a:xfrm>
            <a:off x="2697480" y="3447288"/>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Cài đặt tại viện, nạp danh mục, đào tạo người dùng, theo dõi kết quả cùng viện.</a:t>
            </a:r>
            <a:endParaRPr lang="en-US" sz="1400" dirty="0"/>
          </a:p>
        </p:txBody>
      </p:sp>
      <p:sp>
        <p:nvSpPr>
          <p:cNvPr id="13" name="Shape 11"/>
          <p:cNvSpPr/>
          <p:nvPr/>
        </p:nvSpPr>
        <p:spPr>
          <a:xfrm>
            <a:off x="640080" y="4416552"/>
            <a:ext cx="6309360" cy="841248"/>
          </a:xfrm>
          <a:prstGeom prst="roundRect">
            <a:avLst>
              <a:gd name="adj" fmla="val 10870"/>
            </a:avLst>
          </a:prstGeom>
          <a:solidFill>
            <a:srgbClr val="1C3558">
              <a:alpha val="85000"/>
            </a:srgbClr>
          </a:solidFill>
          <a:ln w="9525">
            <a:solidFill>
              <a:srgbClr val="2E4B74"/>
            </a:solidFill>
            <a:prstDash val="solid"/>
          </a:ln>
        </p:spPr>
      </p:sp>
      <p:sp>
        <p:nvSpPr>
          <p:cNvPr id="14" name="Text 12"/>
          <p:cNvSpPr txBox="1"/>
          <p:nvPr/>
        </p:nvSpPr>
        <p:spPr>
          <a:xfrm>
            <a:off x="914400" y="4416552"/>
            <a:ext cx="1737360" cy="841248"/>
          </a:xfrm>
          <a:prstGeom prst="rect">
            <a:avLst/>
          </a:prstGeom>
          <a:noFill/>
          <a:ln/>
        </p:spPr>
        <p:txBody>
          <a:bodyPr wrap="square" lIns="0" tIns="0" rIns="0" bIns="0" rtlCol="0" anchor="ctr"/>
          <a:lstStyle/>
          <a:p>
            <a:pPr indent="0" marL="0">
              <a:buNone/>
            </a:pPr>
            <a:r>
              <a:rPr lang="en-US" sz="1100" b="1" spc="100" kern="0" dirty="0">
                <a:solidFill>
                  <a:srgbClr val="38BDF8"/>
                </a:solidFill>
                <a:latin typeface="Arial" pitchFamily="34" charset="0"/>
                <a:ea typeface="Arial" pitchFamily="34" charset="-122"/>
                <a:cs typeface="Arial" pitchFamily="34" charset="-120"/>
              </a:rPr>
              <a:t>CHI PHÍ</a:t>
            </a:r>
            <a:endParaRPr lang="en-US" sz="1100" dirty="0"/>
          </a:p>
        </p:txBody>
      </p:sp>
      <p:sp>
        <p:nvSpPr>
          <p:cNvPr id="15" name="Text 13"/>
          <p:cNvSpPr txBox="1"/>
          <p:nvPr/>
        </p:nvSpPr>
        <p:spPr>
          <a:xfrm>
            <a:off x="2697480" y="4416552"/>
            <a:ext cx="4023360" cy="841248"/>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7223760" y="1508760"/>
            <a:ext cx="4327855" cy="3749040"/>
          </a:xfrm>
          <a:prstGeom prst="roundRect">
            <a:avLst>
              <a:gd name="adj" fmla="val 2439"/>
            </a:avLst>
          </a:prstGeom>
          <a:solidFill>
            <a:srgbClr val="25324A">
              <a:alpha val="85000"/>
            </a:srgbClr>
          </a:solidFill>
          <a:ln w="19050">
            <a:solidFill>
              <a:srgbClr val="FBBF24"/>
            </a:solidFill>
            <a:prstDash val="solid"/>
          </a:ln>
        </p:spPr>
      </p:sp>
      <p:sp>
        <p:nvSpPr>
          <p:cNvPr id="17" name="Text 15"/>
          <p:cNvSpPr txBox="1"/>
          <p:nvPr/>
        </p:nvSpPr>
        <p:spPr>
          <a:xfrm>
            <a:off x="7498080" y="1691640"/>
            <a:ext cx="3779215" cy="310896"/>
          </a:xfrm>
          <a:prstGeom prst="rect">
            <a:avLst/>
          </a:prstGeom>
          <a:noFill/>
          <a:ln/>
        </p:spPr>
        <p:txBody>
          <a:bodyPr wrap="square" lIns="0" tIns="0" rIns="0" bIns="0" rtlCol="0" anchor="ctr"/>
          <a:lstStyle/>
          <a:p>
            <a:pPr indent="0" marL="0">
              <a:buNone/>
            </a:pPr>
            <a:r>
              <a:rPr lang="en-US" sz="1200" b="1" spc="200" kern="0" dirty="0">
                <a:solidFill>
                  <a:srgbClr val="FBBF24"/>
                </a:solidFill>
                <a:latin typeface="Arial" pitchFamily="34" charset="0"/>
                <a:ea typeface="Arial" pitchFamily="34" charset="-122"/>
                <a:cs typeface="Arial" pitchFamily="34" charset="-120"/>
              </a:rPr>
              <a:t>ĐO GÌ ĐỂ QUYẾT ĐỊNH</a:t>
            </a:r>
            <a:endParaRPr lang="en-US" sz="1200" dirty="0"/>
          </a:p>
        </p:txBody>
      </p:sp>
      <p:sp>
        <p:nvSpPr>
          <p:cNvPr id="18" name="Text 16"/>
          <p:cNvSpPr txBox="1"/>
          <p:nvPr/>
        </p:nvSpPr>
        <p:spPr>
          <a:xfrm>
            <a:off x="7498080" y="2148840"/>
            <a:ext cx="3779215" cy="2011680"/>
          </a:xfrm>
          <a:prstGeom prst="rect">
            <a:avLst/>
          </a:prstGeom>
          <a:noFill/>
          <a:ln/>
        </p:spPr>
        <p:txBody>
          <a:bodyPr wrap="square" lIns="0" tIns="0" rIns="0" bIns="0" rtlCol="0" anchor="t"/>
          <a:lstStyle/>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Tỷ lệ hồ sơ còn lỗi nghiêm trọng trước khi gửi</a:t>
            </a:r>
            <a:endParaRPr lang="en-US" sz="1500" dirty="0"/>
          </a:p>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Số hồ sơ bị cổng giám định trả về</a:t>
            </a:r>
            <a:endParaRPr lang="en-US" sz="1500" dirty="0"/>
          </a:p>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Thời gian sửa một hồ sơ lỗi</a:t>
            </a:r>
            <a:endParaRPr lang="en-US" sz="1500" dirty="0"/>
          </a:p>
          <a:p>
            <a:pPr marL="203200" indent="-203200">
              <a:lnSpc>
                <a:spcPts val="2000"/>
              </a:lnSpc>
              <a:spcAft>
                <a:spcPts val="1000"/>
              </a:spcAft>
              <a:buSzPct val="100000"/>
              <a:buChar char="•"/>
            </a:pPr>
            <a:r>
              <a:rPr lang="en-US" sz="1500" dirty="0">
                <a:solidFill>
                  <a:srgbClr val="FFFFFF"/>
                </a:solidFill>
                <a:latin typeface="Arial" pitchFamily="34" charset="0"/>
                <a:ea typeface="Arial" pitchFamily="34" charset="-122"/>
                <a:cs typeface="Arial" pitchFamily="34" charset="-120"/>
              </a:rPr>
              <a:t>Số hồ sơ tồn đọng theo tuổi</a:t>
            </a:r>
            <a:endParaRPr lang="en-US" sz="1500" dirty="0"/>
          </a:p>
        </p:txBody>
      </p:sp>
      <p:sp>
        <p:nvSpPr>
          <p:cNvPr id="19" name="Text 17"/>
          <p:cNvSpPr txBox="1"/>
          <p:nvPr/>
        </p:nvSpPr>
        <p:spPr>
          <a:xfrm>
            <a:off x="7498080" y="4343400"/>
            <a:ext cx="3779215" cy="731520"/>
          </a:xfrm>
          <a:prstGeom prst="rect">
            <a:avLst/>
          </a:prstGeom>
          <a:noFill/>
          <a:ln/>
        </p:spPr>
        <p:txBody>
          <a:bodyPr wrap="square" lIns="0" tIns="0" rIns="0" bIns="0" rtlCol="0" anchor="t"/>
          <a:lstStyle/>
          <a:p>
            <a:pPr indent="0" marL="0">
              <a:lnSpc>
                <a:spcPts val="1800"/>
              </a:lnSpc>
              <a:buNone/>
            </a:pPr>
            <a:r>
              <a:rPr lang="en-US" sz="1300" i="1" dirty="0">
                <a:solidFill>
                  <a:srgbClr val="A9BCD6"/>
                </a:solidFill>
                <a:latin typeface="Arial" pitchFamily="34" charset="0"/>
                <a:ea typeface="Arial" pitchFamily="34" charset="-122"/>
                <a:cs typeface="Arial" pitchFamily="34" charset="-120"/>
              </a:rPr>
              <a:t>Kết thúc thí điểm: báo cáo số liệu để lãnh đạo quyết định nhân rộng.</a:t>
            </a:r>
            <a:endParaRPr lang="en-US" sz="1300" dirty="0"/>
          </a:p>
        </p:txBody>
      </p:sp>
      <p:sp>
        <p:nvSpPr>
          <p:cNvPr id="20" name="Text 18"/>
          <p:cNvSpPr txBox="1"/>
          <p:nvPr/>
        </p:nvSpPr>
        <p:spPr>
          <a:xfrm>
            <a:off x="640080" y="5623560"/>
            <a:ext cx="10911535" cy="384048"/>
          </a:xfrm>
          <a:prstGeom prst="rect">
            <a:avLst/>
          </a:prstGeom>
          <a:noFill/>
          <a:ln/>
        </p:spPr>
        <p:txBody>
          <a:bodyPr wrap="square" lIns="0" tIns="0" rIns="0" bIns="0" rtlCol="0" anchor="ctr"/>
          <a:lstStyle/>
          <a:p>
            <a:pPr algn="ctr" indent="0" marL="0">
              <a:buNone/>
            </a:pPr>
            <a:r>
              <a:rPr lang="en-US" sz="1600" dirty="0">
                <a:solidFill>
                  <a:srgbClr val="FBBF24"/>
                </a:solidFill>
                <a:latin typeface="Arial" pitchFamily="34" charset="0"/>
                <a:ea typeface="Arial" pitchFamily="34" charset="-122"/>
                <a:cs typeface="Arial" pitchFamily="34" charset="-120"/>
              </a:rPr>
              <a:t>Hôm nay chỉ cần một quyết định: cho phép thí điểm</a:t>
            </a:r>
            <a:endParaRPr lang="en-US" sz="1600" dirty="0"/>
          </a:p>
        </p:txBody>
      </p:sp>
      <p:sp>
        <p:nvSpPr>
          <p:cNvPr id="22" name="Text 19"/>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09 / 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1417320"/>
            <a:ext cx="11277295" cy="91440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Phát hiện sớm</a:t>
            </a:r>
            <a:pPr algn="ctr" indent="0" marL="0">
              <a:buNone/>
            </a:pPr>
            <a:r>
              <a:rPr lang="en-US" sz="3600" b="1" dirty="0">
                <a:solidFill>
                  <a:srgbClr val="7F93B0"/>
                </a:solidFill>
                <a:latin typeface="Arial" pitchFamily="34" charset="0"/>
                <a:ea typeface="Arial" pitchFamily="34" charset="-122"/>
                <a:cs typeface="Arial" pitchFamily="34" charset="-120"/>
              </a:rPr>
              <a:t>  ·  </a:t>
            </a:r>
            <a:pPr algn="ctr" indent="0" marL="0">
              <a:buNone/>
            </a:pPr>
            <a:r>
              <a:rPr lang="en-US" sz="3600" b="1" dirty="0">
                <a:solidFill>
                  <a:srgbClr val="38BDF8"/>
                </a:solidFill>
                <a:latin typeface="Arial" pitchFamily="34" charset="0"/>
                <a:ea typeface="Arial" pitchFamily="34" charset="-122"/>
                <a:cs typeface="Arial" pitchFamily="34" charset="-120"/>
              </a:rPr>
              <a:t>Sửa tại nguồn</a:t>
            </a:r>
            <a:pPr algn="ctr" indent="0" marL="0">
              <a:buNone/>
            </a:pPr>
            <a:r>
              <a:rPr lang="en-US" sz="3600" b="1" dirty="0">
                <a:solidFill>
                  <a:srgbClr val="7F93B0"/>
                </a:solidFill>
                <a:latin typeface="Arial" pitchFamily="34" charset="0"/>
                <a:ea typeface="Arial" pitchFamily="34" charset="-122"/>
                <a:cs typeface="Arial" pitchFamily="34" charset="-120"/>
              </a:rPr>
              <a:t>  ·  </a:t>
            </a:r>
            <a:pPr algn="ctr" indent="0" marL="0">
              <a:buNone/>
            </a:pPr>
            <a:r>
              <a:rPr lang="en-US" sz="3600" b="1" dirty="0">
                <a:solidFill>
                  <a:srgbClr val="FBBF24"/>
                </a:solidFill>
                <a:latin typeface="Arial" pitchFamily="34" charset="0"/>
                <a:ea typeface="Arial" pitchFamily="34" charset="-122"/>
                <a:cs typeface="Arial" pitchFamily="34" charset="-120"/>
              </a:rPr>
              <a:t>Gửi hồ sơ sạch</a:t>
            </a:r>
            <a:endParaRPr lang="en-US" sz="3600" dirty="0"/>
          </a:p>
        </p:txBody>
      </p:sp>
      <p:sp>
        <p:nvSpPr>
          <p:cNvPr id="3" name="Text 1"/>
          <p:cNvSpPr txBox="1"/>
          <p:nvPr/>
        </p:nvSpPr>
        <p:spPr>
          <a:xfrm>
            <a:off x="914400" y="2560320"/>
            <a:ext cx="10362895" cy="868680"/>
          </a:xfrm>
          <a:prstGeom prst="rect">
            <a:avLst/>
          </a:prstGeom>
          <a:noFill/>
          <a:ln/>
        </p:spPr>
        <p:txBody>
          <a:bodyPr wrap="square" lIns="0" tIns="0" rIns="0" bIns="0" rtlCol="0" anchor="t"/>
          <a:lstStyle/>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Tiền giám định đưa việc kiểm tra hồ sơ BHYT về bên trong bệnh viện —</a:t>
            </a:r>
            <a:endParaRPr lang="en-US" sz="1900" dirty="0"/>
          </a:p>
          <a:p>
            <a:pPr algn="ctr" indent="0" marL="0">
              <a:lnSpc>
                <a:spcPts val="2800"/>
              </a:lnSpc>
              <a:buNone/>
            </a:pPr>
            <a:r>
              <a:rPr lang="en-US" sz="1900" dirty="0">
                <a:solidFill>
                  <a:srgbClr val="A9BCD6"/>
                </a:solidFill>
                <a:latin typeface="Arial" pitchFamily="34" charset="0"/>
                <a:ea typeface="Arial" pitchFamily="34" charset="-122"/>
                <a:cs typeface="Arial" pitchFamily="34" charset="-120"/>
              </a:rPr>
              <a:t>khi người làm sai còn ở đó, và hồ sơ còn chưa rời bệnh viện.</a:t>
            </a:r>
            <a:endParaRPr lang="en-US" sz="1900" dirty="0"/>
          </a:p>
        </p:txBody>
      </p:sp>
      <p:sp>
        <p:nvSpPr>
          <p:cNvPr id="4" name="Shape 2"/>
          <p:cNvSpPr/>
          <p:nvPr/>
        </p:nvSpPr>
        <p:spPr>
          <a:xfrm>
            <a:off x="2804008" y="3931920"/>
            <a:ext cx="6583680" cy="1280160"/>
          </a:xfrm>
          <a:prstGeom prst="roundRect">
            <a:avLst>
              <a:gd name="adj" fmla="val 7143"/>
            </a:avLst>
          </a:prstGeom>
          <a:solidFill>
            <a:srgbClr val="1C3558">
              <a:alpha val="85000"/>
            </a:srgbClr>
          </a:solidFill>
          <a:ln w="9525">
            <a:solidFill>
              <a:srgbClr val="2E4B74"/>
            </a:solidFill>
            <a:prstDash val="solid"/>
          </a:ln>
        </p:spPr>
      </p:sp>
      <p:sp>
        <p:nvSpPr>
          <p:cNvPr id="5" name="Text 3"/>
          <p:cNvSpPr txBox="1"/>
          <p:nvPr/>
        </p:nvSpPr>
        <p:spPr>
          <a:xfrm>
            <a:off x="2804008" y="3931920"/>
            <a:ext cx="6583680" cy="1280160"/>
          </a:xfrm>
          <a:prstGeom prst="rect">
            <a:avLst/>
          </a:prstGeom>
          <a:noFill/>
          <a:ln/>
        </p:spPr>
        <p:txBody>
          <a:bodyPr wrap="square" lIns="0" tIns="0" rIns="0" bIns="0" rtlCol="0" anchor="ctr"/>
          <a:lstStyle/>
          <a:p>
            <a:pPr algn="ctr" indent="0" marL="0">
              <a:lnSpc>
                <a:spcPts val="2400"/>
              </a:lnSpc>
              <a:buNone/>
            </a:pPr>
            <a:r>
              <a:rPr lang="en-US" sz="1200" b="1" spc="200" kern="0" dirty="0">
                <a:solidFill>
                  <a:srgbClr val="38BDF8"/>
                </a:solidFill>
                <a:latin typeface="Arial" pitchFamily="34" charset="0"/>
                <a:ea typeface="Arial" pitchFamily="34" charset="-122"/>
                <a:cs typeface="Arial" pitchFamily="34" charset="-120"/>
              </a:rPr>
              <a:t>HỎI ĐÁP  ·  LIÊN HỆ</a:t>
            </a:r>
            <a:endParaRPr lang="en-US" sz="1200" dirty="0"/>
          </a:p>
          <a:p>
            <a:pPr algn="ctr" indent="0" marL="0">
              <a:lnSpc>
                <a:spcPts val="2400"/>
              </a:lnSpc>
              <a:buNone/>
            </a:pPr>
            <a:r>
              <a:rPr lang="en-US" sz="1700" b="1" dirty="0">
                <a:solidFill>
                  <a:srgbClr val="FFFFFF"/>
                </a:solidFill>
                <a:latin typeface="Arial" pitchFamily="34" charset="0"/>
                <a:ea typeface="Arial" pitchFamily="34" charset="-122"/>
                <a:cs typeface="Arial" pitchFamily="34" charset="-120"/>
              </a:rPr>
              <a:t>Công ty Cổ phần Y tế Thông minh</a:t>
            </a:r>
            <a:endParaRPr lang="en-US" sz="1200" dirty="0"/>
          </a:p>
          <a:p>
            <a:pPr algn="ctr" indent="0" marL="0">
              <a:lnSpc>
                <a:spcPts val="2400"/>
              </a:lnSpc>
              <a:buNone/>
            </a:pPr>
            <a:r>
              <a:rPr lang="en-US" sz="1400" dirty="0">
                <a:solidFill>
                  <a:srgbClr val="A9BCD6"/>
                </a:solidFill>
                <a:latin typeface="Arial" pitchFamily="34" charset="0"/>
                <a:ea typeface="Arial" pitchFamily="34" charset="-122"/>
                <a:cs typeface="Arial" pitchFamily="34" charset="-120"/>
              </a:rPr>
              <a:t>Điện thoại: ………………   ·   Email: ………………</a:t>
            </a:r>
            <a:endParaRPr lang="en-US" sz="1200" dirty="0"/>
          </a:p>
        </p:txBody>
      </p:sp>
      <p:sp>
        <p:nvSpPr>
          <p:cNvPr id="7" name="Text 4"/>
          <p:cNvSpPr txBox="1"/>
          <p:nvPr/>
        </p:nvSpPr>
        <p:spPr>
          <a:xfrm>
            <a:off x="6979615" y="6419088"/>
            <a:ext cx="4572000" cy="256032"/>
          </a:xfrm>
          <a:prstGeom prst="rect">
            <a:avLst/>
          </a:prstGeom>
          <a:noFill/>
          <a:ln/>
        </p:spPr>
        <p:txBody>
          <a:bodyPr wrap="square" lIns="0" tIns="0" rIns="0" bIns="0" rtlCol="0" anchor="ctr"/>
          <a:lstStyle/>
          <a:p>
            <a:pPr algn="r" indent="0" marL="0">
              <a:buNone/>
            </a:pPr>
            <a:r>
              <a:rPr lang="en-US" sz="950" spc="100" kern="0" dirty="0">
                <a:solidFill>
                  <a:srgbClr val="7F93B0"/>
                </a:solidFill>
                <a:latin typeface="Arial" pitchFamily="34" charset="0"/>
                <a:ea typeface="Arial" pitchFamily="34" charset="-122"/>
                <a:cs typeface="Arial" pitchFamily="34" charset="-120"/>
              </a:rPr>
              <a:t>GIẢI PHÁP TIỀN GIÁM ĐỊNH  ·  10 / 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Giải pháp Tiền giám định — Dành cho lãnh đạo bệnh viện</dc:title>
  <dc:subject>Giới thiệu hệ thống Tiền giám định hồ sơ BHYT cho các bệnh viện</dc:subject>
  <dc:creator>PptxGenJS</dc:creator>
  <cp:lastModifiedBy>PptxGenJS</cp:lastModifiedBy>
  <cp:revision>1</cp:revision>
  <dcterms:created xsi:type="dcterms:W3CDTF">2026-10-09T06:29:42Z</dcterms:created>
  <dcterms:modified xsi:type="dcterms:W3CDTF">2026-10-09T06:29:42Z</dcterms:modified>
</cp:coreProperties>
</file>