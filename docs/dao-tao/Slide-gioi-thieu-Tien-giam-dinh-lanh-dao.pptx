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mở đầu, nói trong khoảng một phút. Hồ sơ BHYT đi từ HIS của bệnh viện tới Cổng giám định BHXH; Tiền giám định là trạm kiểm tra nằm giữa: kiểm từng hồ sơ XML 3176 theo bộ quy tắc, tra thẻ BHYT, đối chiếu danh mục. Lỗi nghiêm trọng chặn ký số và gửi cho tới khi được sửa — và sửa trên HIS, tại khoa phòng phát sinh, rồi nạp lại. Hệ thống đang vận hành tại Bệnh viện Bạch Mai.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bằng nỗi đau mà lãnh đạo và phòng KHTH đều biết. Không đưa con số xuất toán cụ thể — mỗi viện có số riêng; nếu viện bạn có số liệu, mời họ tự liên hệ. Ý chính: phát hiện càng muộn, chi phí sửa càng lớn và lỗi càng dễ lặp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 cho lãnh đạo chỉ nhấn một điểm kiểm soát: hồ sơ XML 3176 được kiểm trước khi ký số, lỗi nghiêm trọng thì không được ký, không được gửi. Phần mềm chỉ đọc HIS, không sửa hộ — khoa sửa trên HIS rồi nạp lại. Kiểm sai sót y lệnh là bước mở rộng: nó cần danh mục thuốc, vật tư, nhân sự của viện đã chuẩn, nếu không sẽ sinh rất nhiều cảnh báo giả. Nếu được hỏi về kiểm y lệnh tại Bạch Mai: đang ở giai đoạn làm sạch danh mục, chưa giao khoa xử lý.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ĐIỀN SỐ LIỆU TRƯỚC KHI TRÌNH BÀY — và phải được Bệnh viện Bạch Mai đồng ý công bố. Số "sau" lấy từ Dashboard lỗi XML (thẻ chỉ số, phễu, tồn đọng); số "trước" phải lấy từ báo cáo kết quả giám định trên Cổng BHXH hoặc số liệu phòng KHTH lưu riêng, vì phần mềm chỉ lưu kết quả của lần kiểm mới nhất. Chọn hai kỳ dài bằng nhau. Nếu chưa có số đáng tin, bỏ slide này khỏi buổi trình bày — đừng thay bằng ước đoán; lãnh đạo hỏi lại một con số sai thì mất uy tín cả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Mời lãnh đạo tự nhẩm với số của viện mình — con số họ tự ra thuyết phục hơn mọi con số ta đưa. Dòng ví dụ là giả định thuần tuý (20.000 × 5% × 1,5 triệu = 1,5 tỷ) để minh hoạ cách tính, nói rõ như vậy khi trình bày. Không hứa Tiền giám định xoá được toàn bộ khoản này: nó giảm phần lỗi nằm trong bộ quy tắc, và đưa phần còn lại ra ánh sáng sớm hơn.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cho lãnh đạo và phòng KHTH. Ngoài bốn biểu đồ còn có các thẻ chỉ số, trong đó "Chi phí BHYT bị treo" — tổng chi phí của hồ sơ chưa gửi được — là con số lãnh đạo hay hỏi nhất. Có thêm dashboard chứng từ điện tử và dashboard độ phủ danh mục TT12.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cách nhận lỗi. Chủ động: nghiệp vụ và KHTH vào Cổng Tiền giám định xem danh sách, tra theo mã điều trị, xem dashboard. Thụ động: hệ thống tự gửi email — báo cáo lỗi thẻ BHYT và lỗi XML 3176 hằng ngày, và bản tin các sai sót y lệnh mới (chỉ gửi từ mức độ viện chọn trở lên để không làm phiền). Lãnh đạo không cần đăng nhập vẫn nắm được tình hình qua email. Danh sách người nhận do viện tự thêm, tắt.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nỗi lo của lãnh đạo: làm hỏng HIS, lộ dữ liệu người bệnh, làm chậm hệ thống. Phần mềm triển khai trên máy chủ của viện (Windows Server, hoặc Linux / Docker), đọc HIS bằng tài khoản chỉ đọc. Kết nối ra ngoài duy nhất là Cổng giám định BHXH — để tra thẻ và gửi hồ sơ, đúng như viện đang làm. Đừng hứa chứng nhận an toàn thông tin nếu chưa có văn bản.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biệt rõ hai phần khi viện hỏi "HIS của chúng tôi có dùng được không": phần XML 3176 dùng được ngay vì đầu vào là tệp XML chuẩn; phần kiểm sai sót y lệnh đọc thẳng CSDL HIS nên với HIS khác cần khảo sát và làm lớp kết nối. Lộ trình lấy từ tài liệu tổng hợp mục 10.1; điều kiện chuyển giai đoạn: tỷ lệ lỗi nghiêm trọng ổn định, dương tính giả của kiểm y lệnh về mức chấp nhận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Trả lời câu hỏi lãnh đạo hay đặt ra: "mua về rồi quy định đổi thì sao?". Hai cam kết hiện tại: cập nhật quy tắc thường xuyên — Cổng tự động cập nhật, không cần cán bộ của viện can thiệp; và nâng cấp nền tảng miễn phí, đã có kế hoạch nâng cấp để đáp ứng tốc độ khi khối lượng hồ sơ tăng. Hai hướng phát triển: ứng dụng AI để tra soát lỗi thông minh, và tích hợp HIS sâu hơn để chủ động bắt lỗi logic (thời gian, mã đối tượng…) ngay trên HIS. Nói rõ ô "Lộ trình" là kế hoạch, không phải chức năng đã có. Rà lại phạm vi "miễn phí" với ban giám đốc công ty trước khi trình bày.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quan trọng nhất với lãnh đạo: một quyết định nhỏ, rủi ro thấp, có thước đo rõ. Thí điểm chạy song song, chưa bật tự gửi cổng — nên không ảnh hưởng quy trình đang chạy. Bốn chỉ số theo tài liệu tổng hợp mục 10.3. ĐIỀN CHI PHÍ và rà lại dòng "Chúng tôi làm" theo đúng cam kết của công ty trước khi trình bày.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Nhắc lại ba từ khoá rồi mở hỏi đáp. Điền số điện thoại và email đầu mối trước khi trình bày. Câu hỏi hay gặp: HIS khác có dùng được không (xem slide Triển khai), có thay bộ phận giám định không (không — xem slide Nguyên tắc và giới hạn), chi phí và thời gian (xem slide Đề xuất thí điểm).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2804008" y="566928"/>
            <a:ext cx="6583680" cy="384048"/>
          </a:xfrm>
          <a:prstGeom prst="roundRect">
            <a:avLst>
              <a:gd name="adj" fmla="val 50000"/>
            </a:avLst>
          </a:prstGeom>
          <a:solidFill>
            <a:srgbClr val="FFFFFF">
              <a:alpha val="6000"/>
            </a:srgbClr>
          </a:solidFill>
          <a:ln w="9525">
            <a:solidFill>
              <a:srgbClr val="4A6890"/>
            </a:solidFill>
            <a:prstDash val="solid"/>
          </a:ln>
        </p:spPr>
      </p:sp>
      <p:sp>
        <p:nvSpPr>
          <p:cNvPr id="3" name="Text 1"/>
          <p:cNvSpPr txBox="1"/>
          <p:nvPr/>
        </p:nvSpPr>
        <p:spPr>
          <a:xfrm>
            <a:off x="2804008" y="566928"/>
            <a:ext cx="6583680" cy="384048"/>
          </a:xfrm>
          <a:prstGeom prst="rect">
            <a:avLst/>
          </a:prstGeom>
          <a:noFill/>
          <a:ln/>
        </p:spPr>
        <p:txBody>
          <a:bodyPr wrap="square" lIns="0" tIns="0" rIns="0" bIns="0" rtlCol="0" anchor="ctr"/>
          <a:lstStyle/>
          <a:p>
            <a:pPr algn="ctr" indent="0" marL="0">
              <a:buNone/>
            </a:pPr>
            <a:r>
              <a:rPr lang="en-US" sz="1250" dirty="0">
                <a:solidFill>
                  <a:srgbClr val="C9D6E8"/>
                </a:solidFill>
                <a:latin typeface="Arial" pitchFamily="34" charset="0"/>
                <a:ea typeface="Arial" pitchFamily="34" charset="-122"/>
                <a:cs typeface="Arial" pitchFamily="34" charset="-120"/>
              </a:rPr>
              <a:t>Công ty Cổ phần Y tế Thông minh · Giải pháp Tiền giám định BHYT</a:t>
            </a:r>
            <a:endParaRPr lang="en-US" sz="1250" dirty="0"/>
          </a:p>
        </p:txBody>
      </p:sp>
      <p:sp>
        <p:nvSpPr>
          <p:cNvPr id="4" name="Text 2"/>
          <p:cNvSpPr txBox="1"/>
          <p:nvPr/>
        </p:nvSpPr>
        <p:spPr>
          <a:xfrm>
            <a:off x="457200" y="1078992"/>
            <a:ext cx="11277295" cy="1005840"/>
          </a:xfrm>
          <a:prstGeom prst="rect">
            <a:avLst/>
          </a:prstGeom>
          <a:noFill/>
          <a:ln/>
        </p:spPr>
        <p:txBody>
          <a:bodyPr wrap="square" lIns="0" tIns="0" rIns="0" bIns="0" rtlCol="0" anchor="ctr"/>
          <a:lstStyle/>
          <a:p>
            <a:pPr algn="ctr" indent="0" marL="0">
              <a:buNone/>
            </a:pPr>
            <a:r>
              <a:rPr lang="en-US" sz="6000" b="1" dirty="0">
                <a:solidFill>
                  <a:srgbClr val="FFFFFF"/>
                </a:solidFill>
                <a:latin typeface="Arial" pitchFamily="34" charset="0"/>
                <a:ea typeface="Arial" pitchFamily="34" charset="-122"/>
                <a:cs typeface="Arial" pitchFamily="34" charset="-120"/>
              </a:rPr>
              <a:t>Tiền </a:t>
            </a:r>
            <a:pPr algn="ctr" indent="0" marL="0">
              <a:buNone/>
            </a:pPr>
            <a:r>
              <a:rPr lang="en-US" sz="6000" b="1" dirty="0">
                <a:solidFill>
                  <a:srgbClr val="38BDF8"/>
                </a:solidFill>
                <a:latin typeface="Arial" pitchFamily="34" charset="0"/>
                <a:ea typeface="Arial" pitchFamily="34" charset="-122"/>
                <a:cs typeface="Arial" pitchFamily="34" charset="-120"/>
              </a:rPr>
              <a:t>giám định</a:t>
            </a:r>
            <a:endParaRPr lang="en-US" sz="6000" dirty="0"/>
          </a:p>
        </p:txBody>
      </p:sp>
      <p:sp>
        <p:nvSpPr>
          <p:cNvPr id="5" name="Text 3"/>
          <p:cNvSpPr txBox="1"/>
          <p:nvPr/>
        </p:nvSpPr>
        <p:spPr>
          <a:xfrm>
            <a:off x="914400" y="2121408"/>
            <a:ext cx="10362895" cy="868680"/>
          </a:xfrm>
          <a:prstGeom prst="rect">
            <a:avLst/>
          </a:prstGeom>
          <a:noFill/>
          <a:ln/>
        </p:spPr>
        <p:txBody>
          <a:bodyPr wrap="square" lIns="0" tIns="0" rIns="0" bIns="0" rtlCol="0" anchor="t"/>
          <a:lstStyle/>
          <a:p>
            <a:pPr algn="ctr" indent="0" marL="0">
              <a:lnSpc>
                <a:spcPts val="2800"/>
              </a:lnSpc>
              <a:buNone/>
            </a:pPr>
            <a:r>
              <a:rPr lang="en-US" sz="1900" dirty="0">
                <a:solidFill>
                  <a:srgbClr val="A9BCD6"/>
                </a:solidFill>
                <a:latin typeface="Arial" pitchFamily="34" charset="0"/>
                <a:ea typeface="Arial" pitchFamily="34" charset="-122"/>
                <a:cs typeface="Arial" pitchFamily="34" charset="-120"/>
              </a:rPr>
              <a:t>Kiểm tra hồ sơ khám chữa bệnh BHYT ngay tại bệnh viện</a:t>
            </a:r>
            <a:endParaRPr lang="en-US" sz="1900" dirty="0"/>
          </a:p>
          <a:p>
            <a:pPr algn="ctr" indent="0" marL="0">
              <a:lnSpc>
                <a:spcPts val="2800"/>
              </a:lnSpc>
              <a:buNone/>
            </a:pPr>
            <a:r>
              <a:rPr lang="en-US" sz="1900" dirty="0">
                <a:solidFill>
                  <a:srgbClr val="A9BCD6"/>
                </a:solidFill>
                <a:latin typeface="Arial" pitchFamily="34" charset="0"/>
                <a:ea typeface="Arial" pitchFamily="34" charset="-122"/>
                <a:cs typeface="Arial" pitchFamily="34" charset="-120"/>
              </a:rPr>
              <a:t>trước khi ký số và gửi Cổng giám định BHXH</a:t>
            </a:r>
            <a:endParaRPr lang="en-US" sz="1900" dirty="0"/>
          </a:p>
        </p:txBody>
      </p:sp>
      <p:sp>
        <p:nvSpPr>
          <p:cNvPr id="6" name="Text 4"/>
          <p:cNvSpPr txBox="1"/>
          <p:nvPr/>
        </p:nvSpPr>
        <p:spPr>
          <a:xfrm>
            <a:off x="457200" y="3200400"/>
            <a:ext cx="11277295" cy="411480"/>
          </a:xfrm>
          <a:prstGeom prst="rect">
            <a:avLst/>
          </a:prstGeom>
          <a:noFill/>
          <a:ln/>
        </p:spPr>
        <p:txBody>
          <a:bodyPr wrap="square" lIns="0" tIns="0" rIns="0" bIns="0" rtlCol="0" anchor="ctr"/>
          <a:lstStyle/>
          <a:p>
            <a:pPr algn="ctr" indent="0" marL="0">
              <a:buNone/>
            </a:pPr>
            <a:r>
              <a:rPr lang="en-US" sz="1700" dirty="0">
                <a:solidFill>
                  <a:srgbClr val="A9BCD6"/>
                </a:solidFill>
                <a:latin typeface="Arial" pitchFamily="34" charset="0"/>
                <a:ea typeface="Arial" pitchFamily="34" charset="-122"/>
                <a:cs typeface="Arial" pitchFamily="34" charset="-120"/>
              </a:rPr>
              <a:t>Tiền giám định đặt điểm kiểm soát trước khi hồ sơ rời bệnh viện</a:t>
            </a:r>
            <a:endParaRPr lang="en-US" sz="1700" dirty="0"/>
          </a:p>
        </p:txBody>
      </p:sp>
      <p:sp>
        <p:nvSpPr>
          <p:cNvPr id="7" name="Shape 5"/>
          <p:cNvSpPr/>
          <p:nvPr/>
        </p:nvSpPr>
        <p:spPr>
          <a:xfrm>
            <a:off x="685800" y="3767328"/>
            <a:ext cx="2279828" cy="1783080"/>
          </a:xfrm>
          <a:prstGeom prst="roundRect">
            <a:avLst>
              <a:gd name="adj" fmla="val 5128"/>
            </a:avLst>
          </a:prstGeom>
          <a:solidFill>
            <a:srgbClr val="1C3558">
              <a:alpha val="85000"/>
            </a:srgbClr>
          </a:solidFill>
          <a:ln w="9525">
            <a:solidFill>
              <a:srgbClr val="2E4B74"/>
            </a:solidFill>
            <a:prstDash val="solid"/>
          </a:ln>
        </p:spPr>
      </p:sp>
      <p:sp>
        <p:nvSpPr>
          <p:cNvPr id="8" name="Text 6"/>
          <p:cNvSpPr txBox="1"/>
          <p:nvPr/>
        </p:nvSpPr>
        <p:spPr>
          <a:xfrm>
            <a:off x="685800" y="3913632"/>
            <a:ext cx="2279828" cy="512064"/>
          </a:xfrm>
          <a:prstGeom prst="rect">
            <a:avLst/>
          </a:prstGeom>
          <a:noFill/>
          <a:ln/>
        </p:spPr>
        <p:txBody>
          <a:bodyPr wrap="square" lIns="0" tIns="0" rIns="0" bIns="0" rtlCol="0" anchor="ctr"/>
          <a:lstStyle/>
          <a:p>
            <a:pPr algn="ctr" indent="0" marL="0">
              <a:buNone/>
            </a:pPr>
            <a:r>
              <a:rPr lang="en-US" sz="2800" dirty="0">
                <a:solidFill>
                  <a:srgbClr val="000000"/>
                </a:solidFill>
                <a:latin typeface="Segoe UI Emoji" pitchFamily="34" charset="0"/>
                <a:ea typeface="Segoe UI Emoji" pitchFamily="34" charset="-122"/>
                <a:cs typeface="Segoe UI Emoji" pitchFamily="34" charset="-120"/>
              </a:rPr>
              <a:t>🏥</a:t>
            </a:r>
            <a:endParaRPr lang="en-US" sz="2800" dirty="0"/>
          </a:p>
        </p:txBody>
      </p:sp>
      <p:sp>
        <p:nvSpPr>
          <p:cNvPr id="9" name="Text 7"/>
          <p:cNvSpPr txBox="1"/>
          <p:nvPr/>
        </p:nvSpPr>
        <p:spPr>
          <a:xfrm>
            <a:off x="777240" y="4462272"/>
            <a:ext cx="2096948" cy="420624"/>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Bệnh viện</a:t>
            </a:r>
            <a:endParaRPr lang="en-US" sz="1900" dirty="0"/>
          </a:p>
        </p:txBody>
      </p:sp>
      <p:sp>
        <p:nvSpPr>
          <p:cNvPr id="10" name="Text 8"/>
          <p:cNvSpPr txBox="1"/>
          <p:nvPr/>
        </p:nvSpPr>
        <p:spPr>
          <a:xfrm>
            <a:off x="850392" y="4882896"/>
            <a:ext cx="1950644" cy="566928"/>
          </a:xfrm>
          <a:prstGeom prst="rect">
            <a:avLst/>
          </a:prstGeom>
          <a:noFill/>
          <a:ln/>
        </p:spPr>
        <p:txBody>
          <a:bodyPr wrap="square" lIns="0" tIns="0" rIns="0" bIns="0" rtlCol="0" anchor="t"/>
          <a:lstStyle/>
          <a:p>
            <a:pPr algn="ctr" indent="0" marL="0">
              <a:lnSpc>
                <a:spcPts val="1800"/>
              </a:lnSpc>
              <a:buNone/>
            </a:pPr>
            <a:r>
              <a:rPr lang="en-US" sz="1300" dirty="0">
                <a:solidFill>
                  <a:srgbClr val="A9BCD6"/>
                </a:solidFill>
                <a:latin typeface="Arial" pitchFamily="34" charset="0"/>
                <a:ea typeface="Arial" pitchFamily="34" charset="-122"/>
                <a:cs typeface="Arial" pitchFamily="34" charset="-120"/>
              </a:rPr>
              <a:t>Bác sĩ ra y lệnh trên HIS,</a:t>
            </a:r>
            <a:endParaRPr lang="en-US" sz="1300" dirty="0"/>
          </a:p>
          <a:p>
            <a:pPr algn="ctr" indent="0" marL="0">
              <a:lnSpc>
                <a:spcPts val="1800"/>
              </a:lnSpc>
              <a:buNone/>
            </a:pPr>
            <a:r>
              <a:rPr lang="en-US" sz="1300" dirty="0">
                <a:solidFill>
                  <a:srgbClr val="A9BCD6"/>
                </a:solidFill>
                <a:latin typeface="Arial" pitchFamily="34" charset="0"/>
                <a:ea typeface="Arial" pitchFamily="34" charset="-122"/>
                <a:cs typeface="Arial" pitchFamily="34" charset="-120"/>
              </a:rPr>
              <a:t>xuất hồ sơ XML 3176</a:t>
            </a:r>
            <a:endParaRPr lang="en-US" sz="1300" dirty="0"/>
          </a:p>
        </p:txBody>
      </p:sp>
      <p:sp>
        <p:nvSpPr>
          <p:cNvPr id="11" name="Text 9"/>
          <p:cNvSpPr txBox="1"/>
          <p:nvPr/>
        </p:nvSpPr>
        <p:spPr>
          <a:xfrm>
            <a:off x="2965628" y="4430268"/>
            <a:ext cx="566928" cy="457200"/>
          </a:xfrm>
          <a:prstGeom prst="rect">
            <a:avLst/>
          </a:prstGeom>
          <a:noFill/>
          <a:ln/>
        </p:spPr>
        <p:txBody>
          <a:bodyPr wrap="square" lIns="0" tIns="0" rIns="0" bIns="0" rtlCol="0" anchor="ctr"/>
          <a:lstStyle/>
          <a:p>
            <a:pPr algn="ctr" indent="0" marL="0">
              <a:buNone/>
            </a:pPr>
            <a:r>
              <a:rPr lang="en-US" sz="2200" dirty="0">
                <a:solidFill>
                  <a:srgbClr val="C9D6E8"/>
                </a:solidFill>
                <a:latin typeface="Arial" pitchFamily="34" charset="0"/>
                <a:ea typeface="Arial" pitchFamily="34" charset="-122"/>
                <a:cs typeface="Arial" pitchFamily="34" charset="-120"/>
              </a:rPr>
              <a:t>→</a:t>
            </a:r>
            <a:endParaRPr lang="en-US" sz="2200" dirty="0"/>
          </a:p>
        </p:txBody>
      </p:sp>
      <p:sp>
        <p:nvSpPr>
          <p:cNvPr id="12" name="Shape 10"/>
          <p:cNvSpPr/>
          <p:nvPr/>
        </p:nvSpPr>
        <p:spPr>
          <a:xfrm>
            <a:off x="3532556" y="3767328"/>
            <a:ext cx="2279828" cy="1783080"/>
          </a:xfrm>
          <a:prstGeom prst="roundRect">
            <a:avLst>
              <a:gd name="adj" fmla="val 5128"/>
            </a:avLst>
          </a:prstGeom>
          <a:solidFill>
            <a:srgbClr val="25324A">
              <a:alpha val="85000"/>
            </a:srgbClr>
          </a:solidFill>
          <a:ln w="19050">
            <a:solidFill>
              <a:srgbClr val="FBBF24"/>
            </a:solidFill>
            <a:prstDash val="solid"/>
          </a:ln>
        </p:spPr>
      </p:sp>
      <p:sp>
        <p:nvSpPr>
          <p:cNvPr id="13" name="Text 11"/>
          <p:cNvSpPr txBox="1"/>
          <p:nvPr/>
        </p:nvSpPr>
        <p:spPr>
          <a:xfrm>
            <a:off x="3532556" y="3913632"/>
            <a:ext cx="2279828" cy="512064"/>
          </a:xfrm>
          <a:prstGeom prst="rect">
            <a:avLst/>
          </a:prstGeom>
          <a:noFill/>
          <a:ln/>
        </p:spPr>
        <p:txBody>
          <a:bodyPr wrap="square" lIns="0" tIns="0" rIns="0" bIns="0" rtlCol="0" anchor="ctr"/>
          <a:lstStyle/>
          <a:p>
            <a:pPr algn="ctr" indent="0" marL="0">
              <a:buNone/>
            </a:pPr>
            <a:r>
              <a:rPr lang="en-US" sz="2800" dirty="0">
                <a:solidFill>
                  <a:srgbClr val="000000"/>
                </a:solidFill>
                <a:latin typeface="Segoe UI Emoji" pitchFamily="34" charset="0"/>
                <a:ea typeface="Segoe UI Emoji" pitchFamily="34" charset="-122"/>
                <a:cs typeface="Segoe UI Emoji" pitchFamily="34" charset="-120"/>
              </a:rPr>
              <a:t>🔍</a:t>
            </a:r>
            <a:endParaRPr lang="en-US" sz="2800" dirty="0"/>
          </a:p>
        </p:txBody>
      </p:sp>
      <p:sp>
        <p:nvSpPr>
          <p:cNvPr id="14" name="Text 12"/>
          <p:cNvSpPr txBox="1"/>
          <p:nvPr/>
        </p:nvSpPr>
        <p:spPr>
          <a:xfrm>
            <a:off x="3623996" y="4462272"/>
            <a:ext cx="2096948" cy="420624"/>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Tiền giám định</a:t>
            </a:r>
            <a:endParaRPr lang="en-US" sz="1900" dirty="0"/>
          </a:p>
        </p:txBody>
      </p:sp>
      <p:sp>
        <p:nvSpPr>
          <p:cNvPr id="15" name="Text 13"/>
          <p:cNvSpPr txBox="1"/>
          <p:nvPr/>
        </p:nvSpPr>
        <p:spPr>
          <a:xfrm>
            <a:off x="3697148" y="4882896"/>
            <a:ext cx="1950644" cy="566928"/>
          </a:xfrm>
          <a:prstGeom prst="rect">
            <a:avLst/>
          </a:prstGeom>
          <a:noFill/>
          <a:ln/>
        </p:spPr>
        <p:txBody>
          <a:bodyPr wrap="square" lIns="0" tIns="0" rIns="0" bIns="0" rtlCol="0" anchor="t"/>
          <a:lstStyle/>
          <a:p>
            <a:pPr algn="ctr" indent="0" marL="0">
              <a:lnSpc>
                <a:spcPts val="1800"/>
              </a:lnSpc>
              <a:buNone/>
            </a:pPr>
            <a:r>
              <a:rPr lang="en-US" sz="1300" dirty="0">
                <a:solidFill>
                  <a:srgbClr val="A9BCD6"/>
                </a:solidFill>
                <a:latin typeface="Arial" pitchFamily="34" charset="0"/>
                <a:ea typeface="Arial" pitchFamily="34" charset="-122"/>
                <a:cs typeface="Arial" pitchFamily="34" charset="-120"/>
              </a:rPr>
              <a:t>Kiểm lỗi, tra thẻ BHYT,</a:t>
            </a:r>
            <a:endParaRPr lang="en-US" sz="1300" dirty="0"/>
          </a:p>
          <a:p>
            <a:pPr algn="ctr" indent="0" marL="0">
              <a:lnSpc>
                <a:spcPts val="1800"/>
              </a:lnSpc>
              <a:buNone/>
            </a:pPr>
            <a:r>
              <a:rPr lang="en-US" sz="1300" dirty="0">
                <a:solidFill>
                  <a:srgbClr val="A9BCD6"/>
                </a:solidFill>
                <a:latin typeface="Arial" pitchFamily="34" charset="0"/>
                <a:ea typeface="Arial" pitchFamily="34" charset="-122"/>
                <a:cs typeface="Arial" pitchFamily="34" charset="-120"/>
              </a:rPr>
              <a:t>đối chiếu danh mục</a:t>
            </a:r>
            <a:endParaRPr lang="en-US" sz="1300" dirty="0"/>
          </a:p>
        </p:txBody>
      </p:sp>
      <p:sp>
        <p:nvSpPr>
          <p:cNvPr id="16" name="Text 14"/>
          <p:cNvSpPr txBox="1"/>
          <p:nvPr/>
        </p:nvSpPr>
        <p:spPr>
          <a:xfrm>
            <a:off x="5812384" y="4430268"/>
            <a:ext cx="566928" cy="457200"/>
          </a:xfrm>
          <a:prstGeom prst="rect">
            <a:avLst/>
          </a:prstGeom>
          <a:noFill/>
          <a:ln/>
        </p:spPr>
        <p:txBody>
          <a:bodyPr wrap="square" lIns="0" tIns="0" rIns="0" bIns="0" rtlCol="0" anchor="ctr"/>
          <a:lstStyle/>
          <a:p>
            <a:pPr algn="ctr" indent="0" marL="0">
              <a:buNone/>
            </a:pPr>
            <a:r>
              <a:rPr lang="en-US" sz="2200" dirty="0">
                <a:solidFill>
                  <a:srgbClr val="C9D6E8"/>
                </a:solidFill>
                <a:latin typeface="Arial" pitchFamily="34" charset="0"/>
                <a:ea typeface="Arial" pitchFamily="34" charset="-122"/>
                <a:cs typeface="Arial" pitchFamily="34" charset="-120"/>
              </a:rPr>
              <a:t>→</a:t>
            </a:r>
            <a:endParaRPr lang="en-US" sz="2200" dirty="0"/>
          </a:p>
        </p:txBody>
      </p:sp>
      <p:sp>
        <p:nvSpPr>
          <p:cNvPr id="17" name="Shape 15"/>
          <p:cNvSpPr/>
          <p:nvPr/>
        </p:nvSpPr>
        <p:spPr>
          <a:xfrm>
            <a:off x="6379312" y="3767328"/>
            <a:ext cx="2279828" cy="1783080"/>
          </a:xfrm>
          <a:prstGeom prst="roundRect">
            <a:avLst>
              <a:gd name="adj" fmla="val 5128"/>
            </a:avLst>
          </a:prstGeom>
          <a:solidFill>
            <a:srgbClr val="1C3558">
              <a:alpha val="85000"/>
            </a:srgbClr>
          </a:solidFill>
          <a:ln w="9525">
            <a:solidFill>
              <a:srgbClr val="2E4B74"/>
            </a:solidFill>
            <a:prstDash val="solid"/>
          </a:ln>
        </p:spPr>
      </p:sp>
      <p:sp>
        <p:nvSpPr>
          <p:cNvPr id="18" name="Text 16"/>
          <p:cNvSpPr txBox="1"/>
          <p:nvPr/>
        </p:nvSpPr>
        <p:spPr>
          <a:xfrm>
            <a:off x="6379312" y="3913632"/>
            <a:ext cx="2279828" cy="512064"/>
          </a:xfrm>
          <a:prstGeom prst="rect">
            <a:avLst/>
          </a:prstGeom>
          <a:noFill/>
          <a:ln/>
        </p:spPr>
        <p:txBody>
          <a:bodyPr wrap="square" lIns="0" tIns="0" rIns="0" bIns="0" rtlCol="0" anchor="ctr"/>
          <a:lstStyle/>
          <a:p>
            <a:pPr algn="ctr" indent="0" marL="0">
              <a:buNone/>
            </a:pPr>
            <a:r>
              <a:rPr lang="en-US" sz="2800" dirty="0">
                <a:solidFill>
                  <a:srgbClr val="000000"/>
                </a:solidFill>
                <a:latin typeface="Segoe UI Emoji" pitchFamily="34" charset="0"/>
                <a:ea typeface="Segoe UI Emoji" pitchFamily="34" charset="-122"/>
                <a:cs typeface="Segoe UI Emoji" pitchFamily="34" charset="-120"/>
              </a:rPr>
              <a:t>🔏</a:t>
            </a:r>
            <a:endParaRPr lang="en-US" sz="2800" dirty="0"/>
          </a:p>
        </p:txBody>
      </p:sp>
      <p:sp>
        <p:nvSpPr>
          <p:cNvPr id="19" name="Text 17"/>
          <p:cNvSpPr txBox="1"/>
          <p:nvPr/>
        </p:nvSpPr>
        <p:spPr>
          <a:xfrm>
            <a:off x="6470752" y="4462272"/>
            <a:ext cx="2096948" cy="420624"/>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Ký số</a:t>
            </a:r>
            <a:endParaRPr lang="en-US" sz="1900" dirty="0"/>
          </a:p>
        </p:txBody>
      </p:sp>
      <p:sp>
        <p:nvSpPr>
          <p:cNvPr id="20" name="Text 18"/>
          <p:cNvSpPr txBox="1"/>
          <p:nvPr/>
        </p:nvSpPr>
        <p:spPr>
          <a:xfrm>
            <a:off x="6543904" y="4882896"/>
            <a:ext cx="1950644" cy="566928"/>
          </a:xfrm>
          <a:prstGeom prst="rect">
            <a:avLst/>
          </a:prstGeom>
          <a:noFill/>
          <a:ln/>
        </p:spPr>
        <p:txBody>
          <a:bodyPr wrap="square" lIns="0" tIns="0" rIns="0" bIns="0" rtlCol="0" anchor="t"/>
          <a:lstStyle/>
          <a:p>
            <a:pPr algn="ctr" indent="0" marL="0">
              <a:lnSpc>
                <a:spcPts val="1800"/>
              </a:lnSpc>
              <a:buNone/>
            </a:pPr>
            <a:r>
              <a:rPr lang="en-US" sz="1300" dirty="0">
                <a:solidFill>
                  <a:srgbClr val="A9BCD6"/>
                </a:solidFill>
                <a:latin typeface="Arial" pitchFamily="34" charset="0"/>
                <a:ea typeface="Arial" pitchFamily="34" charset="-122"/>
                <a:cs typeface="Arial" pitchFamily="34" charset="-120"/>
              </a:rPr>
              <a:t>HSM hoặc USB Token,</a:t>
            </a:r>
            <a:endParaRPr lang="en-US" sz="1300" dirty="0"/>
          </a:p>
          <a:p>
            <a:pPr algn="ctr" indent="0" marL="0">
              <a:lnSpc>
                <a:spcPts val="1800"/>
              </a:lnSpc>
              <a:buNone/>
            </a:pPr>
            <a:r>
              <a:rPr lang="en-US" sz="1300" dirty="0">
                <a:solidFill>
                  <a:srgbClr val="A9BCD6"/>
                </a:solidFill>
                <a:latin typeface="Arial" pitchFamily="34" charset="0"/>
                <a:ea typeface="Arial" pitchFamily="34" charset="-122"/>
                <a:cs typeface="Arial" pitchFamily="34" charset="-120"/>
              </a:rPr>
              <a:t>khi hết lỗi nghiêm trọng</a:t>
            </a:r>
            <a:endParaRPr lang="en-US" sz="1300" dirty="0"/>
          </a:p>
        </p:txBody>
      </p:sp>
      <p:sp>
        <p:nvSpPr>
          <p:cNvPr id="21" name="Text 19"/>
          <p:cNvSpPr txBox="1"/>
          <p:nvPr/>
        </p:nvSpPr>
        <p:spPr>
          <a:xfrm>
            <a:off x="8659139" y="4430268"/>
            <a:ext cx="566928" cy="457200"/>
          </a:xfrm>
          <a:prstGeom prst="rect">
            <a:avLst/>
          </a:prstGeom>
          <a:noFill/>
          <a:ln/>
        </p:spPr>
        <p:txBody>
          <a:bodyPr wrap="square" lIns="0" tIns="0" rIns="0" bIns="0" rtlCol="0" anchor="ctr"/>
          <a:lstStyle/>
          <a:p>
            <a:pPr algn="ctr" indent="0" marL="0">
              <a:buNone/>
            </a:pPr>
            <a:r>
              <a:rPr lang="en-US" sz="2200" dirty="0">
                <a:solidFill>
                  <a:srgbClr val="C9D6E8"/>
                </a:solidFill>
                <a:latin typeface="Arial" pitchFamily="34" charset="0"/>
                <a:ea typeface="Arial" pitchFamily="34" charset="-122"/>
                <a:cs typeface="Arial" pitchFamily="34" charset="-120"/>
              </a:rPr>
              <a:t>→</a:t>
            </a:r>
            <a:endParaRPr lang="en-US" sz="2200" dirty="0"/>
          </a:p>
        </p:txBody>
      </p:sp>
      <p:sp>
        <p:nvSpPr>
          <p:cNvPr id="22" name="Shape 20"/>
          <p:cNvSpPr/>
          <p:nvPr/>
        </p:nvSpPr>
        <p:spPr>
          <a:xfrm>
            <a:off x="9226067" y="3767328"/>
            <a:ext cx="2279828" cy="1783080"/>
          </a:xfrm>
          <a:prstGeom prst="roundRect">
            <a:avLst>
              <a:gd name="adj" fmla="val 5128"/>
            </a:avLst>
          </a:prstGeom>
          <a:solidFill>
            <a:srgbClr val="1C3558">
              <a:alpha val="85000"/>
            </a:srgbClr>
          </a:solidFill>
          <a:ln w="9525">
            <a:solidFill>
              <a:srgbClr val="2E4B74"/>
            </a:solidFill>
            <a:prstDash val="solid"/>
          </a:ln>
        </p:spPr>
      </p:sp>
      <p:sp>
        <p:nvSpPr>
          <p:cNvPr id="23" name="Text 21"/>
          <p:cNvSpPr txBox="1"/>
          <p:nvPr/>
        </p:nvSpPr>
        <p:spPr>
          <a:xfrm>
            <a:off x="9226067" y="3913632"/>
            <a:ext cx="2279828" cy="512064"/>
          </a:xfrm>
          <a:prstGeom prst="rect">
            <a:avLst/>
          </a:prstGeom>
          <a:noFill/>
          <a:ln/>
        </p:spPr>
        <p:txBody>
          <a:bodyPr wrap="square" lIns="0" tIns="0" rIns="0" bIns="0" rtlCol="0" anchor="ctr"/>
          <a:lstStyle/>
          <a:p>
            <a:pPr algn="ctr" indent="0" marL="0">
              <a:buNone/>
            </a:pPr>
            <a:r>
              <a:rPr lang="en-US" sz="2800" dirty="0">
                <a:solidFill>
                  <a:srgbClr val="000000"/>
                </a:solidFill>
                <a:latin typeface="Segoe UI Emoji" pitchFamily="34" charset="0"/>
                <a:ea typeface="Segoe UI Emoji" pitchFamily="34" charset="-122"/>
                <a:cs typeface="Segoe UI Emoji" pitchFamily="34" charset="-120"/>
              </a:rPr>
              <a:t>🌐</a:t>
            </a:r>
            <a:endParaRPr lang="en-US" sz="2800" dirty="0"/>
          </a:p>
        </p:txBody>
      </p:sp>
      <p:sp>
        <p:nvSpPr>
          <p:cNvPr id="24" name="Text 22"/>
          <p:cNvSpPr txBox="1"/>
          <p:nvPr/>
        </p:nvSpPr>
        <p:spPr>
          <a:xfrm>
            <a:off x="9317507" y="4462272"/>
            <a:ext cx="2096948" cy="420624"/>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Cổng BHXH</a:t>
            </a:r>
            <a:endParaRPr lang="en-US" sz="1900" dirty="0"/>
          </a:p>
        </p:txBody>
      </p:sp>
      <p:sp>
        <p:nvSpPr>
          <p:cNvPr id="25" name="Text 23"/>
          <p:cNvSpPr txBox="1"/>
          <p:nvPr/>
        </p:nvSpPr>
        <p:spPr>
          <a:xfrm>
            <a:off x="9390659" y="4882896"/>
            <a:ext cx="1950644" cy="566928"/>
          </a:xfrm>
          <a:prstGeom prst="rect">
            <a:avLst/>
          </a:prstGeom>
          <a:noFill/>
          <a:ln/>
        </p:spPr>
        <p:txBody>
          <a:bodyPr wrap="square" lIns="0" tIns="0" rIns="0" bIns="0" rtlCol="0" anchor="t"/>
          <a:lstStyle/>
          <a:p>
            <a:pPr algn="ctr" indent="0" marL="0">
              <a:lnSpc>
                <a:spcPts val="1800"/>
              </a:lnSpc>
              <a:buNone/>
            </a:pPr>
            <a:r>
              <a:rPr lang="en-US" sz="1300" dirty="0">
                <a:solidFill>
                  <a:srgbClr val="A9BCD6"/>
                </a:solidFill>
                <a:latin typeface="Arial" pitchFamily="34" charset="0"/>
                <a:ea typeface="Arial" pitchFamily="34" charset="-122"/>
                <a:cs typeface="Arial" pitchFamily="34" charset="-120"/>
              </a:rPr>
              <a:t>Tiếp nhận hồ sơ</a:t>
            </a:r>
            <a:endParaRPr lang="en-US" sz="1300" dirty="0"/>
          </a:p>
          <a:p>
            <a:pPr algn="ctr" indent="0" marL="0">
              <a:lnSpc>
                <a:spcPts val="1800"/>
              </a:lnSpc>
              <a:buNone/>
            </a:pPr>
            <a:r>
              <a:rPr lang="en-US" sz="1300" dirty="0">
                <a:solidFill>
                  <a:srgbClr val="A9BCD6"/>
                </a:solidFill>
                <a:latin typeface="Arial" pitchFamily="34" charset="0"/>
                <a:ea typeface="Arial" pitchFamily="34" charset="-122"/>
                <a:cs typeface="Arial" pitchFamily="34" charset="-120"/>
              </a:rPr>
              <a:t>đã sạch lỗi</a:t>
            </a:r>
            <a:endParaRPr lang="en-US" sz="1300" dirty="0"/>
          </a:p>
        </p:txBody>
      </p:sp>
      <p:sp>
        <p:nvSpPr>
          <p:cNvPr id="26" name="Text 24"/>
          <p:cNvSpPr txBox="1"/>
          <p:nvPr/>
        </p:nvSpPr>
        <p:spPr>
          <a:xfrm>
            <a:off x="640080" y="5779008"/>
            <a:ext cx="10911535" cy="384048"/>
          </a:xfrm>
          <a:prstGeom prst="rect">
            <a:avLst/>
          </a:prstGeom>
          <a:noFill/>
          <a:ln/>
        </p:spPr>
        <p:txBody>
          <a:bodyPr wrap="square" lIns="0" tIns="0" rIns="0" bIns="0" rtlCol="0" anchor="ctr"/>
          <a:lstStyle/>
          <a:p>
            <a:pPr algn="ctr" indent="0" marL="0">
              <a:buNone/>
            </a:pPr>
            <a:r>
              <a:rPr lang="en-US" sz="1600" dirty="0">
                <a:solidFill>
                  <a:srgbClr val="FBBF24"/>
                </a:solidFill>
                <a:latin typeface="Arial" pitchFamily="34" charset="0"/>
                <a:ea typeface="Arial" pitchFamily="34" charset="-122"/>
                <a:cs typeface="Arial" pitchFamily="34" charset="-120"/>
              </a:rPr>
              <a:t>Lỗi được phát hiện sớm và sửa tại nơi phát sinh — trên HIS, trước khi gửi</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11480"/>
            <a:ext cx="10911535" cy="274320"/>
          </a:xfrm>
          <a:prstGeom prst="rect">
            <a:avLst/>
          </a:prstGeom>
          <a:noFill/>
          <a:ln/>
        </p:spPr>
        <p:txBody>
          <a:bodyPr wrap="square" lIns="0" tIns="0" rIns="0" bIns="0" rtlCol="0" anchor="ctr"/>
          <a:lstStyle/>
          <a:p>
            <a:pPr indent="0" marL="0">
              <a:buNone/>
            </a:pPr>
            <a:r>
              <a:rPr lang="en-US" sz="1200" b="1" spc="200" kern="0" dirty="0">
                <a:solidFill>
                  <a:srgbClr val="38BDF8"/>
                </a:solidFill>
                <a:latin typeface="Arial" pitchFamily="34" charset="0"/>
                <a:ea typeface="Arial" pitchFamily="34" charset="-122"/>
                <a:cs typeface="Arial" pitchFamily="34" charset="-120"/>
              </a:rPr>
              <a:t>BÀI TOÁN</a:t>
            </a:r>
            <a:endParaRPr lang="en-US" sz="1200" dirty="0"/>
          </a:p>
        </p:txBody>
      </p:sp>
      <p:sp>
        <p:nvSpPr>
          <p:cNvPr id="3" name="Text 1"/>
          <p:cNvSpPr txBox="1"/>
          <p:nvPr/>
        </p:nvSpPr>
        <p:spPr>
          <a:xfrm>
            <a:off x="640080" y="713232"/>
            <a:ext cx="10911535" cy="566928"/>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Lỗi hồ sơ BHYT thường được phát hiện quá muộn</a:t>
            </a:r>
            <a:endParaRPr lang="en-US" sz="2800" dirty="0"/>
          </a:p>
        </p:txBody>
      </p:sp>
      <p:sp>
        <p:nvSpPr>
          <p:cNvPr id="4" name="Text 2"/>
          <p:cNvSpPr txBox="1"/>
          <p:nvPr/>
        </p:nvSpPr>
        <p:spPr>
          <a:xfrm>
            <a:off x="640080" y="1298448"/>
            <a:ext cx="10911535" cy="329184"/>
          </a:xfrm>
          <a:prstGeom prst="rect">
            <a:avLst/>
          </a:prstGeom>
          <a:noFill/>
          <a:ln/>
        </p:spPr>
        <p:txBody>
          <a:bodyPr wrap="square" lIns="0" tIns="0" rIns="0" bIns="0" rtlCol="0" anchor="ctr"/>
          <a:lstStyle/>
          <a:p>
            <a:pPr indent="0" marL="0">
              <a:buNone/>
            </a:pPr>
            <a:r>
              <a:rPr lang="en-US" sz="1500" dirty="0">
                <a:solidFill>
                  <a:srgbClr val="A9BCD6"/>
                </a:solidFill>
                <a:latin typeface="Arial" pitchFamily="34" charset="0"/>
                <a:ea typeface="Arial" pitchFamily="34" charset="-122"/>
                <a:cs typeface="Arial" pitchFamily="34" charset="-120"/>
              </a:rPr>
              <a:t>Khi cổng giám định báo lỗi, hồ sơ đã rời bệnh viện từ lâu — người ra y lệnh, người lập hồ sơ đã chuyển sang việc khác.</a:t>
            </a:r>
            <a:endParaRPr lang="en-US" sz="1500" dirty="0"/>
          </a:p>
        </p:txBody>
      </p:sp>
      <p:sp>
        <p:nvSpPr>
          <p:cNvPr id="5" name="Shape 3"/>
          <p:cNvSpPr/>
          <p:nvPr/>
        </p:nvSpPr>
        <p:spPr>
          <a:xfrm>
            <a:off x="1463040" y="2697480"/>
            <a:ext cx="9265615" cy="0"/>
          </a:xfrm>
          <a:prstGeom prst="line">
            <a:avLst/>
          </a:prstGeom>
          <a:noFill/>
          <a:ln w="25400">
            <a:solidFill>
              <a:srgbClr val="4A6890"/>
            </a:solidFill>
            <a:prstDash val="solid"/>
          </a:ln>
        </p:spPr>
      </p:sp>
      <p:sp>
        <p:nvSpPr>
          <p:cNvPr id="6" name="Shape 4"/>
          <p:cNvSpPr/>
          <p:nvPr/>
        </p:nvSpPr>
        <p:spPr>
          <a:xfrm>
            <a:off x="1353312" y="2587752"/>
            <a:ext cx="219456" cy="219456"/>
          </a:xfrm>
          <a:prstGeom prst="ellipse">
            <a:avLst/>
          </a:prstGeom>
          <a:solidFill>
            <a:srgbClr val="4A6890"/>
          </a:solidFill>
          <a:ln w="12700">
            <a:solidFill>
              <a:srgbClr val="4A6890"/>
            </a:solidFill>
            <a:prstDash val="solid"/>
          </a:ln>
        </p:spPr>
      </p:sp>
      <p:sp>
        <p:nvSpPr>
          <p:cNvPr id="7" name="Text 5"/>
          <p:cNvSpPr txBox="1"/>
          <p:nvPr/>
        </p:nvSpPr>
        <p:spPr>
          <a:xfrm>
            <a:off x="411480" y="2953512"/>
            <a:ext cx="2103120" cy="731520"/>
          </a:xfrm>
          <a:prstGeom prst="rect">
            <a:avLst/>
          </a:prstGeom>
          <a:noFill/>
          <a:ln/>
        </p:spPr>
        <p:txBody>
          <a:bodyPr wrap="square" lIns="0" tIns="0" rIns="0" bIns="0" rtlCol="0" anchor="t"/>
          <a:lstStyle/>
          <a:p>
            <a:pPr algn="ctr" indent="0" marL="0">
              <a:lnSpc>
                <a:spcPts val="1800"/>
              </a:lnSpc>
              <a:buNone/>
            </a:pPr>
            <a:r>
              <a:rPr lang="en-US" sz="1500" b="1" dirty="0">
                <a:solidFill>
                  <a:srgbClr val="FFFFFF"/>
                </a:solidFill>
                <a:latin typeface="Arial" pitchFamily="34" charset="0"/>
                <a:ea typeface="Arial" pitchFamily="34" charset="-122"/>
                <a:cs typeface="Arial" pitchFamily="34" charset="-120"/>
              </a:rPr>
              <a:t>Ra y lệnh</a:t>
            </a:r>
            <a:endParaRPr lang="en-US" sz="1500" dirty="0"/>
          </a:p>
          <a:p>
            <a:pPr algn="ctr" indent="0" marL="0">
              <a:lnSpc>
                <a:spcPts val="1800"/>
              </a:lnSpc>
              <a:buNone/>
            </a:pPr>
            <a:r>
              <a:rPr lang="en-US" sz="1200" dirty="0">
                <a:solidFill>
                  <a:srgbClr val="A9BCD6"/>
                </a:solidFill>
                <a:latin typeface="Arial" pitchFamily="34" charset="0"/>
                <a:ea typeface="Arial" pitchFamily="34" charset="-122"/>
                <a:cs typeface="Arial" pitchFamily="34" charset="-120"/>
              </a:rPr>
              <a:t>Bác sĩ chỉ định trên HIS</a:t>
            </a:r>
            <a:endParaRPr lang="en-US" sz="1500" dirty="0"/>
          </a:p>
        </p:txBody>
      </p:sp>
      <p:sp>
        <p:nvSpPr>
          <p:cNvPr id="8" name="Shape 6"/>
          <p:cNvSpPr/>
          <p:nvPr/>
        </p:nvSpPr>
        <p:spPr>
          <a:xfrm>
            <a:off x="3669716" y="2587752"/>
            <a:ext cx="219456" cy="219456"/>
          </a:xfrm>
          <a:prstGeom prst="ellipse">
            <a:avLst/>
          </a:prstGeom>
          <a:solidFill>
            <a:srgbClr val="4A6890"/>
          </a:solidFill>
          <a:ln w="12700">
            <a:solidFill>
              <a:srgbClr val="4A6890"/>
            </a:solidFill>
            <a:prstDash val="solid"/>
          </a:ln>
        </p:spPr>
      </p:sp>
      <p:sp>
        <p:nvSpPr>
          <p:cNvPr id="9" name="Text 7"/>
          <p:cNvSpPr txBox="1"/>
          <p:nvPr/>
        </p:nvSpPr>
        <p:spPr>
          <a:xfrm>
            <a:off x="2727884" y="2953512"/>
            <a:ext cx="2103120" cy="731520"/>
          </a:xfrm>
          <a:prstGeom prst="rect">
            <a:avLst/>
          </a:prstGeom>
          <a:noFill/>
          <a:ln/>
        </p:spPr>
        <p:txBody>
          <a:bodyPr wrap="square" lIns="0" tIns="0" rIns="0" bIns="0" rtlCol="0" anchor="t"/>
          <a:lstStyle/>
          <a:p>
            <a:pPr algn="ctr" indent="0" marL="0">
              <a:lnSpc>
                <a:spcPts val="1800"/>
              </a:lnSpc>
              <a:buNone/>
            </a:pPr>
            <a:r>
              <a:rPr lang="en-US" sz="1500" b="1" dirty="0">
                <a:solidFill>
                  <a:srgbClr val="FFFFFF"/>
                </a:solidFill>
                <a:latin typeface="Arial" pitchFamily="34" charset="0"/>
                <a:ea typeface="Arial" pitchFamily="34" charset="-122"/>
                <a:cs typeface="Arial" pitchFamily="34" charset="-120"/>
              </a:rPr>
              <a:t>Ra viện</a:t>
            </a:r>
            <a:endParaRPr lang="en-US" sz="1500" dirty="0"/>
          </a:p>
          <a:p>
            <a:pPr algn="ctr" indent="0" marL="0">
              <a:lnSpc>
                <a:spcPts val="1800"/>
              </a:lnSpc>
              <a:buNone/>
            </a:pPr>
            <a:r>
              <a:rPr lang="en-US" sz="1200" dirty="0">
                <a:solidFill>
                  <a:srgbClr val="A9BCD6"/>
                </a:solidFill>
                <a:latin typeface="Arial" pitchFamily="34" charset="0"/>
                <a:ea typeface="Arial" pitchFamily="34" charset="-122"/>
                <a:cs typeface="Arial" pitchFamily="34" charset="-120"/>
              </a:rPr>
              <a:t>Kết thúc điều trị</a:t>
            </a:r>
            <a:endParaRPr lang="en-US" sz="1500" dirty="0"/>
          </a:p>
        </p:txBody>
      </p:sp>
      <p:sp>
        <p:nvSpPr>
          <p:cNvPr id="10" name="Shape 8"/>
          <p:cNvSpPr/>
          <p:nvPr/>
        </p:nvSpPr>
        <p:spPr>
          <a:xfrm>
            <a:off x="5986120" y="2587752"/>
            <a:ext cx="219456" cy="219456"/>
          </a:xfrm>
          <a:prstGeom prst="ellipse">
            <a:avLst/>
          </a:prstGeom>
          <a:solidFill>
            <a:srgbClr val="4A6890"/>
          </a:solidFill>
          <a:ln w="12700">
            <a:solidFill>
              <a:srgbClr val="4A6890"/>
            </a:solidFill>
            <a:prstDash val="solid"/>
          </a:ln>
        </p:spPr>
      </p:sp>
      <p:sp>
        <p:nvSpPr>
          <p:cNvPr id="11" name="Text 9"/>
          <p:cNvSpPr txBox="1"/>
          <p:nvPr/>
        </p:nvSpPr>
        <p:spPr>
          <a:xfrm>
            <a:off x="5044288" y="2953512"/>
            <a:ext cx="2103120" cy="731520"/>
          </a:xfrm>
          <a:prstGeom prst="rect">
            <a:avLst/>
          </a:prstGeom>
          <a:noFill/>
          <a:ln/>
        </p:spPr>
        <p:txBody>
          <a:bodyPr wrap="square" lIns="0" tIns="0" rIns="0" bIns="0" rtlCol="0" anchor="t"/>
          <a:lstStyle/>
          <a:p>
            <a:pPr algn="ctr" indent="0" marL="0">
              <a:lnSpc>
                <a:spcPts val="1800"/>
              </a:lnSpc>
              <a:buNone/>
            </a:pPr>
            <a:r>
              <a:rPr lang="en-US" sz="1500" b="1" dirty="0">
                <a:solidFill>
                  <a:srgbClr val="FFFFFF"/>
                </a:solidFill>
                <a:latin typeface="Arial" pitchFamily="34" charset="0"/>
                <a:ea typeface="Arial" pitchFamily="34" charset="-122"/>
                <a:cs typeface="Arial" pitchFamily="34" charset="-120"/>
              </a:rPr>
              <a:t>Lập hồ sơ XML</a:t>
            </a:r>
            <a:endParaRPr lang="en-US" sz="1500" dirty="0"/>
          </a:p>
          <a:p>
            <a:pPr algn="ctr" indent="0" marL="0">
              <a:lnSpc>
                <a:spcPts val="1800"/>
              </a:lnSpc>
              <a:buNone/>
            </a:pPr>
            <a:r>
              <a:rPr lang="en-US" sz="1200" dirty="0">
                <a:solidFill>
                  <a:srgbClr val="A9BCD6"/>
                </a:solidFill>
                <a:latin typeface="Arial" pitchFamily="34" charset="0"/>
                <a:ea typeface="Arial" pitchFamily="34" charset="-122"/>
                <a:cs typeface="Arial" pitchFamily="34" charset="-120"/>
              </a:rPr>
              <a:t>Kết xuất từ HIS</a:t>
            </a:r>
            <a:endParaRPr lang="en-US" sz="1500" dirty="0"/>
          </a:p>
        </p:txBody>
      </p:sp>
      <p:sp>
        <p:nvSpPr>
          <p:cNvPr id="12" name="Shape 10"/>
          <p:cNvSpPr/>
          <p:nvPr/>
        </p:nvSpPr>
        <p:spPr>
          <a:xfrm>
            <a:off x="8302523" y="2587752"/>
            <a:ext cx="219456" cy="219456"/>
          </a:xfrm>
          <a:prstGeom prst="ellipse">
            <a:avLst/>
          </a:prstGeom>
          <a:solidFill>
            <a:srgbClr val="4A6890"/>
          </a:solidFill>
          <a:ln w="12700">
            <a:solidFill>
              <a:srgbClr val="4A6890"/>
            </a:solidFill>
            <a:prstDash val="solid"/>
          </a:ln>
        </p:spPr>
      </p:sp>
      <p:sp>
        <p:nvSpPr>
          <p:cNvPr id="13" name="Text 11"/>
          <p:cNvSpPr txBox="1"/>
          <p:nvPr/>
        </p:nvSpPr>
        <p:spPr>
          <a:xfrm>
            <a:off x="7360691" y="2953512"/>
            <a:ext cx="2103120" cy="731520"/>
          </a:xfrm>
          <a:prstGeom prst="rect">
            <a:avLst/>
          </a:prstGeom>
          <a:noFill/>
          <a:ln/>
        </p:spPr>
        <p:txBody>
          <a:bodyPr wrap="square" lIns="0" tIns="0" rIns="0" bIns="0" rtlCol="0" anchor="t"/>
          <a:lstStyle/>
          <a:p>
            <a:pPr algn="ctr" indent="0" marL="0">
              <a:lnSpc>
                <a:spcPts val="1800"/>
              </a:lnSpc>
              <a:buNone/>
            </a:pPr>
            <a:r>
              <a:rPr lang="en-US" sz="1500" b="1" dirty="0">
                <a:solidFill>
                  <a:srgbClr val="FFFFFF"/>
                </a:solidFill>
                <a:latin typeface="Arial" pitchFamily="34" charset="0"/>
                <a:ea typeface="Arial" pitchFamily="34" charset="-122"/>
                <a:cs typeface="Arial" pitchFamily="34" charset="-120"/>
              </a:rPr>
              <a:t>Ký số, gửi cổng</a:t>
            </a:r>
            <a:endParaRPr lang="en-US" sz="1500" dirty="0"/>
          </a:p>
          <a:p>
            <a:pPr algn="ctr" indent="0" marL="0">
              <a:lnSpc>
                <a:spcPts val="1800"/>
              </a:lnSpc>
              <a:buNone/>
            </a:pPr>
            <a:r>
              <a:rPr lang="en-US" sz="1200" dirty="0">
                <a:solidFill>
                  <a:srgbClr val="A9BCD6"/>
                </a:solidFill>
                <a:latin typeface="Arial" pitchFamily="34" charset="0"/>
                <a:ea typeface="Arial" pitchFamily="34" charset="-122"/>
                <a:cs typeface="Arial" pitchFamily="34" charset="-120"/>
              </a:rPr>
              <a:t>Cổng giám định BHXH</a:t>
            </a:r>
            <a:endParaRPr lang="en-US" sz="1500" dirty="0"/>
          </a:p>
        </p:txBody>
      </p:sp>
      <p:sp>
        <p:nvSpPr>
          <p:cNvPr id="14" name="Shape 12"/>
          <p:cNvSpPr/>
          <p:nvPr/>
        </p:nvSpPr>
        <p:spPr>
          <a:xfrm>
            <a:off x="10573207" y="2542032"/>
            <a:ext cx="310896" cy="310896"/>
          </a:xfrm>
          <a:prstGeom prst="ellipse">
            <a:avLst/>
          </a:prstGeom>
          <a:solidFill>
            <a:srgbClr val="F87171"/>
          </a:solidFill>
          <a:ln w="12700">
            <a:solidFill>
              <a:srgbClr val="F87171"/>
            </a:solidFill>
            <a:prstDash val="solid"/>
          </a:ln>
        </p:spPr>
      </p:sp>
      <p:sp>
        <p:nvSpPr>
          <p:cNvPr id="15" name="Shape 13"/>
          <p:cNvSpPr/>
          <p:nvPr/>
        </p:nvSpPr>
        <p:spPr>
          <a:xfrm>
            <a:off x="9448495" y="2039112"/>
            <a:ext cx="2103120" cy="329184"/>
          </a:xfrm>
          <a:prstGeom prst="roundRect">
            <a:avLst>
              <a:gd name="adj" fmla="val 50000"/>
            </a:avLst>
          </a:prstGeom>
          <a:solidFill>
            <a:srgbClr val="F87171"/>
          </a:solidFill>
          <a:ln w="12700">
            <a:solidFill>
              <a:srgbClr val="F87171"/>
            </a:solidFill>
            <a:prstDash val="solid"/>
          </a:ln>
        </p:spPr>
      </p:sp>
      <p:sp>
        <p:nvSpPr>
          <p:cNvPr id="16" name="Text 14"/>
          <p:cNvSpPr txBox="1"/>
          <p:nvPr/>
        </p:nvSpPr>
        <p:spPr>
          <a:xfrm>
            <a:off x="9448495" y="2039112"/>
            <a:ext cx="2103120" cy="329184"/>
          </a:xfrm>
          <a:prstGeom prst="rect">
            <a:avLst/>
          </a:prstGeom>
          <a:noFill/>
          <a:ln/>
        </p:spPr>
        <p:txBody>
          <a:bodyPr wrap="square" lIns="0" tIns="0" rIns="0" bIns="0" rtlCol="0" anchor="ctr"/>
          <a:lstStyle/>
          <a:p>
            <a:pPr algn="ctr" indent="0" marL="0">
              <a:buNone/>
            </a:pPr>
            <a:r>
              <a:rPr lang="en-US" sz="1100" b="1" dirty="0">
                <a:solidFill>
                  <a:srgbClr val="0B1A30"/>
                </a:solidFill>
                <a:latin typeface="Arial" pitchFamily="34" charset="0"/>
                <a:ea typeface="Arial" pitchFamily="34" charset="-122"/>
                <a:cs typeface="Arial" pitchFamily="34" charset="-120"/>
              </a:rPr>
              <a:t>LÚC NÀY MỚI BIẾT LỖI</a:t>
            </a:r>
            <a:endParaRPr lang="en-US" sz="1100" dirty="0"/>
          </a:p>
        </p:txBody>
      </p:sp>
      <p:sp>
        <p:nvSpPr>
          <p:cNvPr id="17" name="Text 15"/>
          <p:cNvSpPr txBox="1"/>
          <p:nvPr/>
        </p:nvSpPr>
        <p:spPr>
          <a:xfrm>
            <a:off x="9677095" y="2953512"/>
            <a:ext cx="2103120" cy="731520"/>
          </a:xfrm>
          <a:prstGeom prst="rect">
            <a:avLst/>
          </a:prstGeom>
          <a:noFill/>
          <a:ln/>
        </p:spPr>
        <p:txBody>
          <a:bodyPr wrap="square" lIns="0" tIns="0" rIns="0" bIns="0" rtlCol="0" anchor="t"/>
          <a:lstStyle/>
          <a:p>
            <a:pPr algn="ctr" indent="0" marL="0">
              <a:lnSpc>
                <a:spcPts val="1800"/>
              </a:lnSpc>
              <a:buNone/>
            </a:pPr>
            <a:r>
              <a:rPr lang="en-US" sz="1500" b="1" dirty="0">
                <a:solidFill>
                  <a:srgbClr val="F87171"/>
                </a:solidFill>
                <a:latin typeface="Arial" pitchFamily="34" charset="0"/>
                <a:ea typeface="Arial" pitchFamily="34" charset="-122"/>
                <a:cs typeface="Arial" pitchFamily="34" charset="-120"/>
              </a:rPr>
              <a:t>Cổng báo lỗi</a:t>
            </a:r>
            <a:endParaRPr lang="en-US" sz="1500" dirty="0"/>
          </a:p>
          <a:p>
            <a:pPr algn="ctr" indent="0" marL="0">
              <a:lnSpc>
                <a:spcPts val="1800"/>
              </a:lnSpc>
              <a:buNone/>
            </a:pPr>
            <a:r>
              <a:rPr lang="en-US" sz="1200" dirty="0">
                <a:solidFill>
                  <a:srgbClr val="A9BCD6"/>
                </a:solidFill>
                <a:latin typeface="Arial" pitchFamily="34" charset="0"/>
                <a:ea typeface="Arial" pitchFamily="34" charset="-122"/>
                <a:cs typeface="Arial" pitchFamily="34" charset="-120"/>
              </a:rPr>
              <a:t>Hàng tuần lễ sau</a:t>
            </a:r>
            <a:endParaRPr lang="en-US" sz="1500" dirty="0"/>
          </a:p>
        </p:txBody>
      </p:sp>
      <p:sp>
        <p:nvSpPr>
          <p:cNvPr id="18" name="Shape 16"/>
          <p:cNvSpPr/>
          <p:nvPr/>
        </p:nvSpPr>
        <p:spPr>
          <a:xfrm>
            <a:off x="640080" y="3931920"/>
            <a:ext cx="3454298" cy="1554480"/>
          </a:xfrm>
          <a:prstGeom prst="roundRect">
            <a:avLst>
              <a:gd name="adj" fmla="val 5882"/>
            </a:avLst>
          </a:prstGeom>
          <a:solidFill>
            <a:srgbClr val="1C3558">
              <a:alpha val="85000"/>
            </a:srgbClr>
          </a:solidFill>
          <a:ln w="9525">
            <a:solidFill>
              <a:srgbClr val="2E4B74"/>
            </a:solidFill>
            <a:prstDash val="solid"/>
          </a:ln>
        </p:spPr>
      </p:sp>
      <p:sp>
        <p:nvSpPr>
          <p:cNvPr id="19" name="Text 17"/>
          <p:cNvSpPr txBox="1"/>
          <p:nvPr/>
        </p:nvSpPr>
        <p:spPr>
          <a:xfrm>
            <a:off x="822960" y="4114800"/>
            <a:ext cx="502920" cy="502920"/>
          </a:xfrm>
          <a:prstGeom prst="rect">
            <a:avLst/>
          </a:prstGeom>
          <a:noFill/>
          <a:ln/>
        </p:spPr>
        <p:txBody>
          <a:bodyPr wrap="square" lIns="0" tIns="0" rIns="0" bIns="0" rtlCol="0" anchor="ctr"/>
          <a:lstStyle/>
          <a:p>
            <a:pPr algn="ctr" indent="0" marL="0">
              <a:buNone/>
            </a:pPr>
            <a:r>
              <a:rPr lang="en-US" sz="2200" dirty="0">
                <a:solidFill>
                  <a:srgbClr val="000000"/>
                </a:solidFill>
                <a:latin typeface="Segoe UI Emoji" pitchFamily="34" charset="0"/>
                <a:ea typeface="Segoe UI Emoji" pitchFamily="34" charset="-122"/>
                <a:cs typeface="Segoe UI Emoji" pitchFamily="34" charset="-120"/>
              </a:rPr>
              <a:t>⏳</a:t>
            </a:r>
            <a:endParaRPr lang="en-US" sz="2200" dirty="0"/>
          </a:p>
        </p:txBody>
      </p:sp>
      <p:sp>
        <p:nvSpPr>
          <p:cNvPr id="20" name="Text 18"/>
          <p:cNvSpPr txBox="1"/>
          <p:nvPr/>
        </p:nvSpPr>
        <p:spPr>
          <a:xfrm>
            <a:off x="1417320" y="4114800"/>
            <a:ext cx="2494178" cy="50292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Sửa muộn, tốn công</a:t>
            </a:r>
            <a:endParaRPr lang="en-US" sz="1700" dirty="0"/>
          </a:p>
        </p:txBody>
      </p:sp>
      <p:sp>
        <p:nvSpPr>
          <p:cNvPr id="21" name="Text 19"/>
          <p:cNvSpPr txBox="1"/>
          <p:nvPr/>
        </p:nvSpPr>
        <p:spPr>
          <a:xfrm>
            <a:off x="868680" y="4709160"/>
            <a:ext cx="2997098" cy="685800"/>
          </a:xfrm>
          <a:prstGeom prst="rect">
            <a:avLst/>
          </a:prstGeom>
          <a:noFill/>
          <a:ln/>
        </p:spPr>
        <p:txBody>
          <a:bodyPr wrap="square" lIns="0" tIns="0" rIns="0" bIns="0" rtlCol="0" anchor="t"/>
          <a:lstStyle/>
          <a:p>
            <a:pPr indent="0" marL="0">
              <a:lnSpc>
                <a:spcPts val="1800"/>
              </a:lnSpc>
              <a:buNone/>
            </a:pPr>
            <a:r>
              <a:rPr lang="en-US" sz="1300" dirty="0">
                <a:solidFill>
                  <a:srgbClr val="A9BCD6"/>
                </a:solidFill>
                <a:latin typeface="Arial" pitchFamily="34" charset="0"/>
                <a:ea typeface="Arial" pitchFamily="34" charset="-122"/>
                <a:cs typeface="Arial" pitchFamily="34" charset="-120"/>
              </a:rPr>
              <a:t>Phải truy lại khoa, người thực hiện, bệnh án đã đóng — một lỗi nhỏ thành nhiều vòng trao đổi.</a:t>
            </a:r>
            <a:endParaRPr lang="en-US" sz="1300" dirty="0"/>
          </a:p>
        </p:txBody>
      </p:sp>
      <p:sp>
        <p:nvSpPr>
          <p:cNvPr id="22" name="Shape 20"/>
          <p:cNvSpPr/>
          <p:nvPr/>
        </p:nvSpPr>
        <p:spPr>
          <a:xfrm>
            <a:off x="4368698" y="3931920"/>
            <a:ext cx="3454298" cy="1554480"/>
          </a:xfrm>
          <a:prstGeom prst="roundRect">
            <a:avLst>
              <a:gd name="adj" fmla="val 5882"/>
            </a:avLst>
          </a:prstGeom>
          <a:solidFill>
            <a:srgbClr val="1C3558">
              <a:alpha val="85000"/>
            </a:srgbClr>
          </a:solidFill>
          <a:ln w="9525">
            <a:solidFill>
              <a:srgbClr val="2E4B74"/>
            </a:solidFill>
            <a:prstDash val="solid"/>
          </a:ln>
        </p:spPr>
      </p:sp>
      <p:sp>
        <p:nvSpPr>
          <p:cNvPr id="23" name="Text 21"/>
          <p:cNvSpPr txBox="1"/>
          <p:nvPr/>
        </p:nvSpPr>
        <p:spPr>
          <a:xfrm>
            <a:off x="4551578" y="4114800"/>
            <a:ext cx="502920" cy="502920"/>
          </a:xfrm>
          <a:prstGeom prst="rect">
            <a:avLst/>
          </a:prstGeom>
          <a:noFill/>
          <a:ln/>
        </p:spPr>
        <p:txBody>
          <a:bodyPr wrap="square" lIns="0" tIns="0" rIns="0" bIns="0" rtlCol="0" anchor="ctr"/>
          <a:lstStyle/>
          <a:p>
            <a:pPr algn="ctr" indent="0" marL="0">
              <a:buNone/>
            </a:pPr>
            <a:r>
              <a:rPr lang="en-US" sz="2200" dirty="0">
                <a:solidFill>
                  <a:srgbClr val="000000"/>
                </a:solidFill>
                <a:latin typeface="Segoe UI Emoji" pitchFamily="34" charset="0"/>
                <a:ea typeface="Segoe UI Emoji" pitchFamily="34" charset="-122"/>
                <a:cs typeface="Segoe UI Emoji" pitchFamily="34" charset="-120"/>
              </a:rPr>
              <a:t>💸</a:t>
            </a:r>
            <a:endParaRPr lang="en-US" sz="2200" dirty="0"/>
          </a:p>
        </p:txBody>
      </p:sp>
      <p:sp>
        <p:nvSpPr>
          <p:cNvPr id="24" name="Text 22"/>
          <p:cNvSpPr txBox="1"/>
          <p:nvPr/>
        </p:nvSpPr>
        <p:spPr>
          <a:xfrm>
            <a:off x="5145938" y="4114800"/>
            <a:ext cx="2494178" cy="50292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Rủi ro xuất toán</a:t>
            </a:r>
            <a:endParaRPr lang="en-US" sz="1700" dirty="0"/>
          </a:p>
        </p:txBody>
      </p:sp>
      <p:sp>
        <p:nvSpPr>
          <p:cNvPr id="25" name="Text 23"/>
          <p:cNvSpPr txBox="1"/>
          <p:nvPr/>
        </p:nvSpPr>
        <p:spPr>
          <a:xfrm>
            <a:off x="4597298" y="4709160"/>
            <a:ext cx="2997098" cy="685800"/>
          </a:xfrm>
          <a:prstGeom prst="rect">
            <a:avLst/>
          </a:prstGeom>
          <a:noFill/>
          <a:ln/>
        </p:spPr>
        <p:txBody>
          <a:bodyPr wrap="square" lIns="0" tIns="0" rIns="0" bIns="0" rtlCol="0" anchor="t"/>
          <a:lstStyle/>
          <a:p>
            <a:pPr indent="0" marL="0">
              <a:lnSpc>
                <a:spcPts val="1800"/>
              </a:lnSpc>
              <a:buNone/>
            </a:pPr>
            <a:r>
              <a:rPr lang="en-US" sz="1300" dirty="0">
                <a:solidFill>
                  <a:srgbClr val="A9BCD6"/>
                </a:solidFill>
                <a:latin typeface="Arial" pitchFamily="34" charset="0"/>
                <a:ea typeface="Arial" pitchFamily="34" charset="-122"/>
                <a:cs typeface="Arial" pitchFamily="34" charset="-120"/>
              </a:rPr>
              <a:t>Chi phí của hồ sơ lỗi có thể không được thanh toán, hoặc bị treo trong lúc chờ sửa.</a:t>
            </a:r>
            <a:endParaRPr lang="en-US" sz="1300" dirty="0"/>
          </a:p>
        </p:txBody>
      </p:sp>
      <p:sp>
        <p:nvSpPr>
          <p:cNvPr id="26" name="Shape 24"/>
          <p:cNvSpPr/>
          <p:nvPr/>
        </p:nvSpPr>
        <p:spPr>
          <a:xfrm>
            <a:off x="8097317" y="3931920"/>
            <a:ext cx="3454298" cy="1554480"/>
          </a:xfrm>
          <a:prstGeom prst="roundRect">
            <a:avLst>
              <a:gd name="adj" fmla="val 5882"/>
            </a:avLst>
          </a:prstGeom>
          <a:solidFill>
            <a:srgbClr val="1C3558">
              <a:alpha val="85000"/>
            </a:srgbClr>
          </a:solidFill>
          <a:ln w="9525">
            <a:solidFill>
              <a:srgbClr val="2E4B74"/>
            </a:solidFill>
            <a:prstDash val="solid"/>
          </a:ln>
        </p:spPr>
      </p:sp>
      <p:sp>
        <p:nvSpPr>
          <p:cNvPr id="27" name="Text 25"/>
          <p:cNvSpPr txBox="1"/>
          <p:nvPr/>
        </p:nvSpPr>
        <p:spPr>
          <a:xfrm>
            <a:off x="8280197" y="4114800"/>
            <a:ext cx="502920" cy="502920"/>
          </a:xfrm>
          <a:prstGeom prst="rect">
            <a:avLst/>
          </a:prstGeom>
          <a:noFill/>
          <a:ln/>
        </p:spPr>
        <p:txBody>
          <a:bodyPr wrap="square" lIns="0" tIns="0" rIns="0" bIns="0" rtlCol="0" anchor="ctr"/>
          <a:lstStyle/>
          <a:p>
            <a:pPr algn="ctr" indent="0" marL="0">
              <a:buNone/>
            </a:pPr>
            <a:r>
              <a:rPr lang="en-US" sz="2200" dirty="0">
                <a:solidFill>
                  <a:srgbClr val="000000"/>
                </a:solidFill>
                <a:latin typeface="Segoe UI Emoji" pitchFamily="34" charset="0"/>
                <a:ea typeface="Segoe UI Emoji" pitchFamily="34" charset="-122"/>
                <a:cs typeface="Segoe UI Emoji" pitchFamily="34" charset="-120"/>
              </a:rPr>
              <a:t>🔁</a:t>
            </a:r>
            <a:endParaRPr lang="en-US" sz="2200" dirty="0"/>
          </a:p>
        </p:txBody>
      </p:sp>
      <p:sp>
        <p:nvSpPr>
          <p:cNvPr id="28" name="Text 26"/>
          <p:cNvSpPr txBox="1"/>
          <p:nvPr/>
        </p:nvSpPr>
        <p:spPr>
          <a:xfrm>
            <a:off x="8874557" y="4114800"/>
            <a:ext cx="2494178" cy="50292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Lỗi cứ lặp lại</a:t>
            </a:r>
            <a:endParaRPr lang="en-US" sz="1700" dirty="0"/>
          </a:p>
        </p:txBody>
      </p:sp>
      <p:sp>
        <p:nvSpPr>
          <p:cNvPr id="29" name="Text 27"/>
          <p:cNvSpPr txBox="1"/>
          <p:nvPr/>
        </p:nvSpPr>
        <p:spPr>
          <a:xfrm>
            <a:off x="8325917" y="4709160"/>
            <a:ext cx="2997098" cy="685800"/>
          </a:xfrm>
          <a:prstGeom prst="rect">
            <a:avLst/>
          </a:prstGeom>
          <a:noFill/>
          <a:ln/>
        </p:spPr>
        <p:txBody>
          <a:bodyPr wrap="square" lIns="0" tIns="0" rIns="0" bIns="0" rtlCol="0" anchor="t"/>
          <a:lstStyle/>
          <a:p>
            <a:pPr indent="0" marL="0">
              <a:lnSpc>
                <a:spcPts val="1800"/>
              </a:lnSpc>
              <a:buNone/>
            </a:pPr>
            <a:r>
              <a:rPr lang="en-US" sz="1300" dirty="0">
                <a:solidFill>
                  <a:srgbClr val="A9BCD6"/>
                </a:solidFill>
                <a:latin typeface="Arial" pitchFamily="34" charset="0"/>
                <a:ea typeface="Arial" pitchFamily="34" charset="-122"/>
                <a:cs typeface="Arial" pitchFamily="34" charset="-120"/>
              </a:rPr>
              <a:t>Không thấy lỗi tập trung ở khoa nào, mã lỗi nào — nên không sửa được tận gốc.</a:t>
            </a:r>
            <a:endParaRPr lang="en-US" sz="1300" dirty="0"/>
          </a:p>
        </p:txBody>
      </p:sp>
      <p:sp>
        <p:nvSpPr>
          <p:cNvPr id="30" name="Text 28"/>
          <p:cNvSpPr txBox="1"/>
          <p:nvPr/>
        </p:nvSpPr>
        <p:spPr>
          <a:xfrm>
            <a:off x="640080" y="5760720"/>
            <a:ext cx="10911535" cy="384048"/>
          </a:xfrm>
          <a:prstGeom prst="rect">
            <a:avLst/>
          </a:prstGeom>
          <a:noFill/>
          <a:ln/>
        </p:spPr>
        <p:txBody>
          <a:bodyPr wrap="square" lIns="0" tIns="0" rIns="0" bIns="0" rtlCol="0" anchor="ctr"/>
          <a:lstStyle/>
          <a:p>
            <a:pPr algn="ctr" indent="0" marL="0">
              <a:buNone/>
            </a:pPr>
            <a:r>
              <a:rPr lang="en-US" sz="1600" dirty="0">
                <a:solidFill>
                  <a:srgbClr val="FBBF24"/>
                </a:solidFill>
                <a:latin typeface="Arial" pitchFamily="34" charset="0"/>
                <a:ea typeface="Arial" pitchFamily="34" charset="-122"/>
                <a:cs typeface="Arial" pitchFamily="34" charset="-120"/>
              </a:rPr>
              <a:t>Câu hỏi: làm sao biết lỗi khi người làm sai còn đang ở đó, và hồ sơ còn chưa rời bệnh viện?</a:t>
            </a:r>
            <a:endParaRPr lang="en-US" sz="1600" dirty="0"/>
          </a:p>
        </p:txBody>
      </p:sp>
      <p:sp>
        <p:nvSpPr>
          <p:cNvPr id="32" name="Text 29"/>
          <p:cNvSpPr txBox="1"/>
          <p:nvPr/>
        </p:nvSpPr>
        <p:spPr>
          <a:xfrm>
            <a:off x="6979615" y="6419088"/>
            <a:ext cx="4572000" cy="256032"/>
          </a:xfrm>
          <a:prstGeom prst="rect">
            <a:avLst/>
          </a:prstGeom>
          <a:noFill/>
          <a:ln/>
        </p:spPr>
        <p:txBody>
          <a:bodyPr wrap="square" lIns="0" tIns="0" rIns="0" bIns="0" rtlCol="0" anchor="ctr"/>
          <a:lstStyle/>
          <a:p>
            <a:pPr algn="r" indent="0" marL="0">
              <a:buNone/>
            </a:pPr>
            <a:r>
              <a:rPr lang="en-US" sz="950" spc="100" kern="0" dirty="0">
                <a:solidFill>
                  <a:srgbClr val="7F93B0"/>
                </a:solidFill>
                <a:latin typeface="Arial" pitchFamily="34" charset="0"/>
                <a:ea typeface="Arial" pitchFamily="34" charset="-122"/>
                <a:cs typeface="Arial" pitchFamily="34" charset="-120"/>
              </a:rPr>
              <a:t>GIẢI PHÁP TIỀN GIÁM ĐỊNH  ·  02 / 12</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11480"/>
            <a:ext cx="10911535" cy="274320"/>
          </a:xfrm>
          <a:prstGeom prst="rect">
            <a:avLst/>
          </a:prstGeom>
          <a:noFill/>
          <a:ln/>
        </p:spPr>
        <p:txBody>
          <a:bodyPr wrap="square" lIns="0" tIns="0" rIns="0" bIns="0" rtlCol="0" anchor="ctr"/>
          <a:lstStyle/>
          <a:p>
            <a:pPr indent="0" marL="0">
              <a:buNone/>
            </a:pPr>
            <a:r>
              <a:rPr lang="en-US" sz="1200" b="1" spc="200" kern="0" dirty="0">
                <a:solidFill>
                  <a:srgbClr val="38BDF8"/>
                </a:solidFill>
                <a:latin typeface="Arial" pitchFamily="34" charset="0"/>
                <a:ea typeface="Arial" pitchFamily="34" charset="-122"/>
                <a:cs typeface="Arial" pitchFamily="34" charset="-120"/>
              </a:rPr>
              <a:t>GIẢI PHÁP</a:t>
            </a:r>
            <a:endParaRPr lang="en-US" sz="1200" dirty="0"/>
          </a:p>
        </p:txBody>
      </p:sp>
      <p:sp>
        <p:nvSpPr>
          <p:cNvPr id="3" name="Text 1"/>
          <p:cNvSpPr txBox="1"/>
          <p:nvPr/>
        </p:nvSpPr>
        <p:spPr>
          <a:xfrm>
            <a:off x="640080" y="713232"/>
            <a:ext cx="10911535" cy="566928"/>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Chặn lỗi ngay trong bệnh viện, trước khi gửi đi</a:t>
            </a:r>
            <a:endParaRPr lang="en-US" sz="2800" dirty="0"/>
          </a:p>
        </p:txBody>
      </p:sp>
      <p:sp>
        <p:nvSpPr>
          <p:cNvPr id="4" name="Text 2"/>
          <p:cNvSpPr txBox="1"/>
          <p:nvPr/>
        </p:nvSpPr>
        <p:spPr>
          <a:xfrm>
            <a:off x="640080" y="1298448"/>
            <a:ext cx="10911535" cy="329184"/>
          </a:xfrm>
          <a:prstGeom prst="rect">
            <a:avLst/>
          </a:prstGeom>
          <a:noFill/>
          <a:ln/>
        </p:spPr>
        <p:txBody>
          <a:bodyPr wrap="square" lIns="0" tIns="0" rIns="0" bIns="0" rtlCol="0" anchor="ctr"/>
          <a:lstStyle/>
          <a:p>
            <a:pPr indent="0" marL="0">
              <a:buNone/>
            </a:pPr>
            <a:r>
              <a:rPr lang="en-US" sz="1500" dirty="0">
                <a:solidFill>
                  <a:srgbClr val="A9BCD6"/>
                </a:solidFill>
                <a:latin typeface="Arial" pitchFamily="34" charset="0"/>
                <a:ea typeface="Arial" pitchFamily="34" charset="-122"/>
                <a:cs typeface="Arial" pitchFamily="34" charset="-120"/>
              </a:rPr>
              <a:t>Tiền giám định đặt một điểm kiểm soát bên trong bệnh viện — mọi hồ sơ được kiểm trước khi ký số và gửi cổng.</a:t>
            </a:r>
            <a:endParaRPr lang="en-US" sz="1500" dirty="0"/>
          </a:p>
        </p:txBody>
      </p:sp>
      <p:sp>
        <p:nvSpPr>
          <p:cNvPr id="5" name="Shape 3"/>
          <p:cNvSpPr/>
          <p:nvPr/>
        </p:nvSpPr>
        <p:spPr>
          <a:xfrm>
            <a:off x="1463040" y="2697480"/>
            <a:ext cx="9265615" cy="0"/>
          </a:xfrm>
          <a:prstGeom prst="line">
            <a:avLst/>
          </a:prstGeom>
          <a:noFill/>
          <a:ln w="25400">
            <a:solidFill>
              <a:srgbClr val="4A6890"/>
            </a:solidFill>
            <a:prstDash val="solid"/>
          </a:ln>
        </p:spPr>
      </p:sp>
      <p:sp>
        <p:nvSpPr>
          <p:cNvPr id="6" name="Shape 4"/>
          <p:cNvSpPr/>
          <p:nvPr/>
        </p:nvSpPr>
        <p:spPr>
          <a:xfrm>
            <a:off x="1353312" y="2587752"/>
            <a:ext cx="219456" cy="219456"/>
          </a:xfrm>
          <a:prstGeom prst="ellipse">
            <a:avLst/>
          </a:prstGeom>
          <a:solidFill>
            <a:srgbClr val="4A6890"/>
          </a:solidFill>
          <a:ln w="12700">
            <a:solidFill>
              <a:srgbClr val="4A6890"/>
            </a:solidFill>
            <a:prstDash val="solid"/>
          </a:ln>
        </p:spPr>
      </p:sp>
      <p:sp>
        <p:nvSpPr>
          <p:cNvPr id="7" name="Text 5"/>
          <p:cNvSpPr txBox="1"/>
          <p:nvPr/>
        </p:nvSpPr>
        <p:spPr>
          <a:xfrm>
            <a:off x="411480" y="2953512"/>
            <a:ext cx="2103120" cy="731520"/>
          </a:xfrm>
          <a:prstGeom prst="rect">
            <a:avLst/>
          </a:prstGeom>
          <a:noFill/>
          <a:ln/>
        </p:spPr>
        <p:txBody>
          <a:bodyPr wrap="square" lIns="0" tIns="0" rIns="0" bIns="0" rtlCol="0" anchor="t"/>
          <a:lstStyle/>
          <a:p>
            <a:pPr algn="ctr" indent="0" marL="0">
              <a:lnSpc>
                <a:spcPts val="1800"/>
              </a:lnSpc>
              <a:buNone/>
            </a:pPr>
            <a:r>
              <a:rPr lang="en-US" sz="1500" b="1" dirty="0">
                <a:solidFill>
                  <a:srgbClr val="FFFFFF"/>
                </a:solidFill>
                <a:latin typeface="Arial" pitchFamily="34" charset="0"/>
                <a:ea typeface="Arial" pitchFamily="34" charset="-122"/>
                <a:cs typeface="Arial" pitchFamily="34" charset="-120"/>
              </a:rPr>
              <a:t>Ra y lệnh</a:t>
            </a:r>
            <a:endParaRPr lang="en-US" sz="1500" dirty="0"/>
          </a:p>
          <a:p>
            <a:pPr algn="ctr" indent="0" marL="0">
              <a:lnSpc>
                <a:spcPts val="1800"/>
              </a:lnSpc>
              <a:buNone/>
            </a:pPr>
            <a:r>
              <a:rPr lang="en-US" sz="1200" dirty="0">
                <a:solidFill>
                  <a:srgbClr val="A9BCD6"/>
                </a:solidFill>
                <a:latin typeface="Arial" pitchFamily="34" charset="0"/>
                <a:ea typeface="Arial" pitchFamily="34" charset="-122"/>
                <a:cs typeface="Arial" pitchFamily="34" charset="-120"/>
              </a:rPr>
              <a:t>Bác sĩ chỉ định trên HIS</a:t>
            </a:r>
            <a:endParaRPr lang="en-US" sz="1500" dirty="0"/>
          </a:p>
        </p:txBody>
      </p:sp>
      <p:sp>
        <p:nvSpPr>
          <p:cNvPr id="8" name="Shape 6"/>
          <p:cNvSpPr/>
          <p:nvPr/>
        </p:nvSpPr>
        <p:spPr>
          <a:xfrm>
            <a:off x="3669716" y="2587752"/>
            <a:ext cx="219456" cy="219456"/>
          </a:xfrm>
          <a:prstGeom prst="ellipse">
            <a:avLst/>
          </a:prstGeom>
          <a:solidFill>
            <a:srgbClr val="4A6890"/>
          </a:solidFill>
          <a:ln w="12700">
            <a:solidFill>
              <a:srgbClr val="4A6890"/>
            </a:solidFill>
            <a:prstDash val="solid"/>
          </a:ln>
        </p:spPr>
      </p:sp>
      <p:sp>
        <p:nvSpPr>
          <p:cNvPr id="9" name="Text 7"/>
          <p:cNvSpPr txBox="1"/>
          <p:nvPr/>
        </p:nvSpPr>
        <p:spPr>
          <a:xfrm>
            <a:off x="2727884" y="2953512"/>
            <a:ext cx="2103120" cy="731520"/>
          </a:xfrm>
          <a:prstGeom prst="rect">
            <a:avLst/>
          </a:prstGeom>
          <a:noFill/>
          <a:ln/>
        </p:spPr>
        <p:txBody>
          <a:bodyPr wrap="square" lIns="0" tIns="0" rIns="0" bIns="0" rtlCol="0" anchor="t"/>
          <a:lstStyle/>
          <a:p>
            <a:pPr algn="ctr" indent="0" marL="0">
              <a:lnSpc>
                <a:spcPts val="1800"/>
              </a:lnSpc>
              <a:buNone/>
            </a:pPr>
            <a:r>
              <a:rPr lang="en-US" sz="1500" b="1" dirty="0">
                <a:solidFill>
                  <a:srgbClr val="FFFFFF"/>
                </a:solidFill>
                <a:latin typeface="Arial" pitchFamily="34" charset="0"/>
                <a:ea typeface="Arial" pitchFamily="34" charset="-122"/>
                <a:cs typeface="Arial" pitchFamily="34" charset="-120"/>
              </a:rPr>
              <a:t>Ra viện</a:t>
            </a:r>
            <a:endParaRPr lang="en-US" sz="1500" dirty="0"/>
          </a:p>
          <a:p>
            <a:pPr algn="ctr" indent="0" marL="0">
              <a:lnSpc>
                <a:spcPts val="1800"/>
              </a:lnSpc>
              <a:buNone/>
            </a:pPr>
            <a:r>
              <a:rPr lang="en-US" sz="1200" dirty="0">
                <a:solidFill>
                  <a:srgbClr val="A9BCD6"/>
                </a:solidFill>
                <a:latin typeface="Arial" pitchFamily="34" charset="0"/>
                <a:ea typeface="Arial" pitchFamily="34" charset="-122"/>
                <a:cs typeface="Arial" pitchFamily="34" charset="-120"/>
              </a:rPr>
              <a:t>Kết thúc điều trị</a:t>
            </a:r>
            <a:endParaRPr lang="en-US" sz="1500" dirty="0"/>
          </a:p>
        </p:txBody>
      </p:sp>
      <p:sp>
        <p:nvSpPr>
          <p:cNvPr id="10" name="Shape 8"/>
          <p:cNvSpPr/>
          <p:nvPr/>
        </p:nvSpPr>
        <p:spPr>
          <a:xfrm>
            <a:off x="5986120" y="2587752"/>
            <a:ext cx="219456" cy="219456"/>
          </a:xfrm>
          <a:prstGeom prst="ellipse">
            <a:avLst/>
          </a:prstGeom>
          <a:solidFill>
            <a:srgbClr val="4A6890"/>
          </a:solidFill>
          <a:ln w="12700">
            <a:solidFill>
              <a:srgbClr val="4A6890"/>
            </a:solidFill>
            <a:prstDash val="solid"/>
          </a:ln>
        </p:spPr>
      </p:sp>
      <p:sp>
        <p:nvSpPr>
          <p:cNvPr id="11" name="Text 9"/>
          <p:cNvSpPr txBox="1"/>
          <p:nvPr/>
        </p:nvSpPr>
        <p:spPr>
          <a:xfrm>
            <a:off x="5044288" y="2953512"/>
            <a:ext cx="2103120" cy="731520"/>
          </a:xfrm>
          <a:prstGeom prst="rect">
            <a:avLst/>
          </a:prstGeom>
          <a:noFill/>
          <a:ln/>
        </p:spPr>
        <p:txBody>
          <a:bodyPr wrap="square" lIns="0" tIns="0" rIns="0" bIns="0" rtlCol="0" anchor="t"/>
          <a:lstStyle/>
          <a:p>
            <a:pPr algn="ctr" indent="0" marL="0">
              <a:lnSpc>
                <a:spcPts val="1800"/>
              </a:lnSpc>
              <a:buNone/>
            </a:pPr>
            <a:r>
              <a:rPr lang="en-US" sz="1500" b="1" dirty="0">
                <a:solidFill>
                  <a:srgbClr val="FFFFFF"/>
                </a:solidFill>
                <a:latin typeface="Arial" pitchFamily="34" charset="0"/>
                <a:ea typeface="Arial" pitchFamily="34" charset="-122"/>
                <a:cs typeface="Arial" pitchFamily="34" charset="-120"/>
              </a:rPr>
              <a:t>Lập hồ sơ XML</a:t>
            </a:r>
            <a:endParaRPr lang="en-US" sz="1500" dirty="0"/>
          </a:p>
          <a:p>
            <a:pPr algn="ctr" indent="0" marL="0">
              <a:lnSpc>
                <a:spcPts val="1800"/>
              </a:lnSpc>
              <a:buNone/>
            </a:pPr>
            <a:r>
              <a:rPr lang="en-US" sz="1200" dirty="0">
                <a:solidFill>
                  <a:srgbClr val="A9BCD6"/>
                </a:solidFill>
                <a:latin typeface="Arial" pitchFamily="34" charset="0"/>
                <a:ea typeface="Arial" pitchFamily="34" charset="-122"/>
                <a:cs typeface="Arial" pitchFamily="34" charset="-120"/>
              </a:rPr>
              <a:t>Nạp vào Tiền giám định</a:t>
            </a:r>
            <a:endParaRPr lang="en-US" sz="1500" dirty="0"/>
          </a:p>
        </p:txBody>
      </p:sp>
      <p:sp>
        <p:nvSpPr>
          <p:cNvPr id="12" name="Shape 10"/>
          <p:cNvSpPr/>
          <p:nvPr/>
        </p:nvSpPr>
        <p:spPr>
          <a:xfrm>
            <a:off x="8256803" y="2542032"/>
            <a:ext cx="310896" cy="310896"/>
          </a:xfrm>
          <a:prstGeom prst="ellipse">
            <a:avLst/>
          </a:prstGeom>
          <a:solidFill>
            <a:srgbClr val="FBBF24"/>
          </a:solidFill>
          <a:ln w="12700">
            <a:solidFill>
              <a:srgbClr val="FBBF24"/>
            </a:solidFill>
            <a:prstDash val="solid"/>
          </a:ln>
        </p:spPr>
      </p:sp>
      <p:sp>
        <p:nvSpPr>
          <p:cNvPr id="13" name="Shape 11"/>
          <p:cNvSpPr/>
          <p:nvPr/>
        </p:nvSpPr>
        <p:spPr>
          <a:xfrm>
            <a:off x="7360691" y="2039112"/>
            <a:ext cx="2103120" cy="329184"/>
          </a:xfrm>
          <a:prstGeom prst="roundRect">
            <a:avLst>
              <a:gd name="adj" fmla="val 50000"/>
            </a:avLst>
          </a:prstGeom>
          <a:solidFill>
            <a:srgbClr val="FBBF24"/>
          </a:solidFill>
          <a:ln w="12700">
            <a:solidFill>
              <a:srgbClr val="FBBF24"/>
            </a:solidFill>
            <a:prstDash val="solid"/>
          </a:ln>
        </p:spPr>
      </p:sp>
      <p:sp>
        <p:nvSpPr>
          <p:cNvPr id="14" name="Text 12"/>
          <p:cNvSpPr txBox="1"/>
          <p:nvPr/>
        </p:nvSpPr>
        <p:spPr>
          <a:xfrm>
            <a:off x="7360691" y="2039112"/>
            <a:ext cx="2103120" cy="329184"/>
          </a:xfrm>
          <a:prstGeom prst="rect">
            <a:avLst/>
          </a:prstGeom>
          <a:noFill/>
          <a:ln/>
        </p:spPr>
        <p:txBody>
          <a:bodyPr wrap="square" lIns="0" tIns="0" rIns="0" bIns="0" rtlCol="0" anchor="ctr"/>
          <a:lstStyle/>
          <a:p>
            <a:pPr algn="ctr" indent="0" marL="0">
              <a:buNone/>
            </a:pPr>
            <a:r>
              <a:rPr lang="en-US" sz="1100" b="1" dirty="0">
                <a:solidFill>
                  <a:srgbClr val="0B1A30"/>
                </a:solidFill>
                <a:latin typeface="Arial" pitchFamily="34" charset="0"/>
                <a:ea typeface="Arial" pitchFamily="34" charset="-122"/>
                <a:cs typeface="Arial" pitchFamily="34" charset="-120"/>
              </a:rPr>
              <a:t>ĐIỂM KIỂM SOÁT</a:t>
            </a:r>
            <a:endParaRPr lang="en-US" sz="1100" dirty="0"/>
          </a:p>
        </p:txBody>
      </p:sp>
      <p:sp>
        <p:nvSpPr>
          <p:cNvPr id="15" name="Text 13"/>
          <p:cNvSpPr txBox="1"/>
          <p:nvPr/>
        </p:nvSpPr>
        <p:spPr>
          <a:xfrm>
            <a:off x="7360691" y="2953512"/>
            <a:ext cx="2103120" cy="731520"/>
          </a:xfrm>
          <a:prstGeom prst="rect">
            <a:avLst/>
          </a:prstGeom>
          <a:noFill/>
          <a:ln/>
        </p:spPr>
        <p:txBody>
          <a:bodyPr wrap="square" lIns="0" tIns="0" rIns="0" bIns="0" rtlCol="0" anchor="t"/>
          <a:lstStyle/>
          <a:p>
            <a:pPr algn="ctr" indent="0" marL="0">
              <a:lnSpc>
                <a:spcPts val="1800"/>
              </a:lnSpc>
              <a:buNone/>
            </a:pPr>
            <a:r>
              <a:rPr lang="en-US" sz="1500" b="1" dirty="0">
                <a:solidFill>
                  <a:srgbClr val="FBBF24"/>
                </a:solidFill>
                <a:latin typeface="Arial" pitchFamily="34" charset="0"/>
                <a:ea typeface="Arial" pitchFamily="34" charset="-122"/>
                <a:cs typeface="Arial" pitchFamily="34" charset="-120"/>
              </a:rPr>
              <a:t>Kiểm hồ sơ</a:t>
            </a:r>
            <a:endParaRPr lang="en-US" sz="1500" dirty="0"/>
          </a:p>
          <a:p>
            <a:pPr algn="ctr" indent="0" marL="0">
              <a:lnSpc>
                <a:spcPts val="1800"/>
              </a:lnSpc>
              <a:buNone/>
            </a:pPr>
            <a:r>
              <a:rPr lang="en-US" sz="1200" dirty="0">
                <a:solidFill>
                  <a:srgbClr val="A9BCD6"/>
                </a:solidFill>
                <a:latin typeface="Arial" pitchFamily="34" charset="0"/>
                <a:ea typeface="Arial" pitchFamily="34" charset="-122"/>
                <a:cs typeface="Arial" pitchFamily="34" charset="-120"/>
              </a:rPr>
              <a:t>Lỗi nghiêm trọng bị chặn</a:t>
            </a:r>
            <a:endParaRPr lang="en-US" sz="1500" dirty="0"/>
          </a:p>
        </p:txBody>
      </p:sp>
      <p:sp>
        <p:nvSpPr>
          <p:cNvPr id="16" name="Shape 14"/>
          <p:cNvSpPr/>
          <p:nvPr/>
        </p:nvSpPr>
        <p:spPr>
          <a:xfrm>
            <a:off x="10573207" y="2542032"/>
            <a:ext cx="310896" cy="310896"/>
          </a:xfrm>
          <a:prstGeom prst="ellipse">
            <a:avLst/>
          </a:prstGeom>
          <a:solidFill>
            <a:srgbClr val="4ADE80"/>
          </a:solidFill>
          <a:ln w="12700">
            <a:solidFill>
              <a:srgbClr val="4ADE80"/>
            </a:solidFill>
            <a:prstDash val="solid"/>
          </a:ln>
        </p:spPr>
      </p:sp>
      <p:sp>
        <p:nvSpPr>
          <p:cNvPr id="17" name="Text 15"/>
          <p:cNvSpPr txBox="1"/>
          <p:nvPr/>
        </p:nvSpPr>
        <p:spPr>
          <a:xfrm>
            <a:off x="9677095" y="2953512"/>
            <a:ext cx="2103120" cy="731520"/>
          </a:xfrm>
          <a:prstGeom prst="rect">
            <a:avLst/>
          </a:prstGeom>
          <a:noFill/>
          <a:ln/>
        </p:spPr>
        <p:txBody>
          <a:bodyPr wrap="square" lIns="0" tIns="0" rIns="0" bIns="0" rtlCol="0" anchor="t"/>
          <a:lstStyle/>
          <a:p>
            <a:pPr algn="ctr" indent="0" marL="0">
              <a:lnSpc>
                <a:spcPts val="1800"/>
              </a:lnSpc>
              <a:buNone/>
            </a:pPr>
            <a:r>
              <a:rPr lang="en-US" sz="1500" b="1" dirty="0">
                <a:solidFill>
                  <a:srgbClr val="4ADE80"/>
                </a:solidFill>
                <a:latin typeface="Arial" pitchFamily="34" charset="0"/>
                <a:ea typeface="Arial" pitchFamily="34" charset="-122"/>
                <a:cs typeface="Arial" pitchFamily="34" charset="-120"/>
              </a:rPr>
              <a:t>Ký số, gửi cổng</a:t>
            </a:r>
            <a:endParaRPr lang="en-US" sz="1500" dirty="0"/>
          </a:p>
          <a:p>
            <a:pPr algn="ctr" indent="0" marL="0">
              <a:lnSpc>
                <a:spcPts val="1800"/>
              </a:lnSpc>
              <a:buNone/>
            </a:pPr>
            <a:r>
              <a:rPr lang="en-US" sz="1200" dirty="0">
                <a:solidFill>
                  <a:srgbClr val="A9BCD6"/>
                </a:solidFill>
                <a:latin typeface="Arial" pitchFamily="34" charset="0"/>
                <a:ea typeface="Arial" pitchFamily="34" charset="-122"/>
                <a:cs typeface="Arial" pitchFamily="34" charset="-120"/>
              </a:rPr>
              <a:t>Hồ sơ đã sạch lỗi hơn</a:t>
            </a:r>
            <a:endParaRPr lang="en-US" sz="1500" dirty="0"/>
          </a:p>
        </p:txBody>
      </p:sp>
      <p:sp>
        <p:nvSpPr>
          <p:cNvPr id="18" name="Text 16"/>
          <p:cNvSpPr txBox="1"/>
          <p:nvPr/>
        </p:nvSpPr>
        <p:spPr>
          <a:xfrm>
            <a:off x="640080" y="3913632"/>
            <a:ext cx="10911535" cy="274320"/>
          </a:xfrm>
          <a:prstGeom prst="rect">
            <a:avLst/>
          </a:prstGeom>
          <a:noFill/>
          <a:ln/>
        </p:spPr>
        <p:txBody>
          <a:bodyPr wrap="square" lIns="0" tIns="0" rIns="0" bIns="0" rtlCol="0" anchor="ctr"/>
          <a:lstStyle/>
          <a:p>
            <a:pPr indent="0" marL="0">
              <a:buNone/>
            </a:pPr>
            <a:r>
              <a:rPr lang="en-US" sz="1100" b="1" spc="200" kern="0" dirty="0">
                <a:solidFill>
                  <a:srgbClr val="7F93B0"/>
                </a:solidFill>
                <a:latin typeface="Arial" pitchFamily="34" charset="0"/>
                <a:ea typeface="Arial" pitchFamily="34" charset="-122"/>
                <a:cs typeface="Arial" pitchFamily="34" charset="-120"/>
              </a:rPr>
              <a:t>VÒNG SỬA LỖI</a:t>
            </a:r>
            <a:endParaRPr lang="en-US" sz="1100" dirty="0"/>
          </a:p>
        </p:txBody>
      </p:sp>
      <p:sp>
        <p:nvSpPr>
          <p:cNvPr id="19" name="Shape 17"/>
          <p:cNvSpPr/>
          <p:nvPr/>
        </p:nvSpPr>
        <p:spPr>
          <a:xfrm>
            <a:off x="640080" y="4251960"/>
            <a:ext cx="1889699" cy="502920"/>
          </a:xfrm>
          <a:prstGeom prst="roundRect">
            <a:avLst>
              <a:gd name="adj" fmla="val 49091"/>
            </a:avLst>
          </a:prstGeom>
          <a:solidFill>
            <a:srgbClr val="1C3558">
              <a:alpha val="85000"/>
            </a:srgbClr>
          </a:solidFill>
          <a:ln w="9525">
            <a:solidFill>
              <a:srgbClr val="2E4B74"/>
            </a:solidFill>
            <a:prstDash val="solid"/>
          </a:ln>
        </p:spPr>
      </p:sp>
      <p:sp>
        <p:nvSpPr>
          <p:cNvPr id="20" name="Text 18"/>
          <p:cNvSpPr txBox="1"/>
          <p:nvPr/>
        </p:nvSpPr>
        <p:spPr>
          <a:xfrm>
            <a:off x="640080" y="4251960"/>
            <a:ext cx="1889699" cy="502920"/>
          </a:xfrm>
          <a:prstGeom prst="rect">
            <a:avLst/>
          </a:prstGeom>
          <a:noFill/>
          <a:ln/>
        </p:spPr>
        <p:txBody>
          <a:bodyPr wrap="square" lIns="0" tIns="0" rIns="0" bIns="0" rtlCol="0" anchor="ctr"/>
          <a:lstStyle/>
          <a:p>
            <a:pPr algn="ctr" indent="0" marL="0">
              <a:buNone/>
            </a:pPr>
            <a:r>
              <a:rPr lang="en-US" sz="1400" dirty="0">
                <a:solidFill>
                  <a:srgbClr val="FFFFFF"/>
                </a:solidFill>
                <a:latin typeface="Arial" pitchFamily="34" charset="0"/>
                <a:ea typeface="Arial" pitchFamily="34" charset="-122"/>
                <a:cs typeface="Arial" pitchFamily="34" charset="-120"/>
              </a:rPr>
              <a:t>Phát hiện lỗi</a:t>
            </a:r>
            <a:endParaRPr lang="en-US" sz="1400" dirty="0"/>
          </a:p>
        </p:txBody>
      </p:sp>
      <p:sp>
        <p:nvSpPr>
          <p:cNvPr id="21" name="Text 19"/>
          <p:cNvSpPr txBox="1"/>
          <p:nvPr/>
        </p:nvSpPr>
        <p:spPr>
          <a:xfrm>
            <a:off x="2529779" y="4251960"/>
            <a:ext cx="365760" cy="502920"/>
          </a:xfrm>
          <a:prstGeom prst="rect">
            <a:avLst/>
          </a:prstGeom>
          <a:noFill/>
          <a:ln/>
        </p:spPr>
        <p:txBody>
          <a:bodyPr wrap="square" lIns="0" tIns="0" rIns="0" bIns="0" rtlCol="0" anchor="ctr"/>
          <a:lstStyle/>
          <a:p>
            <a:pPr algn="ctr" indent="0" marL="0">
              <a:buNone/>
            </a:pPr>
            <a:r>
              <a:rPr lang="en-US" sz="1800" dirty="0">
                <a:solidFill>
                  <a:srgbClr val="C9D6E8"/>
                </a:solidFill>
                <a:latin typeface="Arial" pitchFamily="34" charset="0"/>
                <a:ea typeface="Arial" pitchFamily="34" charset="-122"/>
                <a:cs typeface="Arial" pitchFamily="34" charset="-120"/>
              </a:rPr>
              <a:t>→</a:t>
            </a:r>
            <a:endParaRPr lang="en-US" sz="1800" dirty="0"/>
          </a:p>
        </p:txBody>
      </p:sp>
      <p:sp>
        <p:nvSpPr>
          <p:cNvPr id="22" name="Shape 20"/>
          <p:cNvSpPr/>
          <p:nvPr/>
        </p:nvSpPr>
        <p:spPr>
          <a:xfrm>
            <a:off x="2895539" y="4251960"/>
            <a:ext cx="1889699" cy="502920"/>
          </a:xfrm>
          <a:prstGeom prst="roundRect">
            <a:avLst>
              <a:gd name="adj" fmla="val 49091"/>
            </a:avLst>
          </a:prstGeom>
          <a:solidFill>
            <a:srgbClr val="1C3558">
              <a:alpha val="85000"/>
            </a:srgbClr>
          </a:solidFill>
          <a:ln w="9525">
            <a:solidFill>
              <a:srgbClr val="2E4B74"/>
            </a:solidFill>
            <a:prstDash val="solid"/>
          </a:ln>
        </p:spPr>
      </p:sp>
      <p:sp>
        <p:nvSpPr>
          <p:cNvPr id="23" name="Text 21"/>
          <p:cNvSpPr txBox="1"/>
          <p:nvPr/>
        </p:nvSpPr>
        <p:spPr>
          <a:xfrm>
            <a:off x="2895539" y="4251960"/>
            <a:ext cx="1889699" cy="502920"/>
          </a:xfrm>
          <a:prstGeom prst="rect">
            <a:avLst/>
          </a:prstGeom>
          <a:noFill/>
          <a:ln/>
        </p:spPr>
        <p:txBody>
          <a:bodyPr wrap="square" lIns="0" tIns="0" rIns="0" bIns="0" rtlCol="0" anchor="ctr"/>
          <a:lstStyle/>
          <a:p>
            <a:pPr algn="ctr" indent="0" marL="0">
              <a:buNone/>
            </a:pPr>
            <a:r>
              <a:rPr lang="en-US" sz="1400" dirty="0">
                <a:solidFill>
                  <a:srgbClr val="FFFFFF"/>
                </a:solidFill>
                <a:latin typeface="Arial" pitchFamily="34" charset="0"/>
                <a:ea typeface="Arial" pitchFamily="34" charset="-122"/>
                <a:cs typeface="Arial" pitchFamily="34" charset="-120"/>
              </a:rPr>
              <a:t>Báo về khoa phát sinh</a:t>
            </a:r>
            <a:endParaRPr lang="en-US" sz="1400" dirty="0"/>
          </a:p>
        </p:txBody>
      </p:sp>
      <p:sp>
        <p:nvSpPr>
          <p:cNvPr id="24" name="Text 22"/>
          <p:cNvSpPr txBox="1"/>
          <p:nvPr/>
        </p:nvSpPr>
        <p:spPr>
          <a:xfrm>
            <a:off x="4785238" y="4251960"/>
            <a:ext cx="365760" cy="502920"/>
          </a:xfrm>
          <a:prstGeom prst="rect">
            <a:avLst/>
          </a:prstGeom>
          <a:noFill/>
          <a:ln/>
        </p:spPr>
        <p:txBody>
          <a:bodyPr wrap="square" lIns="0" tIns="0" rIns="0" bIns="0" rtlCol="0" anchor="ctr"/>
          <a:lstStyle/>
          <a:p>
            <a:pPr algn="ctr" indent="0" marL="0">
              <a:buNone/>
            </a:pPr>
            <a:r>
              <a:rPr lang="en-US" sz="1800" dirty="0">
                <a:solidFill>
                  <a:srgbClr val="C9D6E8"/>
                </a:solidFill>
                <a:latin typeface="Arial" pitchFamily="34" charset="0"/>
                <a:ea typeface="Arial" pitchFamily="34" charset="-122"/>
                <a:cs typeface="Arial" pitchFamily="34" charset="-120"/>
              </a:rPr>
              <a:t>→</a:t>
            </a:r>
            <a:endParaRPr lang="en-US" sz="1800" dirty="0"/>
          </a:p>
        </p:txBody>
      </p:sp>
      <p:sp>
        <p:nvSpPr>
          <p:cNvPr id="25" name="Shape 23"/>
          <p:cNvSpPr/>
          <p:nvPr/>
        </p:nvSpPr>
        <p:spPr>
          <a:xfrm>
            <a:off x="5150998" y="4251960"/>
            <a:ext cx="1889699" cy="502920"/>
          </a:xfrm>
          <a:prstGeom prst="roundRect">
            <a:avLst>
              <a:gd name="adj" fmla="val 49091"/>
            </a:avLst>
          </a:prstGeom>
          <a:solidFill>
            <a:srgbClr val="1C3558">
              <a:alpha val="85000"/>
            </a:srgbClr>
          </a:solidFill>
          <a:ln w="9525">
            <a:solidFill>
              <a:srgbClr val="2E4B74"/>
            </a:solidFill>
            <a:prstDash val="solid"/>
          </a:ln>
        </p:spPr>
      </p:sp>
      <p:sp>
        <p:nvSpPr>
          <p:cNvPr id="26" name="Text 24"/>
          <p:cNvSpPr txBox="1"/>
          <p:nvPr/>
        </p:nvSpPr>
        <p:spPr>
          <a:xfrm>
            <a:off x="5150998" y="4251960"/>
            <a:ext cx="1889699" cy="502920"/>
          </a:xfrm>
          <a:prstGeom prst="rect">
            <a:avLst/>
          </a:prstGeom>
          <a:noFill/>
          <a:ln/>
        </p:spPr>
        <p:txBody>
          <a:bodyPr wrap="square" lIns="0" tIns="0" rIns="0" bIns="0" rtlCol="0" anchor="ctr"/>
          <a:lstStyle/>
          <a:p>
            <a:pPr algn="ctr" indent="0" marL="0">
              <a:buNone/>
            </a:pPr>
            <a:r>
              <a:rPr lang="en-US" sz="1400" b="1" dirty="0">
                <a:solidFill>
                  <a:srgbClr val="FBBF24"/>
                </a:solidFill>
                <a:latin typeface="Arial" pitchFamily="34" charset="0"/>
                <a:ea typeface="Arial" pitchFamily="34" charset="-122"/>
                <a:cs typeface="Arial" pitchFamily="34" charset="-120"/>
              </a:rPr>
              <a:t>Sửa trên HIS</a:t>
            </a:r>
            <a:endParaRPr lang="en-US" sz="1400" dirty="0"/>
          </a:p>
        </p:txBody>
      </p:sp>
      <p:sp>
        <p:nvSpPr>
          <p:cNvPr id="27" name="Text 25"/>
          <p:cNvSpPr txBox="1"/>
          <p:nvPr/>
        </p:nvSpPr>
        <p:spPr>
          <a:xfrm>
            <a:off x="7040697" y="4251960"/>
            <a:ext cx="365760" cy="502920"/>
          </a:xfrm>
          <a:prstGeom prst="rect">
            <a:avLst/>
          </a:prstGeom>
          <a:noFill/>
          <a:ln/>
        </p:spPr>
        <p:txBody>
          <a:bodyPr wrap="square" lIns="0" tIns="0" rIns="0" bIns="0" rtlCol="0" anchor="ctr"/>
          <a:lstStyle/>
          <a:p>
            <a:pPr algn="ctr" indent="0" marL="0">
              <a:buNone/>
            </a:pPr>
            <a:r>
              <a:rPr lang="en-US" sz="1800" dirty="0">
                <a:solidFill>
                  <a:srgbClr val="C9D6E8"/>
                </a:solidFill>
                <a:latin typeface="Arial" pitchFamily="34" charset="0"/>
                <a:ea typeface="Arial" pitchFamily="34" charset="-122"/>
                <a:cs typeface="Arial" pitchFamily="34" charset="-120"/>
              </a:rPr>
              <a:t>→</a:t>
            </a:r>
            <a:endParaRPr lang="en-US" sz="1800" dirty="0"/>
          </a:p>
        </p:txBody>
      </p:sp>
      <p:sp>
        <p:nvSpPr>
          <p:cNvPr id="28" name="Shape 26"/>
          <p:cNvSpPr/>
          <p:nvPr/>
        </p:nvSpPr>
        <p:spPr>
          <a:xfrm>
            <a:off x="7406457" y="4251960"/>
            <a:ext cx="1889699" cy="502920"/>
          </a:xfrm>
          <a:prstGeom prst="roundRect">
            <a:avLst>
              <a:gd name="adj" fmla="val 49091"/>
            </a:avLst>
          </a:prstGeom>
          <a:solidFill>
            <a:srgbClr val="1C3558">
              <a:alpha val="85000"/>
            </a:srgbClr>
          </a:solidFill>
          <a:ln w="9525">
            <a:solidFill>
              <a:srgbClr val="2E4B74"/>
            </a:solidFill>
            <a:prstDash val="solid"/>
          </a:ln>
        </p:spPr>
      </p:sp>
      <p:sp>
        <p:nvSpPr>
          <p:cNvPr id="29" name="Text 27"/>
          <p:cNvSpPr txBox="1"/>
          <p:nvPr/>
        </p:nvSpPr>
        <p:spPr>
          <a:xfrm>
            <a:off x="7406457" y="4251960"/>
            <a:ext cx="1889699" cy="502920"/>
          </a:xfrm>
          <a:prstGeom prst="rect">
            <a:avLst/>
          </a:prstGeom>
          <a:noFill/>
          <a:ln/>
        </p:spPr>
        <p:txBody>
          <a:bodyPr wrap="square" lIns="0" tIns="0" rIns="0" bIns="0" rtlCol="0" anchor="ctr"/>
          <a:lstStyle/>
          <a:p>
            <a:pPr algn="ctr" indent="0" marL="0">
              <a:buNone/>
            </a:pPr>
            <a:r>
              <a:rPr lang="en-US" sz="1400" dirty="0">
                <a:solidFill>
                  <a:srgbClr val="FFFFFF"/>
                </a:solidFill>
                <a:latin typeface="Arial" pitchFamily="34" charset="0"/>
                <a:ea typeface="Arial" pitchFamily="34" charset="-122"/>
                <a:cs typeface="Arial" pitchFamily="34" charset="-120"/>
              </a:rPr>
              <a:t>Nạp lại</a:t>
            </a:r>
            <a:endParaRPr lang="en-US" sz="1400" dirty="0"/>
          </a:p>
        </p:txBody>
      </p:sp>
      <p:sp>
        <p:nvSpPr>
          <p:cNvPr id="30" name="Text 28"/>
          <p:cNvSpPr txBox="1"/>
          <p:nvPr/>
        </p:nvSpPr>
        <p:spPr>
          <a:xfrm>
            <a:off x="9296156" y="4251960"/>
            <a:ext cx="365760" cy="502920"/>
          </a:xfrm>
          <a:prstGeom prst="rect">
            <a:avLst/>
          </a:prstGeom>
          <a:noFill/>
          <a:ln/>
        </p:spPr>
        <p:txBody>
          <a:bodyPr wrap="square" lIns="0" tIns="0" rIns="0" bIns="0" rtlCol="0" anchor="ctr"/>
          <a:lstStyle/>
          <a:p>
            <a:pPr algn="ctr" indent="0" marL="0">
              <a:buNone/>
            </a:pPr>
            <a:r>
              <a:rPr lang="en-US" sz="1800" dirty="0">
                <a:solidFill>
                  <a:srgbClr val="C9D6E8"/>
                </a:solidFill>
                <a:latin typeface="Arial" pitchFamily="34" charset="0"/>
                <a:ea typeface="Arial" pitchFamily="34" charset="-122"/>
                <a:cs typeface="Arial" pitchFamily="34" charset="-120"/>
              </a:rPr>
              <a:t>→</a:t>
            </a:r>
            <a:endParaRPr lang="en-US" sz="1800" dirty="0"/>
          </a:p>
        </p:txBody>
      </p:sp>
      <p:sp>
        <p:nvSpPr>
          <p:cNvPr id="31" name="Shape 29"/>
          <p:cNvSpPr/>
          <p:nvPr/>
        </p:nvSpPr>
        <p:spPr>
          <a:xfrm>
            <a:off x="9661916" y="4251960"/>
            <a:ext cx="1889699" cy="502920"/>
          </a:xfrm>
          <a:prstGeom prst="roundRect">
            <a:avLst>
              <a:gd name="adj" fmla="val 49091"/>
            </a:avLst>
          </a:prstGeom>
          <a:solidFill>
            <a:srgbClr val="1C3558">
              <a:alpha val="85000"/>
            </a:srgbClr>
          </a:solidFill>
          <a:ln w="9525">
            <a:solidFill>
              <a:srgbClr val="2E4B74"/>
            </a:solidFill>
            <a:prstDash val="solid"/>
          </a:ln>
        </p:spPr>
      </p:sp>
      <p:sp>
        <p:nvSpPr>
          <p:cNvPr id="32" name="Text 30"/>
          <p:cNvSpPr txBox="1"/>
          <p:nvPr/>
        </p:nvSpPr>
        <p:spPr>
          <a:xfrm>
            <a:off x="9661916" y="4251960"/>
            <a:ext cx="1889699" cy="502920"/>
          </a:xfrm>
          <a:prstGeom prst="rect">
            <a:avLst/>
          </a:prstGeom>
          <a:noFill/>
          <a:ln/>
        </p:spPr>
        <p:txBody>
          <a:bodyPr wrap="square" lIns="0" tIns="0" rIns="0" bIns="0" rtlCol="0" anchor="ctr"/>
          <a:lstStyle/>
          <a:p>
            <a:pPr algn="ctr" indent="0" marL="0">
              <a:buNone/>
            </a:pPr>
            <a:r>
              <a:rPr lang="en-US" sz="1400" dirty="0">
                <a:solidFill>
                  <a:srgbClr val="FFFFFF"/>
                </a:solidFill>
                <a:latin typeface="Arial" pitchFamily="34" charset="0"/>
                <a:ea typeface="Arial" pitchFamily="34" charset="-122"/>
                <a:cs typeface="Arial" pitchFamily="34" charset="-120"/>
              </a:rPr>
              <a:t>Kiểm lại</a:t>
            </a:r>
            <a:endParaRPr lang="en-US" sz="1400" dirty="0"/>
          </a:p>
        </p:txBody>
      </p:sp>
      <p:sp>
        <p:nvSpPr>
          <p:cNvPr id="33" name="Text 31"/>
          <p:cNvSpPr txBox="1"/>
          <p:nvPr/>
        </p:nvSpPr>
        <p:spPr>
          <a:xfrm>
            <a:off x="640080" y="4983480"/>
            <a:ext cx="10911535" cy="548640"/>
          </a:xfrm>
          <a:prstGeom prst="rect">
            <a:avLst/>
          </a:prstGeom>
          <a:noFill/>
          <a:ln/>
        </p:spPr>
        <p:txBody>
          <a:bodyPr wrap="square" lIns="0" tIns="0" rIns="0" bIns="0" rtlCol="0" anchor="ctr"/>
          <a:lstStyle/>
          <a:p>
            <a:pPr algn="ctr" indent="0" marL="0">
              <a:buNone/>
            </a:pPr>
            <a:r>
              <a:rPr lang="en-US" sz="1400" dirty="0">
                <a:solidFill>
                  <a:srgbClr val="A9BCD6"/>
                </a:solidFill>
                <a:latin typeface="Arial" pitchFamily="34" charset="0"/>
                <a:ea typeface="Arial" pitchFamily="34" charset="-122"/>
                <a:cs typeface="Arial" pitchFamily="34" charset="-120"/>
              </a:rPr>
              <a:t>Mở rộng về sau: kiểm sai sót ngay khi bác sĩ ra y lệnh, để bắt lỗi sớm hơn nữa — sau khi danh mục của viện đã chuẩn.</a:t>
            </a:r>
            <a:endParaRPr lang="en-US" sz="1400" dirty="0"/>
          </a:p>
        </p:txBody>
      </p:sp>
      <p:sp>
        <p:nvSpPr>
          <p:cNvPr id="34" name="Text 32"/>
          <p:cNvSpPr txBox="1"/>
          <p:nvPr/>
        </p:nvSpPr>
        <p:spPr>
          <a:xfrm>
            <a:off x="640080" y="5760720"/>
            <a:ext cx="10911535" cy="384048"/>
          </a:xfrm>
          <a:prstGeom prst="rect">
            <a:avLst/>
          </a:prstGeom>
          <a:noFill/>
          <a:ln/>
        </p:spPr>
        <p:txBody>
          <a:bodyPr wrap="square" lIns="0" tIns="0" rIns="0" bIns="0" rtlCol="0" anchor="ctr"/>
          <a:lstStyle/>
          <a:p>
            <a:pPr algn="ctr" indent="0" marL="0">
              <a:buNone/>
            </a:pPr>
            <a:r>
              <a:rPr lang="en-US" sz="1600" dirty="0">
                <a:solidFill>
                  <a:srgbClr val="FBBF24"/>
                </a:solidFill>
                <a:latin typeface="Arial" pitchFamily="34" charset="0"/>
                <a:ea typeface="Arial" pitchFamily="34" charset="-122"/>
                <a:cs typeface="Arial" pitchFamily="34" charset="-120"/>
              </a:rPr>
              <a:t>Phát hiện sớm  ·  Sửa tại nguồn  ·  Gửi hồ sơ sạch</a:t>
            </a:r>
            <a:endParaRPr lang="en-US" sz="1600" dirty="0"/>
          </a:p>
        </p:txBody>
      </p:sp>
      <p:sp>
        <p:nvSpPr>
          <p:cNvPr id="36" name="Text 33"/>
          <p:cNvSpPr txBox="1"/>
          <p:nvPr/>
        </p:nvSpPr>
        <p:spPr>
          <a:xfrm>
            <a:off x="6979615" y="6419088"/>
            <a:ext cx="4572000" cy="256032"/>
          </a:xfrm>
          <a:prstGeom prst="rect">
            <a:avLst/>
          </a:prstGeom>
          <a:noFill/>
          <a:ln/>
        </p:spPr>
        <p:txBody>
          <a:bodyPr wrap="square" lIns="0" tIns="0" rIns="0" bIns="0" rtlCol="0" anchor="ctr"/>
          <a:lstStyle/>
          <a:p>
            <a:pPr algn="r" indent="0" marL="0">
              <a:buNone/>
            </a:pPr>
            <a:r>
              <a:rPr lang="en-US" sz="950" spc="100" kern="0" dirty="0">
                <a:solidFill>
                  <a:srgbClr val="7F93B0"/>
                </a:solidFill>
                <a:latin typeface="Arial" pitchFamily="34" charset="0"/>
                <a:ea typeface="Arial" pitchFamily="34" charset="-122"/>
                <a:cs typeface="Arial" pitchFamily="34" charset="-120"/>
              </a:rPr>
              <a:t>GIẢI PHÁP TIỀN GIÁM ĐỊNH  ·  03 / 12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11480"/>
            <a:ext cx="10911535" cy="274320"/>
          </a:xfrm>
          <a:prstGeom prst="rect">
            <a:avLst/>
          </a:prstGeom>
          <a:noFill/>
          <a:ln/>
        </p:spPr>
        <p:txBody>
          <a:bodyPr wrap="square" lIns="0" tIns="0" rIns="0" bIns="0" rtlCol="0" anchor="ctr"/>
          <a:lstStyle/>
          <a:p>
            <a:pPr indent="0" marL="0">
              <a:buNone/>
            </a:pPr>
            <a:r>
              <a:rPr lang="en-US" sz="1200" b="1" spc="200" kern="0" dirty="0">
                <a:solidFill>
                  <a:srgbClr val="38BDF8"/>
                </a:solidFill>
                <a:latin typeface="Arial" pitchFamily="34" charset="0"/>
                <a:ea typeface="Arial" pitchFamily="34" charset="-122"/>
                <a:cs typeface="Arial" pitchFamily="34" charset="-120"/>
              </a:rPr>
              <a:t>KẾT QUẢ TẠI BẠCH MAI</a:t>
            </a:r>
            <a:endParaRPr lang="en-US" sz="1200" dirty="0"/>
          </a:p>
        </p:txBody>
      </p:sp>
      <p:sp>
        <p:nvSpPr>
          <p:cNvPr id="3" name="Text 1"/>
          <p:cNvSpPr txBox="1"/>
          <p:nvPr/>
        </p:nvSpPr>
        <p:spPr>
          <a:xfrm>
            <a:off x="640080" y="713232"/>
            <a:ext cx="10911535" cy="566928"/>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Trước và sau khi áp dụng Tiền giám định</a:t>
            </a:r>
            <a:endParaRPr lang="en-US" sz="2800" dirty="0"/>
          </a:p>
        </p:txBody>
      </p:sp>
      <p:sp>
        <p:nvSpPr>
          <p:cNvPr id="4" name="Text 2"/>
          <p:cNvSpPr txBox="1"/>
          <p:nvPr/>
        </p:nvSpPr>
        <p:spPr>
          <a:xfrm>
            <a:off x="640080" y="1298448"/>
            <a:ext cx="10911535" cy="329184"/>
          </a:xfrm>
          <a:prstGeom prst="rect">
            <a:avLst/>
          </a:prstGeom>
          <a:noFill/>
          <a:ln/>
        </p:spPr>
        <p:txBody>
          <a:bodyPr wrap="square" lIns="0" tIns="0" rIns="0" bIns="0" rtlCol="0" anchor="ctr"/>
          <a:lstStyle/>
          <a:p>
            <a:pPr indent="0" marL="0">
              <a:buNone/>
            </a:pPr>
            <a:r>
              <a:rPr lang="en-US" sz="1500" dirty="0">
                <a:solidFill>
                  <a:srgbClr val="A9BCD6"/>
                </a:solidFill>
                <a:latin typeface="Arial" pitchFamily="34" charset="0"/>
                <a:ea typeface="Arial" pitchFamily="34" charset="-122"/>
                <a:cs typeface="Arial" pitchFamily="34" charset="-120"/>
              </a:rPr>
              <a:t>Kỳ trước: ………………   ·   Kỳ sau: ………………   ·   Nguồn số liệu: ………………</a:t>
            </a:r>
            <a:endParaRPr lang="en-US" sz="1500" dirty="0"/>
          </a:p>
        </p:txBody>
      </p:sp>
      <p:sp>
        <p:nvSpPr>
          <p:cNvPr id="5" name="Text 3"/>
          <p:cNvSpPr txBox="1"/>
          <p:nvPr/>
        </p:nvSpPr>
        <p:spPr>
          <a:xfrm>
            <a:off x="914400" y="1874520"/>
            <a:ext cx="4297680" cy="292608"/>
          </a:xfrm>
          <a:prstGeom prst="rect">
            <a:avLst/>
          </a:prstGeom>
          <a:noFill/>
          <a:ln/>
        </p:spPr>
        <p:txBody>
          <a:bodyPr wrap="square" lIns="0" tIns="0" rIns="0" bIns="0" rtlCol="0" anchor="ctr"/>
          <a:lstStyle/>
          <a:p>
            <a:pPr algn="l" indent="0" marL="0">
              <a:buNone/>
            </a:pPr>
            <a:r>
              <a:rPr lang="en-US" sz="1100" b="1" spc="200" kern="0" dirty="0">
                <a:solidFill>
                  <a:srgbClr val="38BDF8"/>
                </a:solidFill>
                <a:latin typeface="Arial" pitchFamily="34" charset="0"/>
                <a:ea typeface="Arial" pitchFamily="34" charset="-122"/>
                <a:cs typeface="Arial" pitchFamily="34" charset="-120"/>
              </a:rPr>
              <a:t>CHỈ SỐ</a:t>
            </a:r>
            <a:endParaRPr lang="en-US" sz="1100" dirty="0"/>
          </a:p>
        </p:txBody>
      </p:sp>
      <p:sp>
        <p:nvSpPr>
          <p:cNvPr id="6" name="Text 4"/>
          <p:cNvSpPr txBox="1"/>
          <p:nvPr/>
        </p:nvSpPr>
        <p:spPr>
          <a:xfrm>
            <a:off x="5760720" y="1874520"/>
            <a:ext cx="1280160" cy="292608"/>
          </a:xfrm>
          <a:prstGeom prst="rect">
            <a:avLst/>
          </a:prstGeom>
          <a:noFill/>
          <a:ln/>
        </p:spPr>
        <p:txBody>
          <a:bodyPr wrap="square" lIns="0" tIns="0" rIns="0" bIns="0" rtlCol="0" anchor="ctr"/>
          <a:lstStyle/>
          <a:p>
            <a:pPr algn="ctr" indent="0" marL="0">
              <a:buNone/>
            </a:pPr>
            <a:r>
              <a:rPr lang="en-US" sz="1100" b="1" spc="200" kern="0" dirty="0">
                <a:solidFill>
                  <a:srgbClr val="38BDF8"/>
                </a:solidFill>
                <a:latin typeface="Arial" pitchFamily="34" charset="0"/>
                <a:ea typeface="Arial" pitchFamily="34" charset="-122"/>
                <a:cs typeface="Arial" pitchFamily="34" charset="-120"/>
              </a:rPr>
              <a:t>TRƯỚC</a:t>
            </a:r>
            <a:endParaRPr lang="en-US" sz="1100" dirty="0"/>
          </a:p>
        </p:txBody>
      </p:sp>
      <p:sp>
        <p:nvSpPr>
          <p:cNvPr id="7" name="Text 5"/>
          <p:cNvSpPr txBox="1"/>
          <p:nvPr/>
        </p:nvSpPr>
        <p:spPr>
          <a:xfrm>
            <a:off x="7589520" y="1874520"/>
            <a:ext cx="1280160" cy="292608"/>
          </a:xfrm>
          <a:prstGeom prst="rect">
            <a:avLst/>
          </a:prstGeom>
          <a:noFill/>
          <a:ln/>
        </p:spPr>
        <p:txBody>
          <a:bodyPr wrap="square" lIns="0" tIns="0" rIns="0" bIns="0" rtlCol="0" anchor="ctr"/>
          <a:lstStyle/>
          <a:p>
            <a:pPr algn="ctr" indent="0" marL="0">
              <a:buNone/>
            </a:pPr>
            <a:r>
              <a:rPr lang="en-US" sz="1100" b="1" spc="200" kern="0" dirty="0">
                <a:solidFill>
                  <a:srgbClr val="38BDF8"/>
                </a:solidFill>
                <a:latin typeface="Arial" pitchFamily="34" charset="0"/>
                <a:ea typeface="Arial" pitchFamily="34" charset="-122"/>
                <a:cs typeface="Arial" pitchFamily="34" charset="-120"/>
              </a:rPr>
              <a:t>SAU</a:t>
            </a:r>
            <a:endParaRPr lang="en-US" sz="1100" dirty="0"/>
          </a:p>
        </p:txBody>
      </p:sp>
      <p:sp>
        <p:nvSpPr>
          <p:cNvPr id="8" name="Text 6"/>
          <p:cNvSpPr txBox="1"/>
          <p:nvPr/>
        </p:nvSpPr>
        <p:spPr>
          <a:xfrm>
            <a:off x="9418320" y="1874520"/>
            <a:ext cx="1858975" cy="292608"/>
          </a:xfrm>
          <a:prstGeom prst="rect">
            <a:avLst/>
          </a:prstGeom>
          <a:noFill/>
          <a:ln/>
        </p:spPr>
        <p:txBody>
          <a:bodyPr wrap="square" lIns="0" tIns="0" rIns="0" bIns="0" rtlCol="0" anchor="ctr"/>
          <a:lstStyle/>
          <a:p>
            <a:pPr algn="ctr" indent="0" marL="0">
              <a:buNone/>
            </a:pPr>
            <a:r>
              <a:rPr lang="en-US" sz="1100" b="1" spc="200" kern="0" dirty="0">
                <a:solidFill>
                  <a:srgbClr val="38BDF8"/>
                </a:solidFill>
                <a:latin typeface="Arial" pitchFamily="34" charset="0"/>
                <a:ea typeface="Arial" pitchFamily="34" charset="-122"/>
                <a:cs typeface="Arial" pitchFamily="34" charset="-120"/>
              </a:rPr>
              <a:t>THAY ĐỔI</a:t>
            </a:r>
            <a:endParaRPr lang="en-US" sz="1100" dirty="0"/>
          </a:p>
        </p:txBody>
      </p:sp>
      <p:sp>
        <p:nvSpPr>
          <p:cNvPr id="9" name="Shape 7"/>
          <p:cNvSpPr/>
          <p:nvPr/>
        </p:nvSpPr>
        <p:spPr>
          <a:xfrm>
            <a:off x="640080" y="2286000"/>
            <a:ext cx="10911535" cy="694944"/>
          </a:xfrm>
          <a:prstGeom prst="roundRect">
            <a:avLst>
              <a:gd name="adj" fmla="val 13158"/>
            </a:avLst>
          </a:prstGeom>
          <a:solidFill>
            <a:srgbClr val="1C3558">
              <a:alpha val="85000"/>
            </a:srgbClr>
          </a:solidFill>
          <a:ln w="9525">
            <a:solidFill>
              <a:srgbClr val="2E4B74"/>
            </a:solidFill>
            <a:prstDash val="solid"/>
          </a:ln>
        </p:spPr>
      </p:sp>
      <p:sp>
        <p:nvSpPr>
          <p:cNvPr id="10" name="Text 8"/>
          <p:cNvSpPr txBox="1"/>
          <p:nvPr/>
        </p:nvSpPr>
        <p:spPr>
          <a:xfrm>
            <a:off x="914400" y="2286000"/>
            <a:ext cx="4480560" cy="694944"/>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Tỷ lệ hồ sơ còn lỗi nghiêm trọng khi gửi cổng</a:t>
            </a:r>
            <a:endParaRPr lang="en-US" sz="1500" dirty="0"/>
          </a:p>
        </p:txBody>
      </p:sp>
      <p:sp>
        <p:nvSpPr>
          <p:cNvPr id="11" name="Text 9"/>
          <p:cNvSpPr txBox="1"/>
          <p:nvPr/>
        </p:nvSpPr>
        <p:spPr>
          <a:xfrm>
            <a:off x="5486400" y="2286000"/>
            <a:ext cx="1828800" cy="694944"/>
          </a:xfrm>
          <a:prstGeom prst="rect">
            <a:avLst/>
          </a:prstGeom>
          <a:noFill/>
          <a:ln/>
        </p:spPr>
        <p:txBody>
          <a:bodyPr wrap="square" lIns="0" tIns="0" rIns="0" bIns="0" rtlCol="0" anchor="ctr"/>
          <a:lstStyle/>
          <a:p>
            <a:pPr algn="ctr" indent="0" marL="0">
              <a:buNone/>
            </a:pPr>
            <a:r>
              <a:rPr lang="en-US" sz="2000" dirty="0">
                <a:solidFill>
                  <a:srgbClr val="A9BCD6"/>
                </a:solidFill>
                <a:latin typeface="Arial" pitchFamily="34" charset="0"/>
                <a:ea typeface="Arial" pitchFamily="34" charset="-122"/>
                <a:cs typeface="Arial" pitchFamily="34" charset="-120"/>
              </a:rPr>
              <a:t>………</a:t>
            </a:r>
            <a:endParaRPr lang="en-US" sz="2000" dirty="0"/>
          </a:p>
        </p:txBody>
      </p:sp>
      <p:sp>
        <p:nvSpPr>
          <p:cNvPr id="12" name="Text 10"/>
          <p:cNvSpPr txBox="1"/>
          <p:nvPr/>
        </p:nvSpPr>
        <p:spPr>
          <a:xfrm>
            <a:off x="7315200" y="2286000"/>
            <a:ext cx="1828800" cy="694944"/>
          </a:xfrm>
          <a:prstGeom prst="rect">
            <a:avLst/>
          </a:prstGeom>
          <a:noFill/>
          <a:ln/>
        </p:spPr>
        <p:txBody>
          <a:bodyPr wrap="square" lIns="0" tIns="0" rIns="0" bIns="0" rtlCol="0" anchor="ctr"/>
          <a:lstStyle/>
          <a:p>
            <a:pPr algn="ctr" indent="0" marL="0">
              <a:buNone/>
            </a:pPr>
            <a:r>
              <a:rPr lang="en-US" sz="2000" dirty="0">
                <a:solidFill>
                  <a:srgbClr val="A9BCD6"/>
                </a:solidFill>
                <a:latin typeface="Arial" pitchFamily="34" charset="0"/>
                <a:ea typeface="Arial" pitchFamily="34" charset="-122"/>
                <a:cs typeface="Arial" pitchFamily="34" charset="-120"/>
              </a:rPr>
              <a:t>………</a:t>
            </a:r>
            <a:endParaRPr lang="en-US" sz="2000" dirty="0"/>
          </a:p>
        </p:txBody>
      </p:sp>
      <p:sp>
        <p:nvSpPr>
          <p:cNvPr id="13" name="Text 11"/>
          <p:cNvSpPr txBox="1"/>
          <p:nvPr/>
        </p:nvSpPr>
        <p:spPr>
          <a:xfrm>
            <a:off x="9144000" y="2286000"/>
            <a:ext cx="2407615" cy="694944"/>
          </a:xfrm>
          <a:prstGeom prst="rect">
            <a:avLst/>
          </a:prstGeom>
          <a:noFill/>
          <a:ln/>
        </p:spPr>
        <p:txBody>
          <a:bodyPr wrap="square" lIns="0" tIns="0" rIns="0" bIns="0" rtlCol="0" anchor="ctr"/>
          <a:lstStyle/>
          <a:p>
            <a:pPr algn="ctr" indent="0" marL="0">
              <a:buNone/>
            </a:pPr>
            <a:r>
              <a:rPr lang="en-US" sz="2000" b="1" dirty="0">
                <a:solidFill>
                  <a:srgbClr val="FBBF24"/>
                </a:solidFill>
                <a:latin typeface="Arial" pitchFamily="34" charset="0"/>
                <a:ea typeface="Arial" pitchFamily="34" charset="-122"/>
                <a:cs typeface="Arial" pitchFamily="34" charset="-120"/>
              </a:rPr>
              <a:t>………</a:t>
            </a:r>
            <a:endParaRPr lang="en-US" sz="2000" dirty="0"/>
          </a:p>
        </p:txBody>
      </p:sp>
      <p:sp>
        <p:nvSpPr>
          <p:cNvPr id="14" name="Shape 12"/>
          <p:cNvSpPr/>
          <p:nvPr/>
        </p:nvSpPr>
        <p:spPr>
          <a:xfrm>
            <a:off x="640080" y="3090672"/>
            <a:ext cx="10911535" cy="694944"/>
          </a:xfrm>
          <a:prstGeom prst="roundRect">
            <a:avLst>
              <a:gd name="adj" fmla="val 13158"/>
            </a:avLst>
          </a:prstGeom>
          <a:solidFill>
            <a:srgbClr val="1C3558">
              <a:alpha val="85000"/>
            </a:srgbClr>
          </a:solidFill>
          <a:ln w="9525">
            <a:solidFill>
              <a:srgbClr val="2E4B74"/>
            </a:solidFill>
            <a:prstDash val="solid"/>
          </a:ln>
        </p:spPr>
      </p:sp>
      <p:sp>
        <p:nvSpPr>
          <p:cNvPr id="15" name="Text 13"/>
          <p:cNvSpPr txBox="1"/>
          <p:nvPr/>
        </p:nvSpPr>
        <p:spPr>
          <a:xfrm>
            <a:off x="914400" y="3090672"/>
            <a:ext cx="4480560" cy="694944"/>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Số hồ sơ bị cổng giám định trả về mỗi tháng</a:t>
            </a:r>
            <a:endParaRPr lang="en-US" sz="1500" dirty="0"/>
          </a:p>
        </p:txBody>
      </p:sp>
      <p:sp>
        <p:nvSpPr>
          <p:cNvPr id="16" name="Text 14"/>
          <p:cNvSpPr txBox="1"/>
          <p:nvPr/>
        </p:nvSpPr>
        <p:spPr>
          <a:xfrm>
            <a:off x="5486400" y="3090672"/>
            <a:ext cx="1828800" cy="694944"/>
          </a:xfrm>
          <a:prstGeom prst="rect">
            <a:avLst/>
          </a:prstGeom>
          <a:noFill/>
          <a:ln/>
        </p:spPr>
        <p:txBody>
          <a:bodyPr wrap="square" lIns="0" tIns="0" rIns="0" bIns="0" rtlCol="0" anchor="ctr"/>
          <a:lstStyle/>
          <a:p>
            <a:pPr algn="ctr" indent="0" marL="0">
              <a:buNone/>
            </a:pPr>
            <a:r>
              <a:rPr lang="en-US" sz="2000" dirty="0">
                <a:solidFill>
                  <a:srgbClr val="A9BCD6"/>
                </a:solidFill>
                <a:latin typeface="Arial" pitchFamily="34" charset="0"/>
                <a:ea typeface="Arial" pitchFamily="34" charset="-122"/>
                <a:cs typeface="Arial" pitchFamily="34" charset="-120"/>
              </a:rPr>
              <a:t>………</a:t>
            </a:r>
            <a:endParaRPr lang="en-US" sz="2000" dirty="0"/>
          </a:p>
        </p:txBody>
      </p:sp>
      <p:sp>
        <p:nvSpPr>
          <p:cNvPr id="17" name="Text 15"/>
          <p:cNvSpPr txBox="1"/>
          <p:nvPr/>
        </p:nvSpPr>
        <p:spPr>
          <a:xfrm>
            <a:off x="7315200" y="3090672"/>
            <a:ext cx="1828800" cy="694944"/>
          </a:xfrm>
          <a:prstGeom prst="rect">
            <a:avLst/>
          </a:prstGeom>
          <a:noFill/>
          <a:ln/>
        </p:spPr>
        <p:txBody>
          <a:bodyPr wrap="square" lIns="0" tIns="0" rIns="0" bIns="0" rtlCol="0" anchor="ctr"/>
          <a:lstStyle/>
          <a:p>
            <a:pPr algn="ctr" indent="0" marL="0">
              <a:buNone/>
            </a:pPr>
            <a:r>
              <a:rPr lang="en-US" sz="2000" dirty="0">
                <a:solidFill>
                  <a:srgbClr val="A9BCD6"/>
                </a:solidFill>
                <a:latin typeface="Arial" pitchFamily="34" charset="0"/>
                <a:ea typeface="Arial" pitchFamily="34" charset="-122"/>
                <a:cs typeface="Arial" pitchFamily="34" charset="-120"/>
              </a:rPr>
              <a:t>………</a:t>
            </a:r>
            <a:endParaRPr lang="en-US" sz="2000" dirty="0"/>
          </a:p>
        </p:txBody>
      </p:sp>
      <p:sp>
        <p:nvSpPr>
          <p:cNvPr id="18" name="Text 16"/>
          <p:cNvSpPr txBox="1"/>
          <p:nvPr/>
        </p:nvSpPr>
        <p:spPr>
          <a:xfrm>
            <a:off x="9144000" y="3090672"/>
            <a:ext cx="2407615" cy="694944"/>
          </a:xfrm>
          <a:prstGeom prst="rect">
            <a:avLst/>
          </a:prstGeom>
          <a:noFill/>
          <a:ln/>
        </p:spPr>
        <p:txBody>
          <a:bodyPr wrap="square" lIns="0" tIns="0" rIns="0" bIns="0" rtlCol="0" anchor="ctr"/>
          <a:lstStyle/>
          <a:p>
            <a:pPr algn="ctr" indent="0" marL="0">
              <a:buNone/>
            </a:pPr>
            <a:r>
              <a:rPr lang="en-US" sz="2000" b="1" dirty="0">
                <a:solidFill>
                  <a:srgbClr val="FBBF24"/>
                </a:solidFill>
                <a:latin typeface="Arial" pitchFamily="34" charset="0"/>
                <a:ea typeface="Arial" pitchFamily="34" charset="-122"/>
                <a:cs typeface="Arial" pitchFamily="34" charset="-120"/>
              </a:rPr>
              <a:t>………</a:t>
            </a:r>
            <a:endParaRPr lang="en-US" sz="2000" dirty="0"/>
          </a:p>
        </p:txBody>
      </p:sp>
      <p:sp>
        <p:nvSpPr>
          <p:cNvPr id="19" name="Shape 17"/>
          <p:cNvSpPr/>
          <p:nvPr/>
        </p:nvSpPr>
        <p:spPr>
          <a:xfrm>
            <a:off x="640080" y="3895344"/>
            <a:ext cx="10911535" cy="694944"/>
          </a:xfrm>
          <a:prstGeom prst="roundRect">
            <a:avLst>
              <a:gd name="adj" fmla="val 13158"/>
            </a:avLst>
          </a:prstGeom>
          <a:solidFill>
            <a:srgbClr val="1C3558">
              <a:alpha val="85000"/>
            </a:srgbClr>
          </a:solidFill>
          <a:ln w="9525">
            <a:solidFill>
              <a:srgbClr val="2E4B74"/>
            </a:solidFill>
            <a:prstDash val="solid"/>
          </a:ln>
        </p:spPr>
      </p:sp>
      <p:sp>
        <p:nvSpPr>
          <p:cNvPr id="20" name="Text 18"/>
          <p:cNvSpPr txBox="1"/>
          <p:nvPr/>
        </p:nvSpPr>
        <p:spPr>
          <a:xfrm>
            <a:off x="914400" y="3895344"/>
            <a:ext cx="4480560" cy="694944"/>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Số tiền BHYT bị xuất toán mỗi tháng</a:t>
            </a:r>
            <a:endParaRPr lang="en-US" sz="1500" dirty="0"/>
          </a:p>
        </p:txBody>
      </p:sp>
      <p:sp>
        <p:nvSpPr>
          <p:cNvPr id="21" name="Text 19"/>
          <p:cNvSpPr txBox="1"/>
          <p:nvPr/>
        </p:nvSpPr>
        <p:spPr>
          <a:xfrm>
            <a:off x="5486400" y="3895344"/>
            <a:ext cx="1828800" cy="694944"/>
          </a:xfrm>
          <a:prstGeom prst="rect">
            <a:avLst/>
          </a:prstGeom>
          <a:noFill/>
          <a:ln/>
        </p:spPr>
        <p:txBody>
          <a:bodyPr wrap="square" lIns="0" tIns="0" rIns="0" bIns="0" rtlCol="0" anchor="ctr"/>
          <a:lstStyle/>
          <a:p>
            <a:pPr algn="ctr" indent="0" marL="0">
              <a:buNone/>
            </a:pPr>
            <a:r>
              <a:rPr lang="en-US" sz="2000" dirty="0">
                <a:solidFill>
                  <a:srgbClr val="A9BCD6"/>
                </a:solidFill>
                <a:latin typeface="Arial" pitchFamily="34" charset="0"/>
                <a:ea typeface="Arial" pitchFamily="34" charset="-122"/>
                <a:cs typeface="Arial" pitchFamily="34" charset="-120"/>
              </a:rPr>
              <a:t>………</a:t>
            </a:r>
            <a:endParaRPr lang="en-US" sz="2000" dirty="0"/>
          </a:p>
        </p:txBody>
      </p:sp>
      <p:sp>
        <p:nvSpPr>
          <p:cNvPr id="22" name="Text 20"/>
          <p:cNvSpPr txBox="1"/>
          <p:nvPr/>
        </p:nvSpPr>
        <p:spPr>
          <a:xfrm>
            <a:off x="7315200" y="3895344"/>
            <a:ext cx="1828800" cy="694944"/>
          </a:xfrm>
          <a:prstGeom prst="rect">
            <a:avLst/>
          </a:prstGeom>
          <a:noFill/>
          <a:ln/>
        </p:spPr>
        <p:txBody>
          <a:bodyPr wrap="square" lIns="0" tIns="0" rIns="0" bIns="0" rtlCol="0" anchor="ctr"/>
          <a:lstStyle/>
          <a:p>
            <a:pPr algn="ctr" indent="0" marL="0">
              <a:buNone/>
            </a:pPr>
            <a:r>
              <a:rPr lang="en-US" sz="2000" dirty="0">
                <a:solidFill>
                  <a:srgbClr val="A9BCD6"/>
                </a:solidFill>
                <a:latin typeface="Arial" pitchFamily="34" charset="0"/>
                <a:ea typeface="Arial" pitchFamily="34" charset="-122"/>
                <a:cs typeface="Arial" pitchFamily="34" charset="-120"/>
              </a:rPr>
              <a:t>………</a:t>
            </a:r>
            <a:endParaRPr lang="en-US" sz="2000" dirty="0"/>
          </a:p>
        </p:txBody>
      </p:sp>
      <p:sp>
        <p:nvSpPr>
          <p:cNvPr id="23" name="Text 21"/>
          <p:cNvSpPr txBox="1"/>
          <p:nvPr/>
        </p:nvSpPr>
        <p:spPr>
          <a:xfrm>
            <a:off x="9144000" y="3895344"/>
            <a:ext cx="2407615" cy="694944"/>
          </a:xfrm>
          <a:prstGeom prst="rect">
            <a:avLst/>
          </a:prstGeom>
          <a:noFill/>
          <a:ln/>
        </p:spPr>
        <p:txBody>
          <a:bodyPr wrap="square" lIns="0" tIns="0" rIns="0" bIns="0" rtlCol="0" anchor="ctr"/>
          <a:lstStyle/>
          <a:p>
            <a:pPr algn="ctr" indent="0" marL="0">
              <a:buNone/>
            </a:pPr>
            <a:r>
              <a:rPr lang="en-US" sz="2000" b="1" dirty="0">
                <a:solidFill>
                  <a:srgbClr val="FBBF24"/>
                </a:solidFill>
                <a:latin typeface="Arial" pitchFamily="34" charset="0"/>
                <a:ea typeface="Arial" pitchFamily="34" charset="-122"/>
                <a:cs typeface="Arial" pitchFamily="34" charset="-120"/>
              </a:rPr>
              <a:t>………</a:t>
            </a:r>
            <a:endParaRPr lang="en-US" sz="2000" dirty="0"/>
          </a:p>
        </p:txBody>
      </p:sp>
      <p:sp>
        <p:nvSpPr>
          <p:cNvPr id="24" name="Shape 22"/>
          <p:cNvSpPr/>
          <p:nvPr/>
        </p:nvSpPr>
        <p:spPr>
          <a:xfrm>
            <a:off x="640080" y="4700016"/>
            <a:ext cx="10911535" cy="694944"/>
          </a:xfrm>
          <a:prstGeom prst="roundRect">
            <a:avLst>
              <a:gd name="adj" fmla="val 13158"/>
            </a:avLst>
          </a:prstGeom>
          <a:solidFill>
            <a:srgbClr val="1C3558">
              <a:alpha val="85000"/>
            </a:srgbClr>
          </a:solidFill>
          <a:ln w="9525">
            <a:solidFill>
              <a:srgbClr val="2E4B74"/>
            </a:solidFill>
            <a:prstDash val="solid"/>
          </a:ln>
        </p:spPr>
      </p:sp>
      <p:sp>
        <p:nvSpPr>
          <p:cNvPr id="25" name="Text 23"/>
          <p:cNvSpPr txBox="1"/>
          <p:nvPr/>
        </p:nvSpPr>
        <p:spPr>
          <a:xfrm>
            <a:off x="914400" y="4700016"/>
            <a:ext cx="4480560" cy="694944"/>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Thời gian từ khi phát sinh lỗi tới khi sửa xong</a:t>
            </a:r>
            <a:endParaRPr lang="en-US" sz="1500" dirty="0"/>
          </a:p>
        </p:txBody>
      </p:sp>
      <p:sp>
        <p:nvSpPr>
          <p:cNvPr id="26" name="Text 24"/>
          <p:cNvSpPr txBox="1"/>
          <p:nvPr/>
        </p:nvSpPr>
        <p:spPr>
          <a:xfrm>
            <a:off x="5486400" y="4700016"/>
            <a:ext cx="1828800" cy="694944"/>
          </a:xfrm>
          <a:prstGeom prst="rect">
            <a:avLst/>
          </a:prstGeom>
          <a:noFill/>
          <a:ln/>
        </p:spPr>
        <p:txBody>
          <a:bodyPr wrap="square" lIns="0" tIns="0" rIns="0" bIns="0" rtlCol="0" anchor="ctr"/>
          <a:lstStyle/>
          <a:p>
            <a:pPr algn="ctr" indent="0" marL="0">
              <a:buNone/>
            </a:pPr>
            <a:r>
              <a:rPr lang="en-US" sz="2000" dirty="0">
                <a:solidFill>
                  <a:srgbClr val="A9BCD6"/>
                </a:solidFill>
                <a:latin typeface="Arial" pitchFamily="34" charset="0"/>
                <a:ea typeface="Arial" pitchFamily="34" charset="-122"/>
                <a:cs typeface="Arial" pitchFamily="34" charset="-120"/>
              </a:rPr>
              <a:t>………</a:t>
            </a:r>
            <a:endParaRPr lang="en-US" sz="2000" dirty="0"/>
          </a:p>
        </p:txBody>
      </p:sp>
      <p:sp>
        <p:nvSpPr>
          <p:cNvPr id="27" name="Text 25"/>
          <p:cNvSpPr txBox="1"/>
          <p:nvPr/>
        </p:nvSpPr>
        <p:spPr>
          <a:xfrm>
            <a:off x="7315200" y="4700016"/>
            <a:ext cx="1828800" cy="694944"/>
          </a:xfrm>
          <a:prstGeom prst="rect">
            <a:avLst/>
          </a:prstGeom>
          <a:noFill/>
          <a:ln/>
        </p:spPr>
        <p:txBody>
          <a:bodyPr wrap="square" lIns="0" tIns="0" rIns="0" bIns="0" rtlCol="0" anchor="ctr"/>
          <a:lstStyle/>
          <a:p>
            <a:pPr algn="ctr" indent="0" marL="0">
              <a:buNone/>
            </a:pPr>
            <a:r>
              <a:rPr lang="en-US" sz="2000" dirty="0">
                <a:solidFill>
                  <a:srgbClr val="A9BCD6"/>
                </a:solidFill>
                <a:latin typeface="Arial" pitchFamily="34" charset="0"/>
                <a:ea typeface="Arial" pitchFamily="34" charset="-122"/>
                <a:cs typeface="Arial" pitchFamily="34" charset="-120"/>
              </a:rPr>
              <a:t>………</a:t>
            </a:r>
            <a:endParaRPr lang="en-US" sz="2000" dirty="0"/>
          </a:p>
        </p:txBody>
      </p:sp>
      <p:sp>
        <p:nvSpPr>
          <p:cNvPr id="28" name="Text 26"/>
          <p:cNvSpPr txBox="1"/>
          <p:nvPr/>
        </p:nvSpPr>
        <p:spPr>
          <a:xfrm>
            <a:off x="9144000" y="4700016"/>
            <a:ext cx="2407615" cy="694944"/>
          </a:xfrm>
          <a:prstGeom prst="rect">
            <a:avLst/>
          </a:prstGeom>
          <a:noFill/>
          <a:ln/>
        </p:spPr>
        <p:txBody>
          <a:bodyPr wrap="square" lIns="0" tIns="0" rIns="0" bIns="0" rtlCol="0" anchor="ctr"/>
          <a:lstStyle/>
          <a:p>
            <a:pPr algn="ctr" indent="0" marL="0">
              <a:buNone/>
            </a:pPr>
            <a:r>
              <a:rPr lang="en-US" sz="2000" b="1" dirty="0">
                <a:solidFill>
                  <a:srgbClr val="FBBF24"/>
                </a:solidFill>
                <a:latin typeface="Arial" pitchFamily="34" charset="0"/>
                <a:ea typeface="Arial" pitchFamily="34" charset="-122"/>
                <a:cs typeface="Arial" pitchFamily="34" charset="-120"/>
              </a:rPr>
              <a:t>………</a:t>
            </a:r>
            <a:endParaRPr lang="en-US" sz="2000" dirty="0"/>
          </a:p>
        </p:txBody>
      </p:sp>
      <p:sp>
        <p:nvSpPr>
          <p:cNvPr id="29" name="Text 27"/>
          <p:cNvSpPr txBox="1"/>
          <p:nvPr/>
        </p:nvSpPr>
        <p:spPr>
          <a:xfrm>
            <a:off x="640080" y="5623560"/>
            <a:ext cx="10911535" cy="384048"/>
          </a:xfrm>
          <a:prstGeom prst="rect">
            <a:avLst/>
          </a:prstGeom>
          <a:noFill/>
          <a:ln/>
        </p:spPr>
        <p:txBody>
          <a:bodyPr wrap="square" lIns="0" tIns="0" rIns="0" bIns="0" rtlCol="0" anchor="ctr"/>
          <a:lstStyle/>
          <a:p>
            <a:pPr algn="ctr" indent="0" marL="0">
              <a:buNone/>
            </a:pPr>
            <a:r>
              <a:rPr lang="en-US" sz="1600" dirty="0">
                <a:solidFill>
                  <a:srgbClr val="FBBF24"/>
                </a:solidFill>
                <a:latin typeface="Arial" pitchFamily="34" charset="0"/>
                <a:ea typeface="Arial" pitchFamily="34" charset="-122"/>
                <a:cs typeface="Arial" pitchFamily="34" charset="-120"/>
              </a:rPr>
              <a:t>Viện của anh chị sẽ tự đo được đúng các chỉ số này ngay trong giai đoạn thí điểm</a:t>
            </a:r>
            <a:endParaRPr lang="en-US" sz="1600" dirty="0"/>
          </a:p>
        </p:txBody>
      </p:sp>
      <p:sp>
        <p:nvSpPr>
          <p:cNvPr id="31" name="Text 28"/>
          <p:cNvSpPr txBox="1"/>
          <p:nvPr/>
        </p:nvSpPr>
        <p:spPr>
          <a:xfrm>
            <a:off x="6979615" y="6419088"/>
            <a:ext cx="4572000" cy="256032"/>
          </a:xfrm>
          <a:prstGeom prst="rect">
            <a:avLst/>
          </a:prstGeom>
          <a:noFill/>
          <a:ln/>
        </p:spPr>
        <p:txBody>
          <a:bodyPr wrap="square" lIns="0" tIns="0" rIns="0" bIns="0" rtlCol="0" anchor="ctr"/>
          <a:lstStyle/>
          <a:p>
            <a:pPr algn="r" indent="0" marL="0">
              <a:buNone/>
            </a:pPr>
            <a:r>
              <a:rPr lang="en-US" sz="950" spc="100" kern="0" dirty="0">
                <a:solidFill>
                  <a:srgbClr val="7F93B0"/>
                </a:solidFill>
                <a:latin typeface="Arial" pitchFamily="34" charset="0"/>
                <a:ea typeface="Arial" pitchFamily="34" charset="-122"/>
                <a:cs typeface="Arial" pitchFamily="34" charset="-120"/>
              </a:rPr>
              <a:t>GIẢI PHÁP TIỀN GIÁM ĐỊNH  ·  04 / 12</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11480"/>
            <a:ext cx="10911535" cy="274320"/>
          </a:xfrm>
          <a:prstGeom prst="rect">
            <a:avLst/>
          </a:prstGeom>
          <a:noFill/>
          <a:ln/>
        </p:spPr>
        <p:txBody>
          <a:bodyPr wrap="square" lIns="0" tIns="0" rIns="0" bIns="0" rtlCol="0" anchor="ctr"/>
          <a:lstStyle/>
          <a:p>
            <a:pPr indent="0" marL="0">
              <a:buNone/>
            </a:pPr>
            <a:r>
              <a:rPr lang="en-US" sz="1200" b="1" spc="200" kern="0" dirty="0">
                <a:solidFill>
                  <a:srgbClr val="38BDF8"/>
                </a:solidFill>
                <a:latin typeface="Arial" pitchFamily="34" charset="0"/>
                <a:ea typeface="Arial" pitchFamily="34" charset="-122"/>
                <a:cs typeface="Arial" pitchFamily="34" charset="-120"/>
              </a:rPr>
              <a:t>QUY RA TIỀN</a:t>
            </a:r>
            <a:endParaRPr lang="en-US" sz="1200" dirty="0"/>
          </a:p>
        </p:txBody>
      </p:sp>
      <p:sp>
        <p:nvSpPr>
          <p:cNvPr id="3" name="Text 1"/>
          <p:cNvSpPr txBox="1"/>
          <p:nvPr/>
        </p:nvSpPr>
        <p:spPr>
          <a:xfrm>
            <a:off x="640080" y="713232"/>
            <a:ext cx="10911535" cy="566928"/>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Viện mình đang có bao nhiêu tiền chịu rủi ro mỗi tháng?</a:t>
            </a:r>
            <a:endParaRPr lang="en-US" sz="2800" dirty="0"/>
          </a:p>
        </p:txBody>
      </p:sp>
      <p:sp>
        <p:nvSpPr>
          <p:cNvPr id="4" name="Text 2"/>
          <p:cNvSpPr txBox="1"/>
          <p:nvPr/>
        </p:nvSpPr>
        <p:spPr>
          <a:xfrm>
            <a:off x="640080" y="1298448"/>
            <a:ext cx="10911535" cy="329184"/>
          </a:xfrm>
          <a:prstGeom prst="rect">
            <a:avLst/>
          </a:prstGeom>
          <a:noFill/>
          <a:ln/>
        </p:spPr>
        <p:txBody>
          <a:bodyPr wrap="square" lIns="0" tIns="0" rIns="0" bIns="0" rtlCol="0" anchor="ctr"/>
          <a:lstStyle/>
          <a:p>
            <a:pPr indent="0" marL="0">
              <a:buNone/>
            </a:pPr>
            <a:r>
              <a:rPr lang="en-US" sz="1500" dirty="0">
                <a:solidFill>
                  <a:srgbClr val="A9BCD6"/>
                </a:solidFill>
                <a:latin typeface="Arial" pitchFamily="34" charset="0"/>
                <a:ea typeface="Arial" pitchFamily="34" charset="-122"/>
                <a:cs typeface="Arial" pitchFamily="34" charset="-120"/>
              </a:rPr>
              <a:t>Ba con số đầu vào phòng KHTH và Phòng BHYT của viện đều có sẵn.</a:t>
            </a:r>
            <a:endParaRPr lang="en-US" sz="1500" dirty="0"/>
          </a:p>
        </p:txBody>
      </p:sp>
      <p:sp>
        <p:nvSpPr>
          <p:cNvPr id="5" name="Shape 3"/>
          <p:cNvSpPr/>
          <p:nvPr/>
        </p:nvSpPr>
        <p:spPr>
          <a:xfrm>
            <a:off x="640080" y="1920240"/>
            <a:ext cx="2350694" cy="1691640"/>
          </a:xfrm>
          <a:prstGeom prst="roundRect">
            <a:avLst>
              <a:gd name="adj" fmla="val 5405"/>
            </a:avLst>
          </a:prstGeom>
          <a:solidFill>
            <a:srgbClr val="1C3558">
              <a:alpha val="85000"/>
            </a:srgbClr>
          </a:solidFill>
          <a:ln w="9525">
            <a:solidFill>
              <a:srgbClr val="2E4B74"/>
            </a:solidFill>
            <a:prstDash val="solid"/>
          </a:ln>
        </p:spPr>
      </p:sp>
      <p:sp>
        <p:nvSpPr>
          <p:cNvPr id="6" name="Text 4"/>
          <p:cNvSpPr txBox="1"/>
          <p:nvPr/>
        </p:nvSpPr>
        <p:spPr>
          <a:xfrm>
            <a:off x="640080" y="2029968"/>
            <a:ext cx="2350694" cy="457200"/>
          </a:xfrm>
          <a:prstGeom prst="rect">
            <a:avLst/>
          </a:prstGeom>
          <a:noFill/>
          <a:ln/>
        </p:spPr>
        <p:txBody>
          <a:bodyPr wrap="square" lIns="0" tIns="0" rIns="0" bIns="0" rtlCol="0" anchor="ctr"/>
          <a:lstStyle/>
          <a:p>
            <a:pPr algn="ctr" indent="0" marL="0">
              <a:buNone/>
            </a:pPr>
            <a:r>
              <a:rPr lang="en-US" sz="2000" dirty="0">
                <a:solidFill>
                  <a:srgbClr val="000000"/>
                </a:solidFill>
                <a:latin typeface="Segoe UI Emoji" pitchFamily="34" charset="0"/>
                <a:ea typeface="Segoe UI Emoji" pitchFamily="34" charset="-122"/>
                <a:cs typeface="Segoe UI Emoji" pitchFamily="34" charset="-120"/>
              </a:rPr>
              <a:t>📄</a:t>
            </a:r>
            <a:endParaRPr lang="en-US" sz="2000" dirty="0"/>
          </a:p>
        </p:txBody>
      </p:sp>
      <p:sp>
        <p:nvSpPr>
          <p:cNvPr id="7" name="Text 5"/>
          <p:cNvSpPr txBox="1"/>
          <p:nvPr/>
        </p:nvSpPr>
        <p:spPr>
          <a:xfrm>
            <a:off x="731520" y="2487168"/>
            <a:ext cx="2167814" cy="566928"/>
          </a:xfrm>
          <a:prstGeom prst="rect">
            <a:avLst/>
          </a:prstGeom>
          <a:noFill/>
          <a:ln/>
        </p:spPr>
        <p:txBody>
          <a:bodyPr wrap="square" lIns="0" tIns="0" rIns="0" bIns="0" rtlCol="0" anchor="t"/>
          <a:lstStyle/>
          <a:p>
            <a:pPr algn="ctr" indent="0" marL="0">
              <a:lnSpc>
                <a:spcPts val="1800"/>
              </a:lnSpc>
              <a:buNone/>
            </a:pPr>
            <a:r>
              <a:rPr lang="en-US" sz="1600" b="1" dirty="0">
                <a:solidFill>
                  <a:srgbClr val="FFFFFF"/>
                </a:solidFill>
                <a:latin typeface="Arial" pitchFamily="34" charset="0"/>
                <a:ea typeface="Arial" pitchFamily="34" charset="-122"/>
                <a:cs typeface="Arial" pitchFamily="34" charset="-120"/>
              </a:rPr>
              <a:t>Số hồ sơ BHYT</a:t>
            </a:r>
            <a:endParaRPr lang="en-US" sz="1600" dirty="0"/>
          </a:p>
          <a:p>
            <a:pPr algn="ctr" indent="0" marL="0">
              <a:lnSpc>
                <a:spcPts val="1800"/>
              </a:lnSpc>
              <a:buNone/>
            </a:pPr>
            <a:r>
              <a:rPr lang="en-US" sz="1250" dirty="0">
                <a:solidFill>
                  <a:srgbClr val="A9BCD6"/>
                </a:solidFill>
                <a:latin typeface="Arial" pitchFamily="34" charset="0"/>
                <a:ea typeface="Arial" pitchFamily="34" charset="-122"/>
                <a:cs typeface="Arial" pitchFamily="34" charset="-120"/>
              </a:rPr>
              <a:t>mỗi tháng</a:t>
            </a:r>
            <a:endParaRPr lang="en-US" sz="1600" dirty="0"/>
          </a:p>
        </p:txBody>
      </p:sp>
      <p:sp>
        <p:nvSpPr>
          <p:cNvPr id="8" name="Text 6"/>
          <p:cNvSpPr txBox="1"/>
          <p:nvPr/>
        </p:nvSpPr>
        <p:spPr>
          <a:xfrm>
            <a:off x="640080" y="3063240"/>
            <a:ext cx="2350694" cy="438912"/>
          </a:xfrm>
          <a:prstGeom prst="rect">
            <a:avLst/>
          </a:prstGeom>
          <a:noFill/>
          <a:ln/>
        </p:spPr>
        <p:txBody>
          <a:bodyPr wrap="square" lIns="0" tIns="0" rIns="0" bIns="0" rtlCol="0" anchor="ctr"/>
          <a:lstStyle/>
          <a:p>
            <a:pPr algn="ctr" indent="0" marL="0">
              <a:buNone/>
            </a:pPr>
            <a:r>
              <a:rPr lang="en-US" sz="2000" b="1" dirty="0">
                <a:solidFill>
                  <a:srgbClr val="38BDF8"/>
                </a:solidFill>
                <a:latin typeface="Arial" pitchFamily="34" charset="0"/>
                <a:ea typeface="Arial" pitchFamily="34" charset="-122"/>
                <a:cs typeface="Arial" pitchFamily="34" charset="-120"/>
              </a:rPr>
              <a:t>………</a:t>
            </a:r>
            <a:endParaRPr lang="en-US" sz="2000" dirty="0"/>
          </a:p>
        </p:txBody>
      </p:sp>
      <p:sp>
        <p:nvSpPr>
          <p:cNvPr id="9" name="Text 7"/>
          <p:cNvSpPr txBox="1"/>
          <p:nvPr/>
        </p:nvSpPr>
        <p:spPr>
          <a:xfrm>
            <a:off x="2990774" y="2491740"/>
            <a:ext cx="502920" cy="548640"/>
          </a:xfrm>
          <a:prstGeom prst="rect">
            <a:avLst/>
          </a:prstGeom>
          <a:noFill/>
          <a:ln/>
        </p:spPr>
        <p:txBody>
          <a:bodyPr wrap="square" lIns="0" tIns="0" rIns="0" bIns="0" rtlCol="0" anchor="ctr"/>
          <a:lstStyle/>
          <a:p>
            <a:pPr algn="ctr" indent="0" marL="0">
              <a:buNone/>
            </a:pPr>
            <a:r>
              <a:rPr lang="en-US" sz="2600" b="1" dirty="0">
                <a:solidFill>
                  <a:srgbClr val="C9D6E8"/>
                </a:solidFill>
                <a:latin typeface="Arial" pitchFamily="34" charset="0"/>
                <a:ea typeface="Arial" pitchFamily="34" charset="-122"/>
                <a:cs typeface="Arial" pitchFamily="34" charset="-120"/>
              </a:rPr>
              <a:t>×</a:t>
            </a:r>
            <a:endParaRPr lang="en-US" sz="2600" dirty="0"/>
          </a:p>
        </p:txBody>
      </p:sp>
      <p:sp>
        <p:nvSpPr>
          <p:cNvPr id="10" name="Shape 8"/>
          <p:cNvSpPr/>
          <p:nvPr/>
        </p:nvSpPr>
        <p:spPr>
          <a:xfrm>
            <a:off x="3493694" y="1920240"/>
            <a:ext cx="2350694" cy="1691640"/>
          </a:xfrm>
          <a:prstGeom prst="roundRect">
            <a:avLst>
              <a:gd name="adj" fmla="val 5405"/>
            </a:avLst>
          </a:prstGeom>
          <a:solidFill>
            <a:srgbClr val="1C3558">
              <a:alpha val="85000"/>
            </a:srgbClr>
          </a:solidFill>
          <a:ln w="9525">
            <a:solidFill>
              <a:srgbClr val="2E4B74"/>
            </a:solidFill>
            <a:prstDash val="solid"/>
          </a:ln>
        </p:spPr>
      </p:sp>
      <p:sp>
        <p:nvSpPr>
          <p:cNvPr id="11" name="Text 9"/>
          <p:cNvSpPr txBox="1"/>
          <p:nvPr/>
        </p:nvSpPr>
        <p:spPr>
          <a:xfrm>
            <a:off x="3493694" y="2029968"/>
            <a:ext cx="2350694" cy="457200"/>
          </a:xfrm>
          <a:prstGeom prst="rect">
            <a:avLst/>
          </a:prstGeom>
          <a:noFill/>
          <a:ln/>
        </p:spPr>
        <p:txBody>
          <a:bodyPr wrap="square" lIns="0" tIns="0" rIns="0" bIns="0" rtlCol="0" anchor="ctr"/>
          <a:lstStyle/>
          <a:p>
            <a:pPr algn="ctr" indent="0" marL="0">
              <a:buNone/>
            </a:pPr>
            <a:r>
              <a:rPr lang="en-US" sz="2000" dirty="0">
                <a:solidFill>
                  <a:srgbClr val="000000"/>
                </a:solidFill>
                <a:latin typeface="Segoe UI Emoji" pitchFamily="34" charset="0"/>
                <a:ea typeface="Segoe UI Emoji" pitchFamily="34" charset="-122"/>
                <a:cs typeface="Segoe UI Emoji" pitchFamily="34" charset="-120"/>
              </a:rPr>
              <a:t>⚠️</a:t>
            </a:r>
            <a:endParaRPr lang="en-US" sz="2000" dirty="0"/>
          </a:p>
        </p:txBody>
      </p:sp>
      <p:sp>
        <p:nvSpPr>
          <p:cNvPr id="12" name="Text 10"/>
          <p:cNvSpPr txBox="1"/>
          <p:nvPr/>
        </p:nvSpPr>
        <p:spPr>
          <a:xfrm>
            <a:off x="3585134" y="2487168"/>
            <a:ext cx="2167814" cy="566928"/>
          </a:xfrm>
          <a:prstGeom prst="rect">
            <a:avLst/>
          </a:prstGeom>
          <a:noFill/>
          <a:ln/>
        </p:spPr>
        <p:txBody>
          <a:bodyPr wrap="square" lIns="0" tIns="0" rIns="0" bIns="0" rtlCol="0" anchor="t"/>
          <a:lstStyle/>
          <a:p>
            <a:pPr algn="ctr" indent="0" marL="0">
              <a:lnSpc>
                <a:spcPts val="1800"/>
              </a:lnSpc>
              <a:buNone/>
            </a:pPr>
            <a:r>
              <a:rPr lang="en-US" sz="1600" b="1" dirty="0">
                <a:solidFill>
                  <a:srgbClr val="FFFFFF"/>
                </a:solidFill>
                <a:latin typeface="Arial" pitchFamily="34" charset="0"/>
                <a:ea typeface="Arial" pitchFamily="34" charset="-122"/>
                <a:cs typeface="Arial" pitchFamily="34" charset="-120"/>
              </a:rPr>
              <a:t>Tỷ lệ hồ sơ</a:t>
            </a:r>
            <a:endParaRPr lang="en-US" sz="1600" dirty="0"/>
          </a:p>
          <a:p>
            <a:pPr algn="ctr" indent="0" marL="0">
              <a:lnSpc>
                <a:spcPts val="1800"/>
              </a:lnSpc>
              <a:buNone/>
            </a:pPr>
            <a:r>
              <a:rPr lang="en-US" sz="1250" dirty="0">
                <a:solidFill>
                  <a:srgbClr val="A9BCD6"/>
                </a:solidFill>
                <a:latin typeface="Arial" pitchFamily="34" charset="0"/>
                <a:ea typeface="Arial" pitchFamily="34" charset="-122"/>
                <a:cs typeface="Arial" pitchFamily="34" charset="-120"/>
              </a:rPr>
              <a:t>bị cổng trả lỗi</a:t>
            </a:r>
            <a:endParaRPr lang="en-US" sz="1600" dirty="0"/>
          </a:p>
        </p:txBody>
      </p:sp>
      <p:sp>
        <p:nvSpPr>
          <p:cNvPr id="13" name="Text 11"/>
          <p:cNvSpPr txBox="1"/>
          <p:nvPr/>
        </p:nvSpPr>
        <p:spPr>
          <a:xfrm>
            <a:off x="3493694" y="3063240"/>
            <a:ext cx="2350694" cy="438912"/>
          </a:xfrm>
          <a:prstGeom prst="rect">
            <a:avLst/>
          </a:prstGeom>
          <a:noFill/>
          <a:ln/>
        </p:spPr>
        <p:txBody>
          <a:bodyPr wrap="square" lIns="0" tIns="0" rIns="0" bIns="0" rtlCol="0" anchor="ctr"/>
          <a:lstStyle/>
          <a:p>
            <a:pPr algn="ctr" indent="0" marL="0">
              <a:buNone/>
            </a:pPr>
            <a:r>
              <a:rPr lang="en-US" sz="2000" b="1" dirty="0">
                <a:solidFill>
                  <a:srgbClr val="38BDF8"/>
                </a:solidFill>
                <a:latin typeface="Arial" pitchFamily="34" charset="0"/>
                <a:ea typeface="Arial" pitchFamily="34" charset="-122"/>
                <a:cs typeface="Arial" pitchFamily="34" charset="-120"/>
              </a:rPr>
              <a:t>………</a:t>
            </a:r>
            <a:endParaRPr lang="en-US" sz="2000" dirty="0"/>
          </a:p>
        </p:txBody>
      </p:sp>
      <p:sp>
        <p:nvSpPr>
          <p:cNvPr id="14" name="Text 12"/>
          <p:cNvSpPr txBox="1"/>
          <p:nvPr/>
        </p:nvSpPr>
        <p:spPr>
          <a:xfrm>
            <a:off x="5844388" y="2491740"/>
            <a:ext cx="502920" cy="548640"/>
          </a:xfrm>
          <a:prstGeom prst="rect">
            <a:avLst/>
          </a:prstGeom>
          <a:noFill/>
          <a:ln/>
        </p:spPr>
        <p:txBody>
          <a:bodyPr wrap="square" lIns="0" tIns="0" rIns="0" bIns="0" rtlCol="0" anchor="ctr"/>
          <a:lstStyle/>
          <a:p>
            <a:pPr algn="ctr" indent="0" marL="0">
              <a:buNone/>
            </a:pPr>
            <a:r>
              <a:rPr lang="en-US" sz="2600" b="1" dirty="0">
                <a:solidFill>
                  <a:srgbClr val="C9D6E8"/>
                </a:solidFill>
                <a:latin typeface="Arial" pitchFamily="34" charset="0"/>
                <a:ea typeface="Arial" pitchFamily="34" charset="-122"/>
                <a:cs typeface="Arial" pitchFamily="34" charset="-120"/>
              </a:rPr>
              <a:t>×</a:t>
            </a:r>
            <a:endParaRPr lang="en-US" sz="2600" dirty="0"/>
          </a:p>
        </p:txBody>
      </p:sp>
      <p:sp>
        <p:nvSpPr>
          <p:cNvPr id="15" name="Shape 13"/>
          <p:cNvSpPr/>
          <p:nvPr/>
        </p:nvSpPr>
        <p:spPr>
          <a:xfrm>
            <a:off x="6347308" y="1920240"/>
            <a:ext cx="2350694" cy="1691640"/>
          </a:xfrm>
          <a:prstGeom prst="roundRect">
            <a:avLst>
              <a:gd name="adj" fmla="val 5405"/>
            </a:avLst>
          </a:prstGeom>
          <a:solidFill>
            <a:srgbClr val="1C3558">
              <a:alpha val="85000"/>
            </a:srgbClr>
          </a:solidFill>
          <a:ln w="9525">
            <a:solidFill>
              <a:srgbClr val="2E4B74"/>
            </a:solidFill>
            <a:prstDash val="solid"/>
          </a:ln>
        </p:spPr>
      </p:sp>
      <p:sp>
        <p:nvSpPr>
          <p:cNvPr id="16" name="Text 14"/>
          <p:cNvSpPr txBox="1"/>
          <p:nvPr/>
        </p:nvSpPr>
        <p:spPr>
          <a:xfrm>
            <a:off x="6347308" y="2029968"/>
            <a:ext cx="2350694" cy="457200"/>
          </a:xfrm>
          <a:prstGeom prst="rect">
            <a:avLst/>
          </a:prstGeom>
          <a:noFill/>
          <a:ln/>
        </p:spPr>
        <p:txBody>
          <a:bodyPr wrap="square" lIns="0" tIns="0" rIns="0" bIns="0" rtlCol="0" anchor="ctr"/>
          <a:lstStyle/>
          <a:p>
            <a:pPr algn="ctr" indent="0" marL="0">
              <a:buNone/>
            </a:pPr>
            <a:r>
              <a:rPr lang="en-US" sz="2000" dirty="0">
                <a:solidFill>
                  <a:srgbClr val="000000"/>
                </a:solidFill>
                <a:latin typeface="Segoe UI Emoji" pitchFamily="34" charset="0"/>
                <a:ea typeface="Segoe UI Emoji" pitchFamily="34" charset="-122"/>
                <a:cs typeface="Segoe UI Emoji" pitchFamily="34" charset="-120"/>
              </a:rPr>
              <a:t>💰</a:t>
            </a:r>
            <a:endParaRPr lang="en-US" sz="2000" dirty="0"/>
          </a:p>
        </p:txBody>
      </p:sp>
      <p:sp>
        <p:nvSpPr>
          <p:cNvPr id="17" name="Text 15"/>
          <p:cNvSpPr txBox="1"/>
          <p:nvPr/>
        </p:nvSpPr>
        <p:spPr>
          <a:xfrm>
            <a:off x="6438748" y="2487168"/>
            <a:ext cx="2167814" cy="566928"/>
          </a:xfrm>
          <a:prstGeom prst="rect">
            <a:avLst/>
          </a:prstGeom>
          <a:noFill/>
          <a:ln/>
        </p:spPr>
        <p:txBody>
          <a:bodyPr wrap="square" lIns="0" tIns="0" rIns="0" bIns="0" rtlCol="0" anchor="t"/>
          <a:lstStyle/>
          <a:p>
            <a:pPr algn="ctr" indent="0" marL="0">
              <a:lnSpc>
                <a:spcPts val="1800"/>
              </a:lnSpc>
              <a:buNone/>
            </a:pPr>
            <a:r>
              <a:rPr lang="en-US" sz="1600" b="1" dirty="0">
                <a:solidFill>
                  <a:srgbClr val="FFFFFF"/>
                </a:solidFill>
                <a:latin typeface="Arial" pitchFamily="34" charset="0"/>
                <a:ea typeface="Arial" pitchFamily="34" charset="-122"/>
                <a:cs typeface="Arial" pitchFamily="34" charset="-120"/>
              </a:rPr>
              <a:t>Chi phí BHYT</a:t>
            </a:r>
            <a:endParaRPr lang="en-US" sz="1600" dirty="0"/>
          </a:p>
          <a:p>
            <a:pPr algn="ctr" indent="0" marL="0">
              <a:lnSpc>
                <a:spcPts val="1800"/>
              </a:lnSpc>
              <a:buNone/>
            </a:pPr>
            <a:r>
              <a:rPr lang="en-US" sz="1250" dirty="0">
                <a:solidFill>
                  <a:srgbClr val="A9BCD6"/>
                </a:solidFill>
                <a:latin typeface="Arial" pitchFamily="34" charset="0"/>
                <a:ea typeface="Arial" pitchFamily="34" charset="-122"/>
                <a:cs typeface="Arial" pitchFamily="34" charset="-120"/>
              </a:rPr>
              <a:t>trung bình mỗi hồ sơ</a:t>
            </a:r>
            <a:endParaRPr lang="en-US" sz="1600" dirty="0"/>
          </a:p>
        </p:txBody>
      </p:sp>
      <p:sp>
        <p:nvSpPr>
          <p:cNvPr id="18" name="Text 16"/>
          <p:cNvSpPr txBox="1"/>
          <p:nvPr/>
        </p:nvSpPr>
        <p:spPr>
          <a:xfrm>
            <a:off x="6347308" y="3063240"/>
            <a:ext cx="2350694" cy="438912"/>
          </a:xfrm>
          <a:prstGeom prst="rect">
            <a:avLst/>
          </a:prstGeom>
          <a:noFill/>
          <a:ln/>
        </p:spPr>
        <p:txBody>
          <a:bodyPr wrap="square" lIns="0" tIns="0" rIns="0" bIns="0" rtlCol="0" anchor="ctr"/>
          <a:lstStyle/>
          <a:p>
            <a:pPr algn="ctr" indent="0" marL="0">
              <a:buNone/>
            </a:pPr>
            <a:r>
              <a:rPr lang="en-US" sz="2000" b="1" dirty="0">
                <a:solidFill>
                  <a:srgbClr val="38BDF8"/>
                </a:solidFill>
                <a:latin typeface="Arial" pitchFamily="34" charset="0"/>
                <a:ea typeface="Arial" pitchFamily="34" charset="-122"/>
                <a:cs typeface="Arial" pitchFamily="34" charset="-120"/>
              </a:rPr>
              <a:t>………</a:t>
            </a:r>
            <a:endParaRPr lang="en-US" sz="2000" dirty="0"/>
          </a:p>
        </p:txBody>
      </p:sp>
      <p:sp>
        <p:nvSpPr>
          <p:cNvPr id="19" name="Text 17"/>
          <p:cNvSpPr txBox="1"/>
          <p:nvPr/>
        </p:nvSpPr>
        <p:spPr>
          <a:xfrm>
            <a:off x="8698001" y="2491740"/>
            <a:ext cx="502920" cy="548640"/>
          </a:xfrm>
          <a:prstGeom prst="rect">
            <a:avLst/>
          </a:prstGeom>
          <a:noFill/>
          <a:ln/>
        </p:spPr>
        <p:txBody>
          <a:bodyPr wrap="square" lIns="0" tIns="0" rIns="0" bIns="0" rtlCol="0" anchor="ctr"/>
          <a:lstStyle/>
          <a:p>
            <a:pPr algn="ctr" indent="0" marL="0">
              <a:buNone/>
            </a:pPr>
            <a:r>
              <a:rPr lang="en-US" sz="2600" b="1" dirty="0">
                <a:solidFill>
                  <a:srgbClr val="C9D6E8"/>
                </a:solidFill>
                <a:latin typeface="Arial" pitchFamily="34" charset="0"/>
                <a:ea typeface="Arial" pitchFamily="34" charset="-122"/>
                <a:cs typeface="Arial" pitchFamily="34" charset="-120"/>
              </a:rPr>
              <a:t>=</a:t>
            </a:r>
            <a:endParaRPr lang="en-US" sz="2600" dirty="0"/>
          </a:p>
        </p:txBody>
      </p:sp>
      <p:sp>
        <p:nvSpPr>
          <p:cNvPr id="20" name="Shape 18"/>
          <p:cNvSpPr/>
          <p:nvPr/>
        </p:nvSpPr>
        <p:spPr>
          <a:xfrm>
            <a:off x="9200921" y="1920240"/>
            <a:ext cx="2350694" cy="1691640"/>
          </a:xfrm>
          <a:prstGeom prst="roundRect">
            <a:avLst>
              <a:gd name="adj" fmla="val 5405"/>
            </a:avLst>
          </a:prstGeom>
          <a:solidFill>
            <a:srgbClr val="25324A">
              <a:alpha val="85000"/>
            </a:srgbClr>
          </a:solidFill>
          <a:ln w="19050">
            <a:solidFill>
              <a:srgbClr val="FBBF24"/>
            </a:solidFill>
            <a:prstDash val="solid"/>
          </a:ln>
        </p:spPr>
      </p:sp>
      <p:sp>
        <p:nvSpPr>
          <p:cNvPr id="21" name="Text 19"/>
          <p:cNvSpPr txBox="1"/>
          <p:nvPr/>
        </p:nvSpPr>
        <p:spPr>
          <a:xfrm>
            <a:off x="9200921" y="2029968"/>
            <a:ext cx="2350694" cy="457200"/>
          </a:xfrm>
          <a:prstGeom prst="rect">
            <a:avLst/>
          </a:prstGeom>
          <a:noFill/>
          <a:ln/>
        </p:spPr>
        <p:txBody>
          <a:bodyPr wrap="square" lIns="0" tIns="0" rIns="0" bIns="0" rtlCol="0" anchor="ctr"/>
          <a:lstStyle/>
          <a:p>
            <a:pPr algn="ctr" indent="0" marL="0">
              <a:buNone/>
            </a:pPr>
            <a:r>
              <a:rPr lang="en-US" sz="2000" dirty="0">
                <a:solidFill>
                  <a:srgbClr val="000000"/>
                </a:solidFill>
                <a:latin typeface="Segoe UI Emoji" pitchFamily="34" charset="0"/>
                <a:ea typeface="Segoe UI Emoji" pitchFamily="34" charset="-122"/>
                <a:cs typeface="Segoe UI Emoji" pitchFamily="34" charset="-120"/>
              </a:rPr>
              <a:t>🎯</a:t>
            </a:r>
            <a:endParaRPr lang="en-US" sz="2000" dirty="0"/>
          </a:p>
        </p:txBody>
      </p:sp>
      <p:sp>
        <p:nvSpPr>
          <p:cNvPr id="22" name="Text 20"/>
          <p:cNvSpPr txBox="1"/>
          <p:nvPr/>
        </p:nvSpPr>
        <p:spPr>
          <a:xfrm>
            <a:off x="9292361" y="2487168"/>
            <a:ext cx="2167814" cy="566928"/>
          </a:xfrm>
          <a:prstGeom prst="rect">
            <a:avLst/>
          </a:prstGeom>
          <a:noFill/>
          <a:ln/>
        </p:spPr>
        <p:txBody>
          <a:bodyPr wrap="square" lIns="0" tIns="0" rIns="0" bIns="0" rtlCol="0" anchor="t"/>
          <a:lstStyle/>
          <a:p>
            <a:pPr algn="ctr" indent="0" marL="0">
              <a:lnSpc>
                <a:spcPts val="1800"/>
              </a:lnSpc>
              <a:buNone/>
            </a:pPr>
            <a:r>
              <a:rPr lang="en-US" sz="1600" b="1" dirty="0">
                <a:solidFill>
                  <a:srgbClr val="FFFFFF"/>
                </a:solidFill>
                <a:latin typeface="Arial" pitchFamily="34" charset="0"/>
                <a:ea typeface="Arial" pitchFamily="34" charset="-122"/>
                <a:cs typeface="Arial" pitchFamily="34" charset="-120"/>
              </a:rPr>
              <a:t>Tiền chịu rủi ro</a:t>
            </a:r>
            <a:endParaRPr lang="en-US" sz="1600" dirty="0"/>
          </a:p>
          <a:p>
            <a:pPr algn="ctr" indent="0" marL="0">
              <a:lnSpc>
                <a:spcPts val="1800"/>
              </a:lnSpc>
              <a:buNone/>
            </a:pPr>
            <a:r>
              <a:rPr lang="en-US" sz="1250" dirty="0">
                <a:solidFill>
                  <a:srgbClr val="A9BCD6"/>
                </a:solidFill>
                <a:latin typeface="Arial" pitchFamily="34" charset="0"/>
                <a:ea typeface="Arial" pitchFamily="34" charset="-122"/>
                <a:cs typeface="Arial" pitchFamily="34" charset="-120"/>
              </a:rPr>
              <a:t>mỗi tháng</a:t>
            </a:r>
            <a:endParaRPr lang="en-US" sz="1600" dirty="0"/>
          </a:p>
        </p:txBody>
      </p:sp>
      <p:sp>
        <p:nvSpPr>
          <p:cNvPr id="23" name="Text 21"/>
          <p:cNvSpPr txBox="1"/>
          <p:nvPr/>
        </p:nvSpPr>
        <p:spPr>
          <a:xfrm>
            <a:off x="9200921" y="3063240"/>
            <a:ext cx="2350694" cy="438912"/>
          </a:xfrm>
          <a:prstGeom prst="rect">
            <a:avLst/>
          </a:prstGeom>
          <a:noFill/>
          <a:ln/>
        </p:spPr>
        <p:txBody>
          <a:bodyPr wrap="square" lIns="0" tIns="0" rIns="0" bIns="0" rtlCol="0" anchor="ctr"/>
          <a:lstStyle/>
          <a:p>
            <a:pPr algn="ctr" indent="0" marL="0">
              <a:buNone/>
            </a:pPr>
            <a:r>
              <a:rPr lang="en-US" sz="2000" b="1" dirty="0">
                <a:solidFill>
                  <a:srgbClr val="FBBF24"/>
                </a:solidFill>
                <a:latin typeface="Arial" pitchFamily="34" charset="0"/>
                <a:ea typeface="Arial" pitchFamily="34" charset="-122"/>
                <a:cs typeface="Arial" pitchFamily="34" charset="-120"/>
              </a:rPr>
              <a:t>………</a:t>
            </a:r>
            <a:endParaRPr lang="en-US" sz="2000" dirty="0"/>
          </a:p>
        </p:txBody>
      </p:sp>
      <p:sp>
        <p:nvSpPr>
          <p:cNvPr id="24" name="Shape 22"/>
          <p:cNvSpPr/>
          <p:nvPr/>
        </p:nvSpPr>
        <p:spPr>
          <a:xfrm>
            <a:off x="640080" y="3840480"/>
            <a:ext cx="10911535" cy="566928"/>
          </a:xfrm>
          <a:prstGeom prst="roundRect">
            <a:avLst>
              <a:gd name="adj" fmla="val 12903"/>
            </a:avLst>
          </a:prstGeom>
          <a:solidFill>
            <a:srgbClr val="FFFFFF">
              <a:alpha val="6000"/>
            </a:srgbClr>
          </a:solidFill>
          <a:ln w="9525">
            <a:solidFill>
              <a:srgbClr val="4A6890"/>
            </a:solidFill>
            <a:prstDash val="dash"/>
          </a:ln>
        </p:spPr>
      </p:sp>
      <p:sp>
        <p:nvSpPr>
          <p:cNvPr id="25" name="Text 23"/>
          <p:cNvSpPr txBox="1"/>
          <p:nvPr/>
        </p:nvSpPr>
        <p:spPr>
          <a:xfrm>
            <a:off x="640080" y="3840480"/>
            <a:ext cx="10911535" cy="566928"/>
          </a:xfrm>
          <a:prstGeom prst="rect">
            <a:avLst/>
          </a:prstGeom>
          <a:noFill/>
          <a:ln/>
        </p:spPr>
        <p:txBody>
          <a:bodyPr wrap="square" lIns="0" tIns="0" rIns="0" bIns="0" rtlCol="0" anchor="ctr"/>
          <a:lstStyle/>
          <a:p>
            <a:pPr algn="ctr" indent="0" marL="0">
              <a:buNone/>
            </a:pPr>
            <a:r>
              <a:rPr lang="en-US" sz="1100" b="1" spc="100" kern="0" dirty="0">
                <a:solidFill>
                  <a:srgbClr val="7F93B0"/>
                </a:solidFill>
                <a:latin typeface="Arial" pitchFamily="34" charset="0"/>
                <a:ea typeface="Arial" pitchFamily="34" charset="-122"/>
                <a:cs typeface="Arial" pitchFamily="34" charset="-120"/>
              </a:rPr>
              <a:t>VÍ DỤ GIẢ ĐỊNH   </a:t>
            </a:r>
            <a:pPr algn="ctr" indent="0" marL="0">
              <a:buNone/>
            </a:pPr>
            <a:r>
              <a:rPr lang="en-US" sz="1600" b="1" dirty="0">
                <a:solidFill>
                  <a:srgbClr val="FFFFFF"/>
                </a:solidFill>
                <a:latin typeface="Arial" pitchFamily="34" charset="0"/>
                <a:ea typeface="Arial" pitchFamily="34" charset="-122"/>
                <a:cs typeface="Arial" pitchFamily="34" charset="-120"/>
              </a:rPr>
              <a:t>20.000 hồ sơ  ×  5%  ×  1.500.000 đ  =  1,5 tỷ đồng mỗi tháng</a:t>
            </a:r>
            <a:pPr algn="ctr" indent="0" marL="0">
              <a:buNone/>
            </a:pPr>
            <a:r>
              <a:rPr lang="en-US" sz="1200" i="1" dirty="0">
                <a:solidFill>
                  <a:srgbClr val="7F93B0"/>
                </a:solidFill>
                <a:latin typeface="Arial" pitchFamily="34" charset="0"/>
                <a:ea typeface="Arial" pitchFamily="34" charset="-122"/>
                <a:cs typeface="Arial" pitchFamily="34" charset="-120"/>
              </a:rPr>
              <a:t>   — không phải số liệu của bệnh viện nào</a:t>
            </a:r>
            <a:endParaRPr lang="en-US" sz="1100" dirty="0"/>
          </a:p>
        </p:txBody>
      </p:sp>
      <p:sp>
        <p:nvSpPr>
          <p:cNvPr id="26" name="Shape 24"/>
          <p:cNvSpPr/>
          <p:nvPr/>
        </p:nvSpPr>
        <p:spPr>
          <a:xfrm>
            <a:off x="640080" y="4617720"/>
            <a:ext cx="5318608" cy="868680"/>
          </a:xfrm>
          <a:prstGeom prst="roundRect">
            <a:avLst>
              <a:gd name="adj" fmla="val 10526"/>
            </a:avLst>
          </a:prstGeom>
          <a:solidFill>
            <a:srgbClr val="1C3558">
              <a:alpha val="85000"/>
            </a:srgbClr>
          </a:solidFill>
          <a:ln w="9525">
            <a:solidFill>
              <a:srgbClr val="2E4B74"/>
            </a:solidFill>
            <a:prstDash val="solid"/>
          </a:ln>
        </p:spPr>
      </p:sp>
      <p:sp>
        <p:nvSpPr>
          <p:cNvPr id="27" name="Text 25"/>
          <p:cNvSpPr txBox="1"/>
          <p:nvPr/>
        </p:nvSpPr>
        <p:spPr>
          <a:xfrm>
            <a:off x="914400" y="4617720"/>
            <a:ext cx="4769968" cy="868680"/>
          </a:xfrm>
          <a:prstGeom prst="rect">
            <a:avLst/>
          </a:prstGeom>
          <a:noFill/>
          <a:ln/>
        </p:spPr>
        <p:txBody>
          <a:bodyPr wrap="square" lIns="0" tIns="0" rIns="0" bIns="0" rtlCol="0" anchor="ctr"/>
          <a:lstStyle/>
          <a:p>
            <a:pPr indent="0" marL="0">
              <a:lnSpc>
                <a:spcPts val="1800"/>
              </a:lnSpc>
              <a:buNone/>
            </a:pPr>
            <a:r>
              <a:rPr lang="en-US" sz="1500" b="1" dirty="0">
                <a:solidFill>
                  <a:srgbClr val="FBBF24"/>
                </a:solidFill>
                <a:latin typeface="Arial" pitchFamily="34" charset="0"/>
                <a:ea typeface="Arial" pitchFamily="34" charset="-122"/>
                <a:cs typeface="Arial" pitchFamily="34" charset="-120"/>
              </a:rPr>
              <a:t>Tiền bị treo</a:t>
            </a:r>
            <a:endParaRPr lang="en-US" sz="1500" dirty="0"/>
          </a:p>
          <a:p>
            <a:pPr indent="0" marL="0">
              <a:lnSpc>
                <a:spcPts val="1800"/>
              </a:lnSpc>
              <a:buNone/>
            </a:pPr>
            <a:r>
              <a:rPr lang="en-US" sz="1300" dirty="0">
                <a:solidFill>
                  <a:srgbClr val="A9BCD6"/>
                </a:solidFill>
                <a:latin typeface="Arial" pitchFamily="34" charset="0"/>
                <a:ea typeface="Arial" pitchFamily="34" charset="-122"/>
                <a:cs typeface="Arial" pitchFamily="34" charset="-120"/>
              </a:rPr>
              <a:t>Hồ sơ lỗi chưa gửi được: chậm thanh toán, ảnh hưởng dòng tiền của viện.</a:t>
            </a:r>
            <a:endParaRPr lang="en-US" sz="1500" dirty="0"/>
          </a:p>
        </p:txBody>
      </p:sp>
      <p:sp>
        <p:nvSpPr>
          <p:cNvPr id="28" name="Shape 26"/>
          <p:cNvSpPr/>
          <p:nvPr/>
        </p:nvSpPr>
        <p:spPr>
          <a:xfrm>
            <a:off x="6233008" y="4617720"/>
            <a:ext cx="5318608" cy="868680"/>
          </a:xfrm>
          <a:prstGeom prst="roundRect">
            <a:avLst>
              <a:gd name="adj" fmla="val 10526"/>
            </a:avLst>
          </a:prstGeom>
          <a:solidFill>
            <a:srgbClr val="1C3558">
              <a:alpha val="85000"/>
            </a:srgbClr>
          </a:solidFill>
          <a:ln w="9525">
            <a:solidFill>
              <a:srgbClr val="2E4B74"/>
            </a:solidFill>
            <a:prstDash val="solid"/>
          </a:ln>
        </p:spPr>
      </p:sp>
      <p:sp>
        <p:nvSpPr>
          <p:cNvPr id="29" name="Text 27"/>
          <p:cNvSpPr txBox="1"/>
          <p:nvPr/>
        </p:nvSpPr>
        <p:spPr>
          <a:xfrm>
            <a:off x="6507328" y="4617720"/>
            <a:ext cx="4769968" cy="868680"/>
          </a:xfrm>
          <a:prstGeom prst="rect">
            <a:avLst/>
          </a:prstGeom>
          <a:noFill/>
          <a:ln/>
        </p:spPr>
        <p:txBody>
          <a:bodyPr wrap="square" lIns="0" tIns="0" rIns="0" bIns="0" rtlCol="0" anchor="ctr"/>
          <a:lstStyle/>
          <a:p>
            <a:pPr indent="0" marL="0">
              <a:lnSpc>
                <a:spcPts val="1800"/>
              </a:lnSpc>
              <a:buNone/>
            </a:pPr>
            <a:r>
              <a:rPr lang="en-US" sz="1500" b="1" dirty="0">
                <a:solidFill>
                  <a:srgbClr val="F87171"/>
                </a:solidFill>
                <a:latin typeface="Arial" pitchFamily="34" charset="0"/>
                <a:ea typeface="Arial" pitchFamily="34" charset="-122"/>
                <a:cs typeface="Arial" pitchFamily="34" charset="-120"/>
              </a:rPr>
              <a:t>Tiền bị mất</a:t>
            </a:r>
            <a:endParaRPr lang="en-US" sz="1500" dirty="0"/>
          </a:p>
          <a:p>
            <a:pPr indent="0" marL="0">
              <a:lnSpc>
                <a:spcPts val="1800"/>
              </a:lnSpc>
              <a:buNone/>
            </a:pPr>
            <a:r>
              <a:rPr lang="en-US" sz="1300" dirty="0">
                <a:solidFill>
                  <a:srgbClr val="A9BCD6"/>
                </a:solidFill>
                <a:latin typeface="Arial" pitchFamily="34" charset="0"/>
                <a:ea typeface="Arial" pitchFamily="34" charset="-122"/>
                <a:cs typeface="Arial" pitchFamily="34" charset="-120"/>
              </a:rPr>
              <a:t>Chi phí bị xuất toán sau giám định — phần không lấy lại được.</a:t>
            </a:r>
            <a:endParaRPr lang="en-US" sz="1500" dirty="0"/>
          </a:p>
        </p:txBody>
      </p:sp>
      <p:sp>
        <p:nvSpPr>
          <p:cNvPr id="30" name="Text 28"/>
          <p:cNvSpPr txBox="1"/>
          <p:nvPr/>
        </p:nvSpPr>
        <p:spPr>
          <a:xfrm>
            <a:off x="640080" y="5623560"/>
            <a:ext cx="10911535" cy="384048"/>
          </a:xfrm>
          <a:prstGeom prst="rect">
            <a:avLst/>
          </a:prstGeom>
          <a:noFill/>
          <a:ln/>
        </p:spPr>
        <p:txBody>
          <a:bodyPr wrap="square" lIns="0" tIns="0" rIns="0" bIns="0" rtlCol="0" anchor="ctr"/>
          <a:lstStyle/>
          <a:p>
            <a:pPr algn="ctr" indent="0" marL="0">
              <a:buNone/>
            </a:pPr>
            <a:r>
              <a:rPr lang="en-US" sz="1600" dirty="0">
                <a:solidFill>
                  <a:srgbClr val="FBBF24"/>
                </a:solidFill>
                <a:latin typeface="Arial" pitchFamily="34" charset="0"/>
                <a:ea typeface="Arial" pitchFamily="34" charset="-122"/>
                <a:cs typeface="Arial" pitchFamily="34" charset="-120"/>
              </a:rPr>
              <a:t>Tiền giám định kéo phần rủi ro này về lại trong tầm kiểm soát của bệnh viện</a:t>
            </a:r>
            <a:endParaRPr lang="en-US" sz="1600" dirty="0"/>
          </a:p>
        </p:txBody>
      </p:sp>
      <p:sp>
        <p:nvSpPr>
          <p:cNvPr id="32" name="Text 29"/>
          <p:cNvSpPr txBox="1"/>
          <p:nvPr/>
        </p:nvSpPr>
        <p:spPr>
          <a:xfrm>
            <a:off x="6979615" y="6419088"/>
            <a:ext cx="4572000" cy="256032"/>
          </a:xfrm>
          <a:prstGeom prst="rect">
            <a:avLst/>
          </a:prstGeom>
          <a:noFill/>
          <a:ln/>
        </p:spPr>
        <p:txBody>
          <a:bodyPr wrap="square" lIns="0" tIns="0" rIns="0" bIns="0" rtlCol="0" anchor="ctr"/>
          <a:lstStyle/>
          <a:p>
            <a:pPr algn="r" indent="0" marL="0">
              <a:buNone/>
            </a:pPr>
            <a:r>
              <a:rPr lang="en-US" sz="950" spc="100" kern="0" dirty="0">
                <a:solidFill>
                  <a:srgbClr val="7F93B0"/>
                </a:solidFill>
                <a:latin typeface="Arial" pitchFamily="34" charset="0"/>
                <a:ea typeface="Arial" pitchFamily="34" charset="-122"/>
                <a:cs typeface="Arial" pitchFamily="34" charset="-120"/>
              </a:rPr>
              <a:t>GIẢI PHÁP TIỀN GIÁM ĐỊNH  ·  05 / 12</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11480"/>
            <a:ext cx="10911535" cy="274320"/>
          </a:xfrm>
          <a:prstGeom prst="rect">
            <a:avLst/>
          </a:prstGeom>
          <a:noFill/>
          <a:ln/>
        </p:spPr>
        <p:txBody>
          <a:bodyPr wrap="square" lIns="0" tIns="0" rIns="0" bIns="0" rtlCol="0" anchor="ctr"/>
          <a:lstStyle/>
          <a:p>
            <a:pPr indent="0" marL="0">
              <a:buNone/>
            </a:pPr>
            <a:r>
              <a:rPr lang="en-US" sz="1200" b="1" spc="200" kern="0" dirty="0">
                <a:solidFill>
                  <a:srgbClr val="38BDF8"/>
                </a:solidFill>
                <a:latin typeface="Arial" pitchFamily="34" charset="0"/>
                <a:ea typeface="Arial" pitchFamily="34" charset="-122"/>
                <a:cs typeface="Arial" pitchFamily="34" charset="-120"/>
              </a:rPr>
              <a:t>QUẢN TRỊ</a:t>
            </a:r>
            <a:endParaRPr lang="en-US" sz="1200" dirty="0"/>
          </a:p>
        </p:txBody>
      </p:sp>
      <p:sp>
        <p:nvSpPr>
          <p:cNvPr id="3" name="Text 1"/>
          <p:cNvSpPr txBox="1"/>
          <p:nvPr/>
        </p:nvSpPr>
        <p:spPr>
          <a:xfrm>
            <a:off x="640080" y="713232"/>
            <a:ext cx="10911535" cy="566928"/>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Dashboard trả lời bốn câu hỏi của lãnh đạo</a:t>
            </a:r>
            <a:endParaRPr lang="en-US" sz="2800" dirty="0"/>
          </a:p>
        </p:txBody>
      </p:sp>
      <p:sp>
        <p:nvSpPr>
          <p:cNvPr id="4" name="Text 2"/>
          <p:cNvSpPr txBox="1"/>
          <p:nvPr/>
        </p:nvSpPr>
        <p:spPr>
          <a:xfrm>
            <a:off x="640080" y="1298448"/>
            <a:ext cx="10911535" cy="329184"/>
          </a:xfrm>
          <a:prstGeom prst="rect">
            <a:avLst/>
          </a:prstGeom>
          <a:noFill/>
          <a:ln/>
        </p:spPr>
        <p:txBody>
          <a:bodyPr wrap="square" lIns="0" tIns="0" rIns="0" bIns="0" rtlCol="0" anchor="ctr"/>
          <a:lstStyle/>
          <a:p>
            <a:pPr indent="0" marL="0">
              <a:buNone/>
            </a:pPr>
            <a:r>
              <a:rPr lang="en-US" sz="1500" dirty="0">
                <a:solidFill>
                  <a:srgbClr val="A9BCD6"/>
                </a:solidFill>
                <a:latin typeface="Arial" pitchFamily="34" charset="0"/>
                <a:ea typeface="Arial" pitchFamily="34" charset="-122"/>
                <a:cs typeface="Arial" pitchFamily="34" charset="-120"/>
              </a:rPr>
              <a:t>Dashboard lỗi XML có bốn biểu đồ — mỗi biểu đồ dẫn tới một hành động cụ thể.</a:t>
            </a:r>
            <a:endParaRPr lang="en-US" sz="1500" dirty="0"/>
          </a:p>
        </p:txBody>
      </p:sp>
      <p:sp>
        <p:nvSpPr>
          <p:cNvPr id="5" name="Shape 3"/>
          <p:cNvSpPr/>
          <p:nvPr/>
        </p:nvSpPr>
        <p:spPr>
          <a:xfrm>
            <a:off x="640080" y="1783080"/>
            <a:ext cx="5318608" cy="1920240"/>
          </a:xfrm>
          <a:prstGeom prst="roundRect">
            <a:avLst>
              <a:gd name="adj" fmla="val 4762"/>
            </a:avLst>
          </a:prstGeom>
          <a:solidFill>
            <a:srgbClr val="1C3558">
              <a:alpha val="85000"/>
            </a:srgbClr>
          </a:solidFill>
          <a:ln w="9525">
            <a:solidFill>
              <a:srgbClr val="2E4B74"/>
            </a:solidFill>
            <a:prstDash val="solid"/>
          </a:ln>
        </p:spPr>
      </p:sp>
      <p:sp>
        <p:nvSpPr>
          <p:cNvPr id="6" name="Shape 4"/>
          <p:cNvSpPr/>
          <p:nvPr/>
        </p:nvSpPr>
        <p:spPr>
          <a:xfrm>
            <a:off x="868680" y="2057400"/>
            <a:ext cx="1828800" cy="219456"/>
          </a:xfrm>
          <a:prstGeom prst="rect">
            <a:avLst/>
          </a:prstGeom>
          <a:solidFill>
            <a:srgbClr val="38BDF8">
              <a:alpha val="85000"/>
            </a:srgbClr>
          </a:solidFill>
          <a:ln w="12700">
            <a:solidFill>
              <a:srgbClr val="38BDF8"/>
            </a:solidFill>
            <a:prstDash val="solid"/>
          </a:ln>
        </p:spPr>
      </p:sp>
      <p:sp>
        <p:nvSpPr>
          <p:cNvPr id="7" name="Shape 5"/>
          <p:cNvSpPr/>
          <p:nvPr/>
        </p:nvSpPr>
        <p:spPr>
          <a:xfrm>
            <a:off x="1033272" y="2331720"/>
            <a:ext cx="1499616" cy="219456"/>
          </a:xfrm>
          <a:prstGeom prst="rect">
            <a:avLst/>
          </a:prstGeom>
          <a:solidFill>
            <a:srgbClr val="38BDF8">
              <a:alpha val="77000"/>
            </a:srgbClr>
          </a:solidFill>
          <a:ln w="12700">
            <a:solidFill>
              <a:srgbClr val="38BDF8"/>
            </a:solidFill>
            <a:prstDash val="solid"/>
          </a:ln>
        </p:spPr>
      </p:sp>
      <p:sp>
        <p:nvSpPr>
          <p:cNvPr id="8" name="Shape 6"/>
          <p:cNvSpPr/>
          <p:nvPr/>
        </p:nvSpPr>
        <p:spPr>
          <a:xfrm>
            <a:off x="1179576" y="2606040"/>
            <a:ext cx="1207008" cy="219456"/>
          </a:xfrm>
          <a:prstGeom prst="rect">
            <a:avLst/>
          </a:prstGeom>
          <a:solidFill>
            <a:srgbClr val="38BDF8">
              <a:alpha val="69000"/>
            </a:srgbClr>
          </a:solidFill>
          <a:ln w="12700">
            <a:solidFill>
              <a:srgbClr val="38BDF8"/>
            </a:solidFill>
            <a:prstDash val="solid"/>
          </a:ln>
        </p:spPr>
      </p:sp>
      <p:sp>
        <p:nvSpPr>
          <p:cNvPr id="9" name="Shape 7"/>
          <p:cNvSpPr/>
          <p:nvPr/>
        </p:nvSpPr>
        <p:spPr>
          <a:xfrm>
            <a:off x="1307592" y="2880360"/>
            <a:ext cx="950976" cy="219456"/>
          </a:xfrm>
          <a:prstGeom prst="rect">
            <a:avLst/>
          </a:prstGeom>
          <a:solidFill>
            <a:srgbClr val="38BDF8">
              <a:alpha val="61000"/>
            </a:srgbClr>
          </a:solidFill>
          <a:ln w="12700">
            <a:solidFill>
              <a:srgbClr val="38BDF8"/>
            </a:solidFill>
            <a:prstDash val="solid"/>
          </a:ln>
        </p:spPr>
      </p:sp>
      <p:sp>
        <p:nvSpPr>
          <p:cNvPr id="10" name="Shape 8"/>
          <p:cNvSpPr/>
          <p:nvPr/>
        </p:nvSpPr>
        <p:spPr>
          <a:xfrm>
            <a:off x="1417320" y="3154680"/>
            <a:ext cx="731520" cy="219456"/>
          </a:xfrm>
          <a:prstGeom prst="rect">
            <a:avLst/>
          </a:prstGeom>
          <a:solidFill>
            <a:srgbClr val="4ADE80">
              <a:alpha val="53000"/>
            </a:srgbClr>
          </a:solidFill>
          <a:ln w="12700">
            <a:solidFill>
              <a:srgbClr val="38BDF8"/>
            </a:solidFill>
            <a:prstDash val="solid"/>
          </a:ln>
        </p:spPr>
      </p:sp>
      <p:sp>
        <p:nvSpPr>
          <p:cNvPr id="11" name="Text 9"/>
          <p:cNvSpPr txBox="1"/>
          <p:nvPr/>
        </p:nvSpPr>
        <p:spPr>
          <a:xfrm>
            <a:off x="2971800" y="1984248"/>
            <a:ext cx="2758288"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Phễu xử lý hồ sơ</a:t>
            </a:r>
            <a:endParaRPr lang="en-US" sz="1600" dirty="0"/>
          </a:p>
        </p:txBody>
      </p:sp>
      <p:sp>
        <p:nvSpPr>
          <p:cNvPr id="12" name="Text 10"/>
          <p:cNvSpPr txBox="1"/>
          <p:nvPr/>
        </p:nvSpPr>
        <p:spPr>
          <a:xfrm>
            <a:off x="2971800" y="2377440"/>
            <a:ext cx="2758288" cy="365760"/>
          </a:xfrm>
          <a:prstGeom prst="rect">
            <a:avLst/>
          </a:prstGeom>
          <a:noFill/>
          <a:ln/>
        </p:spPr>
        <p:txBody>
          <a:bodyPr wrap="square" lIns="0" tIns="0" rIns="0" bIns="0" rtlCol="0" anchor="ctr"/>
          <a:lstStyle/>
          <a:p>
            <a:pPr indent="0" marL="0">
              <a:buNone/>
            </a:pPr>
            <a:r>
              <a:rPr lang="en-US" sz="1400" i="1" dirty="0">
                <a:solidFill>
                  <a:srgbClr val="FBBF24"/>
                </a:solidFill>
                <a:latin typeface="Arial" pitchFamily="34" charset="0"/>
                <a:ea typeface="Arial" pitchFamily="34" charset="-122"/>
                <a:cs typeface="Arial" pitchFamily="34" charset="-120"/>
              </a:rPr>
              <a:t>Hồ sơ đang nghẽn ở bậc nào?</a:t>
            </a:r>
            <a:endParaRPr lang="en-US" sz="1400" dirty="0"/>
          </a:p>
        </p:txBody>
      </p:sp>
      <p:sp>
        <p:nvSpPr>
          <p:cNvPr id="13" name="Text 11"/>
          <p:cNvSpPr txBox="1"/>
          <p:nvPr/>
        </p:nvSpPr>
        <p:spPr>
          <a:xfrm>
            <a:off x="2971800" y="2788920"/>
            <a:ext cx="2758288" cy="777240"/>
          </a:xfrm>
          <a:prstGeom prst="rect">
            <a:avLst/>
          </a:prstGeom>
          <a:noFill/>
          <a:ln/>
        </p:spPr>
        <p:txBody>
          <a:bodyPr wrap="square" lIns="0" tIns="0" rIns="0" bIns="0" rtlCol="0" anchor="t"/>
          <a:lstStyle/>
          <a:p>
            <a:pPr indent="0" marL="0">
              <a:lnSpc>
                <a:spcPts val="1700"/>
              </a:lnSpc>
              <a:buNone/>
            </a:pPr>
            <a:r>
              <a:rPr lang="en-US" sz="1250" dirty="0">
                <a:solidFill>
                  <a:srgbClr val="A9BCD6"/>
                </a:solidFill>
                <a:latin typeface="Arial" pitchFamily="34" charset="0"/>
                <a:ea typeface="Arial" pitchFamily="34" charset="-122"/>
                <a:cs typeface="Arial" pitchFamily="34" charset="-120"/>
              </a:rPr>
              <a:t>Đã nạp → Không lỗi nghiêm trọng → Đã xuất → Đã ký → Đã gửi</a:t>
            </a:r>
            <a:endParaRPr lang="en-US" sz="1250" dirty="0"/>
          </a:p>
        </p:txBody>
      </p:sp>
      <p:sp>
        <p:nvSpPr>
          <p:cNvPr id="14" name="Shape 12"/>
          <p:cNvSpPr/>
          <p:nvPr/>
        </p:nvSpPr>
        <p:spPr>
          <a:xfrm>
            <a:off x="6233008" y="1783080"/>
            <a:ext cx="5318608" cy="1920240"/>
          </a:xfrm>
          <a:prstGeom prst="roundRect">
            <a:avLst>
              <a:gd name="adj" fmla="val 4762"/>
            </a:avLst>
          </a:prstGeom>
          <a:solidFill>
            <a:srgbClr val="1C3558">
              <a:alpha val="85000"/>
            </a:srgbClr>
          </a:solidFill>
          <a:ln w="9525">
            <a:solidFill>
              <a:srgbClr val="2E4B74"/>
            </a:solidFill>
            <a:prstDash val="solid"/>
          </a:ln>
        </p:spPr>
      </p:sp>
      <p:sp>
        <p:nvSpPr>
          <p:cNvPr id="15" name="Shape 13"/>
          <p:cNvSpPr/>
          <p:nvPr/>
        </p:nvSpPr>
        <p:spPr>
          <a:xfrm>
            <a:off x="6461608" y="2057400"/>
            <a:ext cx="173736" cy="1371600"/>
          </a:xfrm>
          <a:prstGeom prst="rect">
            <a:avLst/>
          </a:prstGeom>
          <a:solidFill>
            <a:srgbClr val="FBBF24"/>
          </a:solidFill>
          <a:ln w="12700">
            <a:solidFill>
              <a:srgbClr val="38BDF8"/>
            </a:solidFill>
            <a:prstDash val="solid"/>
          </a:ln>
        </p:spPr>
      </p:sp>
      <p:sp>
        <p:nvSpPr>
          <p:cNvPr id="16" name="Shape 14"/>
          <p:cNvSpPr/>
          <p:nvPr/>
        </p:nvSpPr>
        <p:spPr>
          <a:xfrm>
            <a:off x="6690208" y="2441448"/>
            <a:ext cx="173736" cy="987552"/>
          </a:xfrm>
          <a:prstGeom prst="rect">
            <a:avLst/>
          </a:prstGeom>
          <a:solidFill>
            <a:srgbClr val="FBBF24"/>
          </a:solidFill>
          <a:ln w="12700">
            <a:solidFill>
              <a:srgbClr val="38BDF8"/>
            </a:solidFill>
            <a:prstDash val="solid"/>
          </a:ln>
        </p:spPr>
      </p:sp>
      <p:sp>
        <p:nvSpPr>
          <p:cNvPr id="17" name="Shape 15"/>
          <p:cNvSpPr/>
          <p:nvPr/>
        </p:nvSpPr>
        <p:spPr>
          <a:xfrm>
            <a:off x="6918808" y="2743200"/>
            <a:ext cx="173736" cy="685800"/>
          </a:xfrm>
          <a:prstGeom prst="rect">
            <a:avLst/>
          </a:prstGeom>
          <a:solidFill>
            <a:srgbClr val="38BDF8">
              <a:alpha val="70000"/>
            </a:srgbClr>
          </a:solidFill>
          <a:ln w="12700">
            <a:solidFill>
              <a:srgbClr val="38BDF8"/>
            </a:solidFill>
            <a:prstDash val="solid"/>
          </a:ln>
        </p:spPr>
      </p:sp>
      <p:sp>
        <p:nvSpPr>
          <p:cNvPr id="18" name="Shape 16"/>
          <p:cNvSpPr/>
          <p:nvPr/>
        </p:nvSpPr>
        <p:spPr>
          <a:xfrm>
            <a:off x="7147408" y="2935224"/>
            <a:ext cx="173736" cy="493776"/>
          </a:xfrm>
          <a:prstGeom prst="rect">
            <a:avLst/>
          </a:prstGeom>
          <a:solidFill>
            <a:srgbClr val="38BDF8">
              <a:alpha val="70000"/>
            </a:srgbClr>
          </a:solidFill>
          <a:ln w="12700">
            <a:solidFill>
              <a:srgbClr val="38BDF8"/>
            </a:solidFill>
            <a:prstDash val="solid"/>
          </a:ln>
        </p:spPr>
      </p:sp>
      <p:sp>
        <p:nvSpPr>
          <p:cNvPr id="19" name="Shape 17"/>
          <p:cNvSpPr/>
          <p:nvPr/>
        </p:nvSpPr>
        <p:spPr>
          <a:xfrm>
            <a:off x="7376008" y="3072384"/>
            <a:ext cx="173736" cy="356616"/>
          </a:xfrm>
          <a:prstGeom prst="rect">
            <a:avLst/>
          </a:prstGeom>
          <a:solidFill>
            <a:srgbClr val="38BDF8">
              <a:alpha val="70000"/>
            </a:srgbClr>
          </a:solidFill>
          <a:ln w="12700">
            <a:solidFill>
              <a:srgbClr val="38BDF8"/>
            </a:solidFill>
            <a:prstDash val="solid"/>
          </a:ln>
        </p:spPr>
      </p:sp>
      <p:sp>
        <p:nvSpPr>
          <p:cNvPr id="20" name="Shape 18"/>
          <p:cNvSpPr/>
          <p:nvPr/>
        </p:nvSpPr>
        <p:spPr>
          <a:xfrm>
            <a:off x="7604608" y="3168396"/>
            <a:ext cx="173736" cy="260604"/>
          </a:xfrm>
          <a:prstGeom prst="rect">
            <a:avLst/>
          </a:prstGeom>
          <a:solidFill>
            <a:srgbClr val="38BDF8">
              <a:alpha val="70000"/>
            </a:srgbClr>
          </a:solidFill>
          <a:ln w="12700">
            <a:solidFill>
              <a:srgbClr val="38BDF8"/>
            </a:solidFill>
            <a:prstDash val="solid"/>
          </a:ln>
        </p:spPr>
      </p:sp>
      <p:sp>
        <p:nvSpPr>
          <p:cNvPr id="21" name="Shape 19"/>
          <p:cNvSpPr/>
          <p:nvPr/>
        </p:nvSpPr>
        <p:spPr>
          <a:xfrm>
            <a:off x="7833208" y="3236976"/>
            <a:ext cx="173736" cy="192024"/>
          </a:xfrm>
          <a:prstGeom prst="rect">
            <a:avLst/>
          </a:prstGeom>
          <a:solidFill>
            <a:srgbClr val="38BDF8">
              <a:alpha val="70000"/>
            </a:srgbClr>
          </a:solidFill>
          <a:ln w="12700">
            <a:solidFill>
              <a:srgbClr val="38BDF8"/>
            </a:solidFill>
            <a:prstDash val="solid"/>
          </a:ln>
        </p:spPr>
      </p:sp>
      <p:sp>
        <p:nvSpPr>
          <p:cNvPr id="22" name="Shape 20"/>
          <p:cNvSpPr/>
          <p:nvPr/>
        </p:nvSpPr>
        <p:spPr>
          <a:xfrm>
            <a:off x="8061808" y="3291840"/>
            <a:ext cx="173736" cy="137160"/>
          </a:xfrm>
          <a:prstGeom prst="rect">
            <a:avLst/>
          </a:prstGeom>
          <a:solidFill>
            <a:srgbClr val="38BDF8">
              <a:alpha val="70000"/>
            </a:srgbClr>
          </a:solidFill>
          <a:ln w="12700">
            <a:solidFill>
              <a:srgbClr val="38BDF8"/>
            </a:solidFill>
            <a:prstDash val="solid"/>
          </a:ln>
        </p:spPr>
      </p:sp>
      <p:sp>
        <p:nvSpPr>
          <p:cNvPr id="23" name="Text 21"/>
          <p:cNvSpPr txBox="1"/>
          <p:nvPr/>
        </p:nvSpPr>
        <p:spPr>
          <a:xfrm>
            <a:off x="8564728" y="1984248"/>
            <a:ext cx="2758288"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Top 15 mã lỗi (Pareto)</a:t>
            </a:r>
            <a:endParaRPr lang="en-US" sz="1600" dirty="0"/>
          </a:p>
        </p:txBody>
      </p:sp>
      <p:sp>
        <p:nvSpPr>
          <p:cNvPr id="24" name="Text 22"/>
          <p:cNvSpPr txBox="1"/>
          <p:nvPr/>
        </p:nvSpPr>
        <p:spPr>
          <a:xfrm>
            <a:off x="8564728" y="2377440"/>
            <a:ext cx="2758288" cy="365760"/>
          </a:xfrm>
          <a:prstGeom prst="rect">
            <a:avLst/>
          </a:prstGeom>
          <a:noFill/>
          <a:ln/>
        </p:spPr>
        <p:txBody>
          <a:bodyPr wrap="square" lIns="0" tIns="0" rIns="0" bIns="0" rtlCol="0" anchor="ctr"/>
          <a:lstStyle/>
          <a:p>
            <a:pPr indent="0" marL="0">
              <a:buNone/>
            </a:pPr>
            <a:r>
              <a:rPr lang="en-US" sz="1400" i="1" dirty="0">
                <a:solidFill>
                  <a:srgbClr val="FBBF24"/>
                </a:solidFill>
                <a:latin typeface="Arial" pitchFamily="34" charset="0"/>
                <a:ea typeface="Arial" pitchFamily="34" charset="-122"/>
                <a:cs typeface="Arial" pitchFamily="34" charset="-120"/>
              </a:rPr>
              <a:t>Sửa lỗi nào thì được nhiều nhất?</a:t>
            </a:r>
            <a:endParaRPr lang="en-US" sz="1400" dirty="0"/>
          </a:p>
        </p:txBody>
      </p:sp>
      <p:sp>
        <p:nvSpPr>
          <p:cNvPr id="25" name="Text 23"/>
          <p:cNvSpPr txBox="1"/>
          <p:nvPr/>
        </p:nvSpPr>
        <p:spPr>
          <a:xfrm>
            <a:off x="8564728" y="2788920"/>
            <a:ext cx="2758288" cy="777240"/>
          </a:xfrm>
          <a:prstGeom prst="rect">
            <a:avLst/>
          </a:prstGeom>
          <a:noFill/>
          <a:ln/>
        </p:spPr>
        <p:txBody>
          <a:bodyPr wrap="square" lIns="0" tIns="0" rIns="0" bIns="0" rtlCol="0" anchor="t"/>
          <a:lstStyle/>
          <a:p>
            <a:pPr indent="0" marL="0">
              <a:lnSpc>
                <a:spcPts val="1700"/>
              </a:lnSpc>
              <a:buNone/>
            </a:pPr>
            <a:r>
              <a:rPr lang="en-US" sz="1250" dirty="0">
                <a:solidFill>
                  <a:srgbClr val="A9BCD6"/>
                </a:solidFill>
                <a:latin typeface="Arial" pitchFamily="34" charset="0"/>
                <a:ea typeface="Arial" pitchFamily="34" charset="-122"/>
                <a:cs typeface="Arial" pitchFamily="34" charset="-120"/>
              </a:rPr>
              <a:t>Xử lý vài mã đầu bảng giải quyết phần lớn hồ sơ lỗi</a:t>
            </a:r>
            <a:endParaRPr lang="en-US" sz="1250" dirty="0"/>
          </a:p>
        </p:txBody>
      </p:sp>
      <p:sp>
        <p:nvSpPr>
          <p:cNvPr id="26" name="Shape 24"/>
          <p:cNvSpPr/>
          <p:nvPr/>
        </p:nvSpPr>
        <p:spPr>
          <a:xfrm>
            <a:off x="640080" y="3904488"/>
            <a:ext cx="5318608" cy="1920240"/>
          </a:xfrm>
          <a:prstGeom prst="roundRect">
            <a:avLst>
              <a:gd name="adj" fmla="val 4762"/>
            </a:avLst>
          </a:prstGeom>
          <a:solidFill>
            <a:srgbClr val="1C3558">
              <a:alpha val="85000"/>
            </a:srgbClr>
          </a:solidFill>
          <a:ln w="9525">
            <a:solidFill>
              <a:srgbClr val="2E4B74"/>
            </a:solidFill>
            <a:prstDash val="solid"/>
          </a:ln>
        </p:spPr>
      </p:sp>
      <p:sp>
        <p:nvSpPr>
          <p:cNvPr id="27" name="Shape 25"/>
          <p:cNvSpPr/>
          <p:nvPr/>
        </p:nvSpPr>
        <p:spPr>
          <a:xfrm>
            <a:off x="868680" y="4933188"/>
            <a:ext cx="329184" cy="617220"/>
          </a:xfrm>
          <a:prstGeom prst="rect">
            <a:avLst/>
          </a:prstGeom>
          <a:solidFill>
            <a:srgbClr val="38BDF8">
              <a:alpha val="70000"/>
            </a:srgbClr>
          </a:solidFill>
          <a:ln w="12700">
            <a:solidFill>
              <a:srgbClr val="38BDF8"/>
            </a:solidFill>
            <a:prstDash val="solid"/>
          </a:ln>
        </p:spPr>
      </p:sp>
      <p:sp>
        <p:nvSpPr>
          <p:cNvPr id="28" name="Shape 26"/>
          <p:cNvSpPr/>
          <p:nvPr/>
        </p:nvSpPr>
        <p:spPr>
          <a:xfrm>
            <a:off x="1325880" y="4590288"/>
            <a:ext cx="329184" cy="960120"/>
          </a:xfrm>
          <a:prstGeom prst="rect">
            <a:avLst/>
          </a:prstGeom>
          <a:solidFill>
            <a:srgbClr val="38BDF8">
              <a:alpha val="70000"/>
            </a:srgbClr>
          </a:solidFill>
          <a:ln w="12700">
            <a:solidFill>
              <a:srgbClr val="38BDF8"/>
            </a:solidFill>
            <a:prstDash val="solid"/>
          </a:ln>
        </p:spPr>
      </p:sp>
      <p:sp>
        <p:nvSpPr>
          <p:cNvPr id="29" name="Shape 27"/>
          <p:cNvSpPr/>
          <p:nvPr/>
        </p:nvSpPr>
        <p:spPr>
          <a:xfrm>
            <a:off x="1783080" y="4796028"/>
            <a:ext cx="329184" cy="754380"/>
          </a:xfrm>
          <a:prstGeom prst="rect">
            <a:avLst/>
          </a:prstGeom>
          <a:solidFill>
            <a:srgbClr val="38BDF8">
              <a:alpha val="70000"/>
            </a:srgbClr>
          </a:solidFill>
          <a:ln w="12700">
            <a:solidFill>
              <a:srgbClr val="38BDF8"/>
            </a:solidFill>
            <a:prstDash val="solid"/>
          </a:ln>
        </p:spPr>
      </p:sp>
      <p:sp>
        <p:nvSpPr>
          <p:cNvPr id="30" name="Shape 28"/>
          <p:cNvSpPr/>
          <p:nvPr/>
        </p:nvSpPr>
        <p:spPr>
          <a:xfrm>
            <a:off x="2240280" y="4178808"/>
            <a:ext cx="329184" cy="1371600"/>
          </a:xfrm>
          <a:prstGeom prst="rect">
            <a:avLst/>
          </a:prstGeom>
          <a:solidFill>
            <a:srgbClr val="F87171"/>
          </a:solidFill>
          <a:ln w="12700">
            <a:solidFill>
              <a:srgbClr val="38BDF8"/>
            </a:solidFill>
            <a:prstDash val="solid"/>
          </a:ln>
        </p:spPr>
      </p:sp>
      <p:sp>
        <p:nvSpPr>
          <p:cNvPr id="31" name="Text 29"/>
          <p:cNvSpPr txBox="1"/>
          <p:nvPr/>
        </p:nvSpPr>
        <p:spPr>
          <a:xfrm>
            <a:off x="2971800" y="4105656"/>
            <a:ext cx="2758288"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Tồn đọng theo tuổi hồ sơ</a:t>
            </a:r>
            <a:endParaRPr lang="en-US" sz="1600" dirty="0"/>
          </a:p>
        </p:txBody>
      </p:sp>
      <p:sp>
        <p:nvSpPr>
          <p:cNvPr id="32" name="Text 30"/>
          <p:cNvSpPr txBox="1"/>
          <p:nvPr/>
        </p:nvSpPr>
        <p:spPr>
          <a:xfrm>
            <a:off x="2971800" y="4498848"/>
            <a:ext cx="2758288" cy="365760"/>
          </a:xfrm>
          <a:prstGeom prst="rect">
            <a:avLst/>
          </a:prstGeom>
          <a:noFill/>
          <a:ln/>
        </p:spPr>
        <p:txBody>
          <a:bodyPr wrap="square" lIns="0" tIns="0" rIns="0" bIns="0" rtlCol="0" anchor="ctr"/>
          <a:lstStyle/>
          <a:p>
            <a:pPr indent="0" marL="0">
              <a:buNone/>
            </a:pPr>
            <a:r>
              <a:rPr lang="en-US" sz="1400" i="1" dirty="0">
                <a:solidFill>
                  <a:srgbClr val="FBBF24"/>
                </a:solidFill>
                <a:latin typeface="Arial" pitchFamily="34" charset="0"/>
                <a:ea typeface="Arial" pitchFamily="34" charset="-122"/>
                <a:cs typeface="Arial" pitchFamily="34" charset="-120"/>
              </a:rPr>
              <a:t>Hồ sơ nào sắp quá hạn?</a:t>
            </a:r>
            <a:endParaRPr lang="en-US" sz="1400" dirty="0"/>
          </a:p>
        </p:txBody>
      </p:sp>
      <p:sp>
        <p:nvSpPr>
          <p:cNvPr id="33" name="Text 31"/>
          <p:cNvSpPr txBox="1"/>
          <p:nvPr/>
        </p:nvSpPr>
        <p:spPr>
          <a:xfrm>
            <a:off x="2971800" y="4910328"/>
            <a:ext cx="2758288" cy="777240"/>
          </a:xfrm>
          <a:prstGeom prst="rect">
            <a:avLst/>
          </a:prstGeom>
          <a:noFill/>
          <a:ln/>
        </p:spPr>
        <p:txBody>
          <a:bodyPr wrap="square" lIns="0" tIns="0" rIns="0" bIns="0" rtlCol="0" anchor="t"/>
          <a:lstStyle/>
          <a:p>
            <a:pPr indent="0" marL="0">
              <a:lnSpc>
                <a:spcPts val="1700"/>
              </a:lnSpc>
              <a:buNone/>
            </a:pPr>
            <a:r>
              <a:rPr lang="en-US" sz="1250" dirty="0">
                <a:solidFill>
                  <a:srgbClr val="A9BCD6"/>
                </a:solidFill>
                <a:latin typeface="Arial" pitchFamily="34" charset="0"/>
                <a:ea typeface="Arial" pitchFamily="34" charset="-122"/>
                <a:cs typeface="Arial" pitchFamily="34" charset="-120"/>
              </a:rPr>
              <a:t>0–7 · 8–15 · 16–30 · trên 30 ngày — nhóm trên 30 ngày xử lý trước</a:t>
            </a:r>
            <a:endParaRPr lang="en-US" sz="1250" dirty="0"/>
          </a:p>
        </p:txBody>
      </p:sp>
      <p:sp>
        <p:nvSpPr>
          <p:cNvPr id="34" name="Shape 32"/>
          <p:cNvSpPr/>
          <p:nvPr/>
        </p:nvSpPr>
        <p:spPr>
          <a:xfrm>
            <a:off x="6233008" y="3904488"/>
            <a:ext cx="5318608" cy="1920240"/>
          </a:xfrm>
          <a:prstGeom prst="roundRect">
            <a:avLst>
              <a:gd name="adj" fmla="val 4762"/>
            </a:avLst>
          </a:prstGeom>
          <a:solidFill>
            <a:srgbClr val="1C3558">
              <a:alpha val="85000"/>
            </a:srgbClr>
          </a:solidFill>
          <a:ln w="9525">
            <a:solidFill>
              <a:srgbClr val="2E4B74"/>
            </a:solidFill>
            <a:prstDash val="solid"/>
          </a:ln>
        </p:spPr>
      </p:sp>
      <p:sp>
        <p:nvSpPr>
          <p:cNvPr id="35" name="Shape 33"/>
          <p:cNvSpPr/>
          <p:nvPr/>
        </p:nvSpPr>
        <p:spPr>
          <a:xfrm>
            <a:off x="6461608" y="4178808"/>
            <a:ext cx="1828800" cy="201168"/>
          </a:xfrm>
          <a:prstGeom prst="rect">
            <a:avLst/>
          </a:prstGeom>
          <a:solidFill>
            <a:srgbClr val="FBBF24"/>
          </a:solidFill>
          <a:ln w="12700">
            <a:solidFill>
              <a:srgbClr val="38BDF8"/>
            </a:solidFill>
            <a:prstDash val="solid"/>
          </a:ln>
        </p:spPr>
      </p:sp>
      <p:sp>
        <p:nvSpPr>
          <p:cNvPr id="36" name="Shape 34"/>
          <p:cNvSpPr/>
          <p:nvPr/>
        </p:nvSpPr>
        <p:spPr>
          <a:xfrm>
            <a:off x="6461608" y="4453128"/>
            <a:ext cx="1426464" cy="201168"/>
          </a:xfrm>
          <a:prstGeom prst="rect">
            <a:avLst/>
          </a:prstGeom>
          <a:solidFill>
            <a:srgbClr val="38BDF8">
              <a:alpha val="70000"/>
            </a:srgbClr>
          </a:solidFill>
          <a:ln w="12700">
            <a:solidFill>
              <a:srgbClr val="38BDF8"/>
            </a:solidFill>
            <a:prstDash val="solid"/>
          </a:ln>
        </p:spPr>
      </p:sp>
      <p:sp>
        <p:nvSpPr>
          <p:cNvPr id="37" name="Shape 35"/>
          <p:cNvSpPr/>
          <p:nvPr/>
        </p:nvSpPr>
        <p:spPr>
          <a:xfrm>
            <a:off x="6461608" y="4727448"/>
            <a:ext cx="1097280" cy="201168"/>
          </a:xfrm>
          <a:prstGeom prst="rect">
            <a:avLst/>
          </a:prstGeom>
          <a:solidFill>
            <a:srgbClr val="38BDF8">
              <a:alpha val="70000"/>
            </a:srgbClr>
          </a:solidFill>
          <a:ln w="12700">
            <a:solidFill>
              <a:srgbClr val="38BDF8"/>
            </a:solidFill>
            <a:prstDash val="solid"/>
          </a:ln>
        </p:spPr>
      </p:sp>
      <p:sp>
        <p:nvSpPr>
          <p:cNvPr id="38" name="Shape 36"/>
          <p:cNvSpPr/>
          <p:nvPr/>
        </p:nvSpPr>
        <p:spPr>
          <a:xfrm>
            <a:off x="6461608" y="5001768"/>
            <a:ext cx="768096" cy="201168"/>
          </a:xfrm>
          <a:prstGeom prst="rect">
            <a:avLst/>
          </a:prstGeom>
          <a:solidFill>
            <a:srgbClr val="38BDF8">
              <a:alpha val="70000"/>
            </a:srgbClr>
          </a:solidFill>
          <a:ln w="12700">
            <a:solidFill>
              <a:srgbClr val="38BDF8"/>
            </a:solidFill>
            <a:prstDash val="solid"/>
          </a:ln>
        </p:spPr>
      </p:sp>
      <p:sp>
        <p:nvSpPr>
          <p:cNvPr id="39" name="Shape 37"/>
          <p:cNvSpPr/>
          <p:nvPr/>
        </p:nvSpPr>
        <p:spPr>
          <a:xfrm>
            <a:off x="6461608" y="5276088"/>
            <a:ext cx="548640" cy="201168"/>
          </a:xfrm>
          <a:prstGeom prst="rect">
            <a:avLst/>
          </a:prstGeom>
          <a:solidFill>
            <a:srgbClr val="38BDF8">
              <a:alpha val="70000"/>
            </a:srgbClr>
          </a:solidFill>
          <a:ln w="12700">
            <a:solidFill>
              <a:srgbClr val="38BDF8"/>
            </a:solidFill>
            <a:prstDash val="solid"/>
          </a:ln>
        </p:spPr>
      </p:sp>
      <p:sp>
        <p:nvSpPr>
          <p:cNvPr id="40" name="Text 38"/>
          <p:cNvSpPr txBox="1"/>
          <p:nvPr/>
        </p:nvSpPr>
        <p:spPr>
          <a:xfrm>
            <a:off x="8564728" y="4105656"/>
            <a:ext cx="2758288"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Lỗi nghiêm trọng theo khoa</a:t>
            </a:r>
            <a:endParaRPr lang="en-US" sz="1600" dirty="0"/>
          </a:p>
        </p:txBody>
      </p:sp>
      <p:sp>
        <p:nvSpPr>
          <p:cNvPr id="41" name="Text 39"/>
          <p:cNvSpPr txBox="1"/>
          <p:nvPr/>
        </p:nvSpPr>
        <p:spPr>
          <a:xfrm>
            <a:off x="8564728" y="4498848"/>
            <a:ext cx="2758288" cy="365760"/>
          </a:xfrm>
          <a:prstGeom prst="rect">
            <a:avLst/>
          </a:prstGeom>
          <a:noFill/>
          <a:ln/>
        </p:spPr>
        <p:txBody>
          <a:bodyPr wrap="square" lIns="0" tIns="0" rIns="0" bIns="0" rtlCol="0" anchor="ctr"/>
          <a:lstStyle/>
          <a:p>
            <a:pPr indent="0" marL="0">
              <a:buNone/>
            </a:pPr>
            <a:r>
              <a:rPr lang="en-US" sz="1400" i="1" dirty="0">
                <a:solidFill>
                  <a:srgbClr val="FBBF24"/>
                </a:solidFill>
                <a:latin typeface="Arial" pitchFamily="34" charset="0"/>
                <a:ea typeface="Arial" pitchFamily="34" charset="-122"/>
                <a:cs typeface="Arial" pitchFamily="34" charset="-120"/>
              </a:rPr>
              <a:t>Giao việc cho ai?</a:t>
            </a:r>
            <a:endParaRPr lang="en-US" sz="1400" dirty="0"/>
          </a:p>
        </p:txBody>
      </p:sp>
      <p:sp>
        <p:nvSpPr>
          <p:cNvPr id="42" name="Text 40"/>
          <p:cNvSpPr txBox="1"/>
          <p:nvPr/>
        </p:nvSpPr>
        <p:spPr>
          <a:xfrm>
            <a:off x="8564728" y="4910328"/>
            <a:ext cx="2758288" cy="777240"/>
          </a:xfrm>
          <a:prstGeom prst="rect">
            <a:avLst/>
          </a:prstGeom>
          <a:noFill/>
          <a:ln/>
        </p:spPr>
        <p:txBody>
          <a:bodyPr wrap="square" lIns="0" tIns="0" rIns="0" bIns="0" rtlCol="0" anchor="t"/>
          <a:lstStyle/>
          <a:p>
            <a:pPr indent="0" marL="0">
              <a:lnSpc>
                <a:spcPts val="1700"/>
              </a:lnSpc>
              <a:buNone/>
            </a:pPr>
            <a:r>
              <a:rPr lang="en-US" sz="1250" dirty="0">
                <a:solidFill>
                  <a:srgbClr val="A9BCD6"/>
                </a:solidFill>
                <a:latin typeface="Arial" pitchFamily="34" charset="0"/>
                <a:ea typeface="Arial" pitchFamily="34" charset="-122"/>
                <a:cs typeface="Arial" pitchFamily="34" charset="-120"/>
              </a:rPr>
              <a:t>Phân bổ lỗi theo khoa thực hiện để giao đúng đầu mối</a:t>
            </a:r>
            <a:endParaRPr lang="en-US" sz="1250" dirty="0"/>
          </a:p>
        </p:txBody>
      </p:sp>
      <p:sp>
        <p:nvSpPr>
          <p:cNvPr id="43" name="Text 41"/>
          <p:cNvSpPr txBox="1"/>
          <p:nvPr/>
        </p:nvSpPr>
        <p:spPr>
          <a:xfrm>
            <a:off x="640080" y="6035040"/>
            <a:ext cx="10911535" cy="256032"/>
          </a:xfrm>
          <a:prstGeom prst="rect">
            <a:avLst/>
          </a:prstGeom>
          <a:noFill/>
          <a:ln/>
        </p:spPr>
        <p:txBody>
          <a:bodyPr wrap="square" lIns="0" tIns="0" rIns="0" bIns="0" rtlCol="0" anchor="ctr"/>
          <a:lstStyle/>
          <a:p>
            <a:pPr indent="0" marL="0">
              <a:buNone/>
            </a:pPr>
            <a:r>
              <a:rPr lang="en-US" sz="1050" i="1" dirty="0">
                <a:solidFill>
                  <a:srgbClr val="7F93B0"/>
                </a:solidFill>
                <a:latin typeface="Arial" pitchFamily="34" charset="0"/>
                <a:ea typeface="Arial" pitchFamily="34" charset="-122"/>
                <a:cs typeface="Arial" pitchFamily="34" charset="-120"/>
              </a:rPr>
              <a:t>Hình bên trái mỗi ô là minh hoạ dạng biểu đồ, không phải số liệu thật.</a:t>
            </a:r>
            <a:endParaRPr lang="en-US" sz="1050" dirty="0"/>
          </a:p>
        </p:txBody>
      </p:sp>
      <p:sp>
        <p:nvSpPr>
          <p:cNvPr id="45" name="Text 42"/>
          <p:cNvSpPr txBox="1"/>
          <p:nvPr/>
        </p:nvSpPr>
        <p:spPr>
          <a:xfrm>
            <a:off x="6979615" y="6419088"/>
            <a:ext cx="4572000" cy="256032"/>
          </a:xfrm>
          <a:prstGeom prst="rect">
            <a:avLst/>
          </a:prstGeom>
          <a:noFill/>
          <a:ln/>
        </p:spPr>
        <p:txBody>
          <a:bodyPr wrap="square" lIns="0" tIns="0" rIns="0" bIns="0" rtlCol="0" anchor="ctr"/>
          <a:lstStyle/>
          <a:p>
            <a:pPr algn="r" indent="0" marL="0">
              <a:buNone/>
            </a:pPr>
            <a:r>
              <a:rPr lang="en-US" sz="950" spc="100" kern="0" dirty="0">
                <a:solidFill>
                  <a:srgbClr val="7F93B0"/>
                </a:solidFill>
                <a:latin typeface="Arial" pitchFamily="34" charset="0"/>
                <a:ea typeface="Arial" pitchFamily="34" charset="-122"/>
                <a:cs typeface="Arial" pitchFamily="34" charset="-120"/>
              </a:rPr>
              <a:t>GIẢI PHÁP TIỀN GIÁM ĐỊNH  ·  06 / 12</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11480"/>
            <a:ext cx="10911535" cy="274320"/>
          </a:xfrm>
          <a:prstGeom prst="rect">
            <a:avLst/>
          </a:prstGeom>
          <a:noFill/>
          <a:ln/>
        </p:spPr>
        <p:txBody>
          <a:bodyPr wrap="square" lIns="0" tIns="0" rIns="0" bIns="0" rtlCol="0" anchor="ctr"/>
          <a:lstStyle/>
          <a:p>
            <a:pPr indent="0" marL="0">
              <a:buNone/>
            </a:pPr>
            <a:r>
              <a:rPr lang="en-US" sz="1200" b="1" spc="200" kern="0" dirty="0">
                <a:solidFill>
                  <a:srgbClr val="38BDF8"/>
                </a:solidFill>
                <a:latin typeface="Arial" pitchFamily="34" charset="0"/>
                <a:ea typeface="Arial" pitchFamily="34" charset="-122"/>
                <a:cs typeface="Arial" pitchFamily="34" charset="-120"/>
              </a:rPr>
              <a:t>NHẬN LỖI</a:t>
            </a:r>
            <a:endParaRPr lang="en-US" sz="1200" dirty="0"/>
          </a:p>
        </p:txBody>
      </p:sp>
      <p:sp>
        <p:nvSpPr>
          <p:cNvPr id="3" name="Text 1"/>
          <p:cNvSpPr txBox="1"/>
          <p:nvPr/>
        </p:nvSpPr>
        <p:spPr>
          <a:xfrm>
            <a:off x="640080" y="713232"/>
            <a:ext cx="10911535" cy="566928"/>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Danh sách lỗi đến tay người cần biết theo hai cách</a:t>
            </a:r>
            <a:endParaRPr lang="en-US" sz="2800" dirty="0"/>
          </a:p>
        </p:txBody>
      </p:sp>
      <p:sp>
        <p:nvSpPr>
          <p:cNvPr id="4" name="Text 2"/>
          <p:cNvSpPr txBox="1"/>
          <p:nvPr/>
        </p:nvSpPr>
        <p:spPr>
          <a:xfrm>
            <a:off x="640080" y="1298448"/>
            <a:ext cx="10911535" cy="329184"/>
          </a:xfrm>
          <a:prstGeom prst="rect">
            <a:avLst/>
          </a:prstGeom>
          <a:noFill/>
          <a:ln/>
        </p:spPr>
        <p:txBody>
          <a:bodyPr wrap="square" lIns="0" tIns="0" rIns="0" bIns="0" rtlCol="0" anchor="ctr"/>
          <a:lstStyle/>
          <a:p>
            <a:pPr indent="0" marL="0">
              <a:buNone/>
            </a:pPr>
            <a:r>
              <a:rPr lang="en-US" sz="1500" dirty="0">
                <a:solidFill>
                  <a:srgbClr val="A9BCD6"/>
                </a:solidFill>
                <a:latin typeface="Arial" pitchFamily="34" charset="0"/>
                <a:ea typeface="Arial" pitchFamily="34" charset="-122"/>
                <a:cs typeface="Arial" pitchFamily="34" charset="-120"/>
              </a:rPr>
              <a:t>Người cần xem thì tự vào Cổng; người cần được nhắc thì hệ thống tự gửi email — không ai phải đi hỏi.</a:t>
            </a:r>
            <a:endParaRPr lang="en-US" sz="1500" dirty="0"/>
          </a:p>
        </p:txBody>
      </p:sp>
      <p:sp>
        <p:nvSpPr>
          <p:cNvPr id="5" name="Shape 3"/>
          <p:cNvSpPr/>
          <p:nvPr/>
        </p:nvSpPr>
        <p:spPr>
          <a:xfrm>
            <a:off x="640080" y="1828800"/>
            <a:ext cx="5295748" cy="3611880"/>
          </a:xfrm>
          <a:prstGeom prst="roundRect">
            <a:avLst>
              <a:gd name="adj" fmla="val 2532"/>
            </a:avLst>
          </a:prstGeom>
          <a:solidFill>
            <a:srgbClr val="1C3558">
              <a:alpha val="85000"/>
            </a:srgbClr>
          </a:solidFill>
          <a:ln w="9525">
            <a:solidFill>
              <a:srgbClr val="2E4B74"/>
            </a:solidFill>
            <a:prstDash val="solid"/>
          </a:ln>
        </p:spPr>
      </p:sp>
      <p:sp>
        <p:nvSpPr>
          <p:cNvPr id="6" name="Shape 4"/>
          <p:cNvSpPr/>
          <p:nvPr/>
        </p:nvSpPr>
        <p:spPr>
          <a:xfrm>
            <a:off x="914400" y="2084832"/>
            <a:ext cx="731520" cy="731520"/>
          </a:xfrm>
          <a:prstGeom prst="ellipse">
            <a:avLst/>
          </a:prstGeom>
          <a:solidFill>
            <a:srgbClr val="25324A"/>
          </a:solidFill>
          <a:ln w="15875">
            <a:solidFill>
              <a:srgbClr val="38BDF8"/>
            </a:solidFill>
            <a:prstDash val="solid"/>
          </a:ln>
        </p:spPr>
      </p:sp>
      <p:sp>
        <p:nvSpPr>
          <p:cNvPr id="7" name="Text 5"/>
          <p:cNvSpPr txBox="1"/>
          <p:nvPr/>
        </p:nvSpPr>
        <p:spPr>
          <a:xfrm>
            <a:off x="914400" y="2084832"/>
            <a:ext cx="731520" cy="731520"/>
          </a:xfrm>
          <a:prstGeom prst="rect">
            <a:avLst/>
          </a:prstGeom>
          <a:noFill/>
          <a:ln/>
        </p:spPr>
        <p:txBody>
          <a:bodyPr wrap="square" lIns="0" tIns="0" rIns="0" bIns="0" rtlCol="0" anchor="ctr"/>
          <a:lstStyle/>
          <a:p>
            <a:pPr algn="ctr" indent="0" marL="0">
              <a:buNone/>
            </a:pPr>
            <a:r>
              <a:rPr lang="en-US" sz="2200" dirty="0">
                <a:solidFill>
                  <a:srgbClr val="000000"/>
                </a:solidFill>
                <a:latin typeface="Segoe UI Emoji" pitchFamily="34" charset="0"/>
                <a:ea typeface="Segoe UI Emoji" pitchFamily="34" charset="-122"/>
                <a:cs typeface="Segoe UI Emoji" pitchFamily="34" charset="-120"/>
              </a:rPr>
              <a:t>🖥️</a:t>
            </a:r>
            <a:endParaRPr lang="en-US" sz="2200" dirty="0"/>
          </a:p>
        </p:txBody>
      </p:sp>
      <p:sp>
        <p:nvSpPr>
          <p:cNvPr id="8" name="Text 6"/>
          <p:cNvSpPr txBox="1"/>
          <p:nvPr/>
        </p:nvSpPr>
        <p:spPr>
          <a:xfrm>
            <a:off x="1828800" y="2057400"/>
            <a:ext cx="3878428" cy="786384"/>
          </a:xfrm>
          <a:prstGeom prst="rect">
            <a:avLst/>
          </a:prstGeom>
          <a:noFill/>
          <a:ln/>
        </p:spPr>
        <p:txBody>
          <a:bodyPr wrap="square" lIns="0" tIns="0" rIns="0" bIns="0" rtlCol="0" anchor="ctr"/>
          <a:lstStyle/>
          <a:p>
            <a:pPr indent="0" marL="0">
              <a:lnSpc>
                <a:spcPts val="2400"/>
              </a:lnSpc>
              <a:buNone/>
            </a:pPr>
            <a:r>
              <a:rPr lang="en-US" sz="1150" b="1" spc="200" kern="0" dirty="0">
                <a:solidFill>
                  <a:srgbClr val="38BDF8"/>
                </a:solidFill>
                <a:latin typeface="Arial" pitchFamily="34" charset="0"/>
                <a:ea typeface="Arial" pitchFamily="34" charset="-122"/>
                <a:cs typeface="Arial" pitchFamily="34" charset="-120"/>
              </a:rPr>
              <a:t>CHỦ ĐỘNG</a:t>
            </a:r>
            <a:endParaRPr lang="en-US" sz="1150" dirty="0"/>
          </a:p>
          <a:p>
            <a:pPr indent="0" marL="0">
              <a:lnSpc>
                <a:spcPts val="2400"/>
              </a:lnSpc>
              <a:buNone/>
            </a:pPr>
            <a:r>
              <a:rPr lang="en-US" sz="1900" b="1" dirty="0">
                <a:solidFill>
                  <a:srgbClr val="FFFFFF"/>
                </a:solidFill>
                <a:latin typeface="Arial" pitchFamily="34" charset="0"/>
                <a:ea typeface="Arial" pitchFamily="34" charset="-122"/>
                <a:cs typeface="Arial" pitchFamily="34" charset="-120"/>
              </a:rPr>
              <a:t>Vào Cổng Tiền giám định</a:t>
            </a:r>
            <a:endParaRPr lang="en-US" sz="1150" dirty="0"/>
          </a:p>
        </p:txBody>
      </p:sp>
      <p:sp>
        <p:nvSpPr>
          <p:cNvPr id="9" name="Text 7"/>
          <p:cNvSpPr txBox="1"/>
          <p:nvPr/>
        </p:nvSpPr>
        <p:spPr>
          <a:xfrm>
            <a:off x="960120" y="3063240"/>
            <a:ext cx="4655668" cy="731520"/>
          </a:xfrm>
          <a:prstGeom prst="rect">
            <a:avLst/>
          </a:prstGeom>
          <a:noFill/>
          <a:ln/>
        </p:spPr>
        <p:txBody>
          <a:bodyPr wrap="square" lIns="0" tIns="0" rIns="0" bIns="0" rtlCol="0" anchor="t"/>
          <a:lstStyle/>
          <a:p>
            <a:pPr indent="0" marL="0">
              <a:lnSpc>
                <a:spcPts val="1800"/>
              </a:lnSpc>
              <a:buNone/>
            </a:pPr>
            <a:r>
              <a:rPr lang="en-US" sz="1500" b="1" dirty="0">
                <a:solidFill>
                  <a:srgbClr val="FFFFFF"/>
                </a:solidFill>
                <a:latin typeface="Arial" pitchFamily="34" charset="0"/>
                <a:ea typeface="Arial" pitchFamily="34" charset="-122"/>
                <a:cs typeface="Arial" pitchFamily="34" charset="-120"/>
              </a:rPr>
              <a:t>Danh sách hồ sơ, danh sách vi phạm</a:t>
            </a:r>
            <a:endParaRPr lang="en-US" sz="1500" dirty="0"/>
          </a:p>
          <a:p>
            <a:pPr indent="0" marL="0">
              <a:lnSpc>
                <a:spcPts val="1800"/>
              </a:lnSpc>
              <a:buNone/>
            </a:pPr>
            <a:r>
              <a:rPr lang="en-US" sz="1300" dirty="0">
                <a:solidFill>
                  <a:srgbClr val="A9BCD6"/>
                </a:solidFill>
                <a:latin typeface="Arial" pitchFamily="34" charset="0"/>
                <a:ea typeface="Arial" pitchFamily="34" charset="-122"/>
                <a:cs typeface="Arial" pitchFamily="34" charset="-120"/>
              </a:rPr>
              <a:t>Lọc theo khoa, mức độ, ngày; xuất Excel để giao việc.</a:t>
            </a:r>
            <a:endParaRPr lang="en-US" sz="1500" dirty="0"/>
          </a:p>
        </p:txBody>
      </p:sp>
      <p:sp>
        <p:nvSpPr>
          <p:cNvPr id="10" name="Text 8"/>
          <p:cNvSpPr txBox="1"/>
          <p:nvPr/>
        </p:nvSpPr>
        <p:spPr>
          <a:xfrm>
            <a:off x="960120" y="3831336"/>
            <a:ext cx="4655668" cy="731520"/>
          </a:xfrm>
          <a:prstGeom prst="rect">
            <a:avLst/>
          </a:prstGeom>
          <a:noFill/>
          <a:ln/>
        </p:spPr>
        <p:txBody>
          <a:bodyPr wrap="square" lIns="0" tIns="0" rIns="0" bIns="0" rtlCol="0" anchor="t"/>
          <a:lstStyle/>
          <a:p>
            <a:pPr indent="0" marL="0">
              <a:lnSpc>
                <a:spcPts val="1800"/>
              </a:lnSpc>
              <a:buNone/>
            </a:pPr>
            <a:r>
              <a:rPr lang="en-US" sz="1500" b="1" dirty="0">
                <a:solidFill>
                  <a:srgbClr val="FFFFFF"/>
                </a:solidFill>
                <a:latin typeface="Arial" pitchFamily="34" charset="0"/>
                <a:ea typeface="Arial" pitchFamily="34" charset="-122"/>
                <a:cs typeface="Arial" pitchFamily="34" charset="-120"/>
              </a:rPr>
              <a:t>Tra cứu theo mã điều trị</a:t>
            </a:r>
            <a:endParaRPr lang="en-US" sz="1500" dirty="0"/>
          </a:p>
          <a:p>
            <a:pPr indent="0" marL="0">
              <a:lnSpc>
                <a:spcPts val="1800"/>
              </a:lnSpc>
              <a:buNone/>
            </a:pPr>
            <a:r>
              <a:rPr lang="en-US" sz="1300" dirty="0">
                <a:solidFill>
                  <a:srgbClr val="A9BCD6"/>
                </a:solidFill>
                <a:latin typeface="Arial" pitchFamily="34" charset="0"/>
                <a:ea typeface="Arial" pitchFamily="34" charset="-122"/>
                <a:cs typeface="Arial" pitchFamily="34" charset="-120"/>
              </a:rPr>
              <a:t>Quét mã vạch, thấy mọi lỗi của một hồ sơ; in phiếu lỗi.</a:t>
            </a:r>
            <a:endParaRPr lang="en-US" sz="1500" dirty="0"/>
          </a:p>
        </p:txBody>
      </p:sp>
      <p:sp>
        <p:nvSpPr>
          <p:cNvPr id="11" name="Text 9"/>
          <p:cNvSpPr txBox="1"/>
          <p:nvPr/>
        </p:nvSpPr>
        <p:spPr>
          <a:xfrm>
            <a:off x="960120" y="4599432"/>
            <a:ext cx="4655668" cy="731520"/>
          </a:xfrm>
          <a:prstGeom prst="rect">
            <a:avLst/>
          </a:prstGeom>
          <a:noFill/>
          <a:ln/>
        </p:spPr>
        <p:txBody>
          <a:bodyPr wrap="square" lIns="0" tIns="0" rIns="0" bIns="0" rtlCol="0" anchor="t"/>
          <a:lstStyle/>
          <a:p>
            <a:pPr indent="0" marL="0">
              <a:lnSpc>
                <a:spcPts val="1800"/>
              </a:lnSpc>
              <a:buNone/>
            </a:pPr>
            <a:r>
              <a:rPr lang="en-US" sz="1500" b="1" dirty="0">
                <a:solidFill>
                  <a:srgbClr val="FFFFFF"/>
                </a:solidFill>
                <a:latin typeface="Arial" pitchFamily="34" charset="0"/>
                <a:ea typeface="Arial" pitchFamily="34" charset="-122"/>
                <a:cs typeface="Arial" pitchFamily="34" charset="-120"/>
              </a:rPr>
              <a:t>Dashboard</a:t>
            </a:r>
            <a:endParaRPr lang="en-US" sz="1500" dirty="0"/>
          </a:p>
          <a:p>
            <a:pPr indent="0" marL="0">
              <a:lnSpc>
                <a:spcPts val="1800"/>
              </a:lnSpc>
              <a:buNone/>
            </a:pPr>
            <a:r>
              <a:rPr lang="en-US" sz="1300" dirty="0">
                <a:solidFill>
                  <a:srgbClr val="A9BCD6"/>
                </a:solidFill>
                <a:latin typeface="Arial" pitchFamily="34" charset="0"/>
                <a:ea typeface="Arial" pitchFamily="34" charset="-122"/>
                <a:cs typeface="Arial" pitchFamily="34" charset="-120"/>
              </a:rPr>
              <a:t>Lỗi tập trung ở đâu, tồn đọng bao lâu — xem bất cứ lúc nào.</a:t>
            </a:r>
            <a:endParaRPr lang="en-US" sz="1500" dirty="0"/>
          </a:p>
        </p:txBody>
      </p:sp>
      <p:sp>
        <p:nvSpPr>
          <p:cNvPr id="12" name="Shape 10"/>
          <p:cNvSpPr/>
          <p:nvPr/>
        </p:nvSpPr>
        <p:spPr>
          <a:xfrm>
            <a:off x="6255868" y="1828800"/>
            <a:ext cx="5295748" cy="3611880"/>
          </a:xfrm>
          <a:prstGeom prst="roundRect">
            <a:avLst>
              <a:gd name="adj" fmla="val 2532"/>
            </a:avLst>
          </a:prstGeom>
          <a:solidFill>
            <a:srgbClr val="25324A">
              <a:alpha val="85000"/>
            </a:srgbClr>
          </a:solidFill>
          <a:ln w="19050">
            <a:solidFill>
              <a:srgbClr val="FBBF24"/>
            </a:solidFill>
            <a:prstDash val="solid"/>
          </a:ln>
        </p:spPr>
      </p:sp>
      <p:sp>
        <p:nvSpPr>
          <p:cNvPr id="13" name="Shape 11"/>
          <p:cNvSpPr/>
          <p:nvPr/>
        </p:nvSpPr>
        <p:spPr>
          <a:xfrm>
            <a:off x="6530188" y="2084832"/>
            <a:ext cx="731520" cy="731520"/>
          </a:xfrm>
          <a:prstGeom prst="ellipse">
            <a:avLst/>
          </a:prstGeom>
          <a:solidFill>
            <a:srgbClr val="25324A"/>
          </a:solidFill>
          <a:ln w="15875">
            <a:solidFill>
              <a:srgbClr val="FBBF24"/>
            </a:solidFill>
            <a:prstDash val="solid"/>
          </a:ln>
        </p:spPr>
      </p:sp>
      <p:sp>
        <p:nvSpPr>
          <p:cNvPr id="14" name="Text 12"/>
          <p:cNvSpPr txBox="1"/>
          <p:nvPr/>
        </p:nvSpPr>
        <p:spPr>
          <a:xfrm>
            <a:off x="6530188" y="2084832"/>
            <a:ext cx="731520" cy="731520"/>
          </a:xfrm>
          <a:prstGeom prst="rect">
            <a:avLst/>
          </a:prstGeom>
          <a:noFill/>
          <a:ln/>
        </p:spPr>
        <p:txBody>
          <a:bodyPr wrap="square" lIns="0" tIns="0" rIns="0" bIns="0" rtlCol="0" anchor="ctr"/>
          <a:lstStyle/>
          <a:p>
            <a:pPr algn="ctr" indent="0" marL="0">
              <a:buNone/>
            </a:pPr>
            <a:r>
              <a:rPr lang="en-US" sz="2200" dirty="0">
                <a:solidFill>
                  <a:srgbClr val="000000"/>
                </a:solidFill>
                <a:latin typeface="Segoe UI Emoji" pitchFamily="34" charset="0"/>
                <a:ea typeface="Segoe UI Emoji" pitchFamily="34" charset="-122"/>
                <a:cs typeface="Segoe UI Emoji" pitchFamily="34" charset="-120"/>
              </a:rPr>
              <a:t>📧</a:t>
            </a:r>
            <a:endParaRPr lang="en-US" sz="2200" dirty="0"/>
          </a:p>
        </p:txBody>
      </p:sp>
      <p:sp>
        <p:nvSpPr>
          <p:cNvPr id="15" name="Text 13"/>
          <p:cNvSpPr txBox="1"/>
          <p:nvPr/>
        </p:nvSpPr>
        <p:spPr>
          <a:xfrm>
            <a:off x="7444588" y="2057400"/>
            <a:ext cx="3878428" cy="786384"/>
          </a:xfrm>
          <a:prstGeom prst="rect">
            <a:avLst/>
          </a:prstGeom>
          <a:noFill/>
          <a:ln/>
        </p:spPr>
        <p:txBody>
          <a:bodyPr wrap="square" lIns="0" tIns="0" rIns="0" bIns="0" rtlCol="0" anchor="ctr"/>
          <a:lstStyle/>
          <a:p>
            <a:pPr indent="0" marL="0">
              <a:lnSpc>
                <a:spcPts val="2400"/>
              </a:lnSpc>
              <a:buNone/>
            </a:pPr>
            <a:r>
              <a:rPr lang="en-US" sz="1150" b="1" spc="200" kern="0" dirty="0">
                <a:solidFill>
                  <a:srgbClr val="FBBF24"/>
                </a:solidFill>
                <a:latin typeface="Arial" pitchFamily="34" charset="0"/>
                <a:ea typeface="Arial" pitchFamily="34" charset="-122"/>
                <a:cs typeface="Arial" pitchFamily="34" charset="-120"/>
              </a:rPr>
              <a:t>THỤ ĐỘNG</a:t>
            </a:r>
            <a:endParaRPr lang="en-US" sz="1150" dirty="0"/>
          </a:p>
          <a:p>
            <a:pPr indent="0" marL="0">
              <a:lnSpc>
                <a:spcPts val="2400"/>
              </a:lnSpc>
              <a:buNone/>
            </a:pPr>
            <a:r>
              <a:rPr lang="en-US" sz="1900" b="1" dirty="0">
                <a:solidFill>
                  <a:srgbClr val="FFFFFF"/>
                </a:solidFill>
                <a:latin typeface="Arial" pitchFamily="34" charset="0"/>
                <a:ea typeface="Arial" pitchFamily="34" charset="-122"/>
                <a:cs typeface="Arial" pitchFamily="34" charset="-120"/>
              </a:rPr>
              <a:t>Nhận email do hệ thống tự gửi</a:t>
            </a:r>
            <a:endParaRPr lang="en-US" sz="1150" dirty="0"/>
          </a:p>
        </p:txBody>
      </p:sp>
      <p:sp>
        <p:nvSpPr>
          <p:cNvPr id="16" name="Text 14"/>
          <p:cNvSpPr txBox="1"/>
          <p:nvPr/>
        </p:nvSpPr>
        <p:spPr>
          <a:xfrm>
            <a:off x="6575908" y="3063240"/>
            <a:ext cx="4655668" cy="731520"/>
          </a:xfrm>
          <a:prstGeom prst="rect">
            <a:avLst/>
          </a:prstGeom>
          <a:noFill/>
          <a:ln/>
        </p:spPr>
        <p:txBody>
          <a:bodyPr wrap="square" lIns="0" tIns="0" rIns="0" bIns="0" rtlCol="0" anchor="t"/>
          <a:lstStyle/>
          <a:p>
            <a:pPr indent="0" marL="0">
              <a:lnSpc>
                <a:spcPts val="1800"/>
              </a:lnSpc>
              <a:buNone/>
            </a:pPr>
            <a:r>
              <a:rPr lang="en-US" sz="1500" b="1" dirty="0">
                <a:solidFill>
                  <a:srgbClr val="FFFFFF"/>
                </a:solidFill>
                <a:latin typeface="Arial" pitchFamily="34" charset="0"/>
                <a:ea typeface="Arial" pitchFamily="34" charset="-122"/>
                <a:cs typeface="Arial" pitchFamily="34" charset="-120"/>
              </a:rPr>
              <a:t>Báo cáo lỗi hằng ngày</a:t>
            </a:r>
            <a:endParaRPr lang="en-US" sz="1500" dirty="0"/>
          </a:p>
          <a:p>
            <a:pPr indent="0" marL="0">
              <a:lnSpc>
                <a:spcPts val="1800"/>
              </a:lnSpc>
              <a:buNone/>
            </a:pPr>
            <a:r>
              <a:rPr lang="en-US" sz="1300" dirty="0">
                <a:solidFill>
                  <a:srgbClr val="A9BCD6"/>
                </a:solidFill>
                <a:latin typeface="Arial" pitchFamily="34" charset="0"/>
                <a:ea typeface="Arial" pitchFamily="34" charset="-122"/>
                <a:cs typeface="Arial" pitchFamily="34" charset="-120"/>
              </a:rPr>
              <a:t>Tổng hợp lỗi thẻ BHYT và lỗi hồ sơ XML 3176 trong ngày.</a:t>
            </a:r>
            <a:endParaRPr lang="en-US" sz="1500" dirty="0"/>
          </a:p>
        </p:txBody>
      </p:sp>
      <p:sp>
        <p:nvSpPr>
          <p:cNvPr id="17" name="Text 15"/>
          <p:cNvSpPr txBox="1"/>
          <p:nvPr/>
        </p:nvSpPr>
        <p:spPr>
          <a:xfrm>
            <a:off x="6575908" y="3831336"/>
            <a:ext cx="4655668" cy="731520"/>
          </a:xfrm>
          <a:prstGeom prst="rect">
            <a:avLst/>
          </a:prstGeom>
          <a:noFill/>
          <a:ln/>
        </p:spPr>
        <p:txBody>
          <a:bodyPr wrap="square" lIns="0" tIns="0" rIns="0" bIns="0" rtlCol="0" anchor="t"/>
          <a:lstStyle/>
          <a:p>
            <a:pPr indent="0" marL="0">
              <a:lnSpc>
                <a:spcPts val="1800"/>
              </a:lnSpc>
              <a:buNone/>
            </a:pPr>
            <a:r>
              <a:rPr lang="en-US" sz="1500" b="1" dirty="0">
                <a:solidFill>
                  <a:srgbClr val="FFFFFF"/>
                </a:solidFill>
                <a:latin typeface="Arial" pitchFamily="34" charset="0"/>
                <a:ea typeface="Arial" pitchFamily="34" charset="-122"/>
                <a:cs typeface="Arial" pitchFamily="34" charset="-120"/>
              </a:rPr>
              <a:t>Bản tin sai sót y lệnh</a:t>
            </a:r>
            <a:endParaRPr lang="en-US" sz="1500" dirty="0"/>
          </a:p>
          <a:p>
            <a:pPr indent="0" marL="0">
              <a:lnSpc>
                <a:spcPts val="1800"/>
              </a:lnSpc>
              <a:buNone/>
            </a:pPr>
            <a:r>
              <a:rPr lang="en-US" sz="1300" dirty="0">
                <a:solidFill>
                  <a:srgbClr val="A9BCD6"/>
                </a:solidFill>
                <a:latin typeface="Arial" pitchFamily="34" charset="0"/>
                <a:ea typeface="Arial" pitchFamily="34" charset="-122"/>
                <a:cs typeface="Arial" pitchFamily="34" charset="-120"/>
              </a:rPr>
              <a:t>Gửi các vi phạm mới từ mức độ do viện đặt trở lên.</a:t>
            </a:r>
            <a:endParaRPr lang="en-US" sz="1500" dirty="0"/>
          </a:p>
        </p:txBody>
      </p:sp>
      <p:sp>
        <p:nvSpPr>
          <p:cNvPr id="18" name="Text 16"/>
          <p:cNvSpPr txBox="1"/>
          <p:nvPr/>
        </p:nvSpPr>
        <p:spPr>
          <a:xfrm>
            <a:off x="6575908" y="4599432"/>
            <a:ext cx="4655668" cy="731520"/>
          </a:xfrm>
          <a:prstGeom prst="rect">
            <a:avLst/>
          </a:prstGeom>
          <a:noFill/>
          <a:ln/>
        </p:spPr>
        <p:txBody>
          <a:bodyPr wrap="square" lIns="0" tIns="0" rIns="0" bIns="0" rtlCol="0" anchor="t"/>
          <a:lstStyle/>
          <a:p>
            <a:pPr indent="0" marL="0">
              <a:lnSpc>
                <a:spcPts val="1800"/>
              </a:lnSpc>
              <a:buNone/>
            </a:pPr>
            <a:r>
              <a:rPr lang="en-US" sz="1500" b="1" dirty="0">
                <a:solidFill>
                  <a:srgbClr val="FFFFFF"/>
                </a:solidFill>
                <a:latin typeface="Arial" pitchFamily="34" charset="0"/>
                <a:ea typeface="Arial" pitchFamily="34" charset="-122"/>
                <a:cs typeface="Arial" pitchFamily="34" charset="-120"/>
              </a:rPr>
              <a:t>Danh sách người nhận do viện quản lý</a:t>
            </a:r>
            <a:endParaRPr lang="en-US" sz="1500" dirty="0"/>
          </a:p>
          <a:p>
            <a:pPr indent="0" marL="0">
              <a:lnSpc>
                <a:spcPts val="1800"/>
              </a:lnSpc>
              <a:buNone/>
            </a:pPr>
            <a:r>
              <a:rPr lang="en-US" sz="1300" dirty="0">
                <a:solidFill>
                  <a:srgbClr val="A9BCD6"/>
                </a:solidFill>
                <a:latin typeface="Arial" pitchFamily="34" charset="0"/>
                <a:ea typeface="Arial" pitchFamily="34" charset="-122"/>
                <a:cs typeface="Arial" pitchFamily="34" charset="-120"/>
              </a:rPr>
              <a:t>Thêm, tắt người nhận ngay trên phần mềm.</a:t>
            </a:r>
            <a:endParaRPr lang="en-US" sz="1500" dirty="0"/>
          </a:p>
        </p:txBody>
      </p:sp>
      <p:sp>
        <p:nvSpPr>
          <p:cNvPr id="19" name="Text 17"/>
          <p:cNvSpPr txBox="1"/>
          <p:nvPr/>
        </p:nvSpPr>
        <p:spPr>
          <a:xfrm>
            <a:off x="640080" y="5623560"/>
            <a:ext cx="10911535" cy="384048"/>
          </a:xfrm>
          <a:prstGeom prst="rect">
            <a:avLst/>
          </a:prstGeom>
          <a:noFill/>
          <a:ln/>
        </p:spPr>
        <p:txBody>
          <a:bodyPr wrap="square" lIns="0" tIns="0" rIns="0" bIns="0" rtlCol="0" anchor="ctr"/>
          <a:lstStyle/>
          <a:p>
            <a:pPr algn="ctr" indent="0" marL="0">
              <a:buNone/>
            </a:pPr>
            <a:r>
              <a:rPr lang="en-US" sz="1600" dirty="0">
                <a:solidFill>
                  <a:srgbClr val="FBBF24"/>
                </a:solidFill>
                <a:latin typeface="Arial" pitchFamily="34" charset="0"/>
                <a:ea typeface="Arial" pitchFamily="34" charset="-122"/>
                <a:cs typeface="Arial" pitchFamily="34" charset="-120"/>
              </a:rPr>
              <a:t>Lỗi tự tìm đến người phụ trách — không chờ cổng giám định báo về</a:t>
            </a:r>
            <a:endParaRPr lang="en-US" sz="1600" dirty="0"/>
          </a:p>
        </p:txBody>
      </p:sp>
      <p:sp>
        <p:nvSpPr>
          <p:cNvPr id="21" name="Text 18"/>
          <p:cNvSpPr txBox="1"/>
          <p:nvPr/>
        </p:nvSpPr>
        <p:spPr>
          <a:xfrm>
            <a:off x="6979615" y="6419088"/>
            <a:ext cx="4572000" cy="256032"/>
          </a:xfrm>
          <a:prstGeom prst="rect">
            <a:avLst/>
          </a:prstGeom>
          <a:noFill/>
          <a:ln/>
        </p:spPr>
        <p:txBody>
          <a:bodyPr wrap="square" lIns="0" tIns="0" rIns="0" bIns="0" rtlCol="0" anchor="ctr"/>
          <a:lstStyle/>
          <a:p>
            <a:pPr algn="r" indent="0" marL="0">
              <a:buNone/>
            </a:pPr>
            <a:r>
              <a:rPr lang="en-US" sz="950" spc="100" kern="0" dirty="0">
                <a:solidFill>
                  <a:srgbClr val="7F93B0"/>
                </a:solidFill>
                <a:latin typeface="Arial" pitchFamily="34" charset="0"/>
                <a:ea typeface="Arial" pitchFamily="34" charset="-122"/>
                <a:cs typeface="Arial" pitchFamily="34" charset="-120"/>
              </a:rPr>
              <a:t>GIẢI PHÁP TIỀN GIÁM ĐỊNH  ·  07 / 12</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11480"/>
            <a:ext cx="10911535" cy="274320"/>
          </a:xfrm>
          <a:prstGeom prst="rect">
            <a:avLst/>
          </a:prstGeom>
          <a:noFill/>
          <a:ln/>
        </p:spPr>
        <p:txBody>
          <a:bodyPr wrap="square" lIns="0" tIns="0" rIns="0" bIns="0" rtlCol="0" anchor="ctr"/>
          <a:lstStyle/>
          <a:p>
            <a:pPr indent="0" marL="0">
              <a:buNone/>
            </a:pPr>
            <a:r>
              <a:rPr lang="en-US" sz="1200" b="1" spc="200" kern="0" dirty="0">
                <a:solidFill>
                  <a:srgbClr val="38BDF8"/>
                </a:solidFill>
                <a:latin typeface="Arial" pitchFamily="34" charset="0"/>
                <a:ea typeface="Arial" pitchFamily="34" charset="-122"/>
                <a:cs typeface="Arial" pitchFamily="34" charset="-120"/>
              </a:rPr>
              <a:t>AN TOÀN</a:t>
            </a:r>
            <a:endParaRPr lang="en-US" sz="1200" dirty="0"/>
          </a:p>
        </p:txBody>
      </p:sp>
      <p:sp>
        <p:nvSpPr>
          <p:cNvPr id="3" name="Text 1"/>
          <p:cNvSpPr txBox="1"/>
          <p:nvPr/>
        </p:nvSpPr>
        <p:spPr>
          <a:xfrm>
            <a:off x="640080" y="713232"/>
            <a:ext cx="10911535" cy="566928"/>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Dữ liệu người bệnh và hệ thống HIS được bảo vệ thế nào</a:t>
            </a:r>
            <a:endParaRPr lang="en-US" sz="2800" dirty="0"/>
          </a:p>
        </p:txBody>
      </p:sp>
      <p:sp>
        <p:nvSpPr>
          <p:cNvPr id="4" name="Shape 2"/>
          <p:cNvSpPr/>
          <p:nvPr/>
        </p:nvSpPr>
        <p:spPr>
          <a:xfrm>
            <a:off x="640080" y="1508760"/>
            <a:ext cx="5318608" cy="1783080"/>
          </a:xfrm>
          <a:prstGeom prst="roundRect">
            <a:avLst>
              <a:gd name="adj" fmla="val 5128"/>
            </a:avLst>
          </a:prstGeom>
          <a:solidFill>
            <a:srgbClr val="1C3558">
              <a:alpha val="85000"/>
            </a:srgbClr>
          </a:solidFill>
          <a:ln w="9525">
            <a:solidFill>
              <a:srgbClr val="2E4B74"/>
            </a:solidFill>
            <a:prstDash val="solid"/>
          </a:ln>
        </p:spPr>
      </p:sp>
      <p:sp>
        <p:nvSpPr>
          <p:cNvPr id="5" name="Shape 3"/>
          <p:cNvSpPr/>
          <p:nvPr/>
        </p:nvSpPr>
        <p:spPr>
          <a:xfrm>
            <a:off x="914400" y="1783080"/>
            <a:ext cx="731520" cy="731520"/>
          </a:xfrm>
          <a:prstGeom prst="ellipse">
            <a:avLst/>
          </a:prstGeom>
          <a:solidFill>
            <a:srgbClr val="25324A"/>
          </a:solidFill>
          <a:ln w="12700">
            <a:solidFill>
              <a:srgbClr val="38BDF8"/>
            </a:solidFill>
            <a:prstDash val="solid"/>
          </a:ln>
        </p:spPr>
      </p:sp>
      <p:sp>
        <p:nvSpPr>
          <p:cNvPr id="6" name="Text 4"/>
          <p:cNvSpPr txBox="1"/>
          <p:nvPr/>
        </p:nvSpPr>
        <p:spPr>
          <a:xfrm>
            <a:off x="914400" y="1783080"/>
            <a:ext cx="731520" cy="731520"/>
          </a:xfrm>
          <a:prstGeom prst="rect">
            <a:avLst/>
          </a:prstGeom>
          <a:noFill/>
          <a:ln/>
        </p:spPr>
        <p:txBody>
          <a:bodyPr wrap="square" lIns="0" tIns="0" rIns="0" bIns="0" rtlCol="0" anchor="ctr"/>
          <a:lstStyle/>
          <a:p>
            <a:pPr algn="ctr" indent="0" marL="0">
              <a:buNone/>
            </a:pPr>
            <a:r>
              <a:rPr lang="en-US" sz="2200" dirty="0">
                <a:solidFill>
                  <a:srgbClr val="000000"/>
                </a:solidFill>
                <a:latin typeface="Segoe UI Emoji" pitchFamily="34" charset="0"/>
                <a:ea typeface="Segoe UI Emoji" pitchFamily="34" charset="-122"/>
                <a:cs typeface="Segoe UI Emoji" pitchFamily="34" charset="-120"/>
              </a:rPr>
              <a:t>🏠</a:t>
            </a:r>
            <a:endParaRPr lang="en-US" sz="2200" dirty="0"/>
          </a:p>
        </p:txBody>
      </p:sp>
      <p:sp>
        <p:nvSpPr>
          <p:cNvPr id="7" name="Text 5"/>
          <p:cNvSpPr txBox="1"/>
          <p:nvPr/>
        </p:nvSpPr>
        <p:spPr>
          <a:xfrm>
            <a:off x="1874520" y="1783080"/>
            <a:ext cx="3855568"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Đặt tại bệnh viện</a:t>
            </a:r>
            <a:endParaRPr lang="en-US" sz="1800" dirty="0"/>
          </a:p>
        </p:txBody>
      </p:sp>
      <p:sp>
        <p:nvSpPr>
          <p:cNvPr id="8" name="Text 6"/>
          <p:cNvSpPr txBox="1"/>
          <p:nvPr/>
        </p:nvSpPr>
        <p:spPr>
          <a:xfrm>
            <a:off x="1874520" y="2286000"/>
            <a:ext cx="3855568" cy="868680"/>
          </a:xfrm>
          <a:prstGeom prst="rect">
            <a:avLst/>
          </a:prstGeom>
          <a:noFill/>
          <a:ln/>
        </p:spPr>
        <p:txBody>
          <a:bodyPr wrap="square" lIns="0" tIns="0" rIns="0" bIns="0" rtlCol="0" anchor="t"/>
          <a:lstStyle/>
          <a:p>
            <a:pPr indent="0" marL="0">
              <a:lnSpc>
                <a:spcPts val="1900"/>
              </a:lnSpc>
              <a:buNone/>
            </a:pPr>
            <a:r>
              <a:rPr lang="en-US" sz="1350" dirty="0">
                <a:solidFill>
                  <a:srgbClr val="A9BCD6"/>
                </a:solidFill>
                <a:latin typeface="Arial" pitchFamily="34" charset="0"/>
                <a:ea typeface="Arial" pitchFamily="34" charset="-122"/>
                <a:cs typeface="Arial" pitchFamily="34" charset="-120"/>
              </a:rPr>
              <a:t>Máy chủ đặt trong mạng nội bộ của viện. Dữ liệu chỉ gửi lên Cổng giám định BHXH — như quy trình hiện nay.</a:t>
            </a:r>
            <a:endParaRPr lang="en-US" sz="1350" dirty="0"/>
          </a:p>
        </p:txBody>
      </p:sp>
      <p:sp>
        <p:nvSpPr>
          <p:cNvPr id="9" name="Shape 7"/>
          <p:cNvSpPr/>
          <p:nvPr/>
        </p:nvSpPr>
        <p:spPr>
          <a:xfrm>
            <a:off x="6233008" y="1508760"/>
            <a:ext cx="5318608" cy="1783080"/>
          </a:xfrm>
          <a:prstGeom prst="roundRect">
            <a:avLst>
              <a:gd name="adj" fmla="val 5128"/>
            </a:avLst>
          </a:prstGeom>
          <a:solidFill>
            <a:srgbClr val="1C3558">
              <a:alpha val="85000"/>
            </a:srgbClr>
          </a:solidFill>
          <a:ln w="9525">
            <a:solidFill>
              <a:srgbClr val="2E4B74"/>
            </a:solidFill>
            <a:prstDash val="solid"/>
          </a:ln>
        </p:spPr>
      </p:sp>
      <p:sp>
        <p:nvSpPr>
          <p:cNvPr id="10" name="Shape 8"/>
          <p:cNvSpPr/>
          <p:nvPr/>
        </p:nvSpPr>
        <p:spPr>
          <a:xfrm>
            <a:off x="6507328" y="1783080"/>
            <a:ext cx="731520" cy="731520"/>
          </a:xfrm>
          <a:prstGeom prst="ellipse">
            <a:avLst/>
          </a:prstGeom>
          <a:solidFill>
            <a:srgbClr val="25324A"/>
          </a:solidFill>
          <a:ln w="12700">
            <a:solidFill>
              <a:srgbClr val="38BDF8"/>
            </a:solidFill>
            <a:prstDash val="solid"/>
          </a:ln>
        </p:spPr>
      </p:sp>
      <p:sp>
        <p:nvSpPr>
          <p:cNvPr id="11" name="Text 9"/>
          <p:cNvSpPr txBox="1"/>
          <p:nvPr/>
        </p:nvSpPr>
        <p:spPr>
          <a:xfrm>
            <a:off x="6507328" y="1783080"/>
            <a:ext cx="731520" cy="731520"/>
          </a:xfrm>
          <a:prstGeom prst="rect">
            <a:avLst/>
          </a:prstGeom>
          <a:noFill/>
          <a:ln/>
        </p:spPr>
        <p:txBody>
          <a:bodyPr wrap="square" lIns="0" tIns="0" rIns="0" bIns="0" rtlCol="0" anchor="ctr"/>
          <a:lstStyle/>
          <a:p>
            <a:pPr algn="ctr" indent="0" marL="0">
              <a:buNone/>
            </a:pPr>
            <a:r>
              <a:rPr lang="en-US" sz="2200" dirty="0">
                <a:solidFill>
                  <a:srgbClr val="000000"/>
                </a:solidFill>
                <a:latin typeface="Segoe UI Emoji" pitchFamily="34" charset="0"/>
                <a:ea typeface="Segoe UI Emoji" pitchFamily="34" charset="-122"/>
                <a:cs typeface="Segoe UI Emoji" pitchFamily="34" charset="-120"/>
              </a:rPr>
              <a:t>🔒</a:t>
            </a:r>
            <a:endParaRPr lang="en-US" sz="2200" dirty="0"/>
          </a:p>
        </p:txBody>
      </p:sp>
      <p:sp>
        <p:nvSpPr>
          <p:cNvPr id="12" name="Text 10"/>
          <p:cNvSpPr txBox="1"/>
          <p:nvPr/>
        </p:nvSpPr>
        <p:spPr>
          <a:xfrm>
            <a:off x="7467448" y="1783080"/>
            <a:ext cx="3855568"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Chỉ đọc HIS</a:t>
            </a:r>
            <a:endParaRPr lang="en-US" sz="1800" dirty="0"/>
          </a:p>
        </p:txBody>
      </p:sp>
      <p:sp>
        <p:nvSpPr>
          <p:cNvPr id="13" name="Text 11"/>
          <p:cNvSpPr txBox="1"/>
          <p:nvPr/>
        </p:nvSpPr>
        <p:spPr>
          <a:xfrm>
            <a:off x="7467448" y="2286000"/>
            <a:ext cx="3855568" cy="868680"/>
          </a:xfrm>
          <a:prstGeom prst="rect">
            <a:avLst/>
          </a:prstGeom>
          <a:noFill/>
          <a:ln/>
        </p:spPr>
        <p:txBody>
          <a:bodyPr wrap="square" lIns="0" tIns="0" rIns="0" bIns="0" rtlCol="0" anchor="t"/>
          <a:lstStyle/>
          <a:p>
            <a:pPr indent="0" marL="0">
              <a:lnSpc>
                <a:spcPts val="1900"/>
              </a:lnSpc>
              <a:buNone/>
            </a:pPr>
            <a:r>
              <a:rPr lang="en-US" sz="1350" dirty="0">
                <a:solidFill>
                  <a:srgbClr val="A9BCD6"/>
                </a:solidFill>
                <a:latin typeface="Arial" pitchFamily="34" charset="0"/>
                <a:ea typeface="Arial" pitchFamily="34" charset="-122"/>
                <a:cs typeface="Arial" pitchFamily="34" charset="-120"/>
              </a:rPr>
              <a:t>Tài khoản chỉ có quyền đọc: không ghi, không cài trigger, không đổi cấu trúc cơ sở dữ liệu HIS.</a:t>
            </a:r>
            <a:endParaRPr lang="en-US" sz="1350" dirty="0"/>
          </a:p>
        </p:txBody>
      </p:sp>
      <p:sp>
        <p:nvSpPr>
          <p:cNvPr id="14" name="Shape 12"/>
          <p:cNvSpPr/>
          <p:nvPr/>
        </p:nvSpPr>
        <p:spPr>
          <a:xfrm>
            <a:off x="640080" y="3520440"/>
            <a:ext cx="5318608" cy="1783080"/>
          </a:xfrm>
          <a:prstGeom prst="roundRect">
            <a:avLst>
              <a:gd name="adj" fmla="val 5128"/>
            </a:avLst>
          </a:prstGeom>
          <a:solidFill>
            <a:srgbClr val="1C3558">
              <a:alpha val="85000"/>
            </a:srgbClr>
          </a:solidFill>
          <a:ln w="9525">
            <a:solidFill>
              <a:srgbClr val="2E4B74"/>
            </a:solidFill>
            <a:prstDash val="solid"/>
          </a:ln>
        </p:spPr>
      </p:sp>
      <p:sp>
        <p:nvSpPr>
          <p:cNvPr id="15" name="Shape 13"/>
          <p:cNvSpPr/>
          <p:nvPr/>
        </p:nvSpPr>
        <p:spPr>
          <a:xfrm>
            <a:off x="914400" y="3794760"/>
            <a:ext cx="731520" cy="731520"/>
          </a:xfrm>
          <a:prstGeom prst="ellipse">
            <a:avLst/>
          </a:prstGeom>
          <a:solidFill>
            <a:srgbClr val="25324A"/>
          </a:solidFill>
          <a:ln w="12700">
            <a:solidFill>
              <a:srgbClr val="38BDF8"/>
            </a:solidFill>
            <a:prstDash val="solid"/>
          </a:ln>
        </p:spPr>
      </p:sp>
      <p:sp>
        <p:nvSpPr>
          <p:cNvPr id="16" name="Text 14"/>
          <p:cNvSpPr txBox="1"/>
          <p:nvPr/>
        </p:nvSpPr>
        <p:spPr>
          <a:xfrm>
            <a:off x="914400" y="3794760"/>
            <a:ext cx="731520" cy="731520"/>
          </a:xfrm>
          <a:prstGeom prst="rect">
            <a:avLst/>
          </a:prstGeom>
          <a:noFill/>
          <a:ln/>
        </p:spPr>
        <p:txBody>
          <a:bodyPr wrap="square" lIns="0" tIns="0" rIns="0" bIns="0" rtlCol="0" anchor="ctr"/>
          <a:lstStyle/>
          <a:p>
            <a:pPr algn="ctr" indent="0" marL="0">
              <a:buNone/>
            </a:pPr>
            <a:r>
              <a:rPr lang="en-US" sz="2200" dirty="0">
                <a:solidFill>
                  <a:srgbClr val="000000"/>
                </a:solidFill>
                <a:latin typeface="Segoe UI Emoji" pitchFamily="34" charset="0"/>
                <a:ea typeface="Segoe UI Emoji" pitchFamily="34" charset="-122"/>
                <a:cs typeface="Segoe UI Emoji" pitchFamily="34" charset="-120"/>
              </a:rPr>
              <a:t>⚙️</a:t>
            </a:r>
            <a:endParaRPr lang="en-US" sz="2200" dirty="0"/>
          </a:p>
        </p:txBody>
      </p:sp>
      <p:sp>
        <p:nvSpPr>
          <p:cNvPr id="17" name="Text 15"/>
          <p:cNvSpPr txBox="1"/>
          <p:nvPr/>
        </p:nvSpPr>
        <p:spPr>
          <a:xfrm>
            <a:off x="1874520" y="3794760"/>
            <a:ext cx="3855568"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Không làm nặng HIS</a:t>
            </a:r>
            <a:endParaRPr lang="en-US" sz="1800" dirty="0"/>
          </a:p>
        </p:txBody>
      </p:sp>
      <p:sp>
        <p:nvSpPr>
          <p:cNvPr id="18" name="Text 16"/>
          <p:cNvSpPr txBox="1"/>
          <p:nvPr/>
        </p:nvSpPr>
        <p:spPr>
          <a:xfrm>
            <a:off x="1874520" y="4297680"/>
            <a:ext cx="3855568" cy="868680"/>
          </a:xfrm>
          <a:prstGeom prst="rect">
            <a:avLst/>
          </a:prstGeom>
          <a:noFill/>
          <a:ln/>
        </p:spPr>
        <p:txBody>
          <a:bodyPr wrap="square" lIns="0" tIns="0" rIns="0" bIns="0" rtlCol="0" anchor="t"/>
          <a:lstStyle/>
          <a:p>
            <a:pPr indent="0" marL="0">
              <a:lnSpc>
                <a:spcPts val="1900"/>
              </a:lnSpc>
              <a:buNone/>
            </a:pPr>
            <a:r>
              <a:rPr lang="en-US" sz="1350" dirty="0">
                <a:solidFill>
                  <a:srgbClr val="A9BCD6"/>
                </a:solidFill>
                <a:latin typeface="Arial" pitchFamily="34" charset="0"/>
                <a:ea typeface="Arial" pitchFamily="34" charset="-122"/>
                <a:cs typeface="Arial" pitchFamily="34" charset="-120"/>
              </a:rPr>
              <a:t>Truy vấn chạy nền theo lô; khảo sát chỉ mục các bảng HIS lớn trước khi bật.</a:t>
            </a:r>
            <a:endParaRPr lang="en-US" sz="1350" dirty="0"/>
          </a:p>
        </p:txBody>
      </p:sp>
      <p:sp>
        <p:nvSpPr>
          <p:cNvPr id="19" name="Shape 17"/>
          <p:cNvSpPr/>
          <p:nvPr/>
        </p:nvSpPr>
        <p:spPr>
          <a:xfrm>
            <a:off x="6233008" y="3520440"/>
            <a:ext cx="5318608" cy="1783080"/>
          </a:xfrm>
          <a:prstGeom prst="roundRect">
            <a:avLst>
              <a:gd name="adj" fmla="val 5128"/>
            </a:avLst>
          </a:prstGeom>
          <a:solidFill>
            <a:srgbClr val="1C3558">
              <a:alpha val="85000"/>
            </a:srgbClr>
          </a:solidFill>
          <a:ln w="9525">
            <a:solidFill>
              <a:srgbClr val="2E4B74"/>
            </a:solidFill>
            <a:prstDash val="solid"/>
          </a:ln>
        </p:spPr>
      </p:sp>
      <p:sp>
        <p:nvSpPr>
          <p:cNvPr id="20" name="Shape 18"/>
          <p:cNvSpPr/>
          <p:nvPr/>
        </p:nvSpPr>
        <p:spPr>
          <a:xfrm>
            <a:off x="6507328" y="3794760"/>
            <a:ext cx="731520" cy="731520"/>
          </a:xfrm>
          <a:prstGeom prst="ellipse">
            <a:avLst/>
          </a:prstGeom>
          <a:solidFill>
            <a:srgbClr val="25324A"/>
          </a:solidFill>
          <a:ln w="12700">
            <a:solidFill>
              <a:srgbClr val="38BDF8"/>
            </a:solidFill>
            <a:prstDash val="solid"/>
          </a:ln>
        </p:spPr>
      </p:sp>
      <p:sp>
        <p:nvSpPr>
          <p:cNvPr id="21" name="Text 19"/>
          <p:cNvSpPr txBox="1"/>
          <p:nvPr/>
        </p:nvSpPr>
        <p:spPr>
          <a:xfrm>
            <a:off x="6507328" y="3794760"/>
            <a:ext cx="731520" cy="731520"/>
          </a:xfrm>
          <a:prstGeom prst="rect">
            <a:avLst/>
          </a:prstGeom>
          <a:noFill/>
          <a:ln/>
        </p:spPr>
        <p:txBody>
          <a:bodyPr wrap="square" lIns="0" tIns="0" rIns="0" bIns="0" rtlCol="0" anchor="ctr"/>
          <a:lstStyle/>
          <a:p>
            <a:pPr algn="ctr" indent="0" marL="0">
              <a:buNone/>
            </a:pPr>
            <a:r>
              <a:rPr lang="en-US" sz="2200" dirty="0">
                <a:solidFill>
                  <a:srgbClr val="000000"/>
                </a:solidFill>
                <a:latin typeface="Segoe UI Emoji" pitchFamily="34" charset="0"/>
                <a:ea typeface="Segoe UI Emoji" pitchFamily="34" charset="-122"/>
                <a:cs typeface="Segoe UI Emoji" pitchFamily="34" charset="-120"/>
              </a:rPr>
              <a:t>👥</a:t>
            </a:r>
            <a:endParaRPr lang="en-US" sz="2200" dirty="0"/>
          </a:p>
        </p:txBody>
      </p:sp>
      <p:sp>
        <p:nvSpPr>
          <p:cNvPr id="22" name="Text 20"/>
          <p:cNvSpPr txBox="1"/>
          <p:nvPr/>
        </p:nvSpPr>
        <p:spPr>
          <a:xfrm>
            <a:off x="7467448" y="3794760"/>
            <a:ext cx="3855568"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Phân quyền và ghi vết</a:t>
            </a:r>
            <a:endParaRPr lang="en-US" sz="1800" dirty="0"/>
          </a:p>
        </p:txBody>
      </p:sp>
      <p:sp>
        <p:nvSpPr>
          <p:cNvPr id="23" name="Text 21"/>
          <p:cNvSpPr txBox="1"/>
          <p:nvPr/>
        </p:nvSpPr>
        <p:spPr>
          <a:xfrm>
            <a:off x="7467448" y="4297680"/>
            <a:ext cx="3855568" cy="868680"/>
          </a:xfrm>
          <a:prstGeom prst="rect">
            <a:avLst/>
          </a:prstGeom>
          <a:noFill/>
          <a:ln/>
        </p:spPr>
        <p:txBody>
          <a:bodyPr wrap="square" lIns="0" tIns="0" rIns="0" bIns="0" rtlCol="0" anchor="t"/>
          <a:lstStyle/>
          <a:p>
            <a:pPr indent="0" marL="0">
              <a:lnSpc>
                <a:spcPts val="1900"/>
              </a:lnSpc>
              <a:buNone/>
            </a:pPr>
            <a:r>
              <a:rPr lang="en-US" sz="1350" dirty="0">
                <a:solidFill>
                  <a:srgbClr val="A9BCD6"/>
                </a:solidFill>
                <a:latin typeface="Arial" pitchFamily="34" charset="0"/>
                <a:ea typeface="Arial" pitchFamily="34" charset="-122"/>
                <a:cs typeface="Arial" pitchFamily="34" charset="-120"/>
              </a:rPr>
              <a:t>Mỗi người chỉ thấy chức năng được cấp; ghi lại ai nạp, ai gửi hồ sơ, ai tra cứu thẻ.</a:t>
            </a:r>
            <a:endParaRPr lang="en-US" sz="1350" dirty="0"/>
          </a:p>
        </p:txBody>
      </p:sp>
      <p:sp>
        <p:nvSpPr>
          <p:cNvPr id="24" name="Text 22"/>
          <p:cNvSpPr txBox="1"/>
          <p:nvPr/>
        </p:nvSpPr>
        <p:spPr>
          <a:xfrm>
            <a:off x="640080" y="5623560"/>
            <a:ext cx="10911535" cy="384048"/>
          </a:xfrm>
          <a:prstGeom prst="rect">
            <a:avLst/>
          </a:prstGeom>
          <a:noFill/>
          <a:ln/>
        </p:spPr>
        <p:txBody>
          <a:bodyPr wrap="square" lIns="0" tIns="0" rIns="0" bIns="0" rtlCol="0" anchor="ctr"/>
          <a:lstStyle/>
          <a:p>
            <a:pPr algn="ctr" indent="0" marL="0">
              <a:buNone/>
            </a:pPr>
            <a:r>
              <a:rPr lang="en-US" sz="1600" dirty="0">
                <a:solidFill>
                  <a:srgbClr val="FBBF24"/>
                </a:solidFill>
                <a:latin typeface="Arial" pitchFamily="34" charset="0"/>
                <a:ea typeface="Arial" pitchFamily="34" charset="-122"/>
                <a:cs typeface="Arial" pitchFamily="34" charset="-120"/>
              </a:rPr>
              <a:t>Dữ liệu người bệnh ở lại trong bệnh viện</a:t>
            </a:r>
            <a:endParaRPr lang="en-US" sz="1600" dirty="0"/>
          </a:p>
        </p:txBody>
      </p:sp>
      <p:sp>
        <p:nvSpPr>
          <p:cNvPr id="26" name="Text 23"/>
          <p:cNvSpPr txBox="1"/>
          <p:nvPr/>
        </p:nvSpPr>
        <p:spPr>
          <a:xfrm>
            <a:off x="6979615" y="6419088"/>
            <a:ext cx="4572000" cy="256032"/>
          </a:xfrm>
          <a:prstGeom prst="rect">
            <a:avLst/>
          </a:prstGeom>
          <a:noFill/>
          <a:ln/>
        </p:spPr>
        <p:txBody>
          <a:bodyPr wrap="square" lIns="0" tIns="0" rIns="0" bIns="0" rtlCol="0" anchor="ctr"/>
          <a:lstStyle/>
          <a:p>
            <a:pPr algn="r" indent="0" marL="0">
              <a:buNone/>
            </a:pPr>
            <a:r>
              <a:rPr lang="en-US" sz="950" spc="100" kern="0" dirty="0">
                <a:solidFill>
                  <a:srgbClr val="7F93B0"/>
                </a:solidFill>
                <a:latin typeface="Arial" pitchFamily="34" charset="0"/>
                <a:ea typeface="Arial" pitchFamily="34" charset="-122"/>
                <a:cs typeface="Arial" pitchFamily="34" charset="-120"/>
              </a:rPr>
              <a:t>GIẢI PHÁP TIỀN GIÁM ĐỊNH  ·  08 / 12</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11480"/>
            <a:ext cx="10911535" cy="274320"/>
          </a:xfrm>
          <a:prstGeom prst="rect">
            <a:avLst/>
          </a:prstGeom>
          <a:noFill/>
          <a:ln/>
        </p:spPr>
        <p:txBody>
          <a:bodyPr wrap="square" lIns="0" tIns="0" rIns="0" bIns="0" rtlCol="0" anchor="ctr"/>
          <a:lstStyle/>
          <a:p>
            <a:pPr indent="0" marL="0">
              <a:buNone/>
            </a:pPr>
            <a:r>
              <a:rPr lang="en-US" sz="1200" b="1" spc="200" kern="0" dirty="0">
                <a:solidFill>
                  <a:srgbClr val="38BDF8"/>
                </a:solidFill>
                <a:latin typeface="Arial" pitchFamily="34" charset="0"/>
                <a:ea typeface="Arial" pitchFamily="34" charset="-122"/>
                <a:cs typeface="Arial" pitchFamily="34" charset="-120"/>
              </a:rPr>
              <a:t>TRIỂN KHAI</a:t>
            </a:r>
            <a:endParaRPr lang="en-US" sz="1200" dirty="0"/>
          </a:p>
        </p:txBody>
      </p:sp>
      <p:sp>
        <p:nvSpPr>
          <p:cNvPr id="3" name="Text 1"/>
          <p:cNvSpPr txBox="1"/>
          <p:nvPr/>
        </p:nvSpPr>
        <p:spPr>
          <a:xfrm>
            <a:off x="640080" y="713232"/>
            <a:ext cx="10911535" cy="566928"/>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Điều kiện và lộ trình triển khai tại bệnh viện</a:t>
            </a:r>
            <a:endParaRPr lang="en-US" sz="2800" dirty="0"/>
          </a:p>
        </p:txBody>
      </p:sp>
      <p:sp>
        <p:nvSpPr>
          <p:cNvPr id="4" name="Shape 2"/>
          <p:cNvSpPr/>
          <p:nvPr/>
        </p:nvSpPr>
        <p:spPr>
          <a:xfrm>
            <a:off x="640080" y="1508760"/>
            <a:ext cx="4846320" cy="1325880"/>
          </a:xfrm>
          <a:prstGeom prst="roundRect">
            <a:avLst>
              <a:gd name="adj" fmla="val 6897"/>
            </a:avLst>
          </a:prstGeom>
          <a:solidFill>
            <a:srgbClr val="1C3558">
              <a:alpha val="85000"/>
            </a:srgbClr>
          </a:solidFill>
          <a:ln w="9525">
            <a:solidFill>
              <a:srgbClr val="2E4B74"/>
            </a:solidFill>
            <a:prstDash val="solid"/>
          </a:ln>
        </p:spPr>
      </p:sp>
      <p:sp>
        <p:nvSpPr>
          <p:cNvPr id="5" name="Text 3"/>
          <p:cNvSpPr txBox="1"/>
          <p:nvPr/>
        </p:nvSpPr>
        <p:spPr>
          <a:xfrm>
            <a:off x="822960" y="1691640"/>
            <a:ext cx="457200" cy="457200"/>
          </a:xfrm>
          <a:prstGeom prst="rect">
            <a:avLst/>
          </a:prstGeom>
          <a:noFill/>
          <a:ln/>
        </p:spPr>
        <p:txBody>
          <a:bodyPr wrap="square" lIns="0" tIns="0" rIns="0" bIns="0" rtlCol="0" anchor="ctr"/>
          <a:lstStyle/>
          <a:p>
            <a:pPr algn="ctr" indent="0" marL="0">
              <a:buNone/>
            </a:pPr>
            <a:r>
              <a:rPr lang="en-US" sz="2000" dirty="0">
                <a:solidFill>
                  <a:srgbClr val="000000"/>
                </a:solidFill>
                <a:latin typeface="Segoe UI Emoji" pitchFamily="34" charset="0"/>
                <a:ea typeface="Segoe UI Emoji" pitchFamily="34" charset="-122"/>
                <a:cs typeface="Segoe UI Emoji" pitchFamily="34" charset="-120"/>
              </a:rPr>
              <a:t>🔌</a:t>
            </a:r>
            <a:endParaRPr lang="en-US" sz="2000" dirty="0"/>
          </a:p>
        </p:txBody>
      </p:sp>
      <p:sp>
        <p:nvSpPr>
          <p:cNvPr id="6" name="Text 4"/>
          <p:cNvSpPr txBox="1"/>
          <p:nvPr/>
        </p:nvSpPr>
        <p:spPr>
          <a:xfrm>
            <a:off x="1417320" y="1691640"/>
            <a:ext cx="3886200" cy="45720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Dùng được với mọi HIS</a:t>
            </a:r>
            <a:endParaRPr lang="en-US" sz="1600" dirty="0"/>
          </a:p>
        </p:txBody>
      </p:sp>
      <p:sp>
        <p:nvSpPr>
          <p:cNvPr id="7" name="Text 5"/>
          <p:cNvSpPr txBox="1"/>
          <p:nvPr/>
        </p:nvSpPr>
        <p:spPr>
          <a:xfrm>
            <a:off x="914400" y="2194560"/>
            <a:ext cx="4343400" cy="594360"/>
          </a:xfrm>
          <a:prstGeom prst="rect">
            <a:avLst/>
          </a:prstGeom>
          <a:noFill/>
          <a:ln/>
        </p:spPr>
        <p:txBody>
          <a:bodyPr wrap="square" lIns="0" tIns="0" rIns="0" bIns="0" rtlCol="0" anchor="t"/>
          <a:lstStyle/>
          <a:p>
            <a:pPr indent="0" marL="0">
              <a:lnSpc>
                <a:spcPts val="1700"/>
              </a:lnSpc>
              <a:buNone/>
            </a:pPr>
            <a:r>
              <a:rPr lang="en-US" sz="1250" dirty="0">
                <a:solidFill>
                  <a:srgbClr val="A9BCD6"/>
                </a:solidFill>
                <a:latin typeface="Arial" pitchFamily="34" charset="0"/>
                <a:ea typeface="Arial" pitchFamily="34" charset="-122"/>
                <a:cs typeface="Arial" pitchFamily="34" charset="-120"/>
              </a:rPr>
              <a:t>Hồ sơ XML 3176 — nhận tệp XML chuẩn theo Quyết định 3176, không phụ thuộc phần mềm HIS</a:t>
            </a:r>
            <a:endParaRPr lang="en-US" sz="1250" dirty="0"/>
          </a:p>
        </p:txBody>
      </p:sp>
      <p:sp>
        <p:nvSpPr>
          <p:cNvPr id="8" name="Shape 6"/>
          <p:cNvSpPr/>
          <p:nvPr/>
        </p:nvSpPr>
        <p:spPr>
          <a:xfrm>
            <a:off x="640080" y="2990088"/>
            <a:ext cx="4846320" cy="1325880"/>
          </a:xfrm>
          <a:prstGeom prst="roundRect">
            <a:avLst>
              <a:gd name="adj" fmla="val 6897"/>
            </a:avLst>
          </a:prstGeom>
          <a:solidFill>
            <a:srgbClr val="25324A">
              <a:alpha val="85000"/>
            </a:srgbClr>
          </a:solidFill>
          <a:ln w="19050">
            <a:solidFill>
              <a:srgbClr val="FBBF24"/>
            </a:solidFill>
            <a:prstDash val="solid"/>
          </a:ln>
        </p:spPr>
      </p:sp>
      <p:sp>
        <p:nvSpPr>
          <p:cNvPr id="9" name="Text 7"/>
          <p:cNvSpPr txBox="1"/>
          <p:nvPr/>
        </p:nvSpPr>
        <p:spPr>
          <a:xfrm>
            <a:off x="822960" y="3172968"/>
            <a:ext cx="457200" cy="457200"/>
          </a:xfrm>
          <a:prstGeom prst="rect">
            <a:avLst/>
          </a:prstGeom>
          <a:noFill/>
          <a:ln/>
        </p:spPr>
        <p:txBody>
          <a:bodyPr wrap="square" lIns="0" tIns="0" rIns="0" bIns="0" rtlCol="0" anchor="ctr"/>
          <a:lstStyle/>
          <a:p>
            <a:pPr algn="ctr" indent="0" marL="0">
              <a:buNone/>
            </a:pPr>
            <a:r>
              <a:rPr lang="en-US" sz="2000" dirty="0">
                <a:solidFill>
                  <a:srgbClr val="000000"/>
                </a:solidFill>
                <a:latin typeface="Segoe UI Emoji" pitchFamily="34" charset="0"/>
                <a:ea typeface="Segoe UI Emoji" pitchFamily="34" charset="-122"/>
                <a:cs typeface="Segoe UI Emoji" pitchFamily="34" charset="-120"/>
              </a:rPr>
              <a:t>🧩</a:t>
            </a:r>
            <a:endParaRPr lang="en-US" sz="2000" dirty="0"/>
          </a:p>
        </p:txBody>
      </p:sp>
      <p:sp>
        <p:nvSpPr>
          <p:cNvPr id="10" name="Text 8"/>
          <p:cNvSpPr txBox="1"/>
          <p:nvPr/>
        </p:nvSpPr>
        <p:spPr>
          <a:xfrm>
            <a:off x="1417320" y="3172968"/>
            <a:ext cx="3886200" cy="457200"/>
          </a:xfrm>
          <a:prstGeom prst="rect">
            <a:avLst/>
          </a:prstGeom>
          <a:noFill/>
          <a:ln/>
        </p:spPr>
        <p:txBody>
          <a:bodyPr wrap="square" lIns="0" tIns="0" rIns="0" bIns="0" rtlCol="0" anchor="ctr"/>
          <a:lstStyle/>
          <a:p>
            <a:pPr indent="0" marL="0">
              <a:buNone/>
            </a:pPr>
            <a:r>
              <a:rPr lang="en-US" sz="1600" b="1" dirty="0">
                <a:solidFill>
                  <a:srgbClr val="FBBF24"/>
                </a:solidFill>
                <a:latin typeface="Arial" pitchFamily="34" charset="0"/>
                <a:ea typeface="Arial" pitchFamily="34" charset="-122"/>
                <a:cs typeface="Arial" pitchFamily="34" charset="-120"/>
              </a:rPr>
              <a:t>Cần kết nối riêng với HIS của viện</a:t>
            </a:r>
            <a:endParaRPr lang="en-US" sz="1600" dirty="0"/>
          </a:p>
        </p:txBody>
      </p:sp>
      <p:sp>
        <p:nvSpPr>
          <p:cNvPr id="11" name="Text 9"/>
          <p:cNvSpPr txBox="1"/>
          <p:nvPr/>
        </p:nvSpPr>
        <p:spPr>
          <a:xfrm>
            <a:off x="914400" y="3675888"/>
            <a:ext cx="4343400" cy="594360"/>
          </a:xfrm>
          <a:prstGeom prst="rect">
            <a:avLst/>
          </a:prstGeom>
          <a:noFill/>
          <a:ln/>
        </p:spPr>
        <p:txBody>
          <a:bodyPr wrap="square" lIns="0" tIns="0" rIns="0" bIns="0" rtlCol="0" anchor="t"/>
          <a:lstStyle/>
          <a:p>
            <a:pPr indent="0" marL="0">
              <a:lnSpc>
                <a:spcPts val="1700"/>
              </a:lnSpc>
              <a:buNone/>
            </a:pPr>
            <a:r>
              <a:rPr lang="en-US" sz="1250" dirty="0">
                <a:solidFill>
                  <a:srgbClr val="A9BCD6"/>
                </a:solidFill>
                <a:latin typeface="Arial" pitchFamily="34" charset="0"/>
                <a:ea typeface="Arial" pitchFamily="34" charset="-122"/>
                <a:cs typeface="Arial" pitchFamily="34" charset="-120"/>
              </a:rPr>
              <a:t>Kiểm sai sót y lệnh — đọc trực tiếp CSDL HIS (chỉ đọc); viện dùng HIS khác cần làm lớp kết nối riêng</a:t>
            </a:r>
            <a:endParaRPr lang="en-US" sz="1250" dirty="0"/>
          </a:p>
        </p:txBody>
      </p:sp>
      <p:sp>
        <p:nvSpPr>
          <p:cNvPr id="12" name="Shape 10"/>
          <p:cNvSpPr/>
          <p:nvPr/>
        </p:nvSpPr>
        <p:spPr>
          <a:xfrm>
            <a:off x="5806440" y="1508760"/>
            <a:ext cx="5745175" cy="2807208"/>
          </a:xfrm>
          <a:prstGeom prst="roundRect">
            <a:avLst>
              <a:gd name="adj" fmla="val 3257"/>
            </a:avLst>
          </a:prstGeom>
          <a:solidFill>
            <a:srgbClr val="1C3558">
              <a:alpha val="85000"/>
            </a:srgbClr>
          </a:solidFill>
          <a:ln w="9525">
            <a:solidFill>
              <a:srgbClr val="2E4B74"/>
            </a:solidFill>
            <a:prstDash val="solid"/>
          </a:ln>
        </p:spPr>
      </p:sp>
      <p:sp>
        <p:nvSpPr>
          <p:cNvPr id="13" name="Text 11"/>
          <p:cNvSpPr txBox="1"/>
          <p:nvPr/>
        </p:nvSpPr>
        <p:spPr>
          <a:xfrm>
            <a:off x="6080760" y="1691640"/>
            <a:ext cx="5196535" cy="292608"/>
          </a:xfrm>
          <a:prstGeom prst="rect">
            <a:avLst/>
          </a:prstGeom>
          <a:noFill/>
          <a:ln/>
        </p:spPr>
        <p:txBody>
          <a:bodyPr wrap="square" lIns="0" tIns="0" rIns="0" bIns="0" rtlCol="0" anchor="ctr"/>
          <a:lstStyle/>
          <a:p>
            <a:pPr indent="0" marL="0">
              <a:buNone/>
            </a:pPr>
            <a:r>
              <a:rPr lang="en-US" sz="1200" b="1" spc="200" kern="0" dirty="0">
                <a:solidFill>
                  <a:srgbClr val="38BDF8"/>
                </a:solidFill>
                <a:latin typeface="Arial" pitchFamily="34" charset="0"/>
                <a:ea typeface="Arial" pitchFamily="34" charset="-122"/>
                <a:cs typeface="Arial" pitchFamily="34" charset="-120"/>
              </a:rPr>
              <a:t>VIỆN CẦN CHUẨN BỊ</a:t>
            </a:r>
            <a:endParaRPr lang="en-US" sz="1200" dirty="0"/>
          </a:p>
        </p:txBody>
      </p:sp>
      <p:sp>
        <p:nvSpPr>
          <p:cNvPr id="14" name="Text 12"/>
          <p:cNvSpPr txBox="1"/>
          <p:nvPr/>
        </p:nvSpPr>
        <p:spPr>
          <a:xfrm>
            <a:off x="6080760" y="2075688"/>
            <a:ext cx="5196535" cy="2148840"/>
          </a:xfrm>
          <a:prstGeom prst="rect">
            <a:avLst/>
          </a:prstGeom>
          <a:noFill/>
          <a:ln/>
        </p:spPr>
        <p:txBody>
          <a:bodyPr wrap="square" lIns="0" tIns="0" rIns="0" bIns="0" rtlCol="0" anchor="t"/>
          <a:lstStyle/>
          <a:p>
            <a:pPr marL="203200" indent="-203200">
              <a:lnSpc>
                <a:spcPts val="1800"/>
              </a:lnSpc>
              <a:spcAft>
                <a:spcPts val="500"/>
              </a:spcAft>
              <a:buSzPct val="100000"/>
              <a:buChar char="•"/>
            </a:pPr>
            <a:r>
              <a:rPr lang="en-US" sz="1350" dirty="0">
                <a:solidFill>
                  <a:srgbClr val="FFFFFF"/>
                </a:solidFill>
                <a:latin typeface="Arial" pitchFamily="34" charset="0"/>
                <a:ea typeface="Arial" pitchFamily="34" charset="-122"/>
                <a:cs typeface="Arial" pitchFamily="34" charset="-120"/>
              </a:rPr>
              <a:t>Máy chủ: Windows Server, hoặc Linux / Docker</a:t>
            </a:r>
            <a:endParaRPr lang="en-US" sz="1350" dirty="0"/>
          </a:p>
          <a:p>
            <a:pPr marL="203200" indent="-203200">
              <a:lnSpc>
                <a:spcPts val="1800"/>
              </a:lnSpc>
              <a:spcAft>
                <a:spcPts val="500"/>
              </a:spcAft>
              <a:buSzPct val="100000"/>
              <a:buChar char="•"/>
            </a:pPr>
            <a:r>
              <a:rPr lang="en-US" sz="1350" dirty="0">
                <a:solidFill>
                  <a:srgbClr val="FFFFFF"/>
                </a:solidFill>
                <a:latin typeface="Arial" pitchFamily="34" charset="0"/>
                <a:ea typeface="Arial" pitchFamily="34" charset="-122"/>
                <a:cs typeface="Arial" pitchFamily="34" charset="-120"/>
              </a:rPr>
              <a:t>Tài khoản chỉ đọc vào cơ sở dữ liệu HIS</a:t>
            </a:r>
            <a:endParaRPr lang="en-US" sz="1350" dirty="0"/>
          </a:p>
          <a:p>
            <a:pPr marL="203200" indent="-203200">
              <a:lnSpc>
                <a:spcPts val="1800"/>
              </a:lnSpc>
              <a:spcAft>
                <a:spcPts val="500"/>
              </a:spcAft>
              <a:buSzPct val="100000"/>
              <a:buChar char="•"/>
            </a:pPr>
            <a:r>
              <a:rPr lang="en-US" sz="1350" dirty="0">
                <a:solidFill>
                  <a:srgbClr val="FFFFFF"/>
                </a:solidFill>
                <a:latin typeface="Arial" pitchFamily="34" charset="0"/>
                <a:ea typeface="Arial" pitchFamily="34" charset="-122"/>
                <a:cs typeface="Arial" pitchFamily="34" charset="-120"/>
              </a:rPr>
              <a:t>Thư mục nhận tệp XML do HIS xuất ra</a:t>
            </a:r>
            <a:endParaRPr lang="en-US" sz="1350" dirty="0"/>
          </a:p>
          <a:p>
            <a:pPr marL="203200" indent="-203200">
              <a:lnSpc>
                <a:spcPts val="1800"/>
              </a:lnSpc>
              <a:spcAft>
                <a:spcPts val="500"/>
              </a:spcAft>
              <a:buSzPct val="100000"/>
              <a:buChar char="•"/>
            </a:pPr>
            <a:r>
              <a:rPr lang="en-US" sz="1350" dirty="0">
                <a:solidFill>
                  <a:srgbClr val="FFFFFF"/>
                </a:solidFill>
                <a:latin typeface="Arial" pitchFamily="34" charset="0"/>
                <a:ea typeface="Arial" pitchFamily="34" charset="-122"/>
                <a:cs typeface="Arial" pitchFamily="34" charset="-120"/>
              </a:rPr>
              <a:t>HSM hoặc USB Token để ký số</a:t>
            </a:r>
            <a:endParaRPr lang="en-US" sz="1350" dirty="0"/>
          </a:p>
          <a:p>
            <a:pPr marL="203200" indent="-203200">
              <a:lnSpc>
                <a:spcPts val="1800"/>
              </a:lnSpc>
              <a:spcAft>
                <a:spcPts val="500"/>
              </a:spcAft>
              <a:buSzPct val="100000"/>
              <a:buChar char="•"/>
            </a:pPr>
            <a:r>
              <a:rPr lang="en-US" sz="1350" dirty="0">
                <a:solidFill>
                  <a:srgbClr val="FFFFFF"/>
                </a:solidFill>
                <a:latin typeface="Arial" pitchFamily="34" charset="0"/>
                <a:ea typeface="Arial" pitchFamily="34" charset="-122"/>
                <a:cs typeface="Arial" pitchFamily="34" charset="-120"/>
              </a:rPr>
              <a:t>Tài khoản Cổng giám định BHXH và mã cơ sở KCB</a:t>
            </a:r>
            <a:endParaRPr lang="en-US" sz="1350" dirty="0"/>
          </a:p>
          <a:p>
            <a:pPr marL="203200" indent="-203200">
              <a:lnSpc>
                <a:spcPts val="1800"/>
              </a:lnSpc>
              <a:spcAft>
                <a:spcPts val="500"/>
              </a:spcAft>
              <a:buSzPct val="100000"/>
              <a:buChar char="•"/>
            </a:pPr>
            <a:r>
              <a:rPr lang="en-US" sz="1350" dirty="0">
                <a:solidFill>
                  <a:srgbClr val="FFFFFF"/>
                </a:solidFill>
                <a:latin typeface="Arial" pitchFamily="34" charset="0"/>
                <a:ea typeface="Arial" pitchFamily="34" charset="-122"/>
                <a:cs typeface="Arial" pitchFamily="34" charset="-120"/>
              </a:rPr>
              <a:t>Người phụ trách danh mục BHYT của viện</a:t>
            </a:r>
            <a:endParaRPr lang="en-US" sz="1350" dirty="0"/>
          </a:p>
        </p:txBody>
      </p:sp>
      <p:sp>
        <p:nvSpPr>
          <p:cNvPr id="15" name="Shape 13"/>
          <p:cNvSpPr/>
          <p:nvPr/>
        </p:nvSpPr>
        <p:spPr>
          <a:xfrm>
            <a:off x="640080" y="4572000"/>
            <a:ext cx="2769032" cy="548640"/>
          </a:xfrm>
          <a:prstGeom prst="homePlate">
            <a:avLst/>
          </a:prstGeom>
          <a:solidFill>
            <a:srgbClr val="1E4E86"/>
          </a:solidFill>
          <a:ln w="12700">
            <a:solidFill>
              <a:srgbClr val="0B1A30"/>
            </a:solidFill>
            <a:prstDash val="solid"/>
          </a:ln>
        </p:spPr>
      </p:sp>
      <p:sp>
        <p:nvSpPr>
          <p:cNvPr id="16" name="Text 14"/>
          <p:cNvSpPr txBox="1"/>
          <p:nvPr/>
        </p:nvSpPr>
        <p:spPr>
          <a:xfrm>
            <a:off x="841248" y="4572000"/>
            <a:ext cx="2202104" cy="5486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Chuẩn bị  </a:t>
            </a:r>
            <a:pPr indent="0" marL="0">
              <a:buNone/>
            </a:pPr>
            <a:r>
              <a:rPr lang="en-US" sz="1250" dirty="0">
                <a:solidFill>
                  <a:srgbClr val="38BDF8"/>
                </a:solidFill>
                <a:latin typeface="Arial" pitchFamily="34" charset="0"/>
                <a:ea typeface="Arial" pitchFamily="34" charset="-122"/>
                <a:cs typeface="Arial" pitchFamily="34" charset="-120"/>
              </a:rPr>
              <a:t>2–4 tuần</a:t>
            </a:r>
            <a:endParaRPr lang="en-US" sz="1500" dirty="0"/>
          </a:p>
        </p:txBody>
      </p:sp>
      <p:sp>
        <p:nvSpPr>
          <p:cNvPr id="17" name="Text 15"/>
          <p:cNvSpPr txBox="1"/>
          <p:nvPr/>
        </p:nvSpPr>
        <p:spPr>
          <a:xfrm>
            <a:off x="841248" y="5212080"/>
            <a:ext cx="2156384" cy="640080"/>
          </a:xfrm>
          <a:prstGeom prst="rect">
            <a:avLst/>
          </a:prstGeom>
          <a:noFill/>
          <a:ln/>
        </p:spPr>
        <p:txBody>
          <a:bodyPr wrap="square" lIns="0" tIns="0" rIns="0" bIns="0" rtlCol="0" anchor="t"/>
          <a:lstStyle/>
          <a:p>
            <a:pPr indent="0" marL="0">
              <a:lnSpc>
                <a:spcPts val="1700"/>
              </a:lnSpc>
              <a:buNone/>
            </a:pPr>
            <a:r>
              <a:rPr lang="en-US" sz="1250" dirty="0">
                <a:solidFill>
                  <a:srgbClr val="A9BCD6"/>
                </a:solidFill>
                <a:latin typeface="Arial" pitchFamily="34" charset="0"/>
                <a:ea typeface="Arial" pitchFamily="34" charset="-122"/>
                <a:cs typeface="Arial" pitchFamily="34" charset="-120"/>
              </a:rPr>
              <a:t>Lập tổ, chốt chủ sở hữu danh mục, ban hành no-blame</a:t>
            </a:r>
            <a:endParaRPr lang="en-US" sz="1250" dirty="0"/>
          </a:p>
        </p:txBody>
      </p:sp>
      <p:sp>
        <p:nvSpPr>
          <p:cNvPr id="18" name="Shape 16"/>
          <p:cNvSpPr/>
          <p:nvPr/>
        </p:nvSpPr>
        <p:spPr>
          <a:xfrm>
            <a:off x="3390824" y="4572000"/>
            <a:ext cx="2769032" cy="548640"/>
          </a:xfrm>
          <a:prstGeom prst="chevron">
            <a:avLst/>
          </a:prstGeom>
          <a:solidFill>
            <a:srgbClr val="1E4E86"/>
          </a:solidFill>
          <a:ln w="12700">
            <a:solidFill>
              <a:srgbClr val="0B1A30"/>
            </a:solidFill>
            <a:prstDash val="solid"/>
          </a:ln>
        </p:spPr>
      </p:sp>
      <p:sp>
        <p:nvSpPr>
          <p:cNvPr id="19" name="Text 17"/>
          <p:cNvSpPr txBox="1"/>
          <p:nvPr/>
        </p:nvSpPr>
        <p:spPr>
          <a:xfrm>
            <a:off x="3756584" y="4572000"/>
            <a:ext cx="2202104" cy="5486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Chạy thử  </a:t>
            </a:r>
            <a:pPr indent="0" marL="0">
              <a:buNone/>
            </a:pPr>
            <a:r>
              <a:rPr lang="en-US" sz="1250" dirty="0">
                <a:solidFill>
                  <a:srgbClr val="38BDF8"/>
                </a:solidFill>
                <a:latin typeface="Arial" pitchFamily="34" charset="0"/>
                <a:ea typeface="Arial" pitchFamily="34" charset="-122"/>
                <a:cs typeface="Arial" pitchFamily="34" charset="-120"/>
              </a:rPr>
              <a:t>4–8 tuần</a:t>
            </a:r>
            <a:endParaRPr lang="en-US" sz="1500" dirty="0"/>
          </a:p>
        </p:txBody>
      </p:sp>
      <p:sp>
        <p:nvSpPr>
          <p:cNvPr id="20" name="Text 18"/>
          <p:cNvSpPr txBox="1"/>
          <p:nvPr/>
        </p:nvSpPr>
        <p:spPr>
          <a:xfrm>
            <a:off x="3756584" y="5212080"/>
            <a:ext cx="2156384" cy="640080"/>
          </a:xfrm>
          <a:prstGeom prst="rect">
            <a:avLst/>
          </a:prstGeom>
          <a:noFill/>
          <a:ln/>
        </p:spPr>
        <p:txBody>
          <a:bodyPr wrap="square" lIns="0" tIns="0" rIns="0" bIns="0" rtlCol="0" anchor="t"/>
          <a:lstStyle/>
          <a:p>
            <a:pPr indent="0" marL="0">
              <a:lnSpc>
                <a:spcPts val="1700"/>
              </a:lnSpc>
              <a:buNone/>
            </a:pPr>
            <a:r>
              <a:rPr lang="en-US" sz="1250" dirty="0">
                <a:solidFill>
                  <a:srgbClr val="A9BCD6"/>
                </a:solidFill>
                <a:latin typeface="Arial" pitchFamily="34" charset="0"/>
                <a:ea typeface="Arial" pitchFamily="34" charset="-122"/>
                <a:cs typeface="Arial" pitchFamily="34" charset="-120"/>
              </a:rPr>
              <a:t>1–2 khoa, chạy song song quy trình cũ</a:t>
            </a:r>
            <a:endParaRPr lang="en-US" sz="1250" dirty="0"/>
          </a:p>
        </p:txBody>
      </p:sp>
      <p:sp>
        <p:nvSpPr>
          <p:cNvPr id="21" name="Shape 19"/>
          <p:cNvSpPr/>
          <p:nvPr/>
        </p:nvSpPr>
        <p:spPr>
          <a:xfrm>
            <a:off x="6141568" y="4572000"/>
            <a:ext cx="2769032" cy="548640"/>
          </a:xfrm>
          <a:prstGeom prst="chevron">
            <a:avLst/>
          </a:prstGeom>
          <a:solidFill>
            <a:srgbClr val="1E4E86"/>
          </a:solidFill>
          <a:ln w="12700">
            <a:solidFill>
              <a:srgbClr val="0B1A30"/>
            </a:solidFill>
            <a:prstDash val="solid"/>
          </a:ln>
        </p:spPr>
      </p:sp>
      <p:sp>
        <p:nvSpPr>
          <p:cNvPr id="22" name="Text 20"/>
          <p:cNvSpPr txBox="1"/>
          <p:nvPr/>
        </p:nvSpPr>
        <p:spPr>
          <a:xfrm>
            <a:off x="6507328" y="4572000"/>
            <a:ext cx="2202104" cy="5486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Nhân rộng  </a:t>
            </a:r>
            <a:pPr indent="0" marL="0">
              <a:buNone/>
            </a:pPr>
            <a:r>
              <a:rPr lang="en-US" sz="1250" dirty="0">
                <a:solidFill>
                  <a:srgbClr val="38BDF8"/>
                </a:solidFill>
                <a:latin typeface="Arial" pitchFamily="34" charset="0"/>
                <a:ea typeface="Arial" pitchFamily="34" charset="-122"/>
                <a:cs typeface="Arial" pitchFamily="34" charset="-120"/>
              </a:rPr>
              <a:t>2–4 tháng</a:t>
            </a:r>
            <a:endParaRPr lang="en-US" sz="1500" dirty="0"/>
          </a:p>
        </p:txBody>
      </p:sp>
      <p:sp>
        <p:nvSpPr>
          <p:cNvPr id="23" name="Text 21"/>
          <p:cNvSpPr txBox="1"/>
          <p:nvPr/>
        </p:nvSpPr>
        <p:spPr>
          <a:xfrm>
            <a:off x="6507328" y="5212080"/>
            <a:ext cx="2156384" cy="640080"/>
          </a:xfrm>
          <a:prstGeom prst="rect">
            <a:avLst/>
          </a:prstGeom>
          <a:noFill/>
          <a:ln/>
        </p:spPr>
        <p:txBody>
          <a:bodyPr wrap="square" lIns="0" tIns="0" rIns="0" bIns="0" rtlCol="0" anchor="t"/>
          <a:lstStyle/>
          <a:p>
            <a:pPr indent="0" marL="0">
              <a:lnSpc>
                <a:spcPts val="1700"/>
              </a:lnSpc>
              <a:buNone/>
            </a:pPr>
            <a:r>
              <a:rPr lang="en-US" sz="1250" dirty="0">
                <a:solidFill>
                  <a:srgbClr val="A9BCD6"/>
                </a:solidFill>
                <a:latin typeface="Arial" pitchFamily="34" charset="0"/>
                <a:ea typeface="Arial" pitchFamily="34" charset="-122"/>
                <a:cs typeface="Arial" pitchFamily="34" charset="-120"/>
              </a:rPr>
              <a:t>Mở rộng theo khoa, đào tạo người dùng nòng cốt</a:t>
            </a:r>
            <a:endParaRPr lang="en-US" sz="1250" dirty="0"/>
          </a:p>
        </p:txBody>
      </p:sp>
      <p:sp>
        <p:nvSpPr>
          <p:cNvPr id="24" name="Shape 22"/>
          <p:cNvSpPr/>
          <p:nvPr/>
        </p:nvSpPr>
        <p:spPr>
          <a:xfrm>
            <a:off x="8892311" y="4572000"/>
            <a:ext cx="2659304" cy="548640"/>
          </a:xfrm>
          <a:prstGeom prst="chevron">
            <a:avLst/>
          </a:prstGeom>
          <a:solidFill>
            <a:srgbClr val="1F6B45"/>
          </a:solidFill>
          <a:ln w="12700">
            <a:solidFill>
              <a:srgbClr val="0B1A30"/>
            </a:solidFill>
            <a:prstDash val="solid"/>
          </a:ln>
        </p:spPr>
      </p:sp>
      <p:sp>
        <p:nvSpPr>
          <p:cNvPr id="25" name="Text 23"/>
          <p:cNvSpPr txBox="1"/>
          <p:nvPr/>
        </p:nvSpPr>
        <p:spPr>
          <a:xfrm>
            <a:off x="9258071" y="4572000"/>
            <a:ext cx="2202104" cy="5486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Thường quy  </a:t>
            </a:r>
            <a:pPr indent="0" marL="0">
              <a:buNone/>
            </a:pPr>
            <a:r>
              <a:rPr lang="en-US" sz="1250" dirty="0">
                <a:solidFill>
                  <a:srgbClr val="4ADE80"/>
                </a:solidFill>
                <a:latin typeface="Arial" pitchFamily="34" charset="0"/>
                <a:ea typeface="Arial" pitchFamily="34" charset="-122"/>
                <a:cs typeface="Arial" pitchFamily="34" charset="-120"/>
              </a:rPr>
              <a:t>sau ổn định</a:t>
            </a:r>
            <a:endParaRPr lang="en-US" sz="1500" dirty="0"/>
          </a:p>
        </p:txBody>
      </p:sp>
      <p:sp>
        <p:nvSpPr>
          <p:cNvPr id="26" name="Text 24"/>
          <p:cNvSpPr txBox="1"/>
          <p:nvPr/>
        </p:nvSpPr>
        <p:spPr>
          <a:xfrm>
            <a:off x="9258071" y="5212080"/>
            <a:ext cx="2156384" cy="640080"/>
          </a:xfrm>
          <a:prstGeom prst="rect">
            <a:avLst/>
          </a:prstGeom>
          <a:noFill/>
          <a:ln/>
        </p:spPr>
        <p:txBody>
          <a:bodyPr wrap="square" lIns="0" tIns="0" rIns="0" bIns="0" rtlCol="0" anchor="t"/>
          <a:lstStyle/>
          <a:p>
            <a:pPr indent="0" marL="0">
              <a:lnSpc>
                <a:spcPts val="1700"/>
              </a:lnSpc>
              <a:buNone/>
            </a:pPr>
            <a:r>
              <a:rPr lang="en-US" sz="1250" dirty="0">
                <a:solidFill>
                  <a:srgbClr val="A9BCD6"/>
                </a:solidFill>
                <a:latin typeface="Arial" pitchFamily="34" charset="0"/>
                <a:ea typeface="Arial" pitchFamily="34" charset="-122"/>
                <a:cs typeface="Arial" pitchFamily="34" charset="-120"/>
              </a:rPr>
              <a:t>Bật tự gửi cổng, đưa vào quy chế</a:t>
            </a:r>
            <a:endParaRPr lang="en-US" sz="1250" dirty="0"/>
          </a:p>
        </p:txBody>
      </p:sp>
      <p:sp>
        <p:nvSpPr>
          <p:cNvPr id="28" name="Text 25"/>
          <p:cNvSpPr txBox="1"/>
          <p:nvPr/>
        </p:nvSpPr>
        <p:spPr>
          <a:xfrm>
            <a:off x="6979615" y="6419088"/>
            <a:ext cx="4572000" cy="256032"/>
          </a:xfrm>
          <a:prstGeom prst="rect">
            <a:avLst/>
          </a:prstGeom>
          <a:noFill/>
          <a:ln/>
        </p:spPr>
        <p:txBody>
          <a:bodyPr wrap="square" lIns="0" tIns="0" rIns="0" bIns="0" rtlCol="0" anchor="ctr"/>
          <a:lstStyle/>
          <a:p>
            <a:pPr algn="r" indent="0" marL="0">
              <a:buNone/>
            </a:pPr>
            <a:r>
              <a:rPr lang="en-US" sz="950" spc="100" kern="0" dirty="0">
                <a:solidFill>
                  <a:srgbClr val="7F93B0"/>
                </a:solidFill>
                <a:latin typeface="Arial" pitchFamily="34" charset="0"/>
                <a:ea typeface="Arial" pitchFamily="34" charset="-122"/>
                <a:cs typeface="Arial" pitchFamily="34" charset="-120"/>
              </a:rPr>
              <a:t>GIẢI PHÁP TIỀN GIÁM ĐỊNH  ·  09 / 12</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11480"/>
            <a:ext cx="10911535" cy="274320"/>
          </a:xfrm>
          <a:prstGeom prst="rect">
            <a:avLst/>
          </a:prstGeom>
          <a:noFill/>
          <a:ln/>
        </p:spPr>
        <p:txBody>
          <a:bodyPr wrap="square" lIns="0" tIns="0" rIns="0" bIns="0" rtlCol="0" anchor="ctr"/>
          <a:lstStyle/>
          <a:p>
            <a:pPr indent="0" marL="0">
              <a:buNone/>
            </a:pPr>
            <a:r>
              <a:rPr lang="en-US" sz="1200" b="1" spc="200" kern="0" dirty="0">
                <a:solidFill>
                  <a:srgbClr val="38BDF8"/>
                </a:solidFill>
                <a:latin typeface="Arial" pitchFamily="34" charset="0"/>
                <a:ea typeface="Arial" pitchFamily="34" charset="-122"/>
                <a:cs typeface="Arial" pitchFamily="34" charset="-120"/>
              </a:rPr>
              <a:t>CAM KẾT</a:t>
            </a:r>
            <a:endParaRPr lang="en-US" sz="1200" dirty="0"/>
          </a:p>
        </p:txBody>
      </p:sp>
      <p:sp>
        <p:nvSpPr>
          <p:cNvPr id="3" name="Text 1"/>
          <p:cNvSpPr txBox="1"/>
          <p:nvPr/>
        </p:nvSpPr>
        <p:spPr>
          <a:xfrm>
            <a:off x="640080" y="713232"/>
            <a:ext cx="10911535" cy="566928"/>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Đồng hành lâu dài cùng bệnh viện</a:t>
            </a:r>
            <a:endParaRPr lang="en-US" sz="2800" dirty="0"/>
          </a:p>
        </p:txBody>
      </p:sp>
      <p:sp>
        <p:nvSpPr>
          <p:cNvPr id="4" name="Text 2"/>
          <p:cNvSpPr txBox="1"/>
          <p:nvPr/>
        </p:nvSpPr>
        <p:spPr>
          <a:xfrm>
            <a:off x="640080" y="1298448"/>
            <a:ext cx="10911535" cy="329184"/>
          </a:xfrm>
          <a:prstGeom prst="rect">
            <a:avLst/>
          </a:prstGeom>
          <a:noFill/>
          <a:ln/>
        </p:spPr>
        <p:txBody>
          <a:bodyPr wrap="square" lIns="0" tIns="0" rIns="0" bIns="0" rtlCol="0" anchor="ctr"/>
          <a:lstStyle/>
          <a:p>
            <a:pPr indent="0" marL="0">
              <a:buNone/>
            </a:pPr>
            <a:r>
              <a:rPr lang="en-US" sz="1500" dirty="0">
                <a:solidFill>
                  <a:srgbClr val="A9BCD6"/>
                </a:solidFill>
                <a:latin typeface="Arial" pitchFamily="34" charset="0"/>
                <a:ea typeface="Arial" pitchFamily="34" charset="-122"/>
                <a:cs typeface="Arial" pitchFamily="34" charset="-120"/>
              </a:rPr>
              <a:t>Quy định BHYT thay đổi liên tục — phần mềm phải thay đổi theo mà viện không phải lo.</a:t>
            </a:r>
            <a:endParaRPr lang="en-US" sz="1500" dirty="0"/>
          </a:p>
        </p:txBody>
      </p:sp>
      <p:sp>
        <p:nvSpPr>
          <p:cNvPr id="5" name="Shape 3"/>
          <p:cNvSpPr/>
          <p:nvPr/>
        </p:nvSpPr>
        <p:spPr>
          <a:xfrm>
            <a:off x="640080" y="1783080"/>
            <a:ext cx="5318608" cy="1783080"/>
          </a:xfrm>
          <a:prstGeom prst="roundRect">
            <a:avLst>
              <a:gd name="adj" fmla="val 5128"/>
            </a:avLst>
          </a:prstGeom>
          <a:solidFill>
            <a:srgbClr val="1C3558">
              <a:alpha val="85000"/>
            </a:srgbClr>
          </a:solidFill>
          <a:ln w="9525">
            <a:solidFill>
              <a:srgbClr val="2E4B74"/>
            </a:solidFill>
            <a:prstDash val="solid"/>
          </a:ln>
        </p:spPr>
      </p:sp>
      <p:sp>
        <p:nvSpPr>
          <p:cNvPr id="6" name="Shape 4"/>
          <p:cNvSpPr/>
          <p:nvPr/>
        </p:nvSpPr>
        <p:spPr>
          <a:xfrm>
            <a:off x="914400" y="2057400"/>
            <a:ext cx="731520" cy="731520"/>
          </a:xfrm>
          <a:prstGeom prst="ellipse">
            <a:avLst/>
          </a:prstGeom>
          <a:solidFill>
            <a:srgbClr val="25324A"/>
          </a:solidFill>
          <a:ln w="12700">
            <a:solidFill>
              <a:srgbClr val="4ADE80"/>
            </a:solidFill>
            <a:prstDash val="solid"/>
          </a:ln>
        </p:spPr>
      </p:sp>
      <p:sp>
        <p:nvSpPr>
          <p:cNvPr id="7" name="Text 5"/>
          <p:cNvSpPr txBox="1"/>
          <p:nvPr/>
        </p:nvSpPr>
        <p:spPr>
          <a:xfrm>
            <a:off x="914400" y="2057400"/>
            <a:ext cx="731520" cy="731520"/>
          </a:xfrm>
          <a:prstGeom prst="rect">
            <a:avLst/>
          </a:prstGeom>
          <a:noFill/>
          <a:ln/>
        </p:spPr>
        <p:txBody>
          <a:bodyPr wrap="square" lIns="0" tIns="0" rIns="0" bIns="0" rtlCol="0" anchor="ctr"/>
          <a:lstStyle/>
          <a:p>
            <a:pPr algn="ctr" indent="0" marL="0">
              <a:buNone/>
            </a:pPr>
            <a:r>
              <a:rPr lang="en-US" sz="2200" dirty="0">
                <a:solidFill>
                  <a:srgbClr val="000000"/>
                </a:solidFill>
                <a:latin typeface="Segoe UI Emoji" pitchFamily="34" charset="0"/>
                <a:ea typeface="Segoe UI Emoji" pitchFamily="34" charset="-122"/>
                <a:cs typeface="Segoe UI Emoji" pitchFamily="34" charset="-120"/>
              </a:rPr>
              <a:t>🔄</a:t>
            </a:r>
            <a:endParaRPr lang="en-US" sz="2200" dirty="0"/>
          </a:p>
        </p:txBody>
      </p:sp>
      <p:sp>
        <p:nvSpPr>
          <p:cNvPr id="8" name="Text 6"/>
          <p:cNvSpPr txBox="1"/>
          <p:nvPr/>
        </p:nvSpPr>
        <p:spPr>
          <a:xfrm>
            <a:off x="4587088" y="1947672"/>
            <a:ext cx="1143000" cy="256032"/>
          </a:xfrm>
          <a:prstGeom prst="rect">
            <a:avLst/>
          </a:prstGeom>
          <a:noFill/>
          <a:ln/>
        </p:spPr>
        <p:txBody>
          <a:bodyPr wrap="square" lIns="0" tIns="0" rIns="0" bIns="0" rtlCol="0" anchor="ctr"/>
          <a:lstStyle/>
          <a:p>
            <a:pPr algn="r" indent="0" marL="0">
              <a:buNone/>
            </a:pPr>
            <a:r>
              <a:rPr lang="en-US" sz="950" b="1" spc="100" kern="0" dirty="0">
                <a:solidFill>
                  <a:srgbClr val="4ADE80"/>
                </a:solidFill>
                <a:latin typeface="Arial" pitchFamily="34" charset="0"/>
                <a:ea typeface="Arial" pitchFamily="34" charset="-122"/>
                <a:cs typeface="Arial" pitchFamily="34" charset="-120"/>
              </a:rPr>
              <a:t>CAM KẾT</a:t>
            </a:r>
            <a:endParaRPr lang="en-US" sz="950" dirty="0"/>
          </a:p>
        </p:txBody>
      </p:sp>
      <p:sp>
        <p:nvSpPr>
          <p:cNvPr id="9" name="Text 7"/>
          <p:cNvSpPr txBox="1"/>
          <p:nvPr/>
        </p:nvSpPr>
        <p:spPr>
          <a:xfrm>
            <a:off x="1874520" y="2130552"/>
            <a:ext cx="3855568" cy="4114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Cập nhật quy tắc thường xuyên</a:t>
            </a:r>
            <a:endParaRPr lang="en-US" sz="1800" dirty="0"/>
          </a:p>
        </p:txBody>
      </p:sp>
      <p:sp>
        <p:nvSpPr>
          <p:cNvPr id="10" name="Text 8"/>
          <p:cNvSpPr txBox="1"/>
          <p:nvPr/>
        </p:nvSpPr>
        <p:spPr>
          <a:xfrm>
            <a:off x="1874520" y="2587752"/>
            <a:ext cx="3855568" cy="868680"/>
          </a:xfrm>
          <a:prstGeom prst="rect">
            <a:avLst/>
          </a:prstGeom>
          <a:noFill/>
          <a:ln/>
        </p:spPr>
        <p:txBody>
          <a:bodyPr wrap="square" lIns="0" tIns="0" rIns="0" bIns="0" rtlCol="0" anchor="t"/>
          <a:lstStyle/>
          <a:p>
            <a:pPr indent="0" marL="0">
              <a:lnSpc>
                <a:spcPts val="1900"/>
              </a:lnSpc>
              <a:buNone/>
            </a:pPr>
            <a:r>
              <a:rPr lang="en-US" sz="1350" dirty="0">
                <a:solidFill>
                  <a:srgbClr val="A9BCD6"/>
                </a:solidFill>
                <a:latin typeface="Arial" pitchFamily="34" charset="0"/>
                <a:ea typeface="Arial" pitchFamily="34" charset="-122"/>
                <a:cs typeface="Arial" pitchFamily="34" charset="-120"/>
              </a:rPr>
              <a:t>Bám sát quy định mới của BHXH và Bộ Y tế. Cổng tự động cập nhật quy tắc, danh mục mã lỗi — không cần người can thiệp.</a:t>
            </a:r>
            <a:endParaRPr lang="en-US" sz="1350" dirty="0"/>
          </a:p>
        </p:txBody>
      </p:sp>
      <p:sp>
        <p:nvSpPr>
          <p:cNvPr id="11" name="Shape 9"/>
          <p:cNvSpPr/>
          <p:nvPr/>
        </p:nvSpPr>
        <p:spPr>
          <a:xfrm>
            <a:off x="6233008" y="1783080"/>
            <a:ext cx="5318608" cy="1783080"/>
          </a:xfrm>
          <a:prstGeom prst="roundRect">
            <a:avLst>
              <a:gd name="adj" fmla="val 5128"/>
            </a:avLst>
          </a:prstGeom>
          <a:solidFill>
            <a:srgbClr val="25324A">
              <a:alpha val="85000"/>
            </a:srgbClr>
          </a:solidFill>
          <a:ln w="19050">
            <a:solidFill>
              <a:srgbClr val="FBBF24"/>
            </a:solidFill>
            <a:prstDash val="solid"/>
          </a:ln>
        </p:spPr>
      </p:sp>
      <p:sp>
        <p:nvSpPr>
          <p:cNvPr id="12" name="Shape 10"/>
          <p:cNvSpPr/>
          <p:nvPr/>
        </p:nvSpPr>
        <p:spPr>
          <a:xfrm>
            <a:off x="6507328" y="2057400"/>
            <a:ext cx="731520" cy="731520"/>
          </a:xfrm>
          <a:prstGeom prst="ellipse">
            <a:avLst/>
          </a:prstGeom>
          <a:solidFill>
            <a:srgbClr val="25324A"/>
          </a:solidFill>
          <a:ln w="12700">
            <a:solidFill>
              <a:srgbClr val="4ADE80"/>
            </a:solidFill>
            <a:prstDash val="solid"/>
          </a:ln>
        </p:spPr>
      </p:sp>
      <p:sp>
        <p:nvSpPr>
          <p:cNvPr id="13" name="Text 11"/>
          <p:cNvSpPr txBox="1"/>
          <p:nvPr/>
        </p:nvSpPr>
        <p:spPr>
          <a:xfrm>
            <a:off x="6507328" y="2057400"/>
            <a:ext cx="731520" cy="731520"/>
          </a:xfrm>
          <a:prstGeom prst="rect">
            <a:avLst/>
          </a:prstGeom>
          <a:noFill/>
          <a:ln/>
        </p:spPr>
        <p:txBody>
          <a:bodyPr wrap="square" lIns="0" tIns="0" rIns="0" bIns="0" rtlCol="0" anchor="ctr"/>
          <a:lstStyle/>
          <a:p>
            <a:pPr algn="ctr" indent="0" marL="0">
              <a:buNone/>
            </a:pPr>
            <a:r>
              <a:rPr lang="en-US" sz="2200" dirty="0">
                <a:solidFill>
                  <a:srgbClr val="000000"/>
                </a:solidFill>
                <a:latin typeface="Segoe UI Emoji" pitchFamily="34" charset="0"/>
                <a:ea typeface="Segoe UI Emoji" pitchFamily="34" charset="-122"/>
                <a:cs typeface="Segoe UI Emoji" pitchFamily="34" charset="-120"/>
              </a:rPr>
              <a:t>🆓</a:t>
            </a:r>
            <a:endParaRPr lang="en-US" sz="2200" dirty="0"/>
          </a:p>
        </p:txBody>
      </p:sp>
      <p:sp>
        <p:nvSpPr>
          <p:cNvPr id="14" name="Text 12"/>
          <p:cNvSpPr txBox="1"/>
          <p:nvPr/>
        </p:nvSpPr>
        <p:spPr>
          <a:xfrm>
            <a:off x="10180015" y="1947672"/>
            <a:ext cx="1143000" cy="256032"/>
          </a:xfrm>
          <a:prstGeom prst="rect">
            <a:avLst/>
          </a:prstGeom>
          <a:noFill/>
          <a:ln/>
        </p:spPr>
        <p:txBody>
          <a:bodyPr wrap="square" lIns="0" tIns="0" rIns="0" bIns="0" rtlCol="0" anchor="ctr"/>
          <a:lstStyle/>
          <a:p>
            <a:pPr algn="r" indent="0" marL="0">
              <a:buNone/>
            </a:pPr>
            <a:r>
              <a:rPr lang="en-US" sz="950" b="1" spc="100" kern="0" dirty="0">
                <a:solidFill>
                  <a:srgbClr val="FBBF24"/>
                </a:solidFill>
                <a:latin typeface="Arial" pitchFamily="34" charset="0"/>
                <a:ea typeface="Arial" pitchFamily="34" charset="-122"/>
                <a:cs typeface="Arial" pitchFamily="34" charset="-120"/>
              </a:rPr>
              <a:t>CAM KẾT</a:t>
            </a:r>
            <a:endParaRPr lang="en-US" sz="950" dirty="0"/>
          </a:p>
        </p:txBody>
      </p:sp>
      <p:sp>
        <p:nvSpPr>
          <p:cNvPr id="15" name="Text 13"/>
          <p:cNvSpPr txBox="1"/>
          <p:nvPr/>
        </p:nvSpPr>
        <p:spPr>
          <a:xfrm>
            <a:off x="7467448" y="2130552"/>
            <a:ext cx="3855568" cy="4114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Nâng cấp nền tảng miễn phí</a:t>
            </a:r>
            <a:endParaRPr lang="en-US" sz="1800" dirty="0"/>
          </a:p>
        </p:txBody>
      </p:sp>
      <p:sp>
        <p:nvSpPr>
          <p:cNvPr id="16" name="Text 14"/>
          <p:cNvSpPr txBox="1"/>
          <p:nvPr/>
        </p:nvSpPr>
        <p:spPr>
          <a:xfrm>
            <a:off x="7467448" y="2587752"/>
            <a:ext cx="3855568" cy="868680"/>
          </a:xfrm>
          <a:prstGeom prst="rect">
            <a:avLst/>
          </a:prstGeom>
          <a:noFill/>
          <a:ln/>
        </p:spPr>
        <p:txBody>
          <a:bodyPr wrap="square" lIns="0" tIns="0" rIns="0" bIns="0" rtlCol="0" anchor="t"/>
          <a:lstStyle/>
          <a:p>
            <a:pPr indent="0" marL="0">
              <a:lnSpc>
                <a:spcPts val="1900"/>
              </a:lnSpc>
              <a:buNone/>
            </a:pPr>
            <a:r>
              <a:rPr lang="en-US" sz="1350" dirty="0">
                <a:solidFill>
                  <a:srgbClr val="A9BCD6"/>
                </a:solidFill>
                <a:latin typeface="Arial" pitchFamily="34" charset="0"/>
                <a:ea typeface="Arial" pitchFamily="34" charset="-122"/>
                <a:cs typeface="Arial" pitchFamily="34" charset="-120"/>
              </a:rPr>
              <a:t>Đã có kế hoạch nâng cấp để đáp ứng yêu cầu tốc độ ngày một cao khi số hồ sơ tăng.</a:t>
            </a:r>
            <a:endParaRPr lang="en-US" sz="1350" dirty="0"/>
          </a:p>
        </p:txBody>
      </p:sp>
      <p:sp>
        <p:nvSpPr>
          <p:cNvPr id="17" name="Shape 15"/>
          <p:cNvSpPr/>
          <p:nvPr/>
        </p:nvSpPr>
        <p:spPr>
          <a:xfrm>
            <a:off x="640080" y="3767328"/>
            <a:ext cx="5318608" cy="1783080"/>
          </a:xfrm>
          <a:prstGeom prst="roundRect">
            <a:avLst>
              <a:gd name="adj" fmla="val 5128"/>
            </a:avLst>
          </a:prstGeom>
          <a:solidFill>
            <a:srgbClr val="1C3558">
              <a:alpha val="85000"/>
            </a:srgbClr>
          </a:solidFill>
          <a:ln w="9525">
            <a:solidFill>
              <a:srgbClr val="2E4B74"/>
            </a:solidFill>
            <a:prstDash val="solid"/>
          </a:ln>
        </p:spPr>
      </p:sp>
      <p:sp>
        <p:nvSpPr>
          <p:cNvPr id="18" name="Shape 16"/>
          <p:cNvSpPr/>
          <p:nvPr/>
        </p:nvSpPr>
        <p:spPr>
          <a:xfrm>
            <a:off x="914400" y="4041648"/>
            <a:ext cx="731520" cy="731520"/>
          </a:xfrm>
          <a:prstGeom prst="ellipse">
            <a:avLst/>
          </a:prstGeom>
          <a:solidFill>
            <a:srgbClr val="25324A"/>
          </a:solidFill>
          <a:ln w="12700">
            <a:solidFill>
              <a:srgbClr val="38BDF8"/>
            </a:solidFill>
            <a:prstDash val="solid"/>
          </a:ln>
        </p:spPr>
      </p:sp>
      <p:sp>
        <p:nvSpPr>
          <p:cNvPr id="19" name="Text 17"/>
          <p:cNvSpPr txBox="1"/>
          <p:nvPr/>
        </p:nvSpPr>
        <p:spPr>
          <a:xfrm>
            <a:off x="914400" y="4041648"/>
            <a:ext cx="731520" cy="731520"/>
          </a:xfrm>
          <a:prstGeom prst="rect">
            <a:avLst/>
          </a:prstGeom>
          <a:noFill/>
          <a:ln/>
        </p:spPr>
        <p:txBody>
          <a:bodyPr wrap="square" lIns="0" tIns="0" rIns="0" bIns="0" rtlCol="0" anchor="ctr"/>
          <a:lstStyle/>
          <a:p>
            <a:pPr algn="ctr" indent="0" marL="0">
              <a:buNone/>
            </a:pPr>
            <a:r>
              <a:rPr lang="en-US" sz="2200" dirty="0">
                <a:solidFill>
                  <a:srgbClr val="000000"/>
                </a:solidFill>
                <a:latin typeface="Segoe UI Emoji" pitchFamily="34" charset="0"/>
                <a:ea typeface="Segoe UI Emoji" pitchFamily="34" charset="-122"/>
                <a:cs typeface="Segoe UI Emoji" pitchFamily="34" charset="-120"/>
              </a:rPr>
              <a:t>🤖</a:t>
            </a:r>
            <a:endParaRPr lang="en-US" sz="2200" dirty="0"/>
          </a:p>
        </p:txBody>
      </p:sp>
      <p:sp>
        <p:nvSpPr>
          <p:cNvPr id="20" name="Text 18"/>
          <p:cNvSpPr txBox="1"/>
          <p:nvPr/>
        </p:nvSpPr>
        <p:spPr>
          <a:xfrm>
            <a:off x="4587088" y="3931920"/>
            <a:ext cx="1143000" cy="256032"/>
          </a:xfrm>
          <a:prstGeom prst="rect">
            <a:avLst/>
          </a:prstGeom>
          <a:noFill/>
          <a:ln/>
        </p:spPr>
        <p:txBody>
          <a:bodyPr wrap="square" lIns="0" tIns="0" rIns="0" bIns="0" rtlCol="0" anchor="ctr"/>
          <a:lstStyle/>
          <a:p>
            <a:pPr algn="r" indent="0" marL="0">
              <a:buNone/>
            </a:pPr>
            <a:r>
              <a:rPr lang="en-US" sz="950" b="1" spc="100" kern="0" dirty="0">
                <a:solidFill>
                  <a:srgbClr val="38BDF8"/>
                </a:solidFill>
                <a:latin typeface="Arial" pitchFamily="34" charset="0"/>
                <a:ea typeface="Arial" pitchFamily="34" charset="-122"/>
                <a:cs typeface="Arial" pitchFamily="34" charset="-120"/>
              </a:rPr>
              <a:t>LỘ TRÌNH</a:t>
            </a:r>
            <a:endParaRPr lang="en-US" sz="950" dirty="0"/>
          </a:p>
        </p:txBody>
      </p:sp>
      <p:sp>
        <p:nvSpPr>
          <p:cNvPr id="21" name="Text 19"/>
          <p:cNvSpPr txBox="1"/>
          <p:nvPr/>
        </p:nvSpPr>
        <p:spPr>
          <a:xfrm>
            <a:off x="1874520" y="4114800"/>
            <a:ext cx="3855568" cy="4114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Ứng dụng AI tra soát lỗi</a:t>
            </a:r>
            <a:endParaRPr lang="en-US" sz="1800" dirty="0"/>
          </a:p>
        </p:txBody>
      </p:sp>
      <p:sp>
        <p:nvSpPr>
          <p:cNvPr id="22" name="Text 20"/>
          <p:cNvSpPr txBox="1"/>
          <p:nvPr/>
        </p:nvSpPr>
        <p:spPr>
          <a:xfrm>
            <a:off x="1874520" y="4572000"/>
            <a:ext cx="3855568" cy="868680"/>
          </a:xfrm>
          <a:prstGeom prst="rect">
            <a:avLst/>
          </a:prstGeom>
          <a:noFill/>
          <a:ln/>
        </p:spPr>
        <p:txBody>
          <a:bodyPr wrap="square" lIns="0" tIns="0" rIns="0" bIns="0" rtlCol="0" anchor="t"/>
          <a:lstStyle/>
          <a:p>
            <a:pPr indent="0" marL="0">
              <a:lnSpc>
                <a:spcPts val="1900"/>
              </a:lnSpc>
              <a:buNone/>
            </a:pPr>
            <a:r>
              <a:rPr lang="en-US" sz="1350" dirty="0">
                <a:solidFill>
                  <a:srgbClr val="A9BCD6"/>
                </a:solidFill>
                <a:latin typeface="Arial" pitchFamily="34" charset="0"/>
                <a:ea typeface="Arial" pitchFamily="34" charset="-122"/>
                <a:cs typeface="Arial" pitchFamily="34" charset="-120"/>
              </a:rPr>
              <a:t>Tra soát lỗi thông minh: gợi ý nguyên nhân, cách sửa, phát hiện bất thường mà quy tắc cứng chưa bắt được.</a:t>
            </a:r>
            <a:endParaRPr lang="en-US" sz="1350" dirty="0"/>
          </a:p>
        </p:txBody>
      </p:sp>
      <p:sp>
        <p:nvSpPr>
          <p:cNvPr id="23" name="Shape 21"/>
          <p:cNvSpPr/>
          <p:nvPr/>
        </p:nvSpPr>
        <p:spPr>
          <a:xfrm>
            <a:off x="6233008" y="3767328"/>
            <a:ext cx="5318608" cy="1783080"/>
          </a:xfrm>
          <a:prstGeom prst="roundRect">
            <a:avLst>
              <a:gd name="adj" fmla="val 5128"/>
            </a:avLst>
          </a:prstGeom>
          <a:solidFill>
            <a:srgbClr val="1C3558">
              <a:alpha val="85000"/>
            </a:srgbClr>
          </a:solidFill>
          <a:ln w="9525">
            <a:solidFill>
              <a:srgbClr val="2E4B74"/>
            </a:solidFill>
            <a:prstDash val="solid"/>
          </a:ln>
        </p:spPr>
      </p:sp>
      <p:sp>
        <p:nvSpPr>
          <p:cNvPr id="24" name="Shape 22"/>
          <p:cNvSpPr/>
          <p:nvPr/>
        </p:nvSpPr>
        <p:spPr>
          <a:xfrm>
            <a:off x="6507328" y="4041648"/>
            <a:ext cx="731520" cy="731520"/>
          </a:xfrm>
          <a:prstGeom prst="ellipse">
            <a:avLst/>
          </a:prstGeom>
          <a:solidFill>
            <a:srgbClr val="25324A"/>
          </a:solidFill>
          <a:ln w="12700">
            <a:solidFill>
              <a:srgbClr val="38BDF8"/>
            </a:solidFill>
            <a:prstDash val="solid"/>
          </a:ln>
        </p:spPr>
      </p:sp>
      <p:sp>
        <p:nvSpPr>
          <p:cNvPr id="25" name="Text 23"/>
          <p:cNvSpPr txBox="1"/>
          <p:nvPr/>
        </p:nvSpPr>
        <p:spPr>
          <a:xfrm>
            <a:off x="6507328" y="4041648"/>
            <a:ext cx="731520" cy="731520"/>
          </a:xfrm>
          <a:prstGeom prst="rect">
            <a:avLst/>
          </a:prstGeom>
          <a:noFill/>
          <a:ln/>
        </p:spPr>
        <p:txBody>
          <a:bodyPr wrap="square" lIns="0" tIns="0" rIns="0" bIns="0" rtlCol="0" anchor="ctr"/>
          <a:lstStyle/>
          <a:p>
            <a:pPr algn="ctr" indent="0" marL="0">
              <a:buNone/>
            </a:pPr>
            <a:r>
              <a:rPr lang="en-US" sz="2200" dirty="0">
                <a:solidFill>
                  <a:srgbClr val="000000"/>
                </a:solidFill>
                <a:latin typeface="Segoe UI Emoji" pitchFamily="34" charset="0"/>
                <a:ea typeface="Segoe UI Emoji" pitchFamily="34" charset="-122"/>
                <a:cs typeface="Segoe UI Emoji" pitchFamily="34" charset="-120"/>
              </a:rPr>
              <a:t>🔗</a:t>
            </a:r>
            <a:endParaRPr lang="en-US" sz="2200" dirty="0"/>
          </a:p>
        </p:txBody>
      </p:sp>
      <p:sp>
        <p:nvSpPr>
          <p:cNvPr id="26" name="Text 24"/>
          <p:cNvSpPr txBox="1"/>
          <p:nvPr/>
        </p:nvSpPr>
        <p:spPr>
          <a:xfrm>
            <a:off x="10180015" y="3931920"/>
            <a:ext cx="1143000" cy="256032"/>
          </a:xfrm>
          <a:prstGeom prst="rect">
            <a:avLst/>
          </a:prstGeom>
          <a:noFill/>
          <a:ln/>
        </p:spPr>
        <p:txBody>
          <a:bodyPr wrap="square" lIns="0" tIns="0" rIns="0" bIns="0" rtlCol="0" anchor="ctr"/>
          <a:lstStyle/>
          <a:p>
            <a:pPr algn="r" indent="0" marL="0">
              <a:buNone/>
            </a:pPr>
            <a:r>
              <a:rPr lang="en-US" sz="950" b="1" spc="100" kern="0" dirty="0">
                <a:solidFill>
                  <a:srgbClr val="38BDF8"/>
                </a:solidFill>
                <a:latin typeface="Arial" pitchFamily="34" charset="0"/>
                <a:ea typeface="Arial" pitchFamily="34" charset="-122"/>
                <a:cs typeface="Arial" pitchFamily="34" charset="-120"/>
              </a:rPr>
              <a:t>LỘ TRÌNH</a:t>
            </a:r>
            <a:endParaRPr lang="en-US" sz="950" dirty="0"/>
          </a:p>
        </p:txBody>
      </p:sp>
      <p:sp>
        <p:nvSpPr>
          <p:cNvPr id="27" name="Text 25"/>
          <p:cNvSpPr txBox="1"/>
          <p:nvPr/>
        </p:nvSpPr>
        <p:spPr>
          <a:xfrm>
            <a:off x="7467448" y="4114800"/>
            <a:ext cx="3855568" cy="4114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Tích hợp HIS sâu hơn</a:t>
            </a:r>
            <a:endParaRPr lang="en-US" sz="1800" dirty="0"/>
          </a:p>
        </p:txBody>
      </p:sp>
      <p:sp>
        <p:nvSpPr>
          <p:cNvPr id="28" name="Text 26"/>
          <p:cNvSpPr txBox="1"/>
          <p:nvPr/>
        </p:nvSpPr>
        <p:spPr>
          <a:xfrm>
            <a:off x="7467448" y="4572000"/>
            <a:ext cx="3855568" cy="868680"/>
          </a:xfrm>
          <a:prstGeom prst="rect">
            <a:avLst/>
          </a:prstGeom>
          <a:noFill/>
          <a:ln/>
        </p:spPr>
        <p:txBody>
          <a:bodyPr wrap="square" lIns="0" tIns="0" rIns="0" bIns="0" rtlCol="0" anchor="t"/>
          <a:lstStyle/>
          <a:p>
            <a:pPr indent="0" marL="0">
              <a:lnSpc>
                <a:spcPts val="1900"/>
              </a:lnSpc>
              <a:buNone/>
            </a:pPr>
            <a:r>
              <a:rPr lang="en-US" sz="1350" dirty="0">
                <a:solidFill>
                  <a:srgbClr val="A9BCD6"/>
                </a:solidFill>
                <a:latin typeface="Arial" pitchFamily="34" charset="0"/>
                <a:ea typeface="Arial" pitchFamily="34" charset="-122"/>
                <a:cs typeface="Arial" pitchFamily="34" charset="-120"/>
              </a:rPr>
              <a:t>Chủ động phát hiện lỗi logic ngay trên HIS — ví dụ sai thời gian, sai mã đối tượng — trước khi lập hồ sơ.</a:t>
            </a:r>
            <a:endParaRPr lang="en-US" sz="1350" dirty="0"/>
          </a:p>
        </p:txBody>
      </p:sp>
      <p:sp>
        <p:nvSpPr>
          <p:cNvPr id="29" name="Text 27"/>
          <p:cNvSpPr txBox="1"/>
          <p:nvPr/>
        </p:nvSpPr>
        <p:spPr>
          <a:xfrm>
            <a:off x="640080" y="5852160"/>
            <a:ext cx="10911535" cy="384048"/>
          </a:xfrm>
          <a:prstGeom prst="rect">
            <a:avLst/>
          </a:prstGeom>
          <a:noFill/>
          <a:ln/>
        </p:spPr>
        <p:txBody>
          <a:bodyPr wrap="square" lIns="0" tIns="0" rIns="0" bIns="0" rtlCol="0" anchor="ctr"/>
          <a:lstStyle/>
          <a:p>
            <a:pPr algn="ctr" indent="0" marL="0">
              <a:buNone/>
            </a:pPr>
            <a:r>
              <a:rPr lang="en-US" sz="1600" dirty="0">
                <a:solidFill>
                  <a:srgbClr val="FBBF24"/>
                </a:solidFill>
                <a:latin typeface="Arial" pitchFamily="34" charset="0"/>
                <a:ea typeface="Arial" pitchFamily="34" charset="-122"/>
                <a:cs typeface="Arial" pitchFamily="34" charset="-120"/>
              </a:rPr>
              <a:t>Viện tập trung vào chuyên môn — phần mềm theo kịp quy định là việc của chúng tôi</a:t>
            </a:r>
            <a:endParaRPr lang="en-US" sz="1600" dirty="0"/>
          </a:p>
        </p:txBody>
      </p:sp>
      <p:sp>
        <p:nvSpPr>
          <p:cNvPr id="31" name="Text 28"/>
          <p:cNvSpPr txBox="1"/>
          <p:nvPr/>
        </p:nvSpPr>
        <p:spPr>
          <a:xfrm>
            <a:off x="6979615" y="6419088"/>
            <a:ext cx="4572000" cy="256032"/>
          </a:xfrm>
          <a:prstGeom prst="rect">
            <a:avLst/>
          </a:prstGeom>
          <a:noFill/>
          <a:ln/>
        </p:spPr>
        <p:txBody>
          <a:bodyPr wrap="square" lIns="0" tIns="0" rIns="0" bIns="0" rtlCol="0" anchor="ctr"/>
          <a:lstStyle/>
          <a:p>
            <a:pPr algn="r" indent="0" marL="0">
              <a:buNone/>
            </a:pPr>
            <a:r>
              <a:rPr lang="en-US" sz="950" spc="100" kern="0" dirty="0">
                <a:solidFill>
                  <a:srgbClr val="7F93B0"/>
                </a:solidFill>
                <a:latin typeface="Arial" pitchFamily="34" charset="0"/>
                <a:ea typeface="Arial" pitchFamily="34" charset="-122"/>
                <a:cs typeface="Arial" pitchFamily="34" charset="-120"/>
              </a:rPr>
              <a:t>GIẢI PHÁP TIỀN GIÁM ĐỊNH  ·  10 / 12</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11480"/>
            <a:ext cx="10911535" cy="274320"/>
          </a:xfrm>
          <a:prstGeom prst="rect">
            <a:avLst/>
          </a:prstGeom>
          <a:noFill/>
          <a:ln/>
        </p:spPr>
        <p:txBody>
          <a:bodyPr wrap="square" lIns="0" tIns="0" rIns="0" bIns="0" rtlCol="0" anchor="ctr"/>
          <a:lstStyle/>
          <a:p>
            <a:pPr indent="0" marL="0">
              <a:buNone/>
            </a:pPr>
            <a:r>
              <a:rPr lang="en-US" sz="1200" b="1" spc="200" kern="0" dirty="0">
                <a:solidFill>
                  <a:srgbClr val="38BDF8"/>
                </a:solidFill>
                <a:latin typeface="Arial" pitchFamily="34" charset="0"/>
                <a:ea typeface="Arial" pitchFamily="34" charset="-122"/>
                <a:cs typeface="Arial" pitchFamily="34" charset="-120"/>
              </a:rPr>
              <a:t>ĐỀ XUẤT</a:t>
            </a:r>
            <a:endParaRPr lang="en-US" sz="1200" dirty="0"/>
          </a:p>
        </p:txBody>
      </p:sp>
      <p:sp>
        <p:nvSpPr>
          <p:cNvPr id="3" name="Text 1"/>
          <p:cNvSpPr txBox="1"/>
          <p:nvPr/>
        </p:nvSpPr>
        <p:spPr>
          <a:xfrm>
            <a:off x="640080" y="713232"/>
            <a:ext cx="10911535" cy="566928"/>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Thí điểm 4–8 tuần, đo bằng số liệu của chính viện</a:t>
            </a:r>
            <a:endParaRPr lang="en-US" sz="2800" dirty="0"/>
          </a:p>
        </p:txBody>
      </p:sp>
      <p:sp>
        <p:nvSpPr>
          <p:cNvPr id="4" name="Shape 2"/>
          <p:cNvSpPr/>
          <p:nvPr/>
        </p:nvSpPr>
        <p:spPr>
          <a:xfrm>
            <a:off x="640080" y="1508760"/>
            <a:ext cx="6309360" cy="841248"/>
          </a:xfrm>
          <a:prstGeom prst="roundRect">
            <a:avLst>
              <a:gd name="adj" fmla="val 10870"/>
            </a:avLst>
          </a:prstGeom>
          <a:solidFill>
            <a:srgbClr val="1C3558">
              <a:alpha val="85000"/>
            </a:srgbClr>
          </a:solidFill>
          <a:ln w="9525">
            <a:solidFill>
              <a:srgbClr val="2E4B74"/>
            </a:solidFill>
            <a:prstDash val="solid"/>
          </a:ln>
        </p:spPr>
      </p:sp>
      <p:sp>
        <p:nvSpPr>
          <p:cNvPr id="5" name="Text 3"/>
          <p:cNvSpPr txBox="1"/>
          <p:nvPr/>
        </p:nvSpPr>
        <p:spPr>
          <a:xfrm>
            <a:off x="914400" y="1508760"/>
            <a:ext cx="1737360" cy="841248"/>
          </a:xfrm>
          <a:prstGeom prst="rect">
            <a:avLst/>
          </a:prstGeom>
          <a:noFill/>
          <a:ln/>
        </p:spPr>
        <p:txBody>
          <a:bodyPr wrap="square" lIns="0" tIns="0" rIns="0" bIns="0" rtlCol="0" anchor="ctr"/>
          <a:lstStyle/>
          <a:p>
            <a:pPr indent="0" marL="0">
              <a:buNone/>
            </a:pPr>
            <a:r>
              <a:rPr lang="en-US" sz="1100" b="1" spc="100" kern="0" dirty="0">
                <a:solidFill>
                  <a:srgbClr val="38BDF8"/>
                </a:solidFill>
                <a:latin typeface="Arial" pitchFamily="34" charset="0"/>
                <a:ea typeface="Arial" pitchFamily="34" charset="-122"/>
                <a:cs typeface="Arial" pitchFamily="34" charset="-120"/>
              </a:rPr>
              <a:t>PHẠM VI</a:t>
            </a:r>
            <a:endParaRPr lang="en-US" sz="1100" dirty="0"/>
          </a:p>
        </p:txBody>
      </p:sp>
      <p:sp>
        <p:nvSpPr>
          <p:cNvPr id="6" name="Text 4"/>
          <p:cNvSpPr txBox="1"/>
          <p:nvPr/>
        </p:nvSpPr>
        <p:spPr>
          <a:xfrm>
            <a:off x="2697480" y="1508760"/>
            <a:ext cx="4023360" cy="841248"/>
          </a:xfrm>
          <a:prstGeom prst="rect">
            <a:avLst/>
          </a:prstGeom>
          <a:noFill/>
          <a:ln/>
        </p:spPr>
        <p:txBody>
          <a:bodyPr wrap="square" lIns="0" tIns="0" rIns="0" bIns="0" rtlCol="0" anchor="ctr"/>
          <a:lstStyle/>
          <a:p>
            <a:pPr indent="0" marL="0">
              <a:lnSpc>
                <a:spcPts val="1900"/>
              </a:lnSpc>
              <a:buNone/>
            </a:pPr>
            <a:r>
              <a:rPr lang="en-US" sz="1400" dirty="0">
                <a:solidFill>
                  <a:srgbClr val="FFFFFF"/>
                </a:solidFill>
                <a:latin typeface="Arial" pitchFamily="34" charset="0"/>
                <a:ea typeface="Arial" pitchFamily="34" charset="-122"/>
                <a:cs typeface="Arial" pitchFamily="34" charset="-120"/>
              </a:rPr>
              <a:t>Kiểm hồ sơ XML 3176 chạy song song quy trình hiện tại; chưa bật tự gửi cổng.</a:t>
            </a:r>
            <a:endParaRPr lang="en-US" sz="1400" dirty="0"/>
          </a:p>
        </p:txBody>
      </p:sp>
      <p:sp>
        <p:nvSpPr>
          <p:cNvPr id="7" name="Shape 5"/>
          <p:cNvSpPr/>
          <p:nvPr/>
        </p:nvSpPr>
        <p:spPr>
          <a:xfrm>
            <a:off x="640080" y="2478024"/>
            <a:ext cx="6309360" cy="841248"/>
          </a:xfrm>
          <a:prstGeom prst="roundRect">
            <a:avLst>
              <a:gd name="adj" fmla="val 10870"/>
            </a:avLst>
          </a:prstGeom>
          <a:solidFill>
            <a:srgbClr val="1C3558">
              <a:alpha val="85000"/>
            </a:srgbClr>
          </a:solidFill>
          <a:ln w="9525">
            <a:solidFill>
              <a:srgbClr val="2E4B74"/>
            </a:solidFill>
            <a:prstDash val="solid"/>
          </a:ln>
        </p:spPr>
      </p:sp>
      <p:sp>
        <p:nvSpPr>
          <p:cNvPr id="8" name="Text 6"/>
          <p:cNvSpPr txBox="1"/>
          <p:nvPr/>
        </p:nvSpPr>
        <p:spPr>
          <a:xfrm>
            <a:off x="914400" y="2478024"/>
            <a:ext cx="1737360" cy="841248"/>
          </a:xfrm>
          <a:prstGeom prst="rect">
            <a:avLst/>
          </a:prstGeom>
          <a:noFill/>
          <a:ln/>
        </p:spPr>
        <p:txBody>
          <a:bodyPr wrap="square" lIns="0" tIns="0" rIns="0" bIns="0" rtlCol="0" anchor="ctr"/>
          <a:lstStyle/>
          <a:p>
            <a:pPr indent="0" marL="0">
              <a:buNone/>
            </a:pPr>
            <a:r>
              <a:rPr lang="en-US" sz="1100" b="1" spc="100" kern="0" dirty="0">
                <a:solidFill>
                  <a:srgbClr val="38BDF8"/>
                </a:solidFill>
                <a:latin typeface="Arial" pitchFamily="34" charset="0"/>
                <a:ea typeface="Arial" pitchFamily="34" charset="-122"/>
                <a:cs typeface="Arial" pitchFamily="34" charset="-120"/>
              </a:rPr>
              <a:t>VIỆN CỬ</a:t>
            </a:r>
            <a:endParaRPr lang="en-US" sz="1100" dirty="0"/>
          </a:p>
        </p:txBody>
      </p:sp>
      <p:sp>
        <p:nvSpPr>
          <p:cNvPr id="9" name="Text 7"/>
          <p:cNvSpPr txBox="1"/>
          <p:nvPr/>
        </p:nvSpPr>
        <p:spPr>
          <a:xfrm>
            <a:off x="2697480" y="2478024"/>
            <a:ext cx="4023360" cy="841248"/>
          </a:xfrm>
          <a:prstGeom prst="rect">
            <a:avLst/>
          </a:prstGeom>
          <a:noFill/>
          <a:ln/>
        </p:spPr>
        <p:txBody>
          <a:bodyPr wrap="square" lIns="0" tIns="0" rIns="0" bIns="0" rtlCol="0" anchor="ctr"/>
          <a:lstStyle/>
          <a:p>
            <a:pPr indent="0" marL="0">
              <a:lnSpc>
                <a:spcPts val="1900"/>
              </a:lnSpc>
              <a:buNone/>
            </a:pPr>
            <a:r>
              <a:rPr lang="en-US" sz="1400" dirty="0">
                <a:solidFill>
                  <a:srgbClr val="FFFFFF"/>
                </a:solidFill>
                <a:latin typeface="Arial" pitchFamily="34" charset="0"/>
                <a:ea typeface="Arial" pitchFamily="34" charset="-122"/>
                <a:cs typeface="Arial" pitchFamily="34" charset="-120"/>
              </a:rPr>
              <a:t>1 đầu mối phòng KHTH  ·  1 người phụ trách danh mục BHYT  ·  1 cán bộ CNTT</a:t>
            </a:r>
            <a:endParaRPr lang="en-US" sz="1400" dirty="0"/>
          </a:p>
        </p:txBody>
      </p:sp>
      <p:sp>
        <p:nvSpPr>
          <p:cNvPr id="10" name="Shape 8"/>
          <p:cNvSpPr/>
          <p:nvPr/>
        </p:nvSpPr>
        <p:spPr>
          <a:xfrm>
            <a:off x="640080" y="3447288"/>
            <a:ext cx="6309360" cy="841248"/>
          </a:xfrm>
          <a:prstGeom prst="roundRect">
            <a:avLst>
              <a:gd name="adj" fmla="val 10870"/>
            </a:avLst>
          </a:prstGeom>
          <a:solidFill>
            <a:srgbClr val="1C3558">
              <a:alpha val="85000"/>
            </a:srgbClr>
          </a:solidFill>
          <a:ln w="9525">
            <a:solidFill>
              <a:srgbClr val="2E4B74"/>
            </a:solidFill>
            <a:prstDash val="solid"/>
          </a:ln>
        </p:spPr>
      </p:sp>
      <p:sp>
        <p:nvSpPr>
          <p:cNvPr id="11" name="Text 9"/>
          <p:cNvSpPr txBox="1"/>
          <p:nvPr/>
        </p:nvSpPr>
        <p:spPr>
          <a:xfrm>
            <a:off x="914400" y="3447288"/>
            <a:ext cx="1737360" cy="841248"/>
          </a:xfrm>
          <a:prstGeom prst="rect">
            <a:avLst/>
          </a:prstGeom>
          <a:noFill/>
          <a:ln/>
        </p:spPr>
        <p:txBody>
          <a:bodyPr wrap="square" lIns="0" tIns="0" rIns="0" bIns="0" rtlCol="0" anchor="ctr"/>
          <a:lstStyle/>
          <a:p>
            <a:pPr indent="0" marL="0">
              <a:buNone/>
            </a:pPr>
            <a:r>
              <a:rPr lang="en-US" sz="1100" b="1" spc="100" kern="0" dirty="0">
                <a:solidFill>
                  <a:srgbClr val="38BDF8"/>
                </a:solidFill>
                <a:latin typeface="Arial" pitchFamily="34" charset="0"/>
                <a:ea typeface="Arial" pitchFamily="34" charset="-122"/>
                <a:cs typeface="Arial" pitchFamily="34" charset="-120"/>
              </a:rPr>
              <a:t>CHÚNG TÔI LÀM</a:t>
            </a:r>
            <a:endParaRPr lang="en-US" sz="1100" dirty="0"/>
          </a:p>
        </p:txBody>
      </p:sp>
      <p:sp>
        <p:nvSpPr>
          <p:cNvPr id="12" name="Text 10"/>
          <p:cNvSpPr txBox="1"/>
          <p:nvPr/>
        </p:nvSpPr>
        <p:spPr>
          <a:xfrm>
            <a:off x="2697480" y="3447288"/>
            <a:ext cx="4023360" cy="841248"/>
          </a:xfrm>
          <a:prstGeom prst="rect">
            <a:avLst/>
          </a:prstGeom>
          <a:noFill/>
          <a:ln/>
        </p:spPr>
        <p:txBody>
          <a:bodyPr wrap="square" lIns="0" tIns="0" rIns="0" bIns="0" rtlCol="0" anchor="ctr"/>
          <a:lstStyle/>
          <a:p>
            <a:pPr indent="0" marL="0">
              <a:lnSpc>
                <a:spcPts val="1900"/>
              </a:lnSpc>
              <a:buNone/>
            </a:pPr>
            <a:r>
              <a:rPr lang="en-US" sz="1400" dirty="0">
                <a:solidFill>
                  <a:srgbClr val="FFFFFF"/>
                </a:solidFill>
                <a:latin typeface="Arial" pitchFamily="34" charset="0"/>
                <a:ea typeface="Arial" pitchFamily="34" charset="-122"/>
                <a:cs typeface="Arial" pitchFamily="34" charset="-120"/>
              </a:rPr>
              <a:t>Cài đặt tại viện, nạp danh mục, đào tạo người dùng, theo dõi kết quả cùng viện.</a:t>
            </a:r>
            <a:endParaRPr lang="en-US" sz="1400" dirty="0"/>
          </a:p>
        </p:txBody>
      </p:sp>
      <p:sp>
        <p:nvSpPr>
          <p:cNvPr id="13" name="Shape 11"/>
          <p:cNvSpPr/>
          <p:nvPr/>
        </p:nvSpPr>
        <p:spPr>
          <a:xfrm>
            <a:off x="640080" y="4416552"/>
            <a:ext cx="6309360" cy="841248"/>
          </a:xfrm>
          <a:prstGeom prst="roundRect">
            <a:avLst>
              <a:gd name="adj" fmla="val 10870"/>
            </a:avLst>
          </a:prstGeom>
          <a:solidFill>
            <a:srgbClr val="1C3558">
              <a:alpha val="85000"/>
            </a:srgbClr>
          </a:solidFill>
          <a:ln w="9525">
            <a:solidFill>
              <a:srgbClr val="2E4B74"/>
            </a:solidFill>
            <a:prstDash val="solid"/>
          </a:ln>
        </p:spPr>
      </p:sp>
      <p:sp>
        <p:nvSpPr>
          <p:cNvPr id="14" name="Text 12"/>
          <p:cNvSpPr txBox="1"/>
          <p:nvPr/>
        </p:nvSpPr>
        <p:spPr>
          <a:xfrm>
            <a:off x="914400" y="4416552"/>
            <a:ext cx="1737360" cy="841248"/>
          </a:xfrm>
          <a:prstGeom prst="rect">
            <a:avLst/>
          </a:prstGeom>
          <a:noFill/>
          <a:ln/>
        </p:spPr>
        <p:txBody>
          <a:bodyPr wrap="square" lIns="0" tIns="0" rIns="0" bIns="0" rtlCol="0" anchor="ctr"/>
          <a:lstStyle/>
          <a:p>
            <a:pPr indent="0" marL="0">
              <a:buNone/>
            </a:pPr>
            <a:r>
              <a:rPr lang="en-US" sz="1100" b="1" spc="100" kern="0" dirty="0">
                <a:solidFill>
                  <a:srgbClr val="38BDF8"/>
                </a:solidFill>
                <a:latin typeface="Arial" pitchFamily="34" charset="0"/>
                <a:ea typeface="Arial" pitchFamily="34" charset="-122"/>
                <a:cs typeface="Arial" pitchFamily="34" charset="-120"/>
              </a:rPr>
              <a:t>CHI PHÍ</a:t>
            </a:r>
            <a:endParaRPr lang="en-US" sz="1100" dirty="0"/>
          </a:p>
        </p:txBody>
      </p:sp>
      <p:sp>
        <p:nvSpPr>
          <p:cNvPr id="15" name="Text 13"/>
          <p:cNvSpPr txBox="1"/>
          <p:nvPr/>
        </p:nvSpPr>
        <p:spPr>
          <a:xfrm>
            <a:off x="2697480" y="4416552"/>
            <a:ext cx="4023360" cy="841248"/>
          </a:xfrm>
          <a:prstGeom prst="rect">
            <a:avLst/>
          </a:prstGeom>
          <a:noFill/>
          <a:ln/>
        </p:spPr>
        <p:txBody>
          <a:bodyPr wrap="square" lIns="0" tIns="0" rIns="0" bIns="0" rtlCol="0" anchor="ctr"/>
          <a:lstStyle/>
          <a:p>
            <a:pPr indent="0" marL="0">
              <a:lnSpc>
                <a:spcPts val="1900"/>
              </a:lnSpc>
              <a:buNone/>
            </a:pPr>
            <a:r>
              <a:rPr lang="en-US" sz="1400" dirty="0">
                <a:solidFill>
                  <a:srgbClr val="FFFFFF"/>
                </a:solidFill>
                <a:latin typeface="Arial" pitchFamily="34" charset="0"/>
                <a:ea typeface="Arial" pitchFamily="34" charset="-122"/>
                <a:cs typeface="Arial" pitchFamily="34" charset="-120"/>
              </a:rPr>
              <a:t>………………………………</a:t>
            </a:r>
            <a:endParaRPr lang="en-US" sz="1400" dirty="0"/>
          </a:p>
        </p:txBody>
      </p:sp>
      <p:sp>
        <p:nvSpPr>
          <p:cNvPr id="16" name="Shape 14"/>
          <p:cNvSpPr/>
          <p:nvPr/>
        </p:nvSpPr>
        <p:spPr>
          <a:xfrm>
            <a:off x="7223760" y="1508760"/>
            <a:ext cx="4327855" cy="3749040"/>
          </a:xfrm>
          <a:prstGeom prst="roundRect">
            <a:avLst>
              <a:gd name="adj" fmla="val 2439"/>
            </a:avLst>
          </a:prstGeom>
          <a:solidFill>
            <a:srgbClr val="25324A">
              <a:alpha val="85000"/>
            </a:srgbClr>
          </a:solidFill>
          <a:ln w="19050">
            <a:solidFill>
              <a:srgbClr val="FBBF24"/>
            </a:solidFill>
            <a:prstDash val="solid"/>
          </a:ln>
        </p:spPr>
      </p:sp>
      <p:sp>
        <p:nvSpPr>
          <p:cNvPr id="17" name="Text 15"/>
          <p:cNvSpPr txBox="1"/>
          <p:nvPr/>
        </p:nvSpPr>
        <p:spPr>
          <a:xfrm>
            <a:off x="7498080" y="1691640"/>
            <a:ext cx="3779215" cy="310896"/>
          </a:xfrm>
          <a:prstGeom prst="rect">
            <a:avLst/>
          </a:prstGeom>
          <a:noFill/>
          <a:ln/>
        </p:spPr>
        <p:txBody>
          <a:bodyPr wrap="square" lIns="0" tIns="0" rIns="0" bIns="0" rtlCol="0" anchor="ctr"/>
          <a:lstStyle/>
          <a:p>
            <a:pPr indent="0" marL="0">
              <a:buNone/>
            </a:pPr>
            <a:r>
              <a:rPr lang="en-US" sz="1200" b="1" spc="200" kern="0" dirty="0">
                <a:solidFill>
                  <a:srgbClr val="FBBF24"/>
                </a:solidFill>
                <a:latin typeface="Arial" pitchFamily="34" charset="0"/>
                <a:ea typeface="Arial" pitchFamily="34" charset="-122"/>
                <a:cs typeface="Arial" pitchFamily="34" charset="-120"/>
              </a:rPr>
              <a:t>ĐO GÌ ĐỂ QUYẾT ĐỊNH</a:t>
            </a:r>
            <a:endParaRPr lang="en-US" sz="1200" dirty="0"/>
          </a:p>
        </p:txBody>
      </p:sp>
      <p:sp>
        <p:nvSpPr>
          <p:cNvPr id="18" name="Text 16"/>
          <p:cNvSpPr txBox="1"/>
          <p:nvPr/>
        </p:nvSpPr>
        <p:spPr>
          <a:xfrm>
            <a:off x="7498080" y="2148840"/>
            <a:ext cx="3779215" cy="2011680"/>
          </a:xfrm>
          <a:prstGeom prst="rect">
            <a:avLst/>
          </a:prstGeom>
          <a:noFill/>
          <a:ln/>
        </p:spPr>
        <p:txBody>
          <a:bodyPr wrap="square" lIns="0" tIns="0" rIns="0" bIns="0" rtlCol="0" anchor="t"/>
          <a:lstStyle/>
          <a:p>
            <a:pPr marL="203200" indent="-203200">
              <a:lnSpc>
                <a:spcPts val="2000"/>
              </a:lnSpc>
              <a:spcAft>
                <a:spcPts val="1000"/>
              </a:spcAft>
              <a:buSzPct val="100000"/>
              <a:buChar char="•"/>
            </a:pPr>
            <a:r>
              <a:rPr lang="en-US" sz="1500" dirty="0">
                <a:solidFill>
                  <a:srgbClr val="FFFFFF"/>
                </a:solidFill>
                <a:latin typeface="Arial" pitchFamily="34" charset="0"/>
                <a:ea typeface="Arial" pitchFamily="34" charset="-122"/>
                <a:cs typeface="Arial" pitchFamily="34" charset="-120"/>
              </a:rPr>
              <a:t>Tỷ lệ hồ sơ còn lỗi nghiêm trọng trước khi gửi</a:t>
            </a:r>
            <a:endParaRPr lang="en-US" sz="1500" dirty="0"/>
          </a:p>
          <a:p>
            <a:pPr marL="203200" indent="-203200">
              <a:lnSpc>
                <a:spcPts val="2000"/>
              </a:lnSpc>
              <a:spcAft>
                <a:spcPts val="1000"/>
              </a:spcAft>
              <a:buSzPct val="100000"/>
              <a:buChar char="•"/>
            </a:pPr>
            <a:r>
              <a:rPr lang="en-US" sz="1500" dirty="0">
                <a:solidFill>
                  <a:srgbClr val="FFFFFF"/>
                </a:solidFill>
                <a:latin typeface="Arial" pitchFamily="34" charset="0"/>
                <a:ea typeface="Arial" pitchFamily="34" charset="-122"/>
                <a:cs typeface="Arial" pitchFamily="34" charset="-120"/>
              </a:rPr>
              <a:t>Số hồ sơ bị cổng giám định trả về</a:t>
            </a:r>
            <a:endParaRPr lang="en-US" sz="1500" dirty="0"/>
          </a:p>
          <a:p>
            <a:pPr marL="203200" indent="-203200">
              <a:lnSpc>
                <a:spcPts val="2000"/>
              </a:lnSpc>
              <a:spcAft>
                <a:spcPts val="1000"/>
              </a:spcAft>
              <a:buSzPct val="100000"/>
              <a:buChar char="•"/>
            </a:pPr>
            <a:r>
              <a:rPr lang="en-US" sz="1500" dirty="0">
                <a:solidFill>
                  <a:srgbClr val="FFFFFF"/>
                </a:solidFill>
                <a:latin typeface="Arial" pitchFamily="34" charset="0"/>
                <a:ea typeface="Arial" pitchFamily="34" charset="-122"/>
                <a:cs typeface="Arial" pitchFamily="34" charset="-120"/>
              </a:rPr>
              <a:t>Thời gian sửa một hồ sơ lỗi</a:t>
            </a:r>
            <a:endParaRPr lang="en-US" sz="1500" dirty="0"/>
          </a:p>
          <a:p>
            <a:pPr marL="203200" indent="-203200">
              <a:lnSpc>
                <a:spcPts val="2000"/>
              </a:lnSpc>
              <a:spcAft>
                <a:spcPts val="1000"/>
              </a:spcAft>
              <a:buSzPct val="100000"/>
              <a:buChar char="•"/>
            </a:pPr>
            <a:r>
              <a:rPr lang="en-US" sz="1500" dirty="0">
                <a:solidFill>
                  <a:srgbClr val="FFFFFF"/>
                </a:solidFill>
                <a:latin typeface="Arial" pitchFamily="34" charset="0"/>
                <a:ea typeface="Arial" pitchFamily="34" charset="-122"/>
                <a:cs typeface="Arial" pitchFamily="34" charset="-120"/>
              </a:rPr>
              <a:t>Số hồ sơ tồn đọng theo tuổi</a:t>
            </a:r>
            <a:endParaRPr lang="en-US" sz="1500" dirty="0"/>
          </a:p>
        </p:txBody>
      </p:sp>
      <p:sp>
        <p:nvSpPr>
          <p:cNvPr id="19" name="Text 17"/>
          <p:cNvSpPr txBox="1"/>
          <p:nvPr/>
        </p:nvSpPr>
        <p:spPr>
          <a:xfrm>
            <a:off x="7498080" y="4343400"/>
            <a:ext cx="3779215" cy="731520"/>
          </a:xfrm>
          <a:prstGeom prst="rect">
            <a:avLst/>
          </a:prstGeom>
          <a:noFill/>
          <a:ln/>
        </p:spPr>
        <p:txBody>
          <a:bodyPr wrap="square" lIns="0" tIns="0" rIns="0" bIns="0" rtlCol="0" anchor="t"/>
          <a:lstStyle/>
          <a:p>
            <a:pPr indent="0" marL="0">
              <a:lnSpc>
                <a:spcPts val="1800"/>
              </a:lnSpc>
              <a:buNone/>
            </a:pPr>
            <a:r>
              <a:rPr lang="en-US" sz="1300" i="1" dirty="0">
                <a:solidFill>
                  <a:srgbClr val="A9BCD6"/>
                </a:solidFill>
                <a:latin typeface="Arial" pitchFamily="34" charset="0"/>
                <a:ea typeface="Arial" pitchFamily="34" charset="-122"/>
                <a:cs typeface="Arial" pitchFamily="34" charset="-120"/>
              </a:rPr>
              <a:t>Kết thúc thí điểm: báo cáo số liệu để lãnh đạo quyết định nhân rộng.</a:t>
            </a:r>
            <a:endParaRPr lang="en-US" sz="1300" dirty="0"/>
          </a:p>
        </p:txBody>
      </p:sp>
      <p:sp>
        <p:nvSpPr>
          <p:cNvPr id="20" name="Text 18"/>
          <p:cNvSpPr txBox="1"/>
          <p:nvPr/>
        </p:nvSpPr>
        <p:spPr>
          <a:xfrm>
            <a:off x="640080" y="5623560"/>
            <a:ext cx="10911535" cy="384048"/>
          </a:xfrm>
          <a:prstGeom prst="rect">
            <a:avLst/>
          </a:prstGeom>
          <a:noFill/>
          <a:ln/>
        </p:spPr>
        <p:txBody>
          <a:bodyPr wrap="square" lIns="0" tIns="0" rIns="0" bIns="0" rtlCol="0" anchor="ctr"/>
          <a:lstStyle/>
          <a:p>
            <a:pPr algn="ctr" indent="0" marL="0">
              <a:buNone/>
            </a:pPr>
            <a:r>
              <a:rPr lang="en-US" sz="1600" dirty="0">
                <a:solidFill>
                  <a:srgbClr val="FBBF24"/>
                </a:solidFill>
                <a:latin typeface="Arial" pitchFamily="34" charset="0"/>
                <a:ea typeface="Arial" pitchFamily="34" charset="-122"/>
                <a:cs typeface="Arial" pitchFamily="34" charset="-120"/>
              </a:rPr>
              <a:t>Hôm nay chỉ cần một quyết định: cho phép thí điểm</a:t>
            </a:r>
            <a:endParaRPr lang="en-US" sz="1600" dirty="0"/>
          </a:p>
        </p:txBody>
      </p:sp>
      <p:sp>
        <p:nvSpPr>
          <p:cNvPr id="22" name="Text 19"/>
          <p:cNvSpPr txBox="1"/>
          <p:nvPr/>
        </p:nvSpPr>
        <p:spPr>
          <a:xfrm>
            <a:off x="6979615" y="6419088"/>
            <a:ext cx="4572000" cy="256032"/>
          </a:xfrm>
          <a:prstGeom prst="rect">
            <a:avLst/>
          </a:prstGeom>
          <a:noFill/>
          <a:ln/>
        </p:spPr>
        <p:txBody>
          <a:bodyPr wrap="square" lIns="0" tIns="0" rIns="0" bIns="0" rtlCol="0" anchor="ctr"/>
          <a:lstStyle/>
          <a:p>
            <a:pPr algn="r" indent="0" marL="0">
              <a:buNone/>
            </a:pPr>
            <a:r>
              <a:rPr lang="en-US" sz="950" spc="100" kern="0" dirty="0">
                <a:solidFill>
                  <a:srgbClr val="7F93B0"/>
                </a:solidFill>
                <a:latin typeface="Arial" pitchFamily="34" charset="0"/>
                <a:ea typeface="Arial" pitchFamily="34" charset="-122"/>
                <a:cs typeface="Arial" pitchFamily="34" charset="-120"/>
              </a:rPr>
              <a:t>GIẢI PHÁP TIỀN GIÁM ĐỊNH  ·  11 / 12</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457200" y="1417320"/>
            <a:ext cx="11277295" cy="914400"/>
          </a:xfrm>
          <a:prstGeom prst="rect">
            <a:avLst/>
          </a:prstGeom>
          <a:noFill/>
          <a:ln/>
        </p:spPr>
        <p:txBody>
          <a:bodyPr wrap="square" lIns="0" tIns="0" rIns="0" bIns="0" rtlCol="0" anchor="ctr"/>
          <a:lstStyle/>
          <a:p>
            <a:pPr algn="ctr" indent="0" marL="0">
              <a:buNone/>
            </a:pPr>
            <a:r>
              <a:rPr lang="en-US" sz="3600" b="1" dirty="0">
                <a:solidFill>
                  <a:srgbClr val="FFFFFF"/>
                </a:solidFill>
                <a:latin typeface="Arial" pitchFamily="34" charset="0"/>
                <a:ea typeface="Arial" pitchFamily="34" charset="-122"/>
                <a:cs typeface="Arial" pitchFamily="34" charset="-120"/>
              </a:rPr>
              <a:t>Phát hiện sớm</a:t>
            </a:r>
            <a:pPr algn="ctr" indent="0" marL="0">
              <a:buNone/>
            </a:pPr>
            <a:r>
              <a:rPr lang="en-US" sz="3600" b="1" dirty="0">
                <a:solidFill>
                  <a:srgbClr val="7F93B0"/>
                </a:solidFill>
                <a:latin typeface="Arial" pitchFamily="34" charset="0"/>
                <a:ea typeface="Arial" pitchFamily="34" charset="-122"/>
                <a:cs typeface="Arial" pitchFamily="34" charset="-120"/>
              </a:rPr>
              <a:t>  ·  </a:t>
            </a:r>
            <a:pPr algn="ctr" indent="0" marL="0">
              <a:buNone/>
            </a:pPr>
            <a:r>
              <a:rPr lang="en-US" sz="3600" b="1" dirty="0">
                <a:solidFill>
                  <a:srgbClr val="38BDF8"/>
                </a:solidFill>
                <a:latin typeface="Arial" pitchFamily="34" charset="0"/>
                <a:ea typeface="Arial" pitchFamily="34" charset="-122"/>
                <a:cs typeface="Arial" pitchFamily="34" charset="-120"/>
              </a:rPr>
              <a:t>Sửa tại nguồn</a:t>
            </a:r>
            <a:pPr algn="ctr" indent="0" marL="0">
              <a:buNone/>
            </a:pPr>
            <a:r>
              <a:rPr lang="en-US" sz="3600" b="1" dirty="0">
                <a:solidFill>
                  <a:srgbClr val="7F93B0"/>
                </a:solidFill>
                <a:latin typeface="Arial" pitchFamily="34" charset="0"/>
                <a:ea typeface="Arial" pitchFamily="34" charset="-122"/>
                <a:cs typeface="Arial" pitchFamily="34" charset="-120"/>
              </a:rPr>
              <a:t>  ·  </a:t>
            </a:r>
            <a:pPr algn="ctr" indent="0" marL="0">
              <a:buNone/>
            </a:pPr>
            <a:r>
              <a:rPr lang="en-US" sz="3600" b="1" dirty="0">
                <a:solidFill>
                  <a:srgbClr val="FBBF24"/>
                </a:solidFill>
                <a:latin typeface="Arial" pitchFamily="34" charset="0"/>
                <a:ea typeface="Arial" pitchFamily="34" charset="-122"/>
                <a:cs typeface="Arial" pitchFamily="34" charset="-120"/>
              </a:rPr>
              <a:t>Gửi hồ sơ sạch</a:t>
            </a:r>
            <a:endParaRPr lang="en-US" sz="3600" dirty="0"/>
          </a:p>
        </p:txBody>
      </p:sp>
      <p:sp>
        <p:nvSpPr>
          <p:cNvPr id="3" name="Text 1"/>
          <p:cNvSpPr txBox="1"/>
          <p:nvPr/>
        </p:nvSpPr>
        <p:spPr>
          <a:xfrm>
            <a:off x="914400" y="2560320"/>
            <a:ext cx="10362895" cy="868680"/>
          </a:xfrm>
          <a:prstGeom prst="rect">
            <a:avLst/>
          </a:prstGeom>
          <a:noFill/>
          <a:ln/>
        </p:spPr>
        <p:txBody>
          <a:bodyPr wrap="square" lIns="0" tIns="0" rIns="0" bIns="0" rtlCol="0" anchor="t"/>
          <a:lstStyle/>
          <a:p>
            <a:pPr algn="ctr" indent="0" marL="0">
              <a:lnSpc>
                <a:spcPts val="2800"/>
              </a:lnSpc>
              <a:buNone/>
            </a:pPr>
            <a:r>
              <a:rPr lang="en-US" sz="1900" dirty="0">
                <a:solidFill>
                  <a:srgbClr val="A9BCD6"/>
                </a:solidFill>
                <a:latin typeface="Arial" pitchFamily="34" charset="0"/>
                <a:ea typeface="Arial" pitchFamily="34" charset="-122"/>
                <a:cs typeface="Arial" pitchFamily="34" charset="-120"/>
              </a:rPr>
              <a:t>Tiền giám định đưa việc kiểm tra hồ sơ BHYT về bên trong bệnh viện —</a:t>
            </a:r>
            <a:endParaRPr lang="en-US" sz="1900" dirty="0"/>
          </a:p>
          <a:p>
            <a:pPr algn="ctr" indent="0" marL="0">
              <a:lnSpc>
                <a:spcPts val="2800"/>
              </a:lnSpc>
              <a:buNone/>
            </a:pPr>
            <a:r>
              <a:rPr lang="en-US" sz="1900" dirty="0">
                <a:solidFill>
                  <a:srgbClr val="A9BCD6"/>
                </a:solidFill>
                <a:latin typeface="Arial" pitchFamily="34" charset="0"/>
                <a:ea typeface="Arial" pitchFamily="34" charset="-122"/>
                <a:cs typeface="Arial" pitchFamily="34" charset="-120"/>
              </a:rPr>
              <a:t>khi người làm sai còn ở đó, và hồ sơ còn chưa rời bệnh viện.</a:t>
            </a:r>
            <a:endParaRPr lang="en-US" sz="1900" dirty="0"/>
          </a:p>
        </p:txBody>
      </p:sp>
      <p:sp>
        <p:nvSpPr>
          <p:cNvPr id="4" name="Shape 2"/>
          <p:cNvSpPr/>
          <p:nvPr/>
        </p:nvSpPr>
        <p:spPr>
          <a:xfrm>
            <a:off x="2804008" y="3931920"/>
            <a:ext cx="6583680" cy="1280160"/>
          </a:xfrm>
          <a:prstGeom prst="roundRect">
            <a:avLst>
              <a:gd name="adj" fmla="val 7143"/>
            </a:avLst>
          </a:prstGeom>
          <a:solidFill>
            <a:srgbClr val="1C3558">
              <a:alpha val="85000"/>
            </a:srgbClr>
          </a:solidFill>
          <a:ln w="9525">
            <a:solidFill>
              <a:srgbClr val="2E4B74"/>
            </a:solidFill>
            <a:prstDash val="solid"/>
          </a:ln>
        </p:spPr>
      </p:sp>
      <p:sp>
        <p:nvSpPr>
          <p:cNvPr id="5" name="Text 3"/>
          <p:cNvSpPr txBox="1"/>
          <p:nvPr/>
        </p:nvSpPr>
        <p:spPr>
          <a:xfrm>
            <a:off x="2804008" y="3931920"/>
            <a:ext cx="6583680" cy="1280160"/>
          </a:xfrm>
          <a:prstGeom prst="rect">
            <a:avLst/>
          </a:prstGeom>
          <a:noFill/>
          <a:ln/>
        </p:spPr>
        <p:txBody>
          <a:bodyPr wrap="square" lIns="0" tIns="0" rIns="0" bIns="0" rtlCol="0" anchor="ctr"/>
          <a:lstStyle/>
          <a:p>
            <a:pPr algn="ctr" indent="0" marL="0">
              <a:lnSpc>
                <a:spcPts val="2400"/>
              </a:lnSpc>
              <a:buNone/>
            </a:pPr>
            <a:r>
              <a:rPr lang="en-US" sz="1200" b="1" spc="200" kern="0" dirty="0">
                <a:solidFill>
                  <a:srgbClr val="38BDF8"/>
                </a:solidFill>
                <a:latin typeface="Arial" pitchFamily="34" charset="0"/>
                <a:ea typeface="Arial" pitchFamily="34" charset="-122"/>
                <a:cs typeface="Arial" pitchFamily="34" charset="-120"/>
              </a:rPr>
              <a:t>HỎI ĐÁP  ·  LIÊN HỆ</a:t>
            </a:r>
            <a:endParaRPr lang="en-US" sz="1200" dirty="0"/>
          </a:p>
          <a:p>
            <a:pPr algn="ctr" indent="0" marL="0">
              <a:lnSpc>
                <a:spcPts val="2400"/>
              </a:lnSpc>
              <a:buNone/>
            </a:pPr>
            <a:r>
              <a:rPr lang="en-US" sz="1700" b="1" dirty="0">
                <a:solidFill>
                  <a:srgbClr val="FFFFFF"/>
                </a:solidFill>
                <a:latin typeface="Arial" pitchFamily="34" charset="0"/>
                <a:ea typeface="Arial" pitchFamily="34" charset="-122"/>
                <a:cs typeface="Arial" pitchFamily="34" charset="-120"/>
              </a:rPr>
              <a:t>Công ty Cổ phần Y tế Thông minh</a:t>
            </a:r>
            <a:endParaRPr lang="en-US" sz="1200" dirty="0"/>
          </a:p>
          <a:p>
            <a:pPr algn="ctr" indent="0" marL="0">
              <a:lnSpc>
                <a:spcPts val="2400"/>
              </a:lnSpc>
              <a:buNone/>
            </a:pPr>
            <a:r>
              <a:rPr lang="en-US" sz="1400" dirty="0">
                <a:solidFill>
                  <a:srgbClr val="A9BCD6"/>
                </a:solidFill>
                <a:latin typeface="Arial" pitchFamily="34" charset="0"/>
                <a:ea typeface="Arial" pitchFamily="34" charset="-122"/>
                <a:cs typeface="Arial" pitchFamily="34" charset="-120"/>
              </a:rPr>
              <a:t>Điện thoại: ………………   ·   Email: ………………</a:t>
            </a:r>
            <a:endParaRPr lang="en-US" sz="1200" dirty="0"/>
          </a:p>
        </p:txBody>
      </p:sp>
      <p:sp>
        <p:nvSpPr>
          <p:cNvPr id="7" name="Text 4"/>
          <p:cNvSpPr txBox="1"/>
          <p:nvPr/>
        </p:nvSpPr>
        <p:spPr>
          <a:xfrm>
            <a:off x="6979615" y="6419088"/>
            <a:ext cx="4572000" cy="256032"/>
          </a:xfrm>
          <a:prstGeom prst="rect">
            <a:avLst/>
          </a:prstGeom>
          <a:noFill/>
          <a:ln/>
        </p:spPr>
        <p:txBody>
          <a:bodyPr wrap="square" lIns="0" tIns="0" rIns="0" bIns="0" rtlCol="0" anchor="ctr"/>
          <a:lstStyle/>
          <a:p>
            <a:pPr algn="r" indent="0" marL="0">
              <a:buNone/>
            </a:pPr>
            <a:r>
              <a:rPr lang="en-US" sz="950" spc="100" kern="0" dirty="0">
                <a:solidFill>
                  <a:srgbClr val="7F93B0"/>
                </a:solidFill>
                <a:latin typeface="Arial" pitchFamily="34" charset="0"/>
                <a:ea typeface="Arial" pitchFamily="34" charset="-122"/>
                <a:cs typeface="Arial" pitchFamily="34" charset="-120"/>
              </a:rPr>
              <a:t>GIẢI PHÁP TIỀN GIÁM ĐỊNH  ·  12 / 12</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Giải pháp Tiền giám định — Dành cho lãnh đạo bệnh viện</dc:title>
  <dc:subject>Giới thiệu hệ thống Tiền giám định hồ sơ BHYT cho các bệnh viện</dc:subject>
  <dc:creator>PptxGenJS</dc:creator>
  <cp:lastModifiedBy>PptxGenJS</cp:lastModifiedBy>
  <cp:revision>1</cp:revision>
  <dcterms:created xsi:type="dcterms:W3CDTF">2026-10-10T00:47:03Z</dcterms:created>
  <dcterms:modified xsi:type="dcterms:W3CDTF">2026-10-10T00:47:03Z</dcterms:modified>
</cp:coreProperties>
</file>