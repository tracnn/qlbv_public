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đầu, nói trong khoảng một phút. Hồ sơ BHYT đi từ HIS của bệnh viện tới Cổng giám định BHXH; Tiền giám định là trạm kiểm tra nằm giữa: kiểm từng hồ sơ XML 3176 theo bộ quy tắc, tra thẻ BHYT, đối chiếu danh mục. Lỗi nghiêm trọng chặn ký số và gửi cho tới khi được sửa — và sửa trên HIS, tại khoa phòng phát sinh, rồi nạp lại. Hệ thống đang vận hành tại Bệnh viện Bạch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bằng nỗi đau mà lãnh đạo và phòng KHTH đều biết. Không đưa con số xuất toán cụ thể — mỗi viện có số riêng; nếu viện bạn có số liệu, mời họ tự liên hệ. Ý chính: phát hiện càng muộn, chi phí sửa càng lớn và lỗi càng dễ lặp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điểm kiểm soát: ① ngay sau khi bác sĩ ra y lệnh — hệ thống quét HIS mỗi 60 giây, lỗi hiện ra khi người làm còn trong ca; ② trước khi ký số — hồ sơ XML 3176 có lỗi nghiêm trọng thì không được ký, không được gửi. Nhấn vòng sửa lỗi: phần mềm không sửa dữ liệu, chỉ chỉ ra lỗi; khoa sửa trên HIS rồi nạp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cho lãnh đạo: quy mô bộ kiểm. "Khoảng 300" là số mã lỗi riêng biệt trong bộ kiểm XML 3176 hiện tại; con số thay đổi khi quy định đổi. 19 quy tắc y lệnh gồm hai họ: lâm sàng/danh mục và cấu trúc/thời gian/chứng chỉ hành nghề. Không hứa số phần trăm giảm xuất toán — mỗi viện đo trên dữ liệu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ĐIỀN SỐ LIỆU TRƯỚC KHI TRÌNH BÀY — và phải được Bệnh viện Bạch Mai đồng ý công bố. Số "sau" lấy từ Dashboard lỗi XML (thẻ chỉ số, phễu, tồn đọng); số "trước" phải lấy từ báo cáo kết quả giám định trên Cổng BHXH hoặc số liệu phòng KHTH lưu riêng, vì phần mềm chỉ lưu kết quả của lần kiểm mới nhất. Chọn hai kỳ dài bằng nhau. Nếu chưa có số đáng tin, bỏ slide này khỏi buổi trình bày — đừng thay bằng ước đoán; lãnh đạo hỏi lại một con số sai thì mất uy tín cả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lãnh đạo tự nhẩm với số của viện mình — con số họ tự ra thuyết phục hơn mọi con số ta đưa. Dòng ví dụ là giả định thuần tuý (20.000 × 5% × 1,5 triệu = 1,5 tỷ) để minh hoạ cách tính, nói rõ như vậy khi trình bày. Không hứa Tiền giám định xoá được toàn bộ khoản này: nó giảm phần lỗi nằm trong bộ quy tắc, và đưa phần còn lại ra ánh sáng sớm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trọng tâm tạo giá trị lớn nhất là kiểm sai sót y lệnh (bắt lỗi sớm nhất) và kiểm hồ sơ XML 3176 (chặn lỗi trước khi gửi). Năm nhóm còn lại hỗ trợ: đúng thẻ, đúng danh mục, đúng giá, phản hồi về đúng khoa, và đo được bằng số liệu. Ô viền đứt là phần mở rộng cùng hạ tầng ký số và gửi cổng.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đầu máy tự làm, chạy nền. Chức năng tự gửi cổng mặc định tắt và bật riêng cho từng cơ sở — viện chủ động quyết định khi nào đủ tin để bật (thường sau giai đoạn chạy thử). Bước 05 là việc của nghiệp vụ: đọc lỗi, giao khoa sửa, theo dõi tồn đọng.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kiểm soát sớm. Lỗi hiện ra khi bác sĩ, kỹ thuật viên còn trong ca, sửa trên HIS mất vài phút thay vì truy lại sau nhiều tuần. Bộ quy tắc do Hội đồng chuyên môn của viện chọn và tinh chỉnh; bắt đầu với ít quy tắc, giảm dương tính giả trước rồi mới mở rộng. Nếu được hỏi về Bạch Mai: phần này đang ở giai đoạn làm sạch danh mục để giảm cảnh báo giả, chưa giao khoa xử lý thường quy.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kiểm soát chính. Danh sách cho thấy hồ sơ nào lỗi (dòng đỏ), đã ký chưa, đã gửi chưa. Mức lỗi của từng mã do viện tự đặt ở danh mục mã lỗi — mã nào chặn, mã nào chỉ cảnh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công cụ của khoa và phòng KHTH khi trao đổi về một hồ sơ cụ thể: mọi lỗi nằm trên một trang, in ra được để giao việc.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chức năng hỗ trợ dùng chung hạ tầng ký số và gửi cổng. Tra cứu tiền cùng chi trả hữu ích cho Phòng Tài chính kế toán và Phòng BHYT khi xác định người bệnh đã đủ ngưỡng miễn cùng chi trả hay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cho lãnh đạo và phòng KHTH. Ngoài bốn biểu đồ còn có các thẻ chỉ số, trong đó "Chi phí BHYT bị treo" — tổng chi phí của hồ sơ chưa gửi được — là con số lãnh đạo hay hỏi nhất. Có thêm dashboard chứng từ điện tử và dashboard độ phủ danh mục TT12.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đúng người đang ngồi trong phòng. Lãnh đạo: quản trị rủi ro tài chính và chất lượng. KHTH: công cụ điều phối — biết ai cần sửa gì, cái gì sắp quá hạn. Nghiệp vụ: bớt việc tay, máy làm phần lặp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thẳng giới hạn giúp viện bạn tin phần còn lại. Bài học từ Bạch Mai: khi ba danh mục bị rỗng đã sinh ra khoảng 36.100 vi phạm giả — vì vậy giai đoạn chuẩn bị phải chốt chủ sở hữu danh mục. Thông điệp no-blame đặc biệt quan trọng với bác sĩ: phần mềm bắt lỗi dữ liệu, không chấm điểm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nỗi lo của lãnh đạo: làm hỏng HIS, lộ dữ liệu người bệnh, làm chậm hệ thống. Phần mềm triển khai trên máy chủ của viện (Windows Server, hoặc Linux / Docker), đọc HIS bằng tài khoản chỉ đọc. Kết nối ra ngoài duy nhất là Cổng giám định BHXH — để tra thẻ và gửi hồ sơ, đúng như viện đang làm. Đừng hứa chứng nhận an toàn thông tin nếu chưa có văn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rõ hai phần khi viện hỏi "HIS của chúng tôi có dùng được không": phần XML 3176 dùng được ngay vì đầu vào là tệp XML chuẩn; phần kiểm sai sót y lệnh đọc thẳng CSDL HIS nên với HIS khác cần khảo sát và làm lớp kết nối. Lộ trình lấy từ tài liệu tổng hợp mục 10.1; điều kiện chuyển giai đoạn: tỷ lệ lỗi nghiêm trọng ổn định, dương tính giả của kiểm y lệnh về mức chấp nhận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với lãnh đạo: một quyết định nhỏ, rủi ro thấp, có thước đo rõ. Thí điểm chạy song song, chưa bật tự gửi cổng — nên không ảnh hưởng quy trình đang chạy. Bốn chỉ số theo tài liệu tổng hợp mục 10.3. ĐIỀN CHI PHÍ và rà lại dòng "Chúng tôi làm" theo đúng cam kết của công ty trước khi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ba từ khoá rồi mở hỏi đáp. Điền số điện thoại và email đầu mối trước khi trình bày. Câu hỏi hay gặp: HIS khác có dùng được không (xem slide Triển khai), có thay bộ phận giám định không (không — xem slide Nguyên tắc và giới hạn), chi phí và thời gian (xem slide Đề xuất thí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804008" y="566928"/>
            <a:ext cx="6583680" cy="384048"/>
          </a:xfrm>
          <a:prstGeom prst="roundRect">
            <a:avLst>
              <a:gd name="adj" fmla="val 50000"/>
            </a:avLst>
          </a:prstGeom>
          <a:solidFill>
            <a:srgbClr val="FFFFFF">
              <a:alpha val="6000"/>
            </a:srgbClr>
          </a:solidFill>
          <a:ln w="9525">
            <a:solidFill>
              <a:srgbClr val="4A6890"/>
            </a:solidFill>
            <a:prstDash val="solid"/>
          </a:ln>
        </p:spPr>
      </p:sp>
      <p:sp>
        <p:nvSpPr>
          <p:cNvPr id="3" name="Text 1"/>
          <p:cNvSpPr txBox="1"/>
          <p:nvPr/>
        </p:nvSpPr>
        <p:spPr>
          <a:xfrm>
            <a:off x="2804008" y="566928"/>
            <a:ext cx="6583680" cy="384048"/>
          </a:xfrm>
          <a:prstGeom prst="rect">
            <a:avLst/>
          </a:prstGeom>
          <a:noFill/>
          <a:ln/>
        </p:spPr>
        <p:txBody>
          <a:bodyPr wrap="square" lIns="0" tIns="0" rIns="0" bIns="0" rtlCol="0" anchor="ctr"/>
          <a:lstStyle/>
          <a:p>
            <a:pPr algn="ctr" indent="0" marL="0">
              <a:buNone/>
            </a:pPr>
            <a:r>
              <a:rPr lang="en-US" sz="1250" dirty="0">
                <a:solidFill>
                  <a:srgbClr val="C9D6E8"/>
                </a:solidFill>
                <a:latin typeface="Arial" pitchFamily="34" charset="0"/>
                <a:ea typeface="Arial" pitchFamily="34" charset="-122"/>
                <a:cs typeface="Arial" pitchFamily="34" charset="-120"/>
              </a:rPr>
              <a:t>Công ty Cổ phần Y tế Thông minh · Giải pháp Tiền giám định BHYT</a:t>
            </a:r>
            <a:endParaRPr lang="en-US" sz="1250" dirty="0"/>
          </a:p>
        </p:txBody>
      </p:sp>
      <p:sp>
        <p:nvSpPr>
          <p:cNvPr id="4" name="Text 2"/>
          <p:cNvSpPr txBox="1"/>
          <p:nvPr/>
        </p:nvSpPr>
        <p:spPr>
          <a:xfrm>
            <a:off x="457200" y="1078992"/>
            <a:ext cx="11277295"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Tiền </a:t>
            </a:r>
            <a:pPr algn="ctr" indent="0" marL="0">
              <a:buNone/>
            </a:pPr>
            <a:r>
              <a:rPr lang="en-US" sz="6000" b="1" dirty="0">
                <a:solidFill>
                  <a:srgbClr val="38BDF8"/>
                </a:solidFill>
                <a:latin typeface="Arial" pitchFamily="34" charset="0"/>
                <a:ea typeface="Arial" pitchFamily="34" charset="-122"/>
                <a:cs typeface="Arial" pitchFamily="34" charset="-120"/>
              </a:rPr>
              <a:t>giám định</a:t>
            </a:r>
            <a:endParaRPr lang="en-US" sz="6000" dirty="0"/>
          </a:p>
        </p:txBody>
      </p:sp>
      <p:sp>
        <p:nvSpPr>
          <p:cNvPr id="5" name="Text 3"/>
          <p:cNvSpPr txBox="1"/>
          <p:nvPr/>
        </p:nvSpPr>
        <p:spPr>
          <a:xfrm>
            <a:off x="914400" y="2121408"/>
            <a:ext cx="10362895" cy="868680"/>
          </a:xfrm>
          <a:prstGeom prst="rect">
            <a:avLst/>
          </a:prstGeom>
          <a:noFill/>
          <a:ln/>
        </p:spPr>
        <p:txBody>
          <a:bodyPr wrap="square" lIns="0" tIns="0" rIns="0" bIns="0" rtlCol="0" anchor="t"/>
          <a:lstStyle/>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Kiểm tra hồ sơ khám chữa bệnh BHYT ngay tại bệnh viện</a:t>
            </a:r>
            <a:endParaRPr lang="en-US" sz="1900" dirty="0"/>
          </a:p>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trước khi ký số và gửi Cổng giám định BHXH</a:t>
            </a:r>
            <a:endParaRPr lang="en-US" sz="1900" dirty="0"/>
          </a:p>
        </p:txBody>
      </p:sp>
      <p:sp>
        <p:nvSpPr>
          <p:cNvPr id="6" name="Text 4"/>
          <p:cNvSpPr txBox="1"/>
          <p:nvPr/>
        </p:nvSpPr>
        <p:spPr>
          <a:xfrm>
            <a:off x="457200" y="3200400"/>
            <a:ext cx="11277295" cy="411480"/>
          </a:xfrm>
          <a:prstGeom prst="rect">
            <a:avLst/>
          </a:prstGeom>
          <a:noFill/>
          <a:ln/>
        </p:spPr>
        <p:txBody>
          <a:bodyPr wrap="square" lIns="0" tIns="0" rIns="0" bIns="0" rtlCol="0" anchor="ctr"/>
          <a:lstStyle/>
          <a:p>
            <a:pPr algn="ctr" indent="0" marL="0">
              <a:buNone/>
            </a:pPr>
            <a:r>
              <a:rPr lang="en-US" sz="1700" dirty="0">
                <a:solidFill>
                  <a:srgbClr val="A9BCD6"/>
                </a:solidFill>
                <a:latin typeface="Arial" pitchFamily="34" charset="0"/>
                <a:ea typeface="Arial" pitchFamily="34" charset="-122"/>
                <a:cs typeface="Arial" pitchFamily="34" charset="-120"/>
              </a:rPr>
              <a:t>Tiền giám định đặt điểm kiểm soát trước khi hồ sơ rời bệnh viện</a:t>
            </a:r>
            <a:endParaRPr lang="en-US" sz="1700" dirty="0"/>
          </a:p>
        </p:txBody>
      </p:sp>
      <p:sp>
        <p:nvSpPr>
          <p:cNvPr id="7" name="Shape 5"/>
          <p:cNvSpPr/>
          <p:nvPr/>
        </p:nvSpPr>
        <p:spPr>
          <a:xfrm>
            <a:off x="685800"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8" name="Text 6"/>
          <p:cNvSpPr txBox="1"/>
          <p:nvPr/>
        </p:nvSpPr>
        <p:spPr>
          <a:xfrm>
            <a:off x="685800"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9" name="Text 7"/>
          <p:cNvSpPr txBox="1"/>
          <p:nvPr/>
        </p:nvSpPr>
        <p:spPr>
          <a:xfrm>
            <a:off x="777240"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Bệnh viện</a:t>
            </a:r>
            <a:endParaRPr lang="en-US" sz="1900" dirty="0"/>
          </a:p>
        </p:txBody>
      </p:sp>
      <p:sp>
        <p:nvSpPr>
          <p:cNvPr id="10" name="Text 8"/>
          <p:cNvSpPr txBox="1"/>
          <p:nvPr/>
        </p:nvSpPr>
        <p:spPr>
          <a:xfrm>
            <a:off x="850392"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Bác sĩ ra y lệnh trên HIS,</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xuất hồ sơ XML 3176</a:t>
            </a:r>
            <a:endParaRPr lang="en-US" sz="1300" dirty="0"/>
          </a:p>
        </p:txBody>
      </p:sp>
      <p:sp>
        <p:nvSpPr>
          <p:cNvPr id="11" name="Text 9"/>
          <p:cNvSpPr txBox="1"/>
          <p:nvPr/>
        </p:nvSpPr>
        <p:spPr>
          <a:xfrm>
            <a:off x="2965628"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3532556" y="3767328"/>
            <a:ext cx="2279828" cy="1783080"/>
          </a:xfrm>
          <a:prstGeom prst="roundRect">
            <a:avLst>
              <a:gd name="adj" fmla="val 5128"/>
            </a:avLst>
          </a:prstGeom>
          <a:solidFill>
            <a:srgbClr val="25324A">
              <a:alpha val="85000"/>
            </a:srgbClr>
          </a:solidFill>
          <a:ln w="19050">
            <a:solidFill>
              <a:srgbClr val="FBBF24"/>
            </a:solidFill>
            <a:prstDash val="solid"/>
          </a:ln>
        </p:spPr>
      </p:sp>
      <p:sp>
        <p:nvSpPr>
          <p:cNvPr id="13" name="Text 11"/>
          <p:cNvSpPr txBox="1"/>
          <p:nvPr/>
        </p:nvSpPr>
        <p:spPr>
          <a:xfrm>
            <a:off x="3532556"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4" name="Text 12"/>
          <p:cNvSpPr txBox="1"/>
          <p:nvPr/>
        </p:nvSpPr>
        <p:spPr>
          <a:xfrm>
            <a:off x="3623996"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Tiền giám định</a:t>
            </a:r>
            <a:endParaRPr lang="en-US" sz="1900" dirty="0"/>
          </a:p>
        </p:txBody>
      </p:sp>
      <p:sp>
        <p:nvSpPr>
          <p:cNvPr id="15" name="Text 13"/>
          <p:cNvSpPr txBox="1"/>
          <p:nvPr/>
        </p:nvSpPr>
        <p:spPr>
          <a:xfrm>
            <a:off x="3697148"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Kiểm lỗi, tra thẻ BHYT,</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đối chiếu danh mục</a:t>
            </a:r>
            <a:endParaRPr lang="en-US" sz="1300" dirty="0"/>
          </a:p>
        </p:txBody>
      </p:sp>
      <p:sp>
        <p:nvSpPr>
          <p:cNvPr id="16" name="Text 14"/>
          <p:cNvSpPr txBox="1"/>
          <p:nvPr/>
        </p:nvSpPr>
        <p:spPr>
          <a:xfrm>
            <a:off x="5812384"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379312"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18" name="Text 16"/>
          <p:cNvSpPr txBox="1"/>
          <p:nvPr/>
        </p:nvSpPr>
        <p:spPr>
          <a:xfrm>
            <a:off x="6379312"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9" name="Text 17"/>
          <p:cNvSpPr txBox="1"/>
          <p:nvPr/>
        </p:nvSpPr>
        <p:spPr>
          <a:xfrm>
            <a:off x="6470752"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Ký số</a:t>
            </a:r>
            <a:endParaRPr lang="en-US" sz="1900" dirty="0"/>
          </a:p>
        </p:txBody>
      </p:sp>
      <p:sp>
        <p:nvSpPr>
          <p:cNvPr id="20" name="Text 18"/>
          <p:cNvSpPr txBox="1"/>
          <p:nvPr/>
        </p:nvSpPr>
        <p:spPr>
          <a:xfrm>
            <a:off x="6543904"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HSM hoặc USB Token,</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khi hết lỗi nghiêm trọng</a:t>
            </a:r>
            <a:endParaRPr lang="en-US" sz="1300" dirty="0"/>
          </a:p>
        </p:txBody>
      </p:sp>
      <p:sp>
        <p:nvSpPr>
          <p:cNvPr id="21" name="Text 19"/>
          <p:cNvSpPr txBox="1"/>
          <p:nvPr/>
        </p:nvSpPr>
        <p:spPr>
          <a:xfrm>
            <a:off x="8659139"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9226067"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23" name="Text 21"/>
          <p:cNvSpPr txBox="1"/>
          <p:nvPr/>
        </p:nvSpPr>
        <p:spPr>
          <a:xfrm>
            <a:off x="9226067"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4" name="Text 22"/>
          <p:cNvSpPr txBox="1"/>
          <p:nvPr/>
        </p:nvSpPr>
        <p:spPr>
          <a:xfrm>
            <a:off x="9317507"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Cổng BHXH</a:t>
            </a:r>
            <a:endParaRPr lang="en-US" sz="1900" dirty="0"/>
          </a:p>
        </p:txBody>
      </p:sp>
      <p:sp>
        <p:nvSpPr>
          <p:cNvPr id="25" name="Text 23"/>
          <p:cNvSpPr txBox="1"/>
          <p:nvPr/>
        </p:nvSpPr>
        <p:spPr>
          <a:xfrm>
            <a:off x="9390659"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Tiếp nhận hồ sơ</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đã sạch lỗi</a:t>
            </a:r>
            <a:endParaRPr lang="en-US" sz="1300" dirty="0"/>
          </a:p>
        </p:txBody>
      </p:sp>
      <p:sp>
        <p:nvSpPr>
          <p:cNvPr id="26" name="Text 24"/>
          <p:cNvSpPr txBox="1"/>
          <p:nvPr/>
        </p:nvSpPr>
        <p:spPr>
          <a:xfrm>
            <a:off x="640080" y="5779008"/>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Lỗi được phát hiện sớm và sửa tại nơi phát sinh — trên HIS, trước khi gửi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BÀI TOÁN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Lỗi hồ sơ BHYT thường được phát hiện quá muộn</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Khi cổng giám định báo lỗi, hồ sơ đã rời bệnh viện từ lâu — người ra y lệnh, người lập hồ sơ đã chuyển sang việc khác.</a:t>
            </a:r>
            <a:endParaRPr lang="en-US" sz="1500" dirty="0"/>
          </a:p>
        </p:txBody>
      </p:sp>
      <p:sp>
        <p:nvSpPr>
          <p:cNvPr id="5" name="Shape 3"/>
          <p:cNvSpPr/>
          <p:nvPr/>
        </p:nvSpPr>
        <p:spPr>
          <a:xfrm>
            <a:off x="1463040" y="2697480"/>
            <a:ext cx="9265615" cy="0"/>
          </a:xfrm>
          <a:prstGeom prst="line">
            <a:avLst/>
          </a:prstGeom>
          <a:noFill/>
          <a:ln w="25400">
            <a:solidFill>
              <a:srgbClr val="4A6890"/>
            </a:solidFill>
            <a:prstDash val="solid"/>
          </a:ln>
        </p:spPr>
      </p:sp>
      <p:sp>
        <p:nvSpPr>
          <p:cNvPr id="6" name="Shape 4"/>
          <p:cNvSpPr/>
          <p:nvPr/>
        </p:nvSpPr>
        <p:spPr>
          <a:xfrm>
            <a:off x="1353312" y="2587752"/>
            <a:ext cx="219456" cy="219456"/>
          </a:xfrm>
          <a:prstGeom prst="ellipse">
            <a:avLst/>
          </a:prstGeom>
          <a:solidFill>
            <a:srgbClr val="4A6890"/>
          </a:solidFill>
          <a:ln w="12700">
            <a:solidFill>
              <a:srgbClr val="4A6890"/>
            </a:solidFill>
            <a:prstDash val="solid"/>
          </a:ln>
        </p:spPr>
      </p:sp>
      <p:sp>
        <p:nvSpPr>
          <p:cNvPr id="7" name="Text 5"/>
          <p:cNvSpPr txBox="1"/>
          <p:nvPr/>
        </p:nvSpPr>
        <p:spPr>
          <a:xfrm>
            <a:off x="411480"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y lệnh</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Bác sĩ chỉ định trên HIS</a:t>
            </a:r>
            <a:endParaRPr lang="en-US" sz="1500" dirty="0"/>
          </a:p>
        </p:txBody>
      </p:sp>
      <p:sp>
        <p:nvSpPr>
          <p:cNvPr id="8" name="Shape 6"/>
          <p:cNvSpPr/>
          <p:nvPr/>
        </p:nvSpPr>
        <p:spPr>
          <a:xfrm>
            <a:off x="3669716" y="2587752"/>
            <a:ext cx="219456" cy="219456"/>
          </a:xfrm>
          <a:prstGeom prst="ellipse">
            <a:avLst/>
          </a:prstGeom>
          <a:solidFill>
            <a:srgbClr val="4A6890"/>
          </a:solidFill>
          <a:ln w="12700">
            <a:solidFill>
              <a:srgbClr val="4A6890"/>
            </a:solidFill>
            <a:prstDash val="solid"/>
          </a:ln>
        </p:spPr>
      </p:sp>
      <p:sp>
        <p:nvSpPr>
          <p:cNvPr id="9" name="Text 7"/>
          <p:cNvSpPr txBox="1"/>
          <p:nvPr/>
        </p:nvSpPr>
        <p:spPr>
          <a:xfrm>
            <a:off x="2727884"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viện</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thúc điều trị</a:t>
            </a:r>
            <a:endParaRPr lang="en-US" sz="1500" dirty="0"/>
          </a:p>
        </p:txBody>
      </p:sp>
      <p:sp>
        <p:nvSpPr>
          <p:cNvPr id="10" name="Shape 8"/>
          <p:cNvSpPr/>
          <p:nvPr/>
        </p:nvSpPr>
        <p:spPr>
          <a:xfrm>
            <a:off x="5986120" y="2587752"/>
            <a:ext cx="219456" cy="219456"/>
          </a:xfrm>
          <a:prstGeom prst="ellipse">
            <a:avLst/>
          </a:prstGeom>
          <a:solidFill>
            <a:srgbClr val="4A6890"/>
          </a:solidFill>
          <a:ln w="12700">
            <a:solidFill>
              <a:srgbClr val="4A6890"/>
            </a:solidFill>
            <a:prstDash val="solid"/>
          </a:ln>
        </p:spPr>
      </p:sp>
      <p:sp>
        <p:nvSpPr>
          <p:cNvPr id="11" name="Text 9"/>
          <p:cNvSpPr txBox="1"/>
          <p:nvPr/>
        </p:nvSpPr>
        <p:spPr>
          <a:xfrm>
            <a:off x="5044288"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Lập hồ sơ XML</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xuất từ HIS</a:t>
            </a:r>
            <a:endParaRPr lang="en-US" sz="1500" dirty="0"/>
          </a:p>
        </p:txBody>
      </p:sp>
      <p:sp>
        <p:nvSpPr>
          <p:cNvPr id="12" name="Shape 10"/>
          <p:cNvSpPr/>
          <p:nvPr/>
        </p:nvSpPr>
        <p:spPr>
          <a:xfrm>
            <a:off x="8302523" y="2587752"/>
            <a:ext cx="219456" cy="219456"/>
          </a:xfrm>
          <a:prstGeom prst="ellipse">
            <a:avLst/>
          </a:prstGeom>
          <a:solidFill>
            <a:srgbClr val="4A6890"/>
          </a:solidFill>
          <a:ln w="12700">
            <a:solidFill>
              <a:srgbClr val="4A6890"/>
            </a:solidFill>
            <a:prstDash val="solid"/>
          </a:ln>
        </p:spPr>
      </p:sp>
      <p:sp>
        <p:nvSpPr>
          <p:cNvPr id="13" name="Text 11"/>
          <p:cNvSpPr txBox="1"/>
          <p:nvPr/>
        </p:nvSpPr>
        <p:spPr>
          <a:xfrm>
            <a:off x="7360691"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Ký số, gửi cổng</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Cổng giám định BHXH</a:t>
            </a:r>
            <a:endParaRPr lang="en-US" sz="1500" dirty="0"/>
          </a:p>
        </p:txBody>
      </p:sp>
      <p:sp>
        <p:nvSpPr>
          <p:cNvPr id="14" name="Shape 12"/>
          <p:cNvSpPr/>
          <p:nvPr/>
        </p:nvSpPr>
        <p:spPr>
          <a:xfrm>
            <a:off x="10573207" y="2542032"/>
            <a:ext cx="310896" cy="310896"/>
          </a:xfrm>
          <a:prstGeom prst="ellipse">
            <a:avLst/>
          </a:prstGeom>
          <a:solidFill>
            <a:srgbClr val="F87171"/>
          </a:solidFill>
          <a:ln w="12700">
            <a:solidFill>
              <a:srgbClr val="F87171"/>
            </a:solidFill>
            <a:prstDash val="solid"/>
          </a:ln>
        </p:spPr>
      </p:sp>
      <p:sp>
        <p:nvSpPr>
          <p:cNvPr id="15" name="Shape 13"/>
          <p:cNvSpPr/>
          <p:nvPr/>
        </p:nvSpPr>
        <p:spPr>
          <a:xfrm>
            <a:off x="9448495" y="2039112"/>
            <a:ext cx="2103120" cy="329184"/>
          </a:xfrm>
          <a:prstGeom prst="roundRect">
            <a:avLst>
              <a:gd name="adj" fmla="val 50000"/>
            </a:avLst>
          </a:prstGeom>
          <a:solidFill>
            <a:srgbClr val="F87171"/>
          </a:solidFill>
          <a:ln w="12700">
            <a:solidFill>
              <a:srgbClr val="F87171"/>
            </a:solidFill>
            <a:prstDash val="solid"/>
          </a:ln>
        </p:spPr>
      </p:sp>
      <p:sp>
        <p:nvSpPr>
          <p:cNvPr id="16" name="Text 14"/>
          <p:cNvSpPr txBox="1"/>
          <p:nvPr/>
        </p:nvSpPr>
        <p:spPr>
          <a:xfrm>
            <a:off x="9448495" y="2039112"/>
            <a:ext cx="2103120" cy="329184"/>
          </a:xfrm>
          <a:prstGeom prst="rect">
            <a:avLst/>
          </a:prstGeom>
          <a:noFill/>
          <a:ln/>
        </p:spPr>
        <p:txBody>
          <a:bodyPr wrap="square" lIns="0" tIns="0" rIns="0" bIns="0" rtlCol="0" anchor="ctr"/>
          <a:lstStyle/>
          <a:p>
            <a:pPr algn="ctr" indent="0" marL="0">
              <a:buNone/>
            </a:pPr>
            <a:r>
              <a:rPr lang="en-US" sz="1100" b="1" dirty="0">
                <a:solidFill>
                  <a:srgbClr val="0B1A30"/>
                </a:solidFill>
                <a:latin typeface="Arial" pitchFamily="34" charset="0"/>
                <a:ea typeface="Arial" pitchFamily="34" charset="-122"/>
                <a:cs typeface="Arial" pitchFamily="34" charset="-120"/>
              </a:rPr>
              <a:t>LÚC NÀY MỚI BIẾT LỖI</a:t>
            </a:r>
            <a:endParaRPr lang="en-US" sz="1100" dirty="0"/>
          </a:p>
        </p:txBody>
      </p:sp>
      <p:sp>
        <p:nvSpPr>
          <p:cNvPr id="17" name="Text 15"/>
          <p:cNvSpPr txBox="1"/>
          <p:nvPr/>
        </p:nvSpPr>
        <p:spPr>
          <a:xfrm>
            <a:off x="9677095"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87171"/>
                </a:solidFill>
                <a:latin typeface="Arial" pitchFamily="34" charset="0"/>
                <a:ea typeface="Arial" pitchFamily="34" charset="-122"/>
                <a:cs typeface="Arial" pitchFamily="34" charset="-120"/>
              </a:rPr>
              <a:t>Cổng báo lỗi</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Hàng tuần lễ sau</a:t>
            </a:r>
            <a:endParaRPr lang="en-US" sz="1500" dirty="0"/>
          </a:p>
        </p:txBody>
      </p:sp>
      <p:sp>
        <p:nvSpPr>
          <p:cNvPr id="18" name="Shape 16"/>
          <p:cNvSpPr/>
          <p:nvPr/>
        </p:nvSpPr>
        <p:spPr>
          <a:xfrm>
            <a:off x="640080"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19" name="Text 17"/>
          <p:cNvSpPr txBox="1"/>
          <p:nvPr/>
        </p:nvSpPr>
        <p:spPr>
          <a:xfrm>
            <a:off x="822960"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0" name="Text 18"/>
          <p:cNvSpPr txBox="1"/>
          <p:nvPr/>
        </p:nvSpPr>
        <p:spPr>
          <a:xfrm>
            <a:off x="1417320"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Sửa muộn, tốn công</a:t>
            </a:r>
            <a:endParaRPr lang="en-US" sz="1700" dirty="0"/>
          </a:p>
        </p:txBody>
      </p:sp>
      <p:sp>
        <p:nvSpPr>
          <p:cNvPr id="21" name="Text 19"/>
          <p:cNvSpPr txBox="1"/>
          <p:nvPr/>
        </p:nvSpPr>
        <p:spPr>
          <a:xfrm>
            <a:off x="868680"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Phải truy lại khoa, người thực hiện, bệnh án đã đóng — một lỗi nhỏ thành nhiều vòng trao đổi.</a:t>
            </a:r>
            <a:endParaRPr lang="en-US" sz="1300" dirty="0"/>
          </a:p>
        </p:txBody>
      </p:sp>
      <p:sp>
        <p:nvSpPr>
          <p:cNvPr id="22" name="Shape 20"/>
          <p:cNvSpPr/>
          <p:nvPr/>
        </p:nvSpPr>
        <p:spPr>
          <a:xfrm>
            <a:off x="4368698"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23" name="Text 21"/>
          <p:cNvSpPr txBox="1"/>
          <p:nvPr/>
        </p:nvSpPr>
        <p:spPr>
          <a:xfrm>
            <a:off x="4551578"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4" name="Text 22"/>
          <p:cNvSpPr txBox="1"/>
          <p:nvPr/>
        </p:nvSpPr>
        <p:spPr>
          <a:xfrm>
            <a:off x="5145938"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Rủi ro xuất toán</a:t>
            </a:r>
            <a:endParaRPr lang="en-US" sz="1700" dirty="0"/>
          </a:p>
        </p:txBody>
      </p:sp>
      <p:sp>
        <p:nvSpPr>
          <p:cNvPr id="25" name="Text 23"/>
          <p:cNvSpPr txBox="1"/>
          <p:nvPr/>
        </p:nvSpPr>
        <p:spPr>
          <a:xfrm>
            <a:off x="4597298"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Chi phí của hồ sơ lỗi có thể không được thanh toán, hoặc bị treo trong lúc chờ sửa.</a:t>
            </a:r>
            <a:endParaRPr lang="en-US" sz="1300" dirty="0"/>
          </a:p>
        </p:txBody>
      </p:sp>
      <p:sp>
        <p:nvSpPr>
          <p:cNvPr id="26" name="Shape 24"/>
          <p:cNvSpPr/>
          <p:nvPr/>
        </p:nvSpPr>
        <p:spPr>
          <a:xfrm>
            <a:off x="8097317"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27" name="Text 25"/>
          <p:cNvSpPr txBox="1"/>
          <p:nvPr/>
        </p:nvSpPr>
        <p:spPr>
          <a:xfrm>
            <a:off x="8280197"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8" name="Text 26"/>
          <p:cNvSpPr txBox="1"/>
          <p:nvPr/>
        </p:nvSpPr>
        <p:spPr>
          <a:xfrm>
            <a:off x="8874557"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Lỗi cứ lặp lại</a:t>
            </a:r>
            <a:endParaRPr lang="en-US" sz="1700" dirty="0"/>
          </a:p>
        </p:txBody>
      </p:sp>
      <p:sp>
        <p:nvSpPr>
          <p:cNvPr id="29" name="Text 27"/>
          <p:cNvSpPr txBox="1"/>
          <p:nvPr/>
        </p:nvSpPr>
        <p:spPr>
          <a:xfrm>
            <a:off x="8325917"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Không thấy lỗi tập trung ở khoa nào, mã lỗi nào — nên không sửa được tận gốc.</a:t>
            </a:r>
            <a:endParaRPr lang="en-US" sz="1300" dirty="0"/>
          </a:p>
        </p:txBody>
      </p:sp>
      <p:sp>
        <p:nvSpPr>
          <p:cNvPr id="30" name="Text 28"/>
          <p:cNvSpPr txBox="1"/>
          <p:nvPr/>
        </p:nvSpPr>
        <p:spPr>
          <a:xfrm>
            <a:off x="640080" y="576072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Câu hỏi: làm sao biết lỗi khi người làm sai còn đang ở đó, và hồ sơ còn chưa rời bệnh viện?</a:t>
            </a:r>
            <a:endParaRPr lang="en-US" sz="1600" dirty="0"/>
          </a:p>
        </p:txBody>
      </p:sp>
      <p:sp>
        <p:nvSpPr>
          <p:cNvPr id="32" name="Text 2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02 / 19</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GIẢI PHÁP</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Đưa việc phát hiện lỗi về sớm nhất có thể</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Tiền giám định đặt hai điểm kiểm soát bên trong bệnh viện — trước khi hồ sơ được ký số và gửi đi.</a:t>
            </a:r>
            <a:endParaRPr lang="en-US" sz="1500" dirty="0"/>
          </a:p>
        </p:txBody>
      </p:sp>
      <p:sp>
        <p:nvSpPr>
          <p:cNvPr id="5" name="Shape 3"/>
          <p:cNvSpPr/>
          <p:nvPr/>
        </p:nvSpPr>
        <p:spPr>
          <a:xfrm>
            <a:off x="1463040" y="2697480"/>
            <a:ext cx="9265615" cy="0"/>
          </a:xfrm>
          <a:prstGeom prst="line">
            <a:avLst/>
          </a:prstGeom>
          <a:noFill/>
          <a:ln w="25400">
            <a:solidFill>
              <a:srgbClr val="4A6890"/>
            </a:solidFill>
            <a:prstDash val="solid"/>
          </a:ln>
        </p:spPr>
      </p:sp>
      <p:sp>
        <p:nvSpPr>
          <p:cNvPr id="6" name="Shape 4"/>
          <p:cNvSpPr/>
          <p:nvPr/>
        </p:nvSpPr>
        <p:spPr>
          <a:xfrm>
            <a:off x="1307592" y="2542032"/>
            <a:ext cx="310896" cy="310896"/>
          </a:xfrm>
          <a:prstGeom prst="ellipse">
            <a:avLst/>
          </a:prstGeom>
          <a:solidFill>
            <a:srgbClr val="FBBF24"/>
          </a:solidFill>
          <a:ln w="12700">
            <a:solidFill>
              <a:srgbClr val="FBBF24"/>
            </a:solidFill>
            <a:prstDash val="solid"/>
          </a:ln>
        </p:spPr>
      </p:sp>
      <p:sp>
        <p:nvSpPr>
          <p:cNvPr id="7" name="Shape 5"/>
          <p:cNvSpPr/>
          <p:nvPr/>
        </p:nvSpPr>
        <p:spPr>
          <a:xfrm>
            <a:off x="640080" y="2039112"/>
            <a:ext cx="2103120" cy="329184"/>
          </a:xfrm>
          <a:prstGeom prst="roundRect">
            <a:avLst>
              <a:gd name="adj" fmla="val 50000"/>
            </a:avLst>
          </a:prstGeom>
          <a:solidFill>
            <a:srgbClr val="FBBF24"/>
          </a:solidFill>
          <a:ln w="12700">
            <a:solidFill>
              <a:srgbClr val="FBBF24"/>
            </a:solidFill>
            <a:prstDash val="solid"/>
          </a:ln>
        </p:spPr>
      </p:sp>
      <p:sp>
        <p:nvSpPr>
          <p:cNvPr id="8" name="Text 6"/>
          <p:cNvSpPr txBox="1"/>
          <p:nvPr/>
        </p:nvSpPr>
        <p:spPr>
          <a:xfrm>
            <a:off x="640080" y="2039112"/>
            <a:ext cx="2103120" cy="329184"/>
          </a:xfrm>
          <a:prstGeom prst="rect">
            <a:avLst/>
          </a:prstGeom>
          <a:noFill/>
          <a:ln/>
        </p:spPr>
        <p:txBody>
          <a:bodyPr wrap="square" lIns="0" tIns="0" rIns="0" bIns="0" rtlCol="0" anchor="ctr"/>
          <a:lstStyle/>
          <a:p>
            <a:pPr algn="ctr" indent="0" marL="0">
              <a:buNone/>
            </a:pPr>
            <a:r>
              <a:rPr lang="en-US" sz="1100" b="1" dirty="0">
                <a:solidFill>
                  <a:srgbClr val="0B1A30"/>
                </a:solidFill>
                <a:latin typeface="Arial" pitchFamily="34" charset="0"/>
                <a:ea typeface="Arial" pitchFamily="34" charset="-122"/>
                <a:cs typeface="Arial" pitchFamily="34" charset="-120"/>
              </a:rPr>
              <a:t>① KHOẢNG 60 GIÂY</a:t>
            </a:r>
            <a:endParaRPr lang="en-US" sz="1100" dirty="0"/>
          </a:p>
        </p:txBody>
      </p:sp>
      <p:sp>
        <p:nvSpPr>
          <p:cNvPr id="9" name="Text 7"/>
          <p:cNvSpPr txBox="1"/>
          <p:nvPr/>
        </p:nvSpPr>
        <p:spPr>
          <a:xfrm>
            <a:off x="411480"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BBF24"/>
                </a:solidFill>
                <a:latin typeface="Arial" pitchFamily="34" charset="0"/>
                <a:ea typeface="Arial" pitchFamily="34" charset="-122"/>
                <a:cs typeface="Arial" pitchFamily="34" charset="-120"/>
              </a:rPr>
              <a:t>Ra y lệnh</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Kiểm sai sót y lệnh</a:t>
            </a:r>
            <a:endParaRPr lang="en-US" sz="1500" dirty="0"/>
          </a:p>
        </p:txBody>
      </p:sp>
      <p:sp>
        <p:nvSpPr>
          <p:cNvPr id="10" name="Shape 8"/>
          <p:cNvSpPr/>
          <p:nvPr/>
        </p:nvSpPr>
        <p:spPr>
          <a:xfrm>
            <a:off x="3669716" y="2587752"/>
            <a:ext cx="219456" cy="219456"/>
          </a:xfrm>
          <a:prstGeom prst="ellipse">
            <a:avLst/>
          </a:prstGeom>
          <a:solidFill>
            <a:srgbClr val="4A6890"/>
          </a:solidFill>
          <a:ln w="12700">
            <a:solidFill>
              <a:srgbClr val="4A6890"/>
            </a:solidFill>
            <a:prstDash val="solid"/>
          </a:ln>
        </p:spPr>
      </p:sp>
      <p:sp>
        <p:nvSpPr>
          <p:cNvPr id="11" name="Text 9"/>
          <p:cNvSpPr txBox="1"/>
          <p:nvPr/>
        </p:nvSpPr>
        <p:spPr>
          <a:xfrm>
            <a:off x="2727884"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viện</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thúc điều trị</a:t>
            </a:r>
            <a:endParaRPr lang="en-US" sz="1500" dirty="0"/>
          </a:p>
        </p:txBody>
      </p:sp>
      <p:sp>
        <p:nvSpPr>
          <p:cNvPr id="12" name="Shape 10"/>
          <p:cNvSpPr/>
          <p:nvPr/>
        </p:nvSpPr>
        <p:spPr>
          <a:xfrm>
            <a:off x="5986120" y="2587752"/>
            <a:ext cx="219456" cy="219456"/>
          </a:xfrm>
          <a:prstGeom prst="ellipse">
            <a:avLst/>
          </a:prstGeom>
          <a:solidFill>
            <a:srgbClr val="4A6890"/>
          </a:solidFill>
          <a:ln w="12700">
            <a:solidFill>
              <a:srgbClr val="4A6890"/>
            </a:solidFill>
            <a:prstDash val="solid"/>
          </a:ln>
        </p:spPr>
      </p:sp>
      <p:sp>
        <p:nvSpPr>
          <p:cNvPr id="13" name="Text 11"/>
          <p:cNvSpPr txBox="1"/>
          <p:nvPr/>
        </p:nvSpPr>
        <p:spPr>
          <a:xfrm>
            <a:off x="5044288"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Lập hồ sơ XML</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Nạp vào Tiền giám định</a:t>
            </a:r>
            <a:endParaRPr lang="en-US" sz="1500" dirty="0"/>
          </a:p>
        </p:txBody>
      </p:sp>
      <p:sp>
        <p:nvSpPr>
          <p:cNvPr id="14" name="Shape 12"/>
          <p:cNvSpPr/>
          <p:nvPr/>
        </p:nvSpPr>
        <p:spPr>
          <a:xfrm>
            <a:off x="8256803" y="2542032"/>
            <a:ext cx="310896" cy="310896"/>
          </a:xfrm>
          <a:prstGeom prst="ellipse">
            <a:avLst/>
          </a:prstGeom>
          <a:solidFill>
            <a:srgbClr val="FBBF24"/>
          </a:solidFill>
          <a:ln w="12700">
            <a:solidFill>
              <a:srgbClr val="FBBF24"/>
            </a:solidFill>
            <a:prstDash val="solid"/>
          </a:ln>
        </p:spPr>
      </p:sp>
      <p:sp>
        <p:nvSpPr>
          <p:cNvPr id="15" name="Shape 13"/>
          <p:cNvSpPr/>
          <p:nvPr/>
        </p:nvSpPr>
        <p:spPr>
          <a:xfrm>
            <a:off x="7360691" y="2039112"/>
            <a:ext cx="2103120" cy="329184"/>
          </a:xfrm>
          <a:prstGeom prst="roundRect">
            <a:avLst>
              <a:gd name="adj" fmla="val 50000"/>
            </a:avLst>
          </a:prstGeom>
          <a:solidFill>
            <a:srgbClr val="FBBF24"/>
          </a:solidFill>
          <a:ln w="12700">
            <a:solidFill>
              <a:srgbClr val="FBBF24"/>
            </a:solidFill>
            <a:prstDash val="solid"/>
          </a:ln>
        </p:spPr>
      </p:sp>
      <p:sp>
        <p:nvSpPr>
          <p:cNvPr id="16" name="Text 14"/>
          <p:cNvSpPr txBox="1"/>
          <p:nvPr/>
        </p:nvSpPr>
        <p:spPr>
          <a:xfrm>
            <a:off x="7360691" y="2039112"/>
            <a:ext cx="2103120" cy="329184"/>
          </a:xfrm>
          <a:prstGeom prst="rect">
            <a:avLst/>
          </a:prstGeom>
          <a:noFill/>
          <a:ln/>
        </p:spPr>
        <p:txBody>
          <a:bodyPr wrap="square" lIns="0" tIns="0" rIns="0" bIns="0" rtlCol="0" anchor="ctr"/>
          <a:lstStyle/>
          <a:p>
            <a:pPr algn="ctr" indent="0" marL="0">
              <a:buNone/>
            </a:pPr>
            <a:r>
              <a:rPr lang="en-US" sz="1100" b="1" dirty="0">
                <a:solidFill>
                  <a:srgbClr val="0B1A30"/>
                </a:solidFill>
                <a:latin typeface="Arial" pitchFamily="34" charset="0"/>
                <a:ea typeface="Arial" pitchFamily="34" charset="-122"/>
                <a:cs typeface="Arial" pitchFamily="34" charset="-120"/>
              </a:rPr>
              <a:t>② TRƯỚC KÝ SỐ</a:t>
            </a:r>
            <a:endParaRPr lang="en-US" sz="1100" dirty="0"/>
          </a:p>
        </p:txBody>
      </p:sp>
      <p:sp>
        <p:nvSpPr>
          <p:cNvPr id="17" name="Text 15"/>
          <p:cNvSpPr txBox="1"/>
          <p:nvPr/>
        </p:nvSpPr>
        <p:spPr>
          <a:xfrm>
            <a:off x="7360691"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BBF24"/>
                </a:solidFill>
                <a:latin typeface="Arial" pitchFamily="34" charset="0"/>
                <a:ea typeface="Arial" pitchFamily="34" charset="-122"/>
                <a:cs typeface="Arial" pitchFamily="34" charset="-120"/>
              </a:rPr>
              <a:t>Kiểm hồ sơ</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Lỗi nghiêm trọng bị chặn</a:t>
            </a:r>
            <a:endParaRPr lang="en-US" sz="1500" dirty="0"/>
          </a:p>
        </p:txBody>
      </p:sp>
      <p:sp>
        <p:nvSpPr>
          <p:cNvPr id="18" name="Shape 16"/>
          <p:cNvSpPr/>
          <p:nvPr/>
        </p:nvSpPr>
        <p:spPr>
          <a:xfrm>
            <a:off x="10573207" y="2542032"/>
            <a:ext cx="310896" cy="310896"/>
          </a:xfrm>
          <a:prstGeom prst="ellipse">
            <a:avLst/>
          </a:prstGeom>
          <a:solidFill>
            <a:srgbClr val="4ADE80"/>
          </a:solidFill>
          <a:ln w="12700">
            <a:solidFill>
              <a:srgbClr val="4ADE80"/>
            </a:solidFill>
            <a:prstDash val="solid"/>
          </a:ln>
        </p:spPr>
      </p:sp>
      <p:sp>
        <p:nvSpPr>
          <p:cNvPr id="19" name="Text 17"/>
          <p:cNvSpPr txBox="1"/>
          <p:nvPr/>
        </p:nvSpPr>
        <p:spPr>
          <a:xfrm>
            <a:off x="9677095"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4ADE80"/>
                </a:solidFill>
                <a:latin typeface="Arial" pitchFamily="34" charset="0"/>
                <a:ea typeface="Arial" pitchFamily="34" charset="-122"/>
                <a:cs typeface="Arial" pitchFamily="34" charset="-120"/>
              </a:rPr>
              <a:t>Ký số, gửi cổng</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Hồ sơ đã sạch lỗi hơn</a:t>
            </a:r>
            <a:endParaRPr lang="en-US" sz="1500" dirty="0"/>
          </a:p>
        </p:txBody>
      </p:sp>
      <p:sp>
        <p:nvSpPr>
          <p:cNvPr id="20" name="Text 18"/>
          <p:cNvSpPr txBox="1"/>
          <p:nvPr/>
        </p:nvSpPr>
        <p:spPr>
          <a:xfrm>
            <a:off x="640080" y="3913632"/>
            <a:ext cx="10911535" cy="274320"/>
          </a:xfrm>
          <a:prstGeom prst="rect">
            <a:avLst/>
          </a:prstGeom>
          <a:noFill/>
          <a:ln/>
        </p:spPr>
        <p:txBody>
          <a:bodyPr wrap="square" lIns="0" tIns="0" rIns="0" bIns="0" rtlCol="0" anchor="ctr"/>
          <a:lstStyle/>
          <a:p>
            <a:pPr indent="0" marL="0">
              <a:buNone/>
            </a:pPr>
            <a:r>
              <a:rPr lang="en-US" sz="1100" b="1" spc="200" kern="0" dirty="0">
                <a:solidFill>
                  <a:srgbClr val="7F93B0"/>
                </a:solidFill>
                <a:latin typeface="Arial" pitchFamily="34" charset="0"/>
                <a:ea typeface="Arial" pitchFamily="34" charset="-122"/>
                <a:cs typeface="Arial" pitchFamily="34" charset="-120"/>
              </a:rPr>
              <a:t>VÒNG SỬA LỖI</a:t>
            </a:r>
            <a:endParaRPr lang="en-US" sz="1100" dirty="0"/>
          </a:p>
        </p:txBody>
      </p:sp>
      <p:sp>
        <p:nvSpPr>
          <p:cNvPr id="21" name="Shape 19"/>
          <p:cNvSpPr/>
          <p:nvPr/>
        </p:nvSpPr>
        <p:spPr>
          <a:xfrm>
            <a:off x="640080"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2" name="Text 20"/>
          <p:cNvSpPr txBox="1"/>
          <p:nvPr/>
        </p:nvSpPr>
        <p:spPr>
          <a:xfrm>
            <a:off x="640080"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Phát hiện lỗi</a:t>
            </a:r>
            <a:endParaRPr lang="en-US" sz="1400" dirty="0"/>
          </a:p>
        </p:txBody>
      </p:sp>
      <p:sp>
        <p:nvSpPr>
          <p:cNvPr id="23" name="Text 21"/>
          <p:cNvSpPr txBox="1"/>
          <p:nvPr/>
        </p:nvSpPr>
        <p:spPr>
          <a:xfrm>
            <a:off x="2529779"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2895539"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5" name="Text 23"/>
          <p:cNvSpPr txBox="1"/>
          <p:nvPr/>
        </p:nvSpPr>
        <p:spPr>
          <a:xfrm>
            <a:off x="2895539"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Báo về khoa phát sinh</a:t>
            </a:r>
            <a:endParaRPr lang="en-US" sz="1400" dirty="0"/>
          </a:p>
        </p:txBody>
      </p:sp>
      <p:sp>
        <p:nvSpPr>
          <p:cNvPr id="26" name="Text 24"/>
          <p:cNvSpPr txBox="1"/>
          <p:nvPr/>
        </p:nvSpPr>
        <p:spPr>
          <a:xfrm>
            <a:off x="4785238"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5150998"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8" name="Text 26"/>
          <p:cNvSpPr txBox="1"/>
          <p:nvPr/>
        </p:nvSpPr>
        <p:spPr>
          <a:xfrm>
            <a:off x="5150998" y="4251960"/>
            <a:ext cx="1889699" cy="502920"/>
          </a:xfrm>
          <a:prstGeom prst="rect">
            <a:avLst/>
          </a:prstGeom>
          <a:noFill/>
          <a:ln/>
        </p:spPr>
        <p:txBody>
          <a:bodyPr wrap="square" lIns="0" tIns="0" rIns="0" bIns="0"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Sửa trên HIS</a:t>
            </a:r>
            <a:endParaRPr lang="en-US" sz="1400" dirty="0"/>
          </a:p>
        </p:txBody>
      </p:sp>
      <p:sp>
        <p:nvSpPr>
          <p:cNvPr id="29" name="Text 27"/>
          <p:cNvSpPr txBox="1"/>
          <p:nvPr/>
        </p:nvSpPr>
        <p:spPr>
          <a:xfrm>
            <a:off x="7040697"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30" name="Shape 28"/>
          <p:cNvSpPr/>
          <p:nvPr/>
        </p:nvSpPr>
        <p:spPr>
          <a:xfrm>
            <a:off x="7406457"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31" name="Text 29"/>
          <p:cNvSpPr txBox="1"/>
          <p:nvPr/>
        </p:nvSpPr>
        <p:spPr>
          <a:xfrm>
            <a:off x="7406457"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Nạp lại</a:t>
            </a:r>
            <a:endParaRPr lang="en-US" sz="1400" dirty="0"/>
          </a:p>
        </p:txBody>
      </p:sp>
      <p:sp>
        <p:nvSpPr>
          <p:cNvPr id="32" name="Text 30"/>
          <p:cNvSpPr txBox="1"/>
          <p:nvPr/>
        </p:nvSpPr>
        <p:spPr>
          <a:xfrm>
            <a:off x="9296156"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33" name="Shape 31"/>
          <p:cNvSpPr/>
          <p:nvPr/>
        </p:nvSpPr>
        <p:spPr>
          <a:xfrm>
            <a:off x="9661916"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34" name="Text 32"/>
          <p:cNvSpPr txBox="1"/>
          <p:nvPr/>
        </p:nvSpPr>
        <p:spPr>
          <a:xfrm>
            <a:off x="9661916"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Kiểm lại</a:t>
            </a:r>
            <a:endParaRPr lang="en-US" sz="1400" dirty="0"/>
          </a:p>
        </p:txBody>
      </p:sp>
      <p:sp>
        <p:nvSpPr>
          <p:cNvPr id="35" name="Text 33"/>
          <p:cNvSpPr txBox="1"/>
          <p:nvPr/>
        </p:nvSpPr>
        <p:spPr>
          <a:xfrm>
            <a:off x="640080" y="4983480"/>
            <a:ext cx="10911535" cy="548640"/>
          </a:xfrm>
          <a:prstGeom prst="rect">
            <a:avLst/>
          </a:prstGeom>
          <a:noFill/>
          <a:ln/>
        </p:spPr>
        <p:txBody>
          <a:bodyPr wrap="square" lIns="0" tIns="0" rIns="0" bIns="0" rtlCol="0" anchor="ctr"/>
          <a:lstStyle/>
          <a:p>
            <a:pPr algn="ctr" indent="0" marL="0">
              <a:buNone/>
            </a:pPr>
            <a:r>
              <a:rPr lang="en-US" sz="1400" dirty="0">
                <a:solidFill>
                  <a:srgbClr val="A9BCD6"/>
                </a:solidFill>
                <a:latin typeface="Arial" pitchFamily="34" charset="0"/>
                <a:ea typeface="Arial" pitchFamily="34" charset="-122"/>
                <a:cs typeface="Arial" pitchFamily="34" charset="-120"/>
              </a:rPr>
              <a:t>Phần mềm chỉ đọc HIS, không sửa hộ: lỗi được sửa đúng nơi phát sinh, nên dữ liệu gốc trên HIS và hồ sơ gửi đi luôn khớp nhau.</a:t>
            </a:r>
            <a:endParaRPr lang="en-US" sz="1400" dirty="0"/>
          </a:p>
        </p:txBody>
      </p:sp>
      <p:sp>
        <p:nvSpPr>
          <p:cNvPr id="36" name="Text 34"/>
          <p:cNvSpPr txBox="1"/>
          <p:nvPr/>
        </p:nvSpPr>
        <p:spPr>
          <a:xfrm>
            <a:off x="640080" y="576072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Phát hiện sớm  ·  Sửa tại nguồn  ·  Gửi hồ sơ sạch</a:t>
            </a:r>
            <a:endParaRPr lang="en-US" sz="1600" dirty="0"/>
          </a:p>
        </p:txBody>
      </p:sp>
      <p:sp>
        <p:nvSpPr>
          <p:cNvPr id="38" name="Text 35"/>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03 / 19</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NĂNG LỰC</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Hệ thống đang chạy thực tế tại Bệnh viện Bạch Mai</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Các con số lấy từ cấu hình và bộ quy tắc hiện hành của phần mềm.</a:t>
            </a:r>
            <a:endParaRPr lang="en-US" sz="1500" dirty="0"/>
          </a:p>
        </p:txBody>
      </p:sp>
      <p:sp>
        <p:nvSpPr>
          <p:cNvPr id="5" name="Shape 3"/>
          <p:cNvSpPr/>
          <p:nvPr/>
        </p:nvSpPr>
        <p:spPr>
          <a:xfrm>
            <a:off x="640080" y="2011680"/>
            <a:ext cx="1999427" cy="3108960"/>
          </a:xfrm>
          <a:prstGeom prst="roundRect">
            <a:avLst>
              <a:gd name="adj" fmla="val 4573"/>
            </a:avLst>
          </a:prstGeom>
          <a:solidFill>
            <a:srgbClr val="25324A">
              <a:alpha val="85000"/>
            </a:srgbClr>
          </a:solidFill>
          <a:ln w="19050">
            <a:solidFill>
              <a:srgbClr val="FBBF24"/>
            </a:solidFill>
            <a:prstDash val="solid"/>
          </a:ln>
        </p:spPr>
      </p:sp>
      <p:sp>
        <p:nvSpPr>
          <p:cNvPr id="6" name="Text 4"/>
          <p:cNvSpPr txBox="1"/>
          <p:nvPr/>
        </p:nvSpPr>
        <p:spPr>
          <a:xfrm>
            <a:off x="640080" y="2331720"/>
            <a:ext cx="1999427" cy="914400"/>
          </a:xfrm>
          <a:prstGeom prst="rect">
            <a:avLst/>
          </a:prstGeom>
          <a:noFill/>
          <a:ln/>
        </p:spPr>
        <p:txBody>
          <a:bodyPr wrap="square" lIns="0" tIns="0" rIns="0" bIns="0" rtlCol="0" anchor="ctr"/>
          <a:lstStyle/>
          <a:p>
            <a:pPr algn="ctr" indent="0" marL="0">
              <a:buNone/>
            </a:pPr>
            <a:r>
              <a:rPr lang="en-US" sz="5000" b="1" dirty="0">
                <a:solidFill>
                  <a:srgbClr val="FBBF24"/>
                </a:solidFill>
                <a:latin typeface="Arial" pitchFamily="34" charset="0"/>
                <a:ea typeface="Arial" pitchFamily="34" charset="-122"/>
                <a:cs typeface="Arial" pitchFamily="34" charset="-120"/>
              </a:rPr>
              <a:t>~60</a:t>
            </a:r>
            <a:endParaRPr lang="en-US" sz="5000" dirty="0"/>
          </a:p>
        </p:txBody>
      </p:sp>
      <p:sp>
        <p:nvSpPr>
          <p:cNvPr id="7" name="Text 5"/>
          <p:cNvSpPr txBox="1"/>
          <p:nvPr/>
        </p:nvSpPr>
        <p:spPr>
          <a:xfrm>
            <a:off x="640080" y="3246120"/>
            <a:ext cx="1999427"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giây</a:t>
            </a:r>
            <a:endParaRPr lang="en-US" sz="1600" dirty="0"/>
          </a:p>
        </p:txBody>
      </p:sp>
      <p:sp>
        <p:nvSpPr>
          <p:cNvPr id="8" name="Text 6"/>
          <p:cNvSpPr txBox="1"/>
          <p:nvPr/>
        </p:nvSpPr>
        <p:spPr>
          <a:xfrm>
            <a:off x="822960" y="3794760"/>
            <a:ext cx="1633667" cy="1097280"/>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Sai sót y lệnh được phát hiện sau khi phát sinh</a:t>
            </a:r>
            <a:endParaRPr lang="en-US" sz="1300" dirty="0"/>
          </a:p>
        </p:txBody>
      </p:sp>
      <p:sp>
        <p:nvSpPr>
          <p:cNvPr id="9" name="Shape 7"/>
          <p:cNvSpPr/>
          <p:nvPr/>
        </p:nvSpPr>
        <p:spPr>
          <a:xfrm>
            <a:off x="2868107" y="2011680"/>
            <a:ext cx="1999427" cy="3108960"/>
          </a:xfrm>
          <a:prstGeom prst="roundRect">
            <a:avLst>
              <a:gd name="adj" fmla="val 4573"/>
            </a:avLst>
          </a:prstGeom>
          <a:solidFill>
            <a:srgbClr val="1C3558">
              <a:alpha val="85000"/>
            </a:srgbClr>
          </a:solidFill>
          <a:ln w="9525">
            <a:solidFill>
              <a:srgbClr val="2E4B74"/>
            </a:solidFill>
            <a:prstDash val="solid"/>
          </a:ln>
        </p:spPr>
      </p:sp>
      <p:sp>
        <p:nvSpPr>
          <p:cNvPr id="10" name="Text 8"/>
          <p:cNvSpPr txBox="1"/>
          <p:nvPr/>
        </p:nvSpPr>
        <p:spPr>
          <a:xfrm>
            <a:off x="2868107" y="2331720"/>
            <a:ext cx="1999427" cy="914400"/>
          </a:xfrm>
          <a:prstGeom prst="rect">
            <a:avLst/>
          </a:prstGeom>
          <a:noFill/>
          <a:ln/>
        </p:spPr>
        <p:txBody>
          <a:bodyPr wrap="square" lIns="0" tIns="0" rIns="0" bIns="0" rtlCol="0" anchor="ctr"/>
          <a:lstStyle/>
          <a:p>
            <a:pPr algn="ctr" indent="0" marL="0">
              <a:buNone/>
            </a:pPr>
            <a:r>
              <a:rPr lang="en-US" sz="5000" b="1" dirty="0">
                <a:solidFill>
                  <a:srgbClr val="38BDF8"/>
                </a:solidFill>
                <a:latin typeface="Arial" pitchFamily="34" charset="0"/>
                <a:ea typeface="Arial" pitchFamily="34" charset="-122"/>
                <a:cs typeface="Arial" pitchFamily="34" charset="-120"/>
              </a:rPr>
              <a:t>19</a:t>
            </a:r>
            <a:endParaRPr lang="en-US" sz="5000" dirty="0"/>
          </a:p>
        </p:txBody>
      </p:sp>
      <p:sp>
        <p:nvSpPr>
          <p:cNvPr id="11" name="Text 9"/>
          <p:cNvSpPr txBox="1"/>
          <p:nvPr/>
        </p:nvSpPr>
        <p:spPr>
          <a:xfrm>
            <a:off x="2868107" y="3246120"/>
            <a:ext cx="1999427"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quy tắc</a:t>
            </a:r>
            <a:endParaRPr lang="en-US" sz="1600" dirty="0"/>
          </a:p>
        </p:txBody>
      </p:sp>
      <p:sp>
        <p:nvSpPr>
          <p:cNvPr id="12" name="Text 10"/>
          <p:cNvSpPr txBox="1"/>
          <p:nvPr/>
        </p:nvSpPr>
        <p:spPr>
          <a:xfrm>
            <a:off x="3050987" y="3794760"/>
            <a:ext cx="1633667" cy="1097280"/>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Kiểm y lệnh nạp sẵn, thêm được quy tắc mới</a:t>
            </a:r>
            <a:endParaRPr lang="en-US" sz="1300" dirty="0"/>
          </a:p>
        </p:txBody>
      </p:sp>
      <p:sp>
        <p:nvSpPr>
          <p:cNvPr id="13" name="Shape 11"/>
          <p:cNvSpPr/>
          <p:nvPr/>
        </p:nvSpPr>
        <p:spPr>
          <a:xfrm>
            <a:off x="5096134" y="2011680"/>
            <a:ext cx="1999427" cy="3108960"/>
          </a:xfrm>
          <a:prstGeom prst="roundRect">
            <a:avLst>
              <a:gd name="adj" fmla="val 4573"/>
            </a:avLst>
          </a:prstGeom>
          <a:solidFill>
            <a:srgbClr val="1C3558">
              <a:alpha val="85000"/>
            </a:srgbClr>
          </a:solidFill>
          <a:ln w="9525">
            <a:solidFill>
              <a:srgbClr val="2E4B74"/>
            </a:solidFill>
            <a:prstDash val="solid"/>
          </a:ln>
        </p:spPr>
      </p:sp>
      <p:sp>
        <p:nvSpPr>
          <p:cNvPr id="14" name="Text 12"/>
          <p:cNvSpPr txBox="1"/>
          <p:nvPr/>
        </p:nvSpPr>
        <p:spPr>
          <a:xfrm>
            <a:off x="5096134" y="2331720"/>
            <a:ext cx="1999427" cy="914400"/>
          </a:xfrm>
          <a:prstGeom prst="rect">
            <a:avLst/>
          </a:prstGeom>
          <a:noFill/>
          <a:ln/>
        </p:spPr>
        <p:txBody>
          <a:bodyPr wrap="square" lIns="0" tIns="0" rIns="0" bIns="0" rtlCol="0" anchor="ctr"/>
          <a:lstStyle/>
          <a:p>
            <a:pPr algn="ctr" indent="0" marL="0">
              <a:buNone/>
            </a:pPr>
            <a:r>
              <a:rPr lang="en-US" sz="5000" b="1" dirty="0">
                <a:solidFill>
                  <a:srgbClr val="38BDF8"/>
                </a:solidFill>
                <a:latin typeface="Arial" pitchFamily="34" charset="0"/>
                <a:ea typeface="Arial" pitchFamily="34" charset="-122"/>
                <a:cs typeface="Arial" pitchFamily="34" charset="-120"/>
              </a:rPr>
              <a:t>~300</a:t>
            </a:r>
            <a:endParaRPr lang="en-US" sz="5000" dirty="0"/>
          </a:p>
        </p:txBody>
      </p:sp>
      <p:sp>
        <p:nvSpPr>
          <p:cNvPr id="15" name="Text 13"/>
          <p:cNvSpPr txBox="1"/>
          <p:nvPr/>
        </p:nvSpPr>
        <p:spPr>
          <a:xfrm>
            <a:off x="5096134" y="3246120"/>
            <a:ext cx="1999427"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mã lỗi</a:t>
            </a:r>
            <a:endParaRPr lang="en-US" sz="1600" dirty="0"/>
          </a:p>
        </p:txBody>
      </p:sp>
      <p:sp>
        <p:nvSpPr>
          <p:cNvPr id="16" name="Text 14"/>
          <p:cNvSpPr txBox="1"/>
          <p:nvPr/>
        </p:nvSpPr>
        <p:spPr>
          <a:xfrm>
            <a:off x="5279014" y="3794760"/>
            <a:ext cx="1633667" cy="1097280"/>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Kiểm hồ sơ XML 3176 theo từng trường dữ liệu</a:t>
            </a:r>
            <a:endParaRPr lang="en-US" sz="1300" dirty="0"/>
          </a:p>
        </p:txBody>
      </p:sp>
      <p:sp>
        <p:nvSpPr>
          <p:cNvPr id="17" name="Shape 15"/>
          <p:cNvSpPr/>
          <p:nvPr/>
        </p:nvSpPr>
        <p:spPr>
          <a:xfrm>
            <a:off x="7324161" y="2011680"/>
            <a:ext cx="1999427" cy="3108960"/>
          </a:xfrm>
          <a:prstGeom prst="roundRect">
            <a:avLst>
              <a:gd name="adj" fmla="val 4573"/>
            </a:avLst>
          </a:prstGeom>
          <a:solidFill>
            <a:srgbClr val="1C3558">
              <a:alpha val="85000"/>
            </a:srgbClr>
          </a:solidFill>
          <a:ln w="9525">
            <a:solidFill>
              <a:srgbClr val="2E4B74"/>
            </a:solidFill>
            <a:prstDash val="solid"/>
          </a:ln>
        </p:spPr>
      </p:sp>
      <p:sp>
        <p:nvSpPr>
          <p:cNvPr id="18" name="Text 16"/>
          <p:cNvSpPr txBox="1"/>
          <p:nvPr/>
        </p:nvSpPr>
        <p:spPr>
          <a:xfrm>
            <a:off x="7324161" y="2331720"/>
            <a:ext cx="1999427" cy="914400"/>
          </a:xfrm>
          <a:prstGeom prst="rect">
            <a:avLst/>
          </a:prstGeom>
          <a:noFill/>
          <a:ln/>
        </p:spPr>
        <p:txBody>
          <a:bodyPr wrap="square" lIns="0" tIns="0" rIns="0" bIns="0" rtlCol="0" anchor="ctr"/>
          <a:lstStyle/>
          <a:p>
            <a:pPr algn="ctr" indent="0" marL="0">
              <a:buNone/>
            </a:pPr>
            <a:r>
              <a:rPr lang="en-US" sz="5000" b="1" dirty="0">
                <a:solidFill>
                  <a:srgbClr val="38BDF8"/>
                </a:solidFill>
                <a:latin typeface="Arial" pitchFamily="34" charset="0"/>
                <a:ea typeface="Arial" pitchFamily="34" charset="-122"/>
                <a:cs typeface="Arial" pitchFamily="34" charset="-120"/>
              </a:rPr>
              <a:t>12</a:t>
            </a:r>
            <a:endParaRPr lang="en-US" sz="5000" dirty="0"/>
          </a:p>
        </p:txBody>
      </p:sp>
      <p:sp>
        <p:nvSpPr>
          <p:cNvPr id="19" name="Text 17"/>
          <p:cNvSpPr txBox="1"/>
          <p:nvPr/>
        </p:nvSpPr>
        <p:spPr>
          <a:xfrm>
            <a:off x="7324161" y="3246120"/>
            <a:ext cx="1999427"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bảng XML</a:t>
            </a:r>
            <a:endParaRPr lang="en-US" sz="1600" dirty="0"/>
          </a:p>
        </p:txBody>
      </p:sp>
      <p:sp>
        <p:nvSpPr>
          <p:cNvPr id="20" name="Text 18"/>
          <p:cNvSpPr txBox="1"/>
          <p:nvPr/>
        </p:nvSpPr>
        <p:spPr>
          <a:xfrm>
            <a:off x="7507041" y="3794760"/>
            <a:ext cx="1633667" cy="1097280"/>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Có bộ kiểm riêng, cộng kiểm chéo toàn hồ sơ</a:t>
            </a:r>
            <a:endParaRPr lang="en-US" sz="1300" dirty="0"/>
          </a:p>
        </p:txBody>
      </p:sp>
      <p:sp>
        <p:nvSpPr>
          <p:cNvPr id="21" name="Shape 19"/>
          <p:cNvSpPr/>
          <p:nvPr/>
        </p:nvSpPr>
        <p:spPr>
          <a:xfrm>
            <a:off x="9552188" y="2011680"/>
            <a:ext cx="1999427" cy="3108960"/>
          </a:xfrm>
          <a:prstGeom prst="roundRect">
            <a:avLst>
              <a:gd name="adj" fmla="val 4573"/>
            </a:avLst>
          </a:prstGeom>
          <a:solidFill>
            <a:srgbClr val="1C3558">
              <a:alpha val="85000"/>
            </a:srgbClr>
          </a:solidFill>
          <a:ln w="9525">
            <a:solidFill>
              <a:srgbClr val="2E4B74"/>
            </a:solidFill>
            <a:prstDash val="solid"/>
          </a:ln>
        </p:spPr>
      </p:sp>
      <p:sp>
        <p:nvSpPr>
          <p:cNvPr id="22" name="Text 20"/>
          <p:cNvSpPr txBox="1"/>
          <p:nvPr/>
        </p:nvSpPr>
        <p:spPr>
          <a:xfrm>
            <a:off x="9552188" y="2331720"/>
            <a:ext cx="1999427" cy="914400"/>
          </a:xfrm>
          <a:prstGeom prst="rect">
            <a:avLst/>
          </a:prstGeom>
          <a:noFill/>
          <a:ln/>
        </p:spPr>
        <p:txBody>
          <a:bodyPr wrap="square" lIns="0" tIns="0" rIns="0" bIns="0" rtlCol="0" anchor="ctr"/>
          <a:lstStyle/>
          <a:p>
            <a:pPr algn="ctr" indent="0" marL="0">
              <a:buNone/>
            </a:pPr>
            <a:r>
              <a:rPr lang="en-US" sz="5000" b="1" dirty="0">
                <a:solidFill>
                  <a:srgbClr val="38BDF8"/>
                </a:solidFill>
                <a:latin typeface="Arial" pitchFamily="34" charset="0"/>
                <a:ea typeface="Arial" pitchFamily="34" charset="-122"/>
                <a:cs typeface="Arial" pitchFamily="34" charset="-120"/>
              </a:rPr>
              <a:t>2</a:t>
            </a:r>
            <a:endParaRPr lang="en-US" sz="5000" dirty="0"/>
          </a:p>
        </p:txBody>
      </p:sp>
      <p:sp>
        <p:nvSpPr>
          <p:cNvPr id="23" name="Text 21"/>
          <p:cNvSpPr txBox="1"/>
          <p:nvPr/>
        </p:nvSpPr>
        <p:spPr>
          <a:xfrm>
            <a:off x="9552188" y="3246120"/>
            <a:ext cx="1999427"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mức lỗi</a:t>
            </a:r>
            <a:endParaRPr lang="en-US" sz="1600" dirty="0"/>
          </a:p>
        </p:txBody>
      </p:sp>
      <p:sp>
        <p:nvSpPr>
          <p:cNvPr id="24" name="Text 22"/>
          <p:cNvSpPr txBox="1"/>
          <p:nvPr/>
        </p:nvSpPr>
        <p:spPr>
          <a:xfrm>
            <a:off x="9735068" y="3794760"/>
            <a:ext cx="1633667" cy="1097280"/>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Nghiêm trọng thì chặn gửi; cảnh báo thì ghi nhận</a:t>
            </a:r>
            <a:endParaRPr lang="en-US" sz="1300" dirty="0"/>
          </a:p>
        </p:txBody>
      </p:sp>
      <p:sp>
        <p:nvSpPr>
          <p:cNvPr id="25" name="Text 23"/>
          <p:cNvSpPr txBox="1"/>
          <p:nvPr/>
        </p:nvSpPr>
        <p:spPr>
          <a:xfrm>
            <a:off x="640080" y="553212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Ký số bằng HSM hoặc USB Token  ·  Tự gửi cổng, tự thử lại tối đa 3 lần  ·  Nhận tệp XML tới 100 MB</a:t>
            </a:r>
            <a:endParaRPr lang="en-US" sz="1600" dirty="0"/>
          </a:p>
        </p:txBody>
      </p:sp>
      <p:sp>
        <p:nvSpPr>
          <p:cNvPr id="27" name="Text 24"/>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04 / 19</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KẾT QUẢ TẠI BẠCH MAI</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Trước và sau khi áp dụng Tiền giám định</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Kỳ trước: ………………   ·   Kỳ sau: ………………   ·   Nguồn số liệu: ………………</a:t>
            </a:r>
            <a:endParaRPr lang="en-US" sz="1500" dirty="0"/>
          </a:p>
        </p:txBody>
      </p:sp>
      <p:sp>
        <p:nvSpPr>
          <p:cNvPr id="5" name="Text 3"/>
          <p:cNvSpPr txBox="1"/>
          <p:nvPr/>
        </p:nvSpPr>
        <p:spPr>
          <a:xfrm>
            <a:off x="914400" y="1874520"/>
            <a:ext cx="4297680" cy="292608"/>
          </a:xfrm>
          <a:prstGeom prst="rect">
            <a:avLst/>
          </a:prstGeom>
          <a:noFill/>
          <a:ln/>
        </p:spPr>
        <p:txBody>
          <a:bodyPr wrap="square" lIns="0" tIns="0" rIns="0" bIns="0" rtlCol="0" anchor="ctr"/>
          <a:lstStyle/>
          <a:p>
            <a:pPr algn="l" indent="0" marL="0">
              <a:buNone/>
            </a:pPr>
            <a:r>
              <a:rPr lang="en-US" sz="1100" b="1" spc="200" kern="0" dirty="0">
                <a:solidFill>
                  <a:srgbClr val="38BDF8"/>
                </a:solidFill>
                <a:latin typeface="Arial" pitchFamily="34" charset="0"/>
                <a:ea typeface="Arial" pitchFamily="34" charset="-122"/>
                <a:cs typeface="Arial" pitchFamily="34" charset="-120"/>
              </a:rPr>
              <a:t>CHỈ SỐ</a:t>
            </a:r>
            <a:endParaRPr lang="en-US" sz="1100" dirty="0"/>
          </a:p>
        </p:txBody>
      </p:sp>
      <p:sp>
        <p:nvSpPr>
          <p:cNvPr id="6" name="Text 4"/>
          <p:cNvSpPr txBox="1"/>
          <p:nvPr/>
        </p:nvSpPr>
        <p:spPr>
          <a:xfrm>
            <a:off x="5760720" y="1874520"/>
            <a:ext cx="1280160"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TRƯỚC</a:t>
            </a:r>
            <a:endParaRPr lang="en-US" sz="1100" dirty="0"/>
          </a:p>
        </p:txBody>
      </p:sp>
      <p:sp>
        <p:nvSpPr>
          <p:cNvPr id="7" name="Text 5"/>
          <p:cNvSpPr txBox="1"/>
          <p:nvPr/>
        </p:nvSpPr>
        <p:spPr>
          <a:xfrm>
            <a:off x="7589520" y="1874520"/>
            <a:ext cx="1280160"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SAU</a:t>
            </a:r>
            <a:endParaRPr lang="en-US" sz="1100" dirty="0"/>
          </a:p>
        </p:txBody>
      </p:sp>
      <p:sp>
        <p:nvSpPr>
          <p:cNvPr id="8" name="Text 6"/>
          <p:cNvSpPr txBox="1"/>
          <p:nvPr/>
        </p:nvSpPr>
        <p:spPr>
          <a:xfrm>
            <a:off x="9418320" y="1874520"/>
            <a:ext cx="1858975"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THAY ĐỔI</a:t>
            </a:r>
            <a:endParaRPr lang="en-US" sz="1100" dirty="0"/>
          </a:p>
        </p:txBody>
      </p:sp>
      <p:sp>
        <p:nvSpPr>
          <p:cNvPr id="9" name="Shape 7"/>
          <p:cNvSpPr/>
          <p:nvPr/>
        </p:nvSpPr>
        <p:spPr>
          <a:xfrm>
            <a:off x="640080" y="2286000"/>
            <a:ext cx="10911535" cy="694944"/>
          </a:xfrm>
          <a:prstGeom prst="roundRect">
            <a:avLst>
              <a:gd name="adj" fmla="val 13158"/>
            </a:avLst>
          </a:prstGeom>
          <a:solidFill>
            <a:srgbClr val="1C3558">
              <a:alpha val="85000"/>
            </a:srgbClr>
          </a:solidFill>
          <a:ln w="9525">
            <a:solidFill>
              <a:srgbClr val="2E4B74"/>
            </a:solidFill>
            <a:prstDash val="solid"/>
          </a:ln>
        </p:spPr>
      </p:sp>
      <p:sp>
        <p:nvSpPr>
          <p:cNvPr id="10" name="Text 8"/>
          <p:cNvSpPr txBox="1"/>
          <p:nvPr/>
        </p:nvSpPr>
        <p:spPr>
          <a:xfrm>
            <a:off x="914400" y="2286000"/>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Tỷ lệ hồ sơ còn lỗi nghiêm trọng khi gửi cổng</a:t>
            </a:r>
            <a:endParaRPr lang="en-US" sz="1500" dirty="0"/>
          </a:p>
        </p:txBody>
      </p:sp>
      <p:sp>
        <p:nvSpPr>
          <p:cNvPr id="11" name="Text 9"/>
          <p:cNvSpPr txBox="1"/>
          <p:nvPr/>
        </p:nvSpPr>
        <p:spPr>
          <a:xfrm>
            <a:off x="5486400" y="2286000"/>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7315200" y="2286000"/>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3" name="Text 11"/>
          <p:cNvSpPr txBox="1"/>
          <p:nvPr/>
        </p:nvSpPr>
        <p:spPr>
          <a:xfrm>
            <a:off x="9144000" y="2286000"/>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40080" y="3090672"/>
            <a:ext cx="10911535" cy="694944"/>
          </a:xfrm>
          <a:prstGeom prst="roundRect">
            <a:avLst>
              <a:gd name="adj" fmla="val 13158"/>
            </a:avLst>
          </a:prstGeom>
          <a:solidFill>
            <a:srgbClr val="1C3558">
              <a:alpha val="85000"/>
            </a:srgbClr>
          </a:solidFill>
          <a:ln w="9525">
            <a:solidFill>
              <a:srgbClr val="2E4B74"/>
            </a:solidFill>
            <a:prstDash val="solid"/>
          </a:ln>
        </p:spPr>
      </p:sp>
      <p:sp>
        <p:nvSpPr>
          <p:cNvPr id="15" name="Text 13"/>
          <p:cNvSpPr txBox="1"/>
          <p:nvPr/>
        </p:nvSpPr>
        <p:spPr>
          <a:xfrm>
            <a:off x="914400" y="3090672"/>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Số hồ sơ bị cổng giám định trả về mỗi tháng</a:t>
            </a:r>
            <a:endParaRPr lang="en-US" sz="1500" dirty="0"/>
          </a:p>
        </p:txBody>
      </p:sp>
      <p:sp>
        <p:nvSpPr>
          <p:cNvPr id="16" name="Text 14"/>
          <p:cNvSpPr txBox="1"/>
          <p:nvPr/>
        </p:nvSpPr>
        <p:spPr>
          <a:xfrm>
            <a:off x="5486400" y="3090672"/>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7" name="Text 15"/>
          <p:cNvSpPr txBox="1"/>
          <p:nvPr/>
        </p:nvSpPr>
        <p:spPr>
          <a:xfrm>
            <a:off x="7315200" y="3090672"/>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8" name="Text 16"/>
          <p:cNvSpPr txBox="1"/>
          <p:nvPr/>
        </p:nvSpPr>
        <p:spPr>
          <a:xfrm>
            <a:off x="9144000" y="3090672"/>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640080" y="3895344"/>
            <a:ext cx="10911535" cy="694944"/>
          </a:xfrm>
          <a:prstGeom prst="roundRect">
            <a:avLst>
              <a:gd name="adj" fmla="val 13158"/>
            </a:avLst>
          </a:prstGeom>
          <a:solidFill>
            <a:srgbClr val="1C3558">
              <a:alpha val="85000"/>
            </a:srgbClr>
          </a:solidFill>
          <a:ln w="9525">
            <a:solidFill>
              <a:srgbClr val="2E4B74"/>
            </a:solidFill>
            <a:prstDash val="solid"/>
          </a:ln>
        </p:spPr>
      </p:sp>
      <p:sp>
        <p:nvSpPr>
          <p:cNvPr id="20" name="Text 18"/>
          <p:cNvSpPr txBox="1"/>
          <p:nvPr/>
        </p:nvSpPr>
        <p:spPr>
          <a:xfrm>
            <a:off x="914400" y="3895344"/>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Số tiền BHYT bị xuất toán mỗi tháng</a:t>
            </a:r>
            <a:endParaRPr lang="en-US" sz="1500" dirty="0"/>
          </a:p>
        </p:txBody>
      </p:sp>
      <p:sp>
        <p:nvSpPr>
          <p:cNvPr id="21" name="Text 19"/>
          <p:cNvSpPr txBox="1"/>
          <p:nvPr/>
        </p:nvSpPr>
        <p:spPr>
          <a:xfrm>
            <a:off x="5486400" y="3895344"/>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2" name="Text 20"/>
          <p:cNvSpPr txBox="1"/>
          <p:nvPr/>
        </p:nvSpPr>
        <p:spPr>
          <a:xfrm>
            <a:off x="7315200" y="3895344"/>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3" name="Text 21"/>
          <p:cNvSpPr txBox="1"/>
          <p:nvPr/>
        </p:nvSpPr>
        <p:spPr>
          <a:xfrm>
            <a:off x="9144000" y="3895344"/>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640080" y="4700016"/>
            <a:ext cx="10911535" cy="694944"/>
          </a:xfrm>
          <a:prstGeom prst="roundRect">
            <a:avLst>
              <a:gd name="adj" fmla="val 13158"/>
            </a:avLst>
          </a:prstGeom>
          <a:solidFill>
            <a:srgbClr val="1C3558">
              <a:alpha val="85000"/>
            </a:srgbClr>
          </a:solidFill>
          <a:ln w="9525">
            <a:solidFill>
              <a:srgbClr val="2E4B74"/>
            </a:solidFill>
            <a:prstDash val="solid"/>
          </a:ln>
        </p:spPr>
      </p:sp>
      <p:sp>
        <p:nvSpPr>
          <p:cNvPr id="25" name="Text 23"/>
          <p:cNvSpPr txBox="1"/>
          <p:nvPr/>
        </p:nvSpPr>
        <p:spPr>
          <a:xfrm>
            <a:off x="914400" y="4700016"/>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Thời gian từ khi phát sinh lỗi tới khi sửa xong</a:t>
            </a:r>
            <a:endParaRPr lang="en-US" sz="1500" dirty="0"/>
          </a:p>
        </p:txBody>
      </p:sp>
      <p:sp>
        <p:nvSpPr>
          <p:cNvPr id="26" name="Text 24"/>
          <p:cNvSpPr txBox="1"/>
          <p:nvPr/>
        </p:nvSpPr>
        <p:spPr>
          <a:xfrm>
            <a:off x="5486400" y="4700016"/>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7" name="Text 25"/>
          <p:cNvSpPr txBox="1"/>
          <p:nvPr/>
        </p:nvSpPr>
        <p:spPr>
          <a:xfrm>
            <a:off x="7315200" y="4700016"/>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8" name="Text 26"/>
          <p:cNvSpPr txBox="1"/>
          <p:nvPr/>
        </p:nvSpPr>
        <p:spPr>
          <a:xfrm>
            <a:off x="9144000" y="4700016"/>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9" name="Text 27"/>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Viện của anh chị sẽ tự đo được đúng các chỉ số này ngay trong giai đoạn thí điểm</a:t>
            </a:r>
            <a:endParaRPr lang="en-US" sz="1600" dirty="0"/>
          </a:p>
        </p:txBody>
      </p:sp>
      <p:sp>
        <p:nvSpPr>
          <p:cNvPr id="31" name="Text 28"/>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05 / 19</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QUY RA TIỀN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Viện mình đang có bao nhiêu tiền chịu rủi ro mỗi tháng?</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Ba con số đầu vào phòng KHTH và Phòng BHYT của viện đều có sẵn.</a:t>
            </a:r>
            <a:endParaRPr lang="en-US" sz="1500" dirty="0"/>
          </a:p>
        </p:txBody>
      </p:sp>
      <p:sp>
        <p:nvSpPr>
          <p:cNvPr id="5" name="Shape 3"/>
          <p:cNvSpPr/>
          <p:nvPr/>
        </p:nvSpPr>
        <p:spPr>
          <a:xfrm>
            <a:off x="640080"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6" name="Text 4"/>
          <p:cNvSpPr txBox="1"/>
          <p:nvPr/>
        </p:nvSpPr>
        <p:spPr>
          <a:xfrm>
            <a:off x="640080"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7" name="Text 5"/>
          <p:cNvSpPr txBox="1"/>
          <p:nvPr/>
        </p:nvSpPr>
        <p:spPr>
          <a:xfrm>
            <a:off x="731520"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Số hồ sơ BHYT</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mỗi tháng</a:t>
            </a:r>
            <a:endParaRPr lang="en-US" sz="1600" dirty="0"/>
          </a:p>
        </p:txBody>
      </p:sp>
      <p:sp>
        <p:nvSpPr>
          <p:cNvPr id="8" name="Text 6"/>
          <p:cNvSpPr txBox="1"/>
          <p:nvPr/>
        </p:nvSpPr>
        <p:spPr>
          <a:xfrm>
            <a:off x="640080"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9" name="Text 7"/>
          <p:cNvSpPr txBox="1"/>
          <p:nvPr/>
        </p:nvSpPr>
        <p:spPr>
          <a:xfrm>
            <a:off x="2990774"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10" name="Shape 8"/>
          <p:cNvSpPr/>
          <p:nvPr/>
        </p:nvSpPr>
        <p:spPr>
          <a:xfrm>
            <a:off x="3493694"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11" name="Text 9"/>
          <p:cNvSpPr txBox="1"/>
          <p:nvPr/>
        </p:nvSpPr>
        <p:spPr>
          <a:xfrm>
            <a:off x="3493694"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2" name="Text 10"/>
          <p:cNvSpPr txBox="1"/>
          <p:nvPr/>
        </p:nvSpPr>
        <p:spPr>
          <a:xfrm>
            <a:off x="3585134"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Tỷ lệ hồ sơ</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bị cổng trả lỗi</a:t>
            </a:r>
            <a:endParaRPr lang="en-US" sz="1600" dirty="0"/>
          </a:p>
        </p:txBody>
      </p:sp>
      <p:sp>
        <p:nvSpPr>
          <p:cNvPr id="13" name="Text 11"/>
          <p:cNvSpPr txBox="1"/>
          <p:nvPr/>
        </p:nvSpPr>
        <p:spPr>
          <a:xfrm>
            <a:off x="3493694"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5844388"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15" name="Shape 13"/>
          <p:cNvSpPr/>
          <p:nvPr/>
        </p:nvSpPr>
        <p:spPr>
          <a:xfrm>
            <a:off x="6347308"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16" name="Text 14"/>
          <p:cNvSpPr txBox="1"/>
          <p:nvPr/>
        </p:nvSpPr>
        <p:spPr>
          <a:xfrm>
            <a:off x="6347308"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7" name="Text 15"/>
          <p:cNvSpPr txBox="1"/>
          <p:nvPr/>
        </p:nvSpPr>
        <p:spPr>
          <a:xfrm>
            <a:off x="6438748"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Chi phí BHYT</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trung bình mỗi hồ sơ</a:t>
            </a:r>
            <a:endParaRPr lang="en-US" sz="1600" dirty="0"/>
          </a:p>
        </p:txBody>
      </p:sp>
      <p:sp>
        <p:nvSpPr>
          <p:cNvPr id="18" name="Text 16"/>
          <p:cNvSpPr txBox="1"/>
          <p:nvPr/>
        </p:nvSpPr>
        <p:spPr>
          <a:xfrm>
            <a:off x="6347308"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19" name="Text 17"/>
          <p:cNvSpPr txBox="1"/>
          <p:nvPr/>
        </p:nvSpPr>
        <p:spPr>
          <a:xfrm>
            <a:off x="8698001"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20" name="Shape 18"/>
          <p:cNvSpPr/>
          <p:nvPr/>
        </p:nvSpPr>
        <p:spPr>
          <a:xfrm>
            <a:off x="9200921" y="1920240"/>
            <a:ext cx="2350694" cy="1691640"/>
          </a:xfrm>
          <a:prstGeom prst="roundRect">
            <a:avLst>
              <a:gd name="adj" fmla="val 5405"/>
            </a:avLst>
          </a:prstGeom>
          <a:solidFill>
            <a:srgbClr val="25324A">
              <a:alpha val="85000"/>
            </a:srgbClr>
          </a:solidFill>
          <a:ln w="19050">
            <a:solidFill>
              <a:srgbClr val="FBBF24"/>
            </a:solidFill>
            <a:prstDash val="solid"/>
          </a:ln>
        </p:spPr>
      </p:sp>
      <p:sp>
        <p:nvSpPr>
          <p:cNvPr id="21" name="Text 19"/>
          <p:cNvSpPr txBox="1"/>
          <p:nvPr/>
        </p:nvSpPr>
        <p:spPr>
          <a:xfrm>
            <a:off x="9200921"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22" name="Text 20"/>
          <p:cNvSpPr txBox="1"/>
          <p:nvPr/>
        </p:nvSpPr>
        <p:spPr>
          <a:xfrm>
            <a:off x="9292361"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Tiền chịu rủi ro</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mỗi tháng</a:t>
            </a:r>
            <a:endParaRPr lang="en-US" sz="1600" dirty="0"/>
          </a:p>
        </p:txBody>
      </p:sp>
      <p:sp>
        <p:nvSpPr>
          <p:cNvPr id="23" name="Text 21"/>
          <p:cNvSpPr txBox="1"/>
          <p:nvPr/>
        </p:nvSpPr>
        <p:spPr>
          <a:xfrm>
            <a:off x="9200921" y="3063240"/>
            <a:ext cx="2350694" cy="438912"/>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640080" y="3840480"/>
            <a:ext cx="10911535" cy="566928"/>
          </a:xfrm>
          <a:prstGeom prst="roundRect">
            <a:avLst>
              <a:gd name="adj" fmla="val 12903"/>
            </a:avLst>
          </a:prstGeom>
          <a:solidFill>
            <a:srgbClr val="FFFFFF">
              <a:alpha val="6000"/>
            </a:srgbClr>
          </a:solidFill>
          <a:ln w="9525">
            <a:solidFill>
              <a:srgbClr val="4A6890"/>
            </a:solidFill>
            <a:prstDash val="dash"/>
          </a:ln>
        </p:spPr>
      </p:sp>
      <p:sp>
        <p:nvSpPr>
          <p:cNvPr id="25" name="Text 23"/>
          <p:cNvSpPr txBox="1"/>
          <p:nvPr/>
        </p:nvSpPr>
        <p:spPr>
          <a:xfrm>
            <a:off x="640080" y="3840480"/>
            <a:ext cx="10911535" cy="566928"/>
          </a:xfrm>
          <a:prstGeom prst="rect">
            <a:avLst/>
          </a:prstGeom>
          <a:noFill/>
          <a:ln/>
        </p:spPr>
        <p:txBody>
          <a:bodyPr wrap="square" lIns="0" tIns="0" rIns="0" bIns="0" rtlCol="0" anchor="ctr"/>
          <a:lstStyle/>
          <a:p>
            <a:pPr algn="ctr" indent="0" marL="0">
              <a:buNone/>
            </a:pPr>
            <a:r>
              <a:rPr lang="en-US" sz="1100" b="1" spc="100" kern="0" dirty="0">
                <a:solidFill>
                  <a:srgbClr val="7F93B0"/>
                </a:solidFill>
                <a:latin typeface="Arial" pitchFamily="34" charset="0"/>
                <a:ea typeface="Arial" pitchFamily="34" charset="-122"/>
                <a:cs typeface="Arial" pitchFamily="34" charset="-120"/>
              </a:rPr>
              <a:t>VÍ DỤ GIẢ ĐỊNH   </a:t>
            </a:r>
            <a:pPr algn="ctr" indent="0" marL="0">
              <a:buNone/>
            </a:pPr>
            <a:r>
              <a:rPr lang="en-US" sz="1600" b="1" dirty="0">
                <a:solidFill>
                  <a:srgbClr val="FFFFFF"/>
                </a:solidFill>
                <a:latin typeface="Arial" pitchFamily="34" charset="0"/>
                <a:ea typeface="Arial" pitchFamily="34" charset="-122"/>
                <a:cs typeface="Arial" pitchFamily="34" charset="-120"/>
              </a:rPr>
              <a:t>20.000 hồ sơ  ×  5%  ×  1.500.000 đ  =  1,5 tỷ đồng mỗi tháng</a:t>
            </a:r>
            <a:pPr algn="ctr" indent="0" marL="0">
              <a:buNone/>
            </a:pPr>
            <a:r>
              <a:rPr lang="en-US" sz="1200" i="1" dirty="0">
                <a:solidFill>
                  <a:srgbClr val="7F93B0"/>
                </a:solidFill>
                <a:latin typeface="Arial" pitchFamily="34" charset="0"/>
                <a:ea typeface="Arial" pitchFamily="34" charset="-122"/>
                <a:cs typeface="Arial" pitchFamily="34" charset="-120"/>
              </a:rPr>
              <a:t>   — không phải số liệu của bệnh viện nào</a:t>
            </a:r>
            <a:endParaRPr lang="en-US" sz="1100" dirty="0"/>
          </a:p>
        </p:txBody>
      </p:sp>
      <p:sp>
        <p:nvSpPr>
          <p:cNvPr id="26" name="Shape 24"/>
          <p:cNvSpPr/>
          <p:nvPr/>
        </p:nvSpPr>
        <p:spPr>
          <a:xfrm>
            <a:off x="640080" y="4617720"/>
            <a:ext cx="5318608" cy="868680"/>
          </a:xfrm>
          <a:prstGeom prst="roundRect">
            <a:avLst>
              <a:gd name="adj" fmla="val 10526"/>
            </a:avLst>
          </a:prstGeom>
          <a:solidFill>
            <a:srgbClr val="1C3558">
              <a:alpha val="85000"/>
            </a:srgbClr>
          </a:solidFill>
          <a:ln w="9525">
            <a:solidFill>
              <a:srgbClr val="2E4B74"/>
            </a:solidFill>
            <a:prstDash val="solid"/>
          </a:ln>
        </p:spPr>
      </p:sp>
      <p:sp>
        <p:nvSpPr>
          <p:cNvPr id="27" name="Text 25"/>
          <p:cNvSpPr txBox="1"/>
          <p:nvPr/>
        </p:nvSpPr>
        <p:spPr>
          <a:xfrm>
            <a:off x="914400" y="4617720"/>
            <a:ext cx="4769968" cy="868680"/>
          </a:xfrm>
          <a:prstGeom prst="rect">
            <a:avLst/>
          </a:prstGeom>
          <a:noFill/>
          <a:ln/>
        </p:spPr>
        <p:txBody>
          <a:bodyPr wrap="square" lIns="0" tIns="0" rIns="0" bIns="0" rtlCol="0" anchor="ctr"/>
          <a:lstStyle/>
          <a:p>
            <a:pPr indent="0" marL="0">
              <a:lnSpc>
                <a:spcPts val="1800"/>
              </a:lnSpc>
              <a:buNone/>
            </a:pPr>
            <a:r>
              <a:rPr lang="en-US" sz="1500" b="1" dirty="0">
                <a:solidFill>
                  <a:srgbClr val="FBBF24"/>
                </a:solidFill>
                <a:latin typeface="Arial" pitchFamily="34" charset="0"/>
                <a:ea typeface="Arial" pitchFamily="34" charset="-122"/>
                <a:cs typeface="Arial" pitchFamily="34" charset="-120"/>
              </a:rPr>
              <a:t>Tiền bị treo</a:t>
            </a:r>
            <a:endParaRPr lang="en-US" sz="1500" dirty="0"/>
          </a:p>
          <a:p>
            <a:pPr indent="0" marL="0">
              <a:lnSpc>
                <a:spcPts val="1800"/>
              </a:lnSpc>
              <a:buNone/>
            </a:pPr>
            <a:r>
              <a:rPr lang="en-US" sz="1300" dirty="0">
                <a:solidFill>
                  <a:srgbClr val="A9BCD6"/>
                </a:solidFill>
                <a:latin typeface="Arial" pitchFamily="34" charset="0"/>
                <a:ea typeface="Arial" pitchFamily="34" charset="-122"/>
                <a:cs typeface="Arial" pitchFamily="34" charset="-120"/>
              </a:rPr>
              <a:t>Hồ sơ lỗi chưa gửi được: chậm thanh toán, ảnh hưởng dòng tiền của viện.</a:t>
            </a:r>
            <a:endParaRPr lang="en-US" sz="1500" dirty="0"/>
          </a:p>
        </p:txBody>
      </p:sp>
      <p:sp>
        <p:nvSpPr>
          <p:cNvPr id="28" name="Shape 26"/>
          <p:cNvSpPr/>
          <p:nvPr/>
        </p:nvSpPr>
        <p:spPr>
          <a:xfrm>
            <a:off x="6233008" y="4617720"/>
            <a:ext cx="5318608" cy="868680"/>
          </a:xfrm>
          <a:prstGeom prst="roundRect">
            <a:avLst>
              <a:gd name="adj" fmla="val 10526"/>
            </a:avLst>
          </a:prstGeom>
          <a:solidFill>
            <a:srgbClr val="1C3558">
              <a:alpha val="85000"/>
            </a:srgbClr>
          </a:solidFill>
          <a:ln w="9525">
            <a:solidFill>
              <a:srgbClr val="2E4B74"/>
            </a:solidFill>
            <a:prstDash val="solid"/>
          </a:ln>
        </p:spPr>
      </p:sp>
      <p:sp>
        <p:nvSpPr>
          <p:cNvPr id="29" name="Text 27"/>
          <p:cNvSpPr txBox="1"/>
          <p:nvPr/>
        </p:nvSpPr>
        <p:spPr>
          <a:xfrm>
            <a:off x="6507328" y="4617720"/>
            <a:ext cx="4769968" cy="868680"/>
          </a:xfrm>
          <a:prstGeom prst="rect">
            <a:avLst/>
          </a:prstGeom>
          <a:noFill/>
          <a:ln/>
        </p:spPr>
        <p:txBody>
          <a:bodyPr wrap="square" lIns="0" tIns="0" rIns="0" bIns="0" rtlCol="0" anchor="ctr"/>
          <a:lstStyle/>
          <a:p>
            <a:pPr indent="0" marL="0">
              <a:lnSpc>
                <a:spcPts val="1800"/>
              </a:lnSpc>
              <a:buNone/>
            </a:pPr>
            <a:r>
              <a:rPr lang="en-US" sz="1500" b="1" dirty="0">
                <a:solidFill>
                  <a:srgbClr val="F87171"/>
                </a:solidFill>
                <a:latin typeface="Arial" pitchFamily="34" charset="0"/>
                <a:ea typeface="Arial" pitchFamily="34" charset="-122"/>
                <a:cs typeface="Arial" pitchFamily="34" charset="-120"/>
              </a:rPr>
              <a:t>Tiền bị mất</a:t>
            </a:r>
            <a:endParaRPr lang="en-US" sz="1500" dirty="0"/>
          </a:p>
          <a:p>
            <a:pPr indent="0" marL="0">
              <a:lnSpc>
                <a:spcPts val="1800"/>
              </a:lnSpc>
              <a:buNone/>
            </a:pPr>
            <a:r>
              <a:rPr lang="en-US" sz="1300" dirty="0">
                <a:solidFill>
                  <a:srgbClr val="A9BCD6"/>
                </a:solidFill>
                <a:latin typeface="Arial" pitchFamily="34" charset="0"/>
                <a:ea typeface="Arial" pitchFamily="34" charset="-122"/>
                <a:cs typeface="Arial" pitchFamily="34" charset="-120"/>
              </a:rPr>
              <a:t>Chi phí bị xuất toán sau giám định — phần không lấy lại được.</a:t>
            </a:r>
            <a:endParaRPr lang="en-US" sz="1500" dirty="0"/>
          </a:p>
        </p:txBody>
      </p:sp>
      <p:sp>
        <p:nvSpPr>
          <p:cNvPr id="30" name="Text 28"/>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Tiền giám định kéo phần rủi ro này về lại trong tầm kiểm soát của bệnh viện</a:t>
            </a:r>
            <a:endParaRPr lang="en-US" sz="1600" dirty="0"/>
          </a:p>
        </p:txBody>
      </p:sp>
      <p:sp>
        <p:nvSpPr>
          <p:cNvPr id="32" name="Text 2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06 / 19</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CHỨC NĂNG</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Bảy nhóm chức năng, hai trọng tâm</a:t>
            </a:r>
            <a:endParaRPr lang="en-US" sz="2800" dirty="0"/>
          </a:p>
        </p:txBody>
      </p:sp>
      <p:sp>
        <p:nvSpPr>
          <p:cNvPr id="4" name="Shape 2"/>
          <p:cNvSpPr/>
          <p:nvPr/>
        </p:nvSpPr>
        <p:spPr>
          <a:xfrm>
            <a:off x="640080" y="1508760"/>
            <a:ext cx="2556434" cy="2011680"/>
          </a:xfrm>
          <a:prstGeom prst="roundRect">
            <a:avLst>
              <a:gd name="adj" fmla="val 4545"/>
            </a:avLst>
          </a:prstGeom>
          <a:solidFill>
            <a:srgbClr val="25324A">
              <a:alpha val="85000"/>
            </a:srgbClr>
          </a:solidFill>
          <a:ln w="19050">
            <a:solidFill>
              <a:srgbClr val="FBBF24"/>
            </a:solidFill>
            <a:prstDash val="solid"/>
          </a:ln>
        </p:spPr>
      </p:sp>
      <p:sp>
        <p:nvSpPr>
          <p:cNvPr id="5" name="Text 3"/>
          <p:cNvSpPr txBox="1"/>
          <p:nvPr/>
        </p:nvSpPr>
        <p:spPr>
          <a:xfrm>
            <a:off x="822960" y="16916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6" name="Text 4"/>
          <p:cNvSpPr txBox="1"/>
          <p:nvPr/>
        </p:nvSpPr>
        <p:spPr>
          <a:xfrm>
            <a:off x="1962074" y="1764792"/>
            <a:ext cx="1051560" cy="274320"/>
          </a:xfrm>
          <a:prstGeom prst="rect">
            <a:avLst/>
          </a:prstGeom>
          <a:noFill/>
          <a:ln/>
        </p:spPr>
        <p:txBody>
          <a:bodyPr wrap="square" lIns="0" tIns="0" rIns="0" bIns="0" rtlCol="0" anchor="ctr"/>
          <a:lstStyle/>
          <a:p>
            <a:pPr algn="r" indent="0" marL="0">
              <a:buNone/>
            </a:pPr>
            <a:r>
              <a:rPr lang="en-US" sz="950" b="1" spc="100" kern="0" dirty="0">
                <a:solidFill>
                  <a:srgbClr val="FBBF24"/>
                </a:solidFill>
                <a:latin typeface="Arial" pitchFamily="34" charset="0"/>
                <a:ea typeface="Arial" pitchFamily="34" charset="-122"/>
                <a:cs typeface="Arial" pitchFamily="34" charset="-120"/>
              </a:rPr>
              <a:t>TRỌNG TÂM</a:t>
            </a:r>
            <a:endParaRPr lang="en-US" sz="950" dirty="0"/>
          </a:p>
        </p:txBody>
      </p:sp>
      <p:sp>
        <p:nvSpPr>
          <p:cNvPr id="7" name="Text 5"/>
          <p:cNvSpPr txBox="1"/>
          <p:nvPr/>
        </p:nvSpPr>
        <p:spPr>
          <a:xfrm>
            <a:off x="841248" y="228600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Kiểm sai sót y lệnh</a:t>
            </a:r>
            <a:endParaRPr lang="en-US" sz="1600" dirty="0"/>
          </a:p>
        </p:txBody>
      </p:sp>
      <p:sp>
        <p:nvSpPr>
          <p:cNvPr id="8" name="Text 6"/>
          <p:cNvSpPr txBox="1"/>
          <p:nvPr/>
        </p:nvSpPr>
        <p:spPr>
          <a:xfrm>
            <a:off x="841248" y="271576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Quét HIS liên tục, báo lỗi khoảng 60 giây sau khi ra y lệnh</a:t>
            </a:r>
            <a:endParaRPr lang="en-US" sz="1250" dirty="0"/>
          </a:p>
        </p:txBody>
      </p:sp>
      <p:sp>
        <p:nvSpPr>
          <p:cNvPr id="9" name="Shape 7"/>
          <p:cNvSpPr/>
          <p:nvPr/>
        </p:nvSpPr>
        <p:spPr>
          <a:xfrm>
            <a:off x="3425114" y="1508760"/>
            <a:ext cx="2556434" cy="2011680"/>
          </a:xfrm>
          <a:prstGeom prst="roundRect">
            <a:avLst>
              <a:gd name="adj" fmla="val 4545"/>
            </a:avLst>
          </a:prstGeom>
          <a:solidFill>
            <a:srgbClr val="25324A">
              <a:alpha val="85000"/>
            </a:srgbClr>
          </a:solidFill>
          <a:ln w="19050">
            <a:solidFill>
              <a:srgbClr val="FBBF24"/>
            </a:solidFill>
            <a:prstDash val="solid"/>
          </a:ln>
        </p:spPr>
      </p:sp>
      <p:sp>
        <p:nvSpPr>
          <p:cNvPr id="10" name="Text 8"/>
          <p:cNvSpPr txBox="1"/>
          <p:nvPr/>
        </p:nvSpPr>
        <p:spPr>
          <a:xfrm>
            <a:off x="3607994" y="16916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1" name="Text 9"/>
          <p:cNvSpPr txBox="1"/>
          <p:nvPr/>
        </p:nvSpPr>
        <p:spPr>
          <a:xfrm>
            <a:off x="4747108" y="1764792"/>
            <a:ext cx="1051560" cy="274320"/>
          </a:xfrm>
          <a:prstGeom prst="rect">
            <a:avLst/>
          </a:prstGeom>
          <a:noFill/>
          <a:ln/>
        </p:spPr>
        <p:txBody>
          <a:bodyPr wrap="square" lIns="0" tIns="0" rIns="0" bIns="0" rtlCol="0" anchor="ctr"/>
          <a:lstStyle/>
          <a:p>
            <a:pPr algn="r" indent="0" marL="0">
              <a:buNone/>
            </a:pPr>
            <a:r>
              <a:rPr lang="en-US" sz="950" b="1" spc="100" kern="0" dirty="0">
                <a:solidFill>
                  <a:srgbClr val="FBBF24"/>
                </a:solidFill>
                <a:latin typeface="Arial" pitchFamily="34" charset="0"/>
                <a:ea typeface="Arial" pitchFamily="34" charset="-122"/>
                <a:cs typeface="Arial" pitchFamily="34" charset="-120"/>
              </a:rPr>
              <a:t>TRỌNG TÂM</a:t>
            </a:r>
            <a:endParaRPr lang="en-US" sz="950" dirty="0"/>
          </a:p>
        </p:txBody>
      </p:sp>
      <p:sp>
        <p:nvSpPr>
          <p:cNvPr id="12" name="Text 10"/>
          <p:cNvSpPr txBox="1"/>
          <p:nvPr/>
        </p:nvSpPr>
        <p:spPr>
          <a:xfrm>
            <a:off x="3626282" y="228600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Kiểm hồ sơ XML 3176</a:t>
            </a:r>
            <a:endParaRPr lang="en-US" sz="1600" dirty="0"/>
          </a:p>
        </p:txBody>
      </p:sp>
      <p:sp>
        <p:nvSpPr>
          <p:cNvPr id="13" name="Text 11"/>
          <p:cNvSpPr txBox="1"/>
          <p:nvPr/>
        </p:nvSpPr>
        <p:spPr>
          <a:xfrm>
            <a:off x="3626282" y="271576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Kiểm từng bảng và kiểm chéo; lỗi nghiêm trọng chặn ký số, gửi cổng</a:t>
            </a:r>
            <a:endParaRPr lang="en-US" sz="1250" dirty="0"/>
          </a:p>
        </p:txBody>
      </p:sp>
      <p:sp>
        <p:nvSpPr>
          <p:cNvPr id="14" name="Shape 12"/>
          <p:cNvSpPr/>
          <p:nvPr/>
        </p:nvSpPr>
        <p:spPr>
          <a:xfrm>
            <a:off x="6210148" y="1508760"/>
            <a:ext cx="2556434" cy="2011680"/>
          </a:xfrm>
          <a:prstGeom prst="roundRect">
            <a:avLst>
              <a:gd name="adj" fmla="val 4545"/>
            </a:avLst>
          </a:prstGeom>
          <a:solidFill>
            <a:srgbClr val="1C3558">
              <a:alpha val="85000"/>
            </a:srgbClr>
          </a:solidFill>
          <a:ln w="9525">
            <a:solidFill>
              <a:srgbClr val="2E4B74"/>
            </a:solidFill>
            <a:prstDash val="solid"/>
          </a:ln>
        </p:spPr>
      </p:sp>
      <p:sp>
        <p:nvSpPr>
          <p:cNvPr id="15" name="Text 13"/>
          <p:cNvSpPr txBox="1"/>
          <p:nvPr/>
        </p:nvSpPr>
        <p:spPr>
          <a:xfrm>
            <a:off x="6393028" y="16916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6" name="Text 14"/>
          <p:cNvSpPr txBox="1"/>
          <p:nvPr/>
        </p:nvSpPr>
        <p:spPr>
          <a:xfrm>
            <a:off x="6411316" y="228600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Thẻ BHYT, quyền lợi</a:t>
            </a:r>
            <a:endParaRPr lang="en-US" sz="1600" dirty="0"/>
          </a:p>
        </p:txBody>
      </p:sp>
      <p:sp>
        <p:nvSpPr>
          <p:cNvPr id="17" name="Text 15"/>
          <p:cNvSpPr txBox="1"/>
          <p:nvPr/>
        </p:nvSpPr>
        <p:spPr>
          <a:xfrm>
            <a:off x="6411316" y="271576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Tra thẻ hàng loạt trên cổng BHXH; tra lũy kế tiền cùng chi trả</a:t>
            </a:r>
            <a:endParaRPr lang="en-US" sz="1250" dirty="0"/>
          </a:p>
        </p:txBody>
      </p:sp>
      <p:sp>
        <p:nvSpPr>
          <p:cNvPr id="18" name="Shape 16"/>
          <p:cNvSpPr/>
          <p:nvPr/>
        </p:nvSpPr>
        <p:spPr>
          <a:xfrm>
            <a:off x="8995181" y="1508760"/>
            <a:ext cx="2556434" cy="2011680"/>
          </a:xfrm>
          <a:prstGeom prst="roundRect">
            <a:avLst>
              <a:gd name="adj" fmla="val 4545"/>
            </a:avLst>
          </a:prstGeom>
          <a:solidFill>
            <a:srgbClr val="1C3558">
              <a:alpha val="85000"/>
            </a:srgbClr>
          </a:solidFill>
          <a:ln w="9525">
            <a:solidFill>
              <a:srgbClr val="2E4B74"/>
            </a:solidFill>
            <a:prstDash val="solid"/>
          </a:ln>
        </p:spPr>
      </p:sp>
      <p:sp>
        <p:nvSpPr>
          <p:cNvPr id="19" name="Text 17"/>
          <p:cNvSpPr txBox="1"/>
          <p:nvPr/>
        </p:nvSpPr>
        <p:spPr>
          <a:xfrm>
            <a:off x="9178061" y="16916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0" name="Text 18"/>
          <p:cNvSpPr txBox="1"/>
          <p:nvPr/>
        </p:nvSpPr>
        <p:spPr>
          <a:xfrm>
            <a:off x="9196349" y="228600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Thuốc, VTYT, DVKT</a:t>
            </a:r>
            <a:endParaRPr lang="en-US" sz="1600" dirty="0"/>
          </a:p>
        </p:txBody>
      </p:sp>
      <p:sp>
        <p:nvSpPr>
          <p:cNvPr id="21" name="Text 19"/>
          <p:cNvSpPr txBox="1"/>
          <p:nvPr/>
        </p:nvSpPr>
        <p:spPr>
          <a:xfrm>
            <a:off x="9196349" y="271576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Đối chiếu mã và tên với danh mục đã đăng ký</a:t>
            </a:r>
            <a:endParaRPr lang="en-US" sz="1250" dirty="0"/>
          </a:p>
        </p:txBody>
      </p:sp>
      <p:sp>
        <p:nvSpPr>
          <p:cNvPr id="22" name="Shape 20"/>
          <p:cNvSpPr/>
          <p:nvPr/>
        </p:nvSpPr>
        <p:spPr>
          <a:xfrm>
            <a:off x="640080" y="3749040"/>
            <a:ext cx="2556434" cy="2011680"/>
          </a:xfrm>
          <a:prstGeom prst="roundRect">
            <a:avLst>
              <a:gd name="adj" fmla="val 4545"/>
            </a:avLst>
          </a:prstGeom>
          <a:solidFill>
            <a:srgbClr val="1C3558">
              <a:alpha val="85000"/>
            </a:srgbClr>
          </a:solidFill>
          <a:ln w="9525">
            <a:solidFill>
              <a:srgbClr val="2E4B74"/>
            </a:solidFill>
            <a:prstDash val="solid"/>
          </a:ln>
        </p:spPr>
      </p:sp>
      <p:sp>
        <p:nvSpPr>
          <p:cNvPr id="23" name="Text 21"/>
          <p:cNvSpPr txBox="1"/>
          <p:nvPr/>
        </p:nvSpPr>
        <p:spPr>
          <a:xfrm>
            <a:off x="822960" y="393192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4" name="Text 22"/>
          <p:cNvSpPr txBox="1"/>
          <p:nvPr/>
        </p:nvSpPr>
        <p:spPr>
          <a:xfrm>
            <a:off x="841248" y="452628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Danh mục và giá</a:t>
            </a:r>
            <a:endParaRPr lang="en-US" sz="1600" dirty="0"/>
          </a:p>
        </p:txBody>
      </p:sp>
      <p:sp>
        <p:nvSpPr>
          <p:cNvPr id="25" name="Text 23"/>
          <p:cNvSpPr txBox="1"/>
          <p:nvPr/>
        </p:nvSpPr>
        <p:spPr>
          <a:xfrm>
            <a:off x="841248" y="495604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Quản lý 11 bộ danh mục BHYT, kiểm hiệu lực và giá</a:t>
            </a:r>
            <a:endParaRPr lang="en-US" sz="1250" dirty="0"/>
          </a:p>
        </p:txBody>
      </p:sp>
      <p:sp>
        <p:nvSpPr>
          <p:cNvPr id="26" name="Shape 24"/>
          <p:cNvSpPr/>
          <p:nvPr/>
        </p:nvSpPr>
        <p:spPr>
          <a:xfrm>
            <a:off x="3425114" y="3749040"/>
            <a:ext cx="2556434" cy="2011680"/>
          </a:xfrm>
          <a:prstGeom prst="roundRect">
            <a:avLst>
              <a:gd name="adj" fmla="val 4545"/>
            </a:avLst>
          </a:prstGeom>
          <a:solidFill>
            <a:srgbClr val="1C3558">
              <a:alpha val="85000"/>
            </a:srgbClr>
          </a:solidFill>
          <a:ln w="9525">
            <a:solidFill>
              <a:srgbClr val="2E4B74"/>
            </a:solidFill>
            <a:prstDash val="solid"/>
          </a:ln>
        </p:spPr>
      </p:sp>
      <p:sp>
        <p:nvSpPr>
          <p:cNvPr id="27" name="Text 25"/>
          <p:cNvSpPr txBox="1"/>
          <p:nvPr/>
        </p:nvSpPr>
        <p:spPr>
          <a:xfrm>
            <a:off x="3607994" y="393192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8" name="Text 26"/>
          <p:cNvSpPr txBox="1"/>
          <p:nvPr/>
        </p:nvSpPr>
        <p:spPr>
          <a:xfrm>
            <a:off x="3626282" y="452628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Phản hồi lỗi về khoa</a:t>
            </a:r>
            <a:endParaRPr lang="en-US" sz="1600" dirty="0"/>
          </a:p>
        </p:txBody>
      </p:sp>
      <p:sp>
        <p:nvSpPr>
          <p:cNvPr id="29" name="Text 27"/>
          <p:cNvSpPr txBox="1"/>
          <p:nvPr/>
        </p:nvSpPr>
        <p:spPr>
          <a:xfrm>
            <a:off x="3626282" y="495604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Quét mã vạch mã điều trị, in phiếu lỗi cho đơn vị phát sinh</a:t>
            </a:r>
            <a:endParaRPr lang="en-US" sz="1250" dirty="0"/>
          </a:p>
        </p:txBody>
      </p:sp>
      <p:sp>
        <p:nvSpPr>
          <p:cNvPr id="30" name="Shape 28"/>
          <p:cNvSpPr/>
          <p:nvPr/>
        </p:nvSpPr>
        <p:spPr>
          <a:xfrm>
            <a:off x="6210148" y="3749040"/>
            <a:ext cx="2556434" cy="2011680"/>
          </a:xfrm>
          <a:prstGeom prst="roundRect">
            <a:avLst>
              <a:gd name="adj" fmla="val 4545"/>
            </a:avLst>
          </a:prstGeom>
          <a:solidFill>
            <a:srgbClr val="1C3558">
              <a:alpha val="85000"/>
            </a:srgbClr>
          </a:solidFill>
          <a:ln w="9525">
            <a:solidFill>
              <a:srgbClr val="2E4B74"/>
            </a:solidFill>
            <a:prstDash val="solid"/>
          </a:ln>
        </p:spPr>
      </p:sp>
      <p:sp>
        <p:nvSpPr>
          <p:cNvPr id="31" name="Text 29"/>
          <p:cNvSpPr txBox="1"/>
          <p:nvPr/>
        </p:nvSpPr>
        <p:spPr>
          <a:xfrm>
            <a:off x="6393028" y="393192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32" name="Text 30"/>
          <p:cNvSpPr txBox="1"/>
          <p:nvPr/>
        </p:nvSpPr>
        <p:spPr>
          <a:xfrm>
            <a:off x="6411316" y="452628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Chỉ số và báo cáo</a:t>
            </a:r>
            <a:endParaRPr lang="en-US" sz="1600" dirty="0"/>
          </a:p>
        </p:txBody>
      </p:sp>
      <p:sp>
        <p:nvSpPr>
          <p:cNvPr id="33" name="Text 31"/>
          <p:cNvSpPr txBox="1"/>
          <p:nvPr/>
        </p:nvSpPr>
        <p:spPr>
          <a:xfrm>
            <a:off x="6411316" y="495604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Dashboard lỗi XML, chứng từ, độ phủ danh mục</a:t>
            </a:r>
            <a:endParaRPr lang="en-US" sz="1250" dirty="0"/>
          </a:p>
        </p:txBody>
      </p:sp>
      <p:sp>
        <p:nvSpPr>
          <p:cNvPr id="34" name="Shape 32"/>
          <p:cNvSpPr/>
          <p:nvPr/>
        </p:nvSpPr>
        <p:spPr>
          <a:xfrm>
            <a:off x="8995181" y="3749040"/>
            <a:ext cx="2556434" cy="2011680"/>
          </a:xfrm>
          <a:prstGeom prst="roundRect">
            <a:avLst>
              <a:gd name="adj" fmla="val 4545"/>
            </a:avLst>
          </a:prstGeom>
          <a:solidFill>
            <a:srgbClr val="1C3558">
              <a:alpha val="45000"/>
            </a:srgbClr>
          </a:solidFill>
          <a:ln w="9525">
            <a:solidFill>
              <a:srgbClr val="2E4B74"/>
            </a:solidFill>
            <a:prstDash val="dash"/>
          </a:ln>
        </p:spPr>
      </p:sp>
      <p:sp>
        <p:nvSpPr>
          <p:cNvPr id="35" name="Text 33"/>
          <p:cNvSpPr txBox="1"/>
          <p:nvPr/>
        </p:nvSpPr>
        <p:spPr>
          <a:xfrm>
            <a:off x="9178061" y="393192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36" name="Text 34"/>
          <p:cNvSpPr txBox="1"/>
          <p:nvPr/>
        </p:nvSpPr>
        <p:spPr>
          <a:xfrm>
            <a:off x="9196349" y="4526280"/>
            <a:ext cx="215409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Mở rộng</a:t>
            </a:r>
            <a:endParaRPr lang="en-US" sz="1600" dirty="0"/>
          </a:p>
        </p:txBody>
      </p:sp>
      <p:sp>
        <p:nvSpPr>
          <p:cNvPr id="37" name="Text 35"/>
          <p:cNvSpPr txBox="1"/>
          <p:nvPr/>
        </p:nvSpPr>
        <p:spPr>
          <a:xfrm>
            <a:off x="9196349" y="4956048"/>
            <a:ext cx="2154098" cy="73152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Chứng từ điện tử Phụ lục 02 · Danh mục theo Thông tư 12/2026</a:t>
            </a:r>
            <a:endParaRPr lang="en-US" sz="1250" dirty="0"/>
          </a:p>
        </p:txBody>
      </p:sp>
      <p:sp>
        <p:nvSpPr>
          <p:cNvPr id="39" name="Text 36"/>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07 / 19</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VẬN HÀNH</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Năm bước, bốn bước máy tự làm</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Người dùng không phải bấm ký hay bấm gửi từng hồ sơ XML 3176 — chỉ tập trung đọc lỗi và phối hợp sửa.</a:t>
            </a:r>
            <a:endParaRPr lang="en-US" sz="1500" dirty="0"/>
          </a:p>
        </p:txBody>
      </p:sp>
      <p:sp>
        <p:nvSpPr>
          <p:cNvPr id="5" name="Shape 3"/>
          <p:cNvSpPr/>
          <p:nvPr/>
        </p:nvSpPr>
        <p:spPr>
          <a:xfrm>
            <a:off x="640080" y="2148840"/>
            <a:ext cx="2218883" cy="685800"/>
          </a:xfrm>
          <a:prstGeom prst="homePlate">
            <a:avLst/>
          </a:prstGeom>
          <a:solidFill>
            <a:srgbClr val="1E4E86"/>
          </a:solidFill>
          <a:ln w="12700">
            <a:solidFill>
              <a:srgbClr val="0B1A30"/>
            </a:solidFill>
            <a:prstDash val="solid"/>
          </a:ln>
        </p:spPr>
      </p:sp>
      <p:sp>
        <p:nvSpPr>
          <p:cNvPr id="6" name="Text 4"/>
          <p:cNvSpPr txBox="1"/>
          <p:nvPr/>
        </p:nvSpPr>
        <p:spPr>
          <a:xfrm>
            <a:off x="841248" y="2148840"/>
            <a:ext cx="1651955" cy="6858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01  </a:t>
            </a:r>
            <a:pPr indent="0" marL="0">
              <a:buNone/>
            </a:pPr>
            <a:r>
              <a:rPr lang="en-US" sz="1600" b="1" dirty="0">
                <a:solidFill>
                  <a:srgbClr val="FFFFFF"/>
                </a:solidFill>
                <a:latin typeface="Arial" pitchFamily="34" charset="0"/>
                <a:ea typeface="Arial" pitchFamily="34" charset="-122"/>
                <a:cs typeface="Arial" pitchFamily="34" charset="-120"/>
              </a:rPr>
              <a:t>Nạp hồ sơ</a:t>
            </a:r>
            <a:endParaRPr lang="en-US" sz="1200" dirty="0"/>
          </a:p>
        </p:txBody>
      </p:sp>
      <p:sp>
        <p:nvSpPr>
          <p:cNvPr id="7" name="Shape 5"/>
          <p:cNvSpPr/>
          <p:nvPr/>
        </p:nvSpPr>
        <p:spPr>
          <a:xfrm>
            <a:off x="640080" y="3017520"/>
            <a:ext cx="2109155" cy="1737360"/>
          </a:xfrm>
          <a:prstGeom prst="roundRect">
            <a:avLst>
              <a:gd name="adj" fmla="val 5263"/>
            </a:avLst>
          </a:prstGeom>
          <a:solidFill>
            <a:srgbClr val="1C3558">
              <a:alpha val="85000"/>
            </a:srgbClr>
          </a:solidFill>
          <a:ln w="9525">
            <a:solidFill>
              <a:srgbClr val="2E4B74"/>
            </a:solidFill>
            <a:prstDash val="solid"/>
          </a:ln>
        </p:spPr>
      </p:sp>
      <p:sp>
        <p:nvSpPr>
          <p:cNvPr id="8" name="Text 6"/>
          <p:cNvSpPr txBox="1"/>
          <p:nvPr/>
        </p:nvSpPr>
        <p:spPr>
          <a:xfrm>
            <a:off x="822960" y="3200400"/>
            <a:ext cx="1743395" cy="274320"/>
          </a:xfrm>
          <a:prstGeom prst="rect">
            <a:avLst/>
          </a:prstGeom>
          <a:noFill/>
          <a:ln/>
        </p:spPr>
        <p:txBody>
          <a:bodyPr wrap="square" lIns="0" tIns="0" rIns="0" bIns="0" rtlCol="0" anchor="ctr"/>
          <a:lstStyle/>
          <a:p>
            <a:pPr indent="0" marL="0">
              <a:buNone/>
            </a:pPr>
            <a:r>
              <a:rPr lang="en-US" sz="1050" b="1" spc="100" kern="0" dirty="0">
                <a:solidFill>
                  <a:srgbClr val="4ADE80"/>
                </a:solidFill>
                <a:latin typeface="Arial" pitchFamily="34" charset="0"/>
                <a:ea typeface="Arial" pitchFamily="34" charset="-122"/>
                <a:cs typeface="Arial" pitchFamily="34" charset="-120"/>
              </a:rPr>
              <a:t>TỰ ĐỘNG</a:t>
            </a:r>
            <a:endParaRPr lang="en-US" sz="1050" dirty="0"/>
          </a:p>
        </p:txBody>
      </p:sp>
      <p:sp>
        <p:nvSpPr>
          <p:cNvPr id="9" name="Text 7"/>
          <p:cNvSpPr txBox="1"/>
          <p:nvPr/>
        </p:nvSpPr>
        <p:spPr>
          <a:xfrm>
            <a:off x="822960" y="3566160"/>
            <a:ext cx="1743395" cy="1097280"/>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Tự quét thư mục HIS xuất ra, hoặc kéo thả tệp (tới 100 MB)</a:t>
            </a:r>
            <a:endParaRPr lang="en-US" sz="1400" dirty="0"/>
          </a:p>
        </p:txBody>
      </p:sp>
      <p:sp>
        <p:nvSpPr>
          <p:cNvPr id="10" name="Shape 8"/>
          <p:cNvSpPr/>
          <p:nvPr/>
        </p:nvSpPr>
        <p:spPr>
          <a:xfrm>
            <a:off x="2840675" y="2148840"/>
            <a:ext cx="2218883" cy="685800"/>
          </a:xfrm>
          <a:prstGeom prst="chevron">
            <a:avLst/>
          </a:prstGeom>
          <a:solidFill>
            <a:srgbClr val="1E4E86"/>
          </a:solidFill>
          <a:ln w="12700">
            <a:solidFill>
              <a:srgbClr val="0B1A30"/>
            </a:solidFill>
            <a:prstDash val="solid"/>
          </a:ln>
        </p:spPr>
      </p:sp>
      <p:sp>
        <p:nvSpPr>
          <p:cNvPr id="11" name="Text 9"/>
          <p:cNvSpPr txBox="1"/>
          <p:nvPr/>
        </p:nvSpPr>
        <p:spPr>
          <a:xfrm>
            <a:off x="3206435" y="2148840"/>
            <a:ext cx="1651955" cy="6858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02  </a:t>
            </a:r>
            <a:pPr indent="0" marL="0">
              <a:buNone/>
            </a:pPr>
            <a:r>
              <a:rPr lang="en-US" sz="1600" b="1" dirty="0">
                <a:solidFill>
                  <a:srgbClr val="FFFFFF"/>
                </a:solidFill>
                <a:latin typeface="Arial" pitchFamily="34" charset="0"/>
                <a:ea typeface="Arial" pitchFamily="34" charset="-122"/>
                <a:cs typeface="Arial" pitchFamily="34" charset="-120"/>
              </a:rPr>
              <a:t>Kiểm tra</a:t>
            </a:r>
            <a:endParaRPr lang="en-US" sz="1200" dirty="0"/>
          </a:p>
        </p:txBody>
      </p:sp>
      <p:sp>
        <p:nvSpPr>
          <p:cNvPr id="12" name="Shape 10"/>
          <p:cNvSpPr/>
          <p:nvPr/>
        </p:nvSpPr>
        <p:spPr>
          <a:xfrm>
            <a:off x="2840675" y="3017520"/>
            <a:ext cx="2109155" cy="1737360"/>
          </a:xfrm>
          <a:prstGeom prst="roundRect">
            <a:avLst>
              <a:gd name="adj" fmla="val 5263"/>
            </a:avLst>
          </a:prstGeom>
          <a:solidFill>
            <a:srgbClr val="1C3558">
              <a:alpha val="85000"/>
            </a:srgbClr>
          </a:solidFill>
          <a:ln w="9525">
            <a:solidFill>
              <a:srgbClr val="2E4B74"/>
            </a:solidFill>
            <a:prstDash val="solid"/>
          </a:ln>
        </p:spPr>
      </p:sp>
      <p:sp>
        <p:nvSpPr>
          <p:cNvPr id="13" name="Text 11"/>
          <p:cNvSpPr txBox="1"/>
          <p:nvPr/>
        </p:nvSpPr>
        <p:spPr>
          <a:xfrm>
            <a:off x="3023555" y="3200400"/>
            <a:ext cx="1743395" cy="274320"/>
          </a:xfrm>
          <a:prstGeom prst="rect">
            <a:avLst/>
          </a:prstGeom>
          <a:noFill/>
          <a:ln/>
        </p:spPr>
        <p:txBody>
          <a:bodyPr wrap="square" lIns="0" tIns="0" rIns="0" bIns="0" rtlCol="0" anchor="ctr"/>
          <a:lstStyle/>
          <a:p>
            <a:pPr indent="0" marL="0">
              <a:buNone/>
            </a:pPr>
            <a:r>
              <a:rPr lang="en-US" sz="1050" b="1" spc="100" kern="0" dirty="0">
                <a:solidFill>
                  <a:srgbClr val="4ADE80"/>
                </a:solidFill>
                <a:latin typeface="Arial" pitchFamily="34" charset="0"/>
                <a:ea typeface="Arial" pitchFamily="34" charset="-122"/>
                <a:cs typeface="Arial" pitchFamily="34" charset="-120"/>
              </a:rPr>
              <a:t>TỰ ĐỘNG</a:t>
            </a:r>
            <a:endParaRPr lang="en-US" sz="1050" dirty="0"/>
          </a:p>
        </p:txBody>
      </p:sp>
      <p:sp>
        <p:nvSpPr>
          <p:cNvPr id="14" name="Text 12"/>
          <p:cNvSpPr txBox="1"/>
          <p:nvPr/>
        </p:nvSpPr>
        <p:spPr>
          <a:xfrm>
            <a:off x="3023555" y="3566160"/>
            <a:ext cx="1743395" cy="1097280"/>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Chạy nền: kiểm XML, tra thẻ BHYT, đối chiếu danh mục</a:t>
            </a:r>
            <a:endParaRPr lang="en-US" sz="1400" dirty="0"/>
          </a:p>
        </p:txBody>
      </p:sp>
      <p:sp>
        <p:nvSpPr>
          <p:cNvPr id="15" name="Shape 13"/>
          <p:cNvSpPr/>
          <p:nvPr/>
        </p:nvSpPr>
        <p:spPr>
          <a:xfrm>
            <a:off x="5041270" y="2148840"/>
            <a:ext cx="2218883" cy="685800"/>
          </a:xfrm>
          <a:prstGeom prst="chevron">
            <a:avLst/>
          </a:prstGeom>
          <a:solidFill>
            <a:srgbClr val="1E4E86"/>
          </a:solidFill>
          <a:ln w="12700">
            <a:solidFill>
              <a:srgbClr val="0B1A30"/>
            </a:solidFill>
            <a:prstDash val="solid"/>
          </a:ln>
        </p:spPr>
      </p:sp>
      <p:sp>
        <p:nvSpPr>
          <p:cNvPr id="16" name="Text 14"/>
          <p:cNvSpPr txBox="1"/>
          <p:nvPr/>
        </p:nvSpPr>
        <p:spPr>
          <a:xfrm>
            <a:off x="5407030" y="2148840"/>
            <a:ext cx="1651955" cy="6858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03  </a:t>
            </a:r>
            <a:pPr indent="0" marL="0">
              <a:buNone/>
            </a:pPr>
            <a:r>
              <a:rPr lang="en-US" sz="1600" b="1" dirty="0">
                <a:solidFill>
                  <a:srgbClr val="FFFFFF"/>
                </a:solidFill>
                <a:latin typeface="Arial" pitchFamily="34" charset="0"/>
                <a:ea typeface="Arial" pitchFamily="34" charset="-122"/>
                <a:cs typeface="Arial" pitchFamily="34" charset="-120"/>
              </a:rPr>
              <a:t>Ký số</a:t>
            </a:r>
            <a:endParaRPr lang="en-US" sz="1200" dirty="0"/>
          </a:p>
        </p:txBody>
      </p:sp>
      <p:sp>
        <p:nvSpPr>
          <p:cNvPr id="17" name="Shape 15"/>
          <p:cNvSpPr/>
          <p:nvPr/>
        </p:nvSpPr>
        <p:spPr>
          <a:xfrm>
            <a:off x="5041270" y="3017520"/>
            <a:ext cx="2109155" cy="1737360"/>
          </a:xfrm>
          <a:prstGeom prst="roundRect">
            <a:avLst>
              <a:gd name="adj" fmla="val 5263"/>
            </a:avLst>
          </a:prstGeom>
          <a:solidFill>
            <a:srgbClr val="1C3558">
              <a:alpha val="85000"/>
            </a:srgbClr>
          </a:solidFill>
          <a:ln w="9525">
            <a:solidFill>
              <a:srgbClr val="2E4B74"/>
            </a:solidFill>
            <a:prstDash val="solid"/>
          </a:ln>
        </p:spPr>
      </p:sp>
      <p:sp>
        <p:nvSpPr>
          <p:cNvPr id="18" name="Text 16"/>
          <p:cNvSpPr txBox="1"/>
          <p:nvPr/>
        </p:nvSpPr>
        <p:spPr>
          <a:xfrm>
            <a:off x="5224150" y="3200400"/>
            <a:ext cx="1743395" cy="274320"/>
          </a:xfrm>
          <a:prstGeom prst="rect">
            <a:avLst/>
          </a:prstGeom>
          <a:noFill/>
          <a:ln/>
        </p:spPr>
        <p:txBody>
          <a:bodyPr wrap="square" lIns="0" tIns="0" rIns="0" bIns="0" rtlCol="0" anchor="ctr"/>
          <a:lstStyle/>
          <a:p>
            <a:pPr indent="0" marL="0">
              <a:buNone/>
            </a:pPr>
            <a:r>
              <a:rPr lang="en-US" sz="1050" b="1" spc="100" kern="0" dirty="0">
                <a:solidFill>
                  <a:srgbClr val="4ADE80"/>
                </a:solidFill>
                <a:latin typeface="Arial" pitchFamily="34" charset="0"/>
                <a:ea typeface="Arial" pitchFamily="34" charset="-122"/>
                <a:cs typeface="Arial" pitchFamily="34" charset="-120"/>
              </a:rPr>
              <a:t>TỰ ĐỘNG</a:t>
            </a:r>
            <a:endParaRPr lang="en-US" sz="1050" dirty="0"/>
          </a:p>
        </p:txBody>
      </p:sp>
      <p:sp>
        <p:nvSpPr>
          <p:cNvPr id="19" name="Text 17"/>
          <p:cNvSpPr txBox="1"/>
          <p:nvPr/>
        </p:nvSpPr>
        <p:spPr>
          <a:xfrm>
            <a:off x="5224150" y="3566160"/>
            <a:ext cx="1743395" cy="1097280"/>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Khi hồ sơ hết lỗi nghiêm trọng — HSM hoặc USB Token</a:t>
            </a:r>
            <a:endParaRPr lang="en-US" sz="1400" dirty="0"/>
          </a:p>
        </p:txBody>
      </p:sp>
      <p:sp>
        <p:nvSpPr>
          <p:cNvPr id="20" name="Shape 18"/>
          <p:cNvSpPr/>
          <p:nvPr/>
        </p:nvSpPr>
        <p:spPr>
          <a:xfrm>
            <a:off x="7241865" y="2148840"/>
            <a:ext cx="2218883" cy="685800"/>
          </a:xfrm>
          <a:prstGeom prst="chevron">
            <a:avLst/>
          </a:prstGeom>
          <a:solidFill>
            <a:srgbClr val="1E4E86"/>
          </a:solidFill>
          <a:ln w="12700">
            <a:solidFill>
              <a:srgbClr val="0B1A30"/>
            </a:solidFill>
            <a:prstDash val="solid"/>
          </a:ln>
        </p:spPr>
      </p:sp>
      <p:sp>
        <p:nvSpPr>
          <p:cNvPr id="21" name="Text 19"/>
          <p:cNvSpPr txBox="1"/>
          <p:nvPr/>
        </p:nvSpPr>
        <p:spPr>
          <a:xfrm>
            <a:off x="7607625" y="2148840"/>
            <a:ext cx="1651955" cy="6858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04  </a:t>
            </a:r>
            <a:pPr indent="0" marL="0">
              <a:buNone/>
            </a:pPr>
            <a:r>
              <a:rPr lang="en-US" sz="1600" b="1" dirty="0">
                <a:solidFill>
                  <a:srgbClr val="FFFFFF"/>
                </a:solidFill>
                <a:latin typeface="Arial" pitchFamily="34" charset="0"/>
                <a:ea typeface="Arial" pitchFamily="34" charset="-122"/>
                <a:cs typeface="Arial" pitchFamily="34" charset="-120"/>
              </a:rPr>
              <a:t>Gửi cổng</a:t>
            </a:r>
            <a:endParaRPr lang="en-US" sz="1200" dirty="0"/>
          </a:p>
        </p:txBody>
      </p:sp>
      <p:sp>
        <p:nvSpPr>
          <p:cNvPr id="22" name="Shape 20"/>
          <p:cNvSpPr/>
          <p:nvPr/>
        </p:nvSpPr>
        <p:spPr>
          <a:xfrm>
            <a:off x="7241865" y="3017520"/>
            <a:ext cx="2109155" cy="1737360"/>
          </a:xfrm>
          <a:prstGeom prst="roundRect">
            <a:avLst>
              <a:gd name="adj" fmla="val 5263"/>
            </a:avLst>
          </a:prstGeom>
          <a:solidFill>
            <a:srgbClr val="1C3558">
              <a:alpha val="85000"/>
            </a:srgbClr>
          </a:solidFill>
          <a:ln w="9525">
            <a:solidFill>
              <a:srgbClr val="2E4B74"/>
            </a:solidFill>
            <a:prstDash val="solid"/>
          </a:ln>
        </p:spPr>
      </p:sp>
      <p:sp>
        <p:nvSpPr>
          <p:cNvPr id="23" name="Text 21"/>
          <p:cNvSpPr txBox="1"/>
          <p:nvPr/>
        </p:nvSpPr>
        <p:spPr>
          <a:xfrm>
            <a:off x="7424745" y="3200400"/>
            <a:ext cx="1743395" cy="274320"/>
          </a:xfrm>
          <a:prstGeom prst="rect">
            <a:avLst/>
          </a:prstGeom>
          <a:noFill/>
          <a:ln/>
        </p:spPr>
        <p:txBody>
          <a:bodyPr wrap="square" lIns="0" tIns="0" rIns="0" bIns="0" rtlCol="0" anchor="ctr"/>
          <a:lstStyle/>
          <a:p>
            <a:pPr indent="0" marL="0">
              <a:buNone/>
            </a:pPr>
            <a:r>
              <a:rPr lang="en-US" sz="1050" b="1" spc="100" kern="0" dirty="0">
                <a:solidFill>
                  <a:srgbClr val="4ADE80"/>
                </a:solidFill>
                <a:latin typeface="Arial" pitchFamily="34" charset="0"/>
                <a:ea typeface="Arial" pitchFamily="34" charset="-122"/>
                <a:cs typeface="Arial" pitchFamily="34" charset="-120"/>
              </a:rPr>
              <a:t>TỰ ĐỘNG</a:t>
            </a:r>
            <a:endParaRPr lang="en-US" sz="1050" dirty="0"/>
          </a:p>
        </p:txBody>
      </p:sp>
      <p:sp>
        <p:nvSpPr>
          <p:cNvPr id="24" name="Text 22"/>
          <p:cNvSpPr txBox="1"/>
          <p:nvPr/>
        </p:nvSpPr>
        <p:spPr>
          <a:xfrm>
            <a:off x="7424745" y="3566160"/>
            <a:ext cx="1743395" cy="1097280"/>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Tự gửi, tự thử lại tối đa 3 lần; bật theo từng cơ sở</a:t>
            </a:r>
            <a:endParaRPr lang="en-US" sz="1400" dirty="0"/>
          </a:p>
        </p:txBody>
      </p:sp>
      <p:sp>
        <p:nvSpPr>
          <p:cNvPr id="25" name="Shape 23"/>
          <p:cNvSpPr/>
          <p:nvPr/>
        </p:nvSpPr>
        <p:spPr>
          <a:xfrm>
            <a:off x="9442460" y="2148840"/>
            <a:ext cx="2109155" cy="685800"/>
          </a:xfrm>
          <a:prstGeom prst="chevron">
            <a:avLst/>
          </a:prstGeom>
          <a:solidFill>
            <a:srgbClr val="7A5A12"/>
          </a:solidFill>
          <a:ln w="12700">
            <a:solidFill>
              <a:srgbClr val="0B1A30"/>
            </a:solidFill>
            <a:prstDash val="solid"/>
          </a:ln>
        </p:spPr>
      </p:sp>
      <p:sp>
        <p:nvSpPr>
          <p:cNvPr id="26" name="Text 24"/>
          <p:cNvSpPr txBox="1"/>
          <p:nvPr/>
        </p:nvSpPr>
        <p:spPr>
          <a:xfrm>
            <a:off x="9808220" y="2148840"/>
            <a:ext cx="1651955" cy="685800"/>
          </a:xfrm>
          <a:prstGeom prst="rect">
            <a:avLst/>
          </a:prstGeom>
          <a:noFill/>
          <a:ln/>
        </p:spPr>
        <p:txBody>
          <a:bodyPr wrap="square" lIns="0" tIns="0" rIns="0" bIns="0" rtlCol="0" anchor="ctr"/>
          <a:lstStyle/>
          <a:p>
            <a:pPr indent="0" marL="0">
              <a:buNone/>
            </a:pPr>
            <a:r>
              <a:rPr lang="en-US" sz="1200" b="1" dirty="0">
                <a:solidFill>
                  <a:srgbClr val="FBBF24"/>
                </a:solidFill>
                <a:latin typeface="Arial" pitchFamily="34" charset="0"/>
                <a:ea typeface="Arial" pitchFamily="34" charset="-122"/>
                <a:cs typeface="Arial" pitchFamily="34" charset="-120"/>
              </a:rPr>
              <a:t>05  </a:t>
            </a:r>
            <a:pPr indent="0" marL="0">
              <a:buNone/>
            </a:pPr>
            <a:r>
              <a:rPr lang="en-US" sz="1600" b="1" dirty="0">
                <a:solidFill>
                  <a:srgbClr val="FFFFFF"/>
                </a:solidFill>
                <a:latin typeface="Arial" pitchFamily="34" charset="0"/>
                <a:ea typeface="Arial" pitchFamily="34" charset="-122"/>
                <a:cs typeface="Arial" pitchFamily="34" charset="-120"/>
              </a:rPr>
              <a:t>Theo dõi</a:t>
            </a:r>
            <a:endParaRPr lang="en-US" sz="1200" dirty="0"/>
          </a:p>
        </p:txBody>
      </p:sp>
      <p:sp>
        <p:nvSpPr>
          <p:cNvPr id="27" name="Shape 25"/>
          <p:cNvSpPr/>
          <p:nvPr/>
        </p:nvSpPr>
        <p:spPr>
          <a:xfrm>
            <a:off x="9442460" y="3017520"/>
            <a:ext cx="2109155" cy="1737360"/>
          </a:xfrm>
          <a:prstGeom prst="roundRect">
            <a:avLst>
              <a:gd name="adj" fmla="val 5263"/>
            </a:avLst>
          </a:prstGeom>
          <a:solidFill>
            <a:srgbClr val="25324A">
              <a:alpha val="85000"/>
            </a:srgbClr>
          </a:solidFill>
          <a:ln w="19050">
            <a:solidFill>
              <a:srgbClr val="FBBF24"/>
            </a:solidFill>
            <a:prstDash val="solid"/>
          </a:ln>
        </p:spPr>
      </p:sp>
      <p:sp>
        <p:nvSpPr>
          <p:cNvPr id="28" name="Text 26"/>
          <p:cNvSpPr txBox="1"/>
          <p:nvPr/>
        </p:nvSpPr>
        <p:spPr>
          <a:xfrm>
            <a:off x="9625340" y="3200400"/>
            <a:ext cx="1743395" cy="274320"/>
          </a:xfrm>
          <a:prstGeom prst="rect">
            <a:avLst/>
          </a:prstGeom>
          <a:noFill/>
          <a:ln/>
        </p:spPr>
        <p:txBody>
          <a:bodyPr wrap="square" lIns="0" tIns="0" rIns="0" bIns="0" rtlCol="0" anchor="ctr"/>
          <a:lstStyle/>
          <a:p>
            <a:pPr indent="0" marL="0">
              <a:buNone/>
            </a:pPr>
            <a:r>
              <a:rPr lang="en-US" sz="1050" b="1" spc="100" kern="0" dirty="0">
                <a:solidFill>
                  <a:srgbClr val="FBBF24"/>
                </a:solidFill>
                <a:latin typeface="Arial" pitchFamily="34" charset="0"/>
                <a:ea typeface="Arial" pitchFamily="34" charset="-122"/>
                <a:cs typeface="Arial" pitchFamily="34" charset="-120"/>
              </a:rPr>
              <a:t>NGHIỆP VỤ</a:t>
            </a:r>
            <a:endParaRPr lang="en-US" sz="1050" dirty="0"/>
          </a:p>
        </p:txBody>
      </p:sp>
      <p:sp>
        <p:nvSpPr>
          <p:cNvPr id="29" name="Text 27"/>
          <p:cNvSpPr txBox="1"/>
          <p:nvPr/>
        </p:nvSpPr>
        <p:spPr>
          <a:xfrm>
            <a:off x="9625340" y="3566160"/>
            <a:ext cx="1743395" cy="1097280"/>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Lọc hồ sơ lỗi, đọc phản hồi cổng, xem dashboard</a:t>
            </a:r>
            <a:endParaRPr lang="en-US" sz="1400" dirty="0"/>
          </a:p>
        </p:txBody>
      </p:sp>
      <p:sp>
        <p:nvSpPr>
          <p:cNvPr id="30" name="Text 28"/>
          <p:cNvSpPr txBox="1"/>
          <p:nvPr/>
        </p:nvSpPr>
        <p:spPr>
          <a:xfrm>
            <a:off x="640080" y="525780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Sửa trên HIS xong thì nạp lại — hồ sơ được kiểm lại từ đầu, hết lỗi nghiêm trọng là tự đi tiếp</a:t>
            </a:r>
            <a:endParaRPr lang="en-US" sz="1600" dirty="0"/>
          </a:p>
        </p:txBody>
      </p:sp>
      <p:sp>
        <p:nvSpPr>
          <p:cNvPr id="32" name="Text 2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08 / 19</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TRỌNG TÂM 1</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Kiểm sai sót y lệnh — bắt lỗi khi người làm còn trong ca</a:t>
            </a:r>
            <a:endParaRPr lang="en-US" sz="2800" dirty="0"/>
          </a:p>
        </p:txBody>
      </p:sp>
      <p:sp>
        <p:nvSpPr>
          <p:cNvPr id="4" name="Shape 2"/>
          <p:cNvSpPr/>
          <p:nvPr/>
        </p:nvSpPr>
        <p:spPr>
          <a:xfrm>
            <a:off x="640080" y="1600200"/>
            <a:ext cx="548640" cy="548640"/>
          </a:xfrm>
          <a:prstGeom prst="ellipse">
            <a:avLst/>
          </a:prstGeom>
          <a:solidFill>
            <a:srgbClr val="1C3558"/>
          </a:solidFill>
          <a:ln w="9525">
            <a:solidFill>
              <a:srgbClr val="2E4B74"/>
            </a:solidFill>
            <a:prstDash val="solid"/>
          </a:ln>
        </p:spPr>
      </p:sp>
      <p:sp>
        <p:nvSpPr>
          <p:cNvPr id="5" name="Text 3"/>
          <p:cNvSpPr txBox="1"/>
          <p:nvPr/>
        </p:nvSpPr>
        <p:spPr>
          <a:xfrm>
            <a:off x="640080" y="160020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6" name="Text 4"/>
          <p:cNvSpPr txBox="1"/>
          <p:nvPr/>
        </p:nvSpPr>
        <p:spPr>
          <a:xfrm>
            <a:off x="1371600" y="1581912"/>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Gần thời gian thực</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Quét HIS mỗi 60 giây, chỉ đọc. Ví dụ: chưa khai chứng chỉ hành nghề, ra viện trước vào viện.</a:t>
            </a:r>
            <a:endParaRPr lang="en-US" sz="1600" dirty="0"/>
          </a:p>
        </p:txBody>
      </p:sp>
      <p:sp>
        <p:nvSpPr>
          <p:cNvPr id="7" name="Shape 5"/>
          <p:cNvSpPr/>
          <p:nvPr/>
        </p:nvSpPr>
        <p:spPr>
          <a:xfrm>
            <a:off x="640080" y="2999232"/>
            <a:ext cx="548640" cy="548640"/>
          </a:xfrm>
          <a:prstGeom prst="ellipse">
            <a:avLst/>
          </a:prstGeom>
          <a:solidFill>
            <a:srgbClr val="1C3558"/>
          </a:solidFill>
          <a:ln w="9525">
            <a:solidFill>
              <a:srgbClr val="2E4B74"/>
            </a:solidFill>
            <a:prstDash val="solid"/>
          </a:ln>
        </p:spPr>
      </p:sp>
      <p:sp>
        <p:nvSpPr>
          <p:cNvPr id="8" name="Text 6"/>
          <p:cNvSpPr txBox="1"/>
          <p:nvPr/>
        </p:nvSpPr>
        <p:spPr>
          <a:xfrm>
            <a:off x="640080" y="2999232"/>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txBox="1"/>
          <p:nvPr/>
        </p:nvSpPr>
        <p:spPr>
          <a:xfrm>
            <a:off x="1371600" y="2980944"/>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Lọc đúng người, đúng khoa</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Theo mức độ, khoa thực hiện, bác sĩ, loại dịch vụ, cơ sở KCB.</a:t>
            </a:r>
            <a:endParaRPr lang="en-US" sz="1600" dirty="0"/>
          </a:p>
        </p:txBody>
      </p:sp>
      <p:sp>
        <p:nvSpPr>
          <p:cNvPr id="10" name="Shape 8"/>
          <p:cNvSpPr/>
          <p:nvPr/>
        </p:nvSpPr>
        <p:spPr>
          <a:xfrm>
            <a:off x="640080" y="4398264"/>
            <a:ext cx="548640" cy="548640"/>
          </a:xfrm>
          <a:prstGeom prst="ellipse">
            <a:avLst/>
          </a:prstGeom>
          <a:solidFill>
            <a:srgbClr val="1C3558"/>
          </a:solidFill>
          <a:ln w="9525">
            <a:solidFill>
              <a:srgbClr val="2E4B74"/>
            </a:solidFill>
            <a:prstDash val="solid"/>
          </a:ln>
        </p:spPr>
      </p:sp>
      <p:sp>
        <p:nvSpPr>
          <p:cNvPr id="11" name="Text 9"/>
          <p:cNvSpPr txBox="1"/>
          <p:nvPr/>
        </p:nvSpPr>
        <p:spPr>
          <a:xfrm>
            <a:off x="640080" y="4398264"/>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Text 10"/>
          <p:cNvSpPr txBox="1"/>
          <p:nvPr/>
        </p:nvSpPr>
        <p:spPr>
          <a:xfrm>
            <a:off x="1371600" y="4379976"/>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Khép vòng xử lý</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Đánh dấu Đã xử lý hoặc Bỏ qua từng vi phạm; xuất Excel để giao khoa.</a:t>
            </a:r>
            <a:endParaRPr lang="en-US" sz="1600" dirty="0"/>
          </a:p>
        </p:txBody>
      </p:sp>
      <p:sp>
        <p:nvSpPr>
          <p:cNvPr id="13" name="Shape 11"/>
          <p:cNvSpPr/>
          <p:nvPr/>
        </p:nvSpPr>
        <p:spPr>
          <a:xfrm>
            <a:off x="4855464" y="1563624"/>
            <a:ext cx="6732727" cy="3819163"/>
          </a:xfrm>
          <a:prstGeom prst="rect">
            <a:avLst/>
          </a:prstGeom>
          <a:solidFill>
            <a:srgbClr val="2E4B74"/>
          </a:solidFill>
          <a:ln w="9525">
            <a:solidFill>
              <a:srgbClr val="4A6890"/>
            </a:solidFill>
            <a:prstDash val="solid"/>
          </a:ln>
        </p:spPr>
      </p:sp>
      <p:pic>
        <p:nvPicPr>
          <p:cNvPr id="14" name="Image 0" descr="C:\Users\tracnn\qlbv\docs\dao-tao\anh\anh-01-danh-sach-vi-pham.png">    </p:cNvPr>
          <p:cNvPicPr>
            <a:picLocks noChangeAspect="1"/>
          </p:cNvPicPr>
          <p:nvPr/>
        </p:nvPicPr>
        <p:blipFill>
          <a:blip r:embed="rId2"/>
          <a:stretch>
            <a:fillRect/>
          </a:stretch>
        </p:blipFill>
        <p:spPr>
          <a:xfrm>
            <a:off x="4892040" y="1600200"/>
            <a:ext cx="6659575" cy="3746011"/>
          </a:xfrm>
          <a:prstGeom prst="rect">
            <a:avLst/>
          </a:prstGeom>
        </p:spPr>
      </p:pic>
      <p:sp>
        <p:nvSpPr>
          <p:cNvPr id="15" name="Text 12"/>
          <p:cNvSpPr txBox="1"/>
          <p:nvPr/>
        </p:nvSpPr>
        <p:spPr>
          <a:xfrm>
            <a:off x="4892040" y="5455939"/>
            <a:ext cx="6659575" cy="274320"/>
          </a:xfrm>
          <a:prstGeom prst="rect">
            <a:avLst/>
          </a:prstGeom>
          <a:noFill/>
          <a:ln/>
        </p:spPr>
        <p:txBody>
          <a:bodyPr wrap="square" lIns="0" tIns="0" rIns="0" bIns="0" rtlCol="0" anchor="ctr"/>
          <a:lstStyle/>
          <a:p>
            <a:pPr algn="ctr" indent="0" marL="0">
              <a:buNone/>
            </a:pPr>
            <a:r>
              <a:rPr lang="en-US" sz="1050" i="1" dirty="0">
                <a:solidFill>
                  <a:srgbClr val="7F93B0"/>
                </a:solidFill>
                <a:latin typeface="Arial" pitchFamily="34" charset="0"/>
                <a:ea typeface="Arial" pitchFamily="34" charset="-122"/>
                <a:cs typeface="Arial" pitchFamily="34" charset="-120"/>
              </a:rPr>
              <a:t>Màn Danh sách vi phạm — dữ liệu trong ảnh là dữ liệu mẫu</a:t>
            </a:r>
            <a:endParaRPr lang="en-US" sz="1050" dirty="0"/>
          </a:p>
        </p:txBody>
      </p:sp>
      <p:sp>
        <p:nvSpPr>
          <p:cNvPr id="17" name="Text 1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09 / 19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TRỌNG TÂM 2</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Kiểm hồ sơ XML 3176 — chặn lỗi trước khi ký số</a:t>
            </a:r>
            <a:endParaRPr lang="en-US" sz="2800" dirty="0"/>
          </a:p>
        </p:txBody>
      </p:sp>
      <p:sp>
        <p:nvSpPr>
          <p:cNvPr id="4" name="Shape 2"/>
          <p:cNvSpPr/>
          <p:nvPr/>
        </p:nvSpPr>
        <p:spPr>
          <a:xfrm>
            <a:off x="640080" y="1600200"/>
            <a:ext cx="548640" cy="548640"/>
          </a:xfrm>
          <a:prstGeom prst="ellipse">
            <a:avLst/>
          </a:prstGeom>
          <a:solidFill>
            <a:srgbClr val="1C3558"/>
          </a:solidFill>
          <a:ln w="9525">
            <a:solidFill>
              <a:srgbClr val="2E4B74"/>
            </a:solidFill>
            <a:prstDash val="solid"/>
          </a:ln>
        </p:spPr>
      </p:sp>
      <p:sp>
        <p:nvSpPr>
          <p:cNvPr id="5" name="Text 3"/>
          <p:cNvSpPr txBox="1"/>
          <p:nvPr/>
        </p:nvSpPr>
        <p:spPr>
          <a:xfrm>
            <a:off x="640080" y="160020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6" name="Text 4"/>
          <p:cNvSpPr txBox="1"/>
          <p:nvPr/>
        </p:nvSpPr>
        <p:spPr>
          <a:xfrm>
            <a:off x="1371600" y="1581912"/>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Nạp tự động</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Theo dõi thư mục HIS xuất ra, nhận hồ sơ trong vài giây; hoặc kéo thả tệp.</a:t>
            </a:r>
            <a:endParaRPr lang="en-US" sz="1600" dirty="0"/>
          </a:p>
        </p:txBody>
      </p:sp>
      <p:sp>
        <p:nvSpPr>
          <p:cNvPr id="7" name="Shape 5"/>
          <p:cNvSpPr/>
          <p:nvPr/>
        </p:nvSpPr>
        <p:spPr>
          <a:xfrm>
            <a:off x="640080" y="2999232"/>
            <a:ext cx="548640" cy="548640"/>
          </a:xfrm>
          <a:prstGeom prst="ellipse">
            <a:avLst/>
          </a:prstGeom>
          <a:solidFill>
            <a:srgbClr val="1C3558"/>
          </a:solidFill>
          <a:ln w="9525">
            <a:solidFill>
              <a:srgbClr val="2E4B74"/>
            </a:solidFill>
            <a:prstDash val="solid"/>
          </a:ln>
        </p:spPr>
      </p:sp>
      <p:sp>
        <p:nvSpPr>
          <p:cNvPr id="8" name="Text 6"/>
          <p:cNvSpPr txBox="1"/>
          <p:nvPr/>
        </p:nvSpPr>
        <p:spPr>
          <a:xfrm>
            <a:off x="640080" y="2999232"/>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txBox="1"/>
          <p:nvPr/>
        </p:nvSpPr>
        <p:spPr>
          <a:xfrm>
            <a:off x="1371600" y="2980944"/>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Kiểm từng hồ sơ</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12 bảng XML có bộ kiểm riêng, kiểm chéo toàn hồ sơ, tra thẻ BHYT, đối chiếu danh mục.</a:t>
            </a:r>
            <a:endParaRPr lang="en-US" sz="1600" dirty="0"/>
          </a:p>
        </p:txBody>
      </p:sp>
      <p:sp>
        <p:nvSpPr>
          <p:cNvPr id="10" name="Shape 8"/>
          <p:cNvSpPr/>
          <p:nvPr/>
        </p:nvSpPr>
        <p:spPr>
          <a:xfrm>
            <a:off x="640080" y="4398264"/>
            <a:ext cx="548640" cy="548640"/>
          </a:xfrm>
          <a:prstGeom prst="ellipse">
            <a:avLst/>
          </a:prstGeom>
          <a:solidFill>
            <a:srgbClr val="1C3558"/>
          </a:solidFill>
          <a:ln w="9525">
            <a:solidFill>
              <a:srgbClr val="2E4B74"/>
            </a:solidFill>
            <a:prstDash val="solid"/>
          </a:ln>
        </p:spPr>
      </p:sp>
      <p:sp>
        <p:nvSpPr>
          <p:cNvPr id="11" name="Text 9"/>
          <p:cNvSpPr txBox="1"/>
          <p:nvPr/>
        </p:nvSpPr>
        <p:spPr>
          <a:xfrm>
            <a:off x="640080" y="4398264"/>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Text 10"/>
          <p:cNvSpPr txBox="1"/>
          <p:nvPr/>
        </p:nvSpPr>
        <p:spPr>
          <a:xfrm>
            <a:off x="1371600" y="4379976"/>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Tự ký, tự gửi</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Chỉ hồ sơ hết lỗi nghiêm trọng mới được ký và gửi; trạng thái hiện ngay trên danh sách.</a:t>
            </a:r>
            <a:endParaRPr lang="en-US" sz="1600" dirty="0"/>
          </a:p>
        </p:txBody>
      </p:sp>
      <p:sp>
        <p:nvSpPr>
          <p:cNvPr id="13" name="Shape 11"/>
          <p:cNvSpPr/>
          <p:nvPr/>
        </p:nvSpPr>
        <p:spPr>
          <a:xfrm>
            <a:off x="4855464" y="1563624"/>
            <a:ext cx="6732727" cy="4235387"/>
          </a:xfrm>
          <a:prstGeom prst="rect">
            <a:avLst/>
          </a:prstGeom>
          <a:solidFill>
            <a:srgbClr val="2E4B74"/>
          </a:solidFill>
          <a:ln w="9525">
            <a:solidFill>
              <a:srgbClr val="4A6890"/>
            </a:solidFill>
            <a:prstDash val="solid"/>
          </a:ln>
        </p:spPr>
      </p:sp>
      <p:pic>
        <p:nvPicPr>
          <p:cNvPr id="14" name="Image 0" descr="C:\Users\tracnn\qlbv\docs\dao-tao\anh\anh-03-danh-sach-ho-so-xml3176.png">    </p:cNvPr>
          <p:cNvPicPr>
            <a:picLocks noChangeAspect="1"/>
          </p:cNvPicPr>
          <p:nvPr/>
        </p:nvPicPr>
        <p:blipFill>
          <a:blip r:embed="rId2"/>
          <a:stretch>
            <a:fillRect/>
          </a:stretch>
        </p:blipFill>
        <p:spPr>
          <a:xfrm>
            <a:off x="4892040" y="1600200"/>
            <a:ext cx="6659575" cy="4162235"/>
          </a:xfrm>
          <a:prstGeom prst="rect">
            <a:avLst/>
          </a:prstGeom>
        </p:spPr>
      </p:pic>
      <p:sp>
        <p:nvSpPr>
          <p:cNvPr id="15" name="Text 12"/>
          <p:cNvSpPr txBox="1"/>
          <p:nvPr/>
        </p:nvSpPr>
        <p:spPr>
          <a:xfrm>
            <a:off x="4892040" y="5872163"/>
            <a:ext cx="6659575" cy="274320"/>
          </a:xfrm>
          <a:prstGeom prst="rect">
            <a:avLst/>
          </a:prstGeom>
          <a:noFill/>
          <a:ln/>
        </p:spPr>
        <p:txBody>
          <a:bodyPr wrap="square" lIns="0" tIns="0" rIns="0" bIns="0" rtlCol="0" anchor="ctr"/>
          <a:lstStyle/>
          <a:p>
            <a:pPr algn="ctr" indent="0" marL="0">
              <a:buNone/>
            </a:pPr>
            <a:r>
              <a:rPr lang="en-US" sz="1050" i="1" dirty="0">
                <a:solidFill>
                  <a:srgbClr val="7F93B0"/>
                </a:solidFill>
                <a:latin typeface="Arial" pitchFamily="34" charset="0"/>
                <a:ea typeface="Arial" pitchFamily="34" charset="-122"/>
                <a:cs typeface="Arial" pitchFamily="34" charset="-120"/>
              </a:rPr>
              <a:t>Màn Danh sách hồ sơ XML 3176 — dòng đỏ là hồ sơ còn lỗi</a:t>
            </a:r>
            <a:endParaRPr lang="en-US" sz="1050" dirty="0"/>
          </a:p>
        </p:txBody>
      </p:sp>
      <p:sp>
        <p:nvSpPr>
          <p:cNvPr id="17" name="Text 1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10 / 19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PHẢN HỒI VỀ KHOA</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Một mã điều trị — thấy mọi lỗi của hồ sơ</a:t>
            </a:r>
            <a:endParaRPr lang="en-US" sz="2800" dirty="0"/>
          </a:p>
        </p:txBody>
      </p:sp>
      <p:sp>
        <p:nvSpPr>
          <p:cNvPr id="4" name="Shape 2"/>
          <p:cNvSpPr/>
          <p:nvPr/>
        </p:nvSpPr>
        <p:spPr>
          <a:xfrm>
            <a:off x="640080" y="1600200"/>
            <a:ext cx="548640" cy="548640"/>
          </a:xfrm>
          <a:prstGeom prst="ellipse">
            <a:avLst/>
          </a:prstGeom>
          <a:solidFill>
            <a:srgbClr val="1C3558"/>
          </a:solidFill>
          <a:ln w="9525">
            <a:solidFill>
              <a:srgbClr val="2E4B74"/>
            </a:solidFill>
            <a:prstDash val="solid"/>
          </a:ln>
        </p:spPr>
      </p:sp>
      <p:sp>
        <p:nvSpPr>
          <p:cNvPr id="5" name="Text 3"/>
          <p:cNvSpPr txBox="1"/>
          <p:nvPr/>
        </p:nvSpPr>
        <p:spPr>
          <a:xfrm>
            <a:off x="640080" y="160020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6" name="Text 4"/>
          <p:cNvSpPr txBox="1"/>
          <p:nvPr/>
        </p:nvSpPr>
        <p:spPr>
          <a:xfrm>
            <a:off x="1371600" y="1581912"/>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Gom lỗi một chỗ</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Sai sót y lệnh, lỗi tra thẻ BHYT, lỗi XML 3176 của cùng một hồ sơ trên một trang.</a:t>
            </a:r>
            <a:endParaRPr lang="en-US" sz="1600" dirty="0"/>
          </a:p>
        </p:txBody>
      </p:sp>
      <p:sp>
        <p:nvSpPr>
          <p:cNvPr id="7" name="Shape 5"/>
          <p:cNvSpPr/>
          <p:nvPr/>
        </p:nvSpPr>
        <p:spPr>
          <a:xfrm>
            <a:off x="640080" y="2999232"/>
            <a:ext cx="548640" cy="548640"/>
          </a:xfrm>
          <a:prstGeom prst="ellipse">
            <a:avLst/>
          </a:prstGeom>
          <a:solidFill>
            <a:srgbClr val="1C3558"/>
          </a:solidFill>
          <a:ln w="9525">
            <a:solidFill>
              <a:srgbClr val="2E4B74"/>
            </a:solidFill>
            <a:prstDash val="solid"/>
          </a:ln>
        </p:spPr>
      </p:sp>
      <p:sp>
        <p:nvSpPr>
          <p:cNvPr id="8" name="Text 6"/>
          <p:cNvSpPr txBox="1"/>
          <p:nvPr/>
        </p:nvSpPr>
        <p:spPr>
          <a:xfrm>
            <a:off x="640080" y="2999232"/>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txBox="1"/>
          <p:nvPr/>
        </p:nvSpPr>
        <p:spPr>
          <a:xfrm>
            <a:off x="1371600" y="2980944"/>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Quét mã vạch</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Quét mã trên phiếu, bệnh án để mở ngay hồ sơ, không phải gõ tay.</a:t>
            </a:r>
            <a:endParaRPr lang="en-US" sz="1600" dirty="0"/>
          </a:p>
        </p:txBody>
      </p:sp>
      <p:sp>
        <p:nvSpPr>
          <p:cNvPr id="10" name="Shape 8"/>
          <p:cNvSpPr/>
          <p:nvPr/>
        </p:nvSpPr>
        <p:spPr>
          <a:xfrm>
            <a:off x="640080" y="4398264"/>
            <a:ext cx="548640" cy="548640"/>
          </a:xfrm>
          <a:prstGeom prst="ellipse">
            <a:avLst/>
          </a:prstGeom>
          <a:solidFill>
            <a:srgbClr val="1C3558"/>
          </a:solidFill>
          <a:ln w="9525">
            <a:solidFill>
              <a:srgbClr val="2E4B74"/>
            </a:solidFill>
            <a:prstDash val="solid"/>
          </a:ln>
        </p:spPr>
      </p:sp>
      <p:sp>
        <p:nvSpPr>
          <p:cNvPr id="11" name="Text 9"/>
          <p:cNvSpPr txBox="1"/>
          <p:nvPr/>
        </p:nvSpPr>
        <p:spPr>
          <a:xfrm>
            <a:off x="640080" y="4398264"/>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Text 10"/>
          <p:cNvSpPr txBox="1"/>
          <p:nvPr/>
        </p:nvSpPr>
        <p:spPr>
          <a:xfrm>
            <a:off x="1371600" y="4379976"/>
            <a:ext cx="3200400" cy="1325880"/>
          </a:xfrm>
          <a:prstGeom prst="rect">
            <a:avLst/>
          </a:prstGeom>
          <a:noFill/>
          <a:ln/>
        </p:spPr>
        <p:txBody>
          <a:bodyPr wrap="square" lIns="0" tIns="0" rIns="0" bIns="0" rtlCol="0" anchor="t"/>
          <a:lstStyle/>
          <a:p>
            <a:pPr indent="0" marL="0">
              <a:lnSpc>
                <a:spcPts val="1900"/>
              </a:lnSpc>
              <a:buNone/>
            </a:pPr>
            <a:r>
              <a:rPr lang="en-US" sz="1600" b="1" dirty="0">
                <a:solidFill>
                  <a:srgbClr val="FFFFFF"/>
                </a:solidFill>
                <a:latin typeface="Arial" pitchFamily="34" charset="0"/>
                <a:ea typeface="Arial" pitchFamily="34" charset="-122"/>
                <a:cs typeface="Arial" pitchFamily="34" charset="-120"/>
              </a:rPr>
              <a:t>In phiếu lỗi</a:t>
            </a:r>
            <a:endParaRPr lang="en-US" sz="160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In phiếu giao khoa phát sinh sửa trên HIS — có căn cứ, đúng đầu mối.</a:t>
            </a:r>
            <a:endParaRPr lang="en-US" sz="1600" dirty="0"/>
          </a:p>
        </p:txBody>
      </p:sp>
      <p:sp>
        <p:nvSpPr>
          <p:cNvPr id="13" name="Shape 11"/>
          <p:cNvSpPr/>
          <p:nvPr/>
        </p:nvSpPr>
        <p:spPr>
          <a:xfrm>
            <a:off x="4855464" y="1563624"/>
            <a:ext cx="6732727" cy="3840430"/>
          </a:xfrm>
          <a:prstGeom prst="rect">
            <a:avLst/>
          </a:prstGeom>
          <a:solidFill>
            <a:srgbClr val="2E4B74"/>
          </a:solidFill>
          <a:ln w="9525">
            <a:solidFill>
              <a:srgbClr val="4A6890"/>
            </a:solidFill>
            <a:prstDash val="solid"/>
          </a:ln>
        </p:spPr>
      </p:sp>
      <p:pic>
        <p:nvPicPr>
          <p:cNvPr id="14" name="Image 0" descr="C:\Users\tracnn\qlbv\docs\dao-tao\anh\anh-02-tra-cuu-loi-ho-so.png">    </p:cNvPr>
          <p:cNvPicPr>
            <a:picLocks noChangeAspect="1"/>
          </p:cNvPicPr>
          <p:nvPr/>
        </p:nvPicPr>
        <p:blipFill>
          <a:blip r:embed="rId2"/>
          <a:stretch>
            <a:fillRect/>
          </a:stretch>
        </p:blipFill>
        <p:spPr>
          <a:xfrm>
            <a:off x="4892040" y="1600200"/>
            <a:ext cx="6659575" cy="3767278"/>
          </a:xfrm>
          <a:prstGeom prst="rect">
            <a:avLst/>
          </a:prstGeom>
        </p:spPr>
      </p:pic>
      <p:sp>
        <p:nvSpPr>
          <p:cNvPr id="15" name="Text 12"/>
          <p:cNvSpPr txBox="1"/>
          <p:nvPr/>
        </p:nvSpPr>
        <p:spPr>
          <a:xfrm>
            <a:off x="4892040" y="5477206"/>
            <a:ext cx="6659575" cy="274320"/>
          </a:xfrm>
          <a:prstGeom prst="rect">
            <a:avLst/>
          </a:prstGeom>
          <a:noFill/>
          <a:ln/>
        </p:spPr>
        <p:txBody>
          <a:bodyPr wrap="square" lIns="0" tIns="0" rIns="0" bIns="0" rtlCol="0" anchor="ctr"/>
          <a:lstStyle/>
          <a:p>
            <a:pPr algn="ctr" indent="0" marL="0">
              <a:buNone/>
            </a:pPr>
            <a:r>
              <a:rPr lang="en-US" sz="1050" i="1" dirty="0">
                <a:solidFill>
                  <a:srgbClr val="7F93B0"/>
                </a:solidFill>
                <a:latin typeface="Arial" pitchFamily="34" charset="0"/>
                <a:ea typeface="Arial" pitchFamily="34" charset="-122"/>
                <a:cs typeface="Arial" pitchFamily="34" charset="-120"/>
              </a:rPr>
              <a:t>Màn Tra cứu lỗi hồ sơ theo mã điều trị</a:t>
            </a:r>
            <a:endParaRPr lang="en-US" sz="1050" dirty="0"/>
          </a:p>
        </p:txBody>
      </p:sp>
      <p:sp>
        <p:nvSpPr>
          <p:cNvPr id="17" name="Text 1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11 / 19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HỖ TRỢ NGHIỆP VỤ</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Thẻ BHYT, tiền cùng chi trả, chứng từ và danh mục</a:t>
            </a:r>
            <a:endParaRPr lang="en-US" sz="2800" dirty="0"/>
          </a:p>
        </p:txBody>
      </p:sp>
      <p:sp>
        <p:nvSpPr>
          <p:cNvPr id="4" name="Shape 2"/>
          <p:cNvSpPr/>
          <p:nvPr/>
        </p:nvSpPr>
        <p:spPr>
          <a:xfrm>
            <a:off x="640080" y="1600200"/>
            <a:ext cx="548640" cy="548640"/>
          </a:xfrm>
          <a:prstGeom prst="ellipse">
            <a:avLst/>
          </a:prstGeom>
          <a:solidFill>
            <a:srgbClr val="1C3558"/>
          </a:solidFill>
          <a:ln w="9525">
            <a:solidFill>
              <a:srgbClr val="2E4B74"/>
            </a:solidFill>
            <a:prstDash val="solid"/>
          </a:ln>
        </p:spPr>
      </p:sp>
      <p:sp>
        <p:nvSpPr>
          <p:cNvPr id="5" name="Text 3"/>
          <p:cNvSpPr txBox="1"/>
          <p:nvPr/>
        </p:nvSpPr>
        <p:spPr>
          <a:xfrm>
            <a:off x="640080" y="160020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6" name="Text 4"/>
          <p:cNvSpPr txBox="1"/>
          <p:nvPr/>
        </p:nvSpPr>
        <p:spPr>
          <a:xfrm>
            <a:off x="1371600" y="1581912"/>
            <a:ext cx="3200400" cy="1024128"/>
          </a:xfrm>
          <a:prstGeom prst="rect">
            <a:avLst/>
          </a:prstGeom>
          <a:noFill/>
          <a:ln/>
        </p:spPr>
        <p:txBody>
          <a:bodyPr wrap="square" lIns="0" tIns="0" rIns="0" bIns="0" rtlCol="0" anchor="t"/>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Tra thẻ hàng loạt</a:t>
            </a:r>
            <a:endParaRPr lang="en-US" sz="1600" dirty="0"/>
          </a:p>
          <a:p>
            <a:pPr indent="0" marL="0">
              <a:lnSpc>
                <a:spcPts val="1700"/>
              </a:lnSpc>
              <a:buNone/>
            </a:pPr>
            <a:r>
              <a:rPr lang="en-US" sz="1250" dirty="0">
                <a:solidFill>
                  <a:srgbClr val="A9BCD6"/>
                </a:solidFill>
                <a:latin typeface="Arial" pitchFamily="34" charset="0"/>
                <a:ea typeface="Arial" pitchFamily="34" charset="-122"/>
                <a:cs typeface="Arial" pitchFamily="34" charset="-120"/>
              </a:rPr>
              <a:t>Tra trên cổng BHXH, đọc mã kết quả để phát hiện thẻ sai, hết hạn.</a:t>
            </a:r>
            <a:endParaRPr lang="en-US" sz="1600" dirty="0"/>
          </a:p>
        </p:txBody>
      </p:sp>
      <p:sp>
        <p:nvSpPr>
          <p:cNvPr id="7" name="Shape 5"/>
          <p:cNvSpPr/>
          <p:nvPr/>
        </p:nvSpPr>
        <p:spPr>
          <a:xfrm>
            <a:off x="640080" y="2697480"/>
            <a:ext cx="548640" cy="548640"/>
          </a:xfrm>
          <a:prstGeom prst="ellipse">
            <a:avLst/>
          </a:prstGeom>
          <a:solidFill>
            <a:srgbClr val="1C3558"/>
          </a:solidFill>
          <a:ln w="9525">
            <a:solidFill>
              <a:srgbClr val="2E4B74"/>
            </a:solidFill>
            <a:prstDash val="solid"/>
          </a:ln>
        </p:spPr>
      </p:sp>
      <p:sp>
        <p:nvSpPr>
          <p:cNvPr id="8" name="Text 6"/>
          <p:cNvSpPr txBox="1"/>
          <p:nvPr/>
        </p:nvSpPr>
        <p:spPr>
          <a:xfrm>
            <a:off x="640080" y="269748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txBox="1"/>
          <p:nvPr/>
        </p:nvSpPr>
        <p:spPr>
          <a:xfrm>
            <a:off x="1371600" y="2679192"/>
            <a:ext cx="3200400" cy="1024128"/>
          </a:xfrm>
          <a:prstGeom prst="rect">
            <a:avLst/>
          </a:prstGeom>
          <a:noFill/>
          <a:ln/>
        </p:spPr>
        <p:txBody>
          <a:bodyPr wrap="square" lIns="0" tIns="0" rIns="0" bIns="0" rtlCol="0" anchor="t"/>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Tiền cùng chi trả</a:t>
            </a:r>
            <a:endParaRPr lang="en-US" sz="1600" dirty="0"/>
          </a:p>
          <a:p>
            <a:pPr indent="0" marL="0">
              <a:lnSpc>
                <a:spcPts val="1700"/>
              </a:lnSpc>
              <a:buNone/>
            </a:pPr>
            <a:r>
              <a:rPr lang="en-US" sz="1250" dirty="0">
                <a:solidFill>
                  <a:srgbClr val="A9BCD6"/>
                </a:solidFill>
                <a:latin typeface="Arial" pitchFamily="34" charset="0"/>
                <a:ea typeface="Arial" pitchFamily="34" charset="-122"/>
                <a:cs typeface="Arial" pitchFamily="34" charset="-120"/>
              </a:rPr>
              <a:t>Lũy kế từ dữ liệu các cơ sở KCB trên cổng, so với ngưỡng cả năm.</a:t>
            </a:r>
            <a:endParaRPr lang="en-US" sz="1600" dirty="0"/>
          </a:p>
        </p:txBody>
      </p:sp>
      <p:sp>
        <p:nvSpPr>
          <p:cNvPr id="10" name="Shape 8"/>
          <p:cNvSpPr/>
          <p:nvPr/>
        </p:nvSpPr>
        <p:spPr>
          <a:xfrm>
            <a:off x="640080" y="3794760"/>
            <a:ext cx="548640" cy="548640"/>
          </a:xfrm>
          <a:prstGeom prst="ellipse">
            <a:avLst/>
          </a:prstGeom>
          <a:solidFill>
            <a:srgbClr val="1C3558"/>
          </a:solidFill>
          <a:ln w="9525">
            <a:solidFill>
              <a:srgbClr val="2E4B74"/>
            </a:solidFill>
            <a:prstDash val="solid"/>
          </a:ln>
        </p:spPr>
      </p:sp>
      <p:sp>
        <p:nvSpPr>
          <p:cNvPr id="11" name="Text 9"/>
          <p:cNvSpPr txBox="1"/>
          <p:nvPr/>
        </p:nvSpPr>
        <p:spPr>
          <a:xfrm>
            <a:off x="640080" y="379476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Text 10"/>
          <p:cNvSpPr txBox="1"/>
          <p:nvPr/>
        </p:nvSpPr>
        <p:spPr>
          <a:xfrm>
            <a:off x="1371600" y="3776472"/>
            <a:ext cx="3200400" cy="1024128"/>
          </a:xfrm>
          <a:prstGeom prst="rect">
            <a:avLst/>
          </a:prstGeom>
          <a:noFill/>
          <a:ln/>
        </p:spPr>
        <p:txBody>
          <a:bodyPr wrap="square" lIns="0" tIns="0" rIns="0" bIns="0" rtlCol="0" anchor="t"/>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Chứng từ điện tử</a:t>
            </a:r>
            <a:endParaRPr lang="en-US" sz="1600" dirty="0"/>
          </a:p>
          <a:p>
            <a:pPr indent="0" marL="0">
              <a:lnSpc>
                <a:spcPts val="1700"/>
              </a:lnSpc>
              <a:buNone/>
            </a:pPr>
            <a:r>
              <a:rPr lang="en-US" sz="1250" dirty="0">
                <a:solidFill>
                  <a:srgbClr val="A9BCD6"/>
                </a:solidFill>
                <a:latin typeface="Arial" pitchFamily="34" charset="0"/>
                <a:ea typeface="Arial" pitchFamily="34" charset="-122"/>
                <a:cs typeface="Arial" pitchFamily="34" charset="-120"/>
              </a:rPr>
              <a:t>Ký số và gửi chứng từ theo Phụ lục 02, theo dõi trạng thái gửi.</a:t>
            </a:r>
            <a:endParaRPr lang="en-US" sz="1600" dirty="0"/>
          </a:p>
        </p:txBody>
      </p:sp>
      <p:sp>
        <p:nvSpPr>
          <p:cNvPr id="13" name="Shape 11"/>
          <p:cNvSpPr/>
          <p:nvPr/>
        </p:nvSpPr>
        <p:spPr>
          <a:xfrm>
            <a:off x="640080" y="4892040"/>
            <a:ext cx="548640" cy="548640"/>
          </a:xfrm>
          <a:prstGeom prst="ellipse">
            <a:avLst/>
          </a:prstGeom>
          <a:solidFill>
            <a:srgbClr val="1C3558"/>
          </a:solidFill>
          <a:ln w="9525">
            <a:solidFill>
              <a:srgbClr val="2E4B74"/>
            </a:solidFill>
            <a:prstDash val="solid"/>
          </a:ln>
        </p:spPr>
      </p:sp>
      <p:sp>
        <p:nvSpPr>
          <p:cNvPr id="14" name="Text 12"/>
          <p:cNvSpPr txBox="1"/>
          <p:nvPr/>
        </p:nvSpPr>
        <p:spPr>
          <a:xfrm>
            <a:off x="640080" y="4892040"/>
            <a:ext cx="548640" cy="54864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5" name="Text 13"/>
          <p:cNvSpPr txBox="1"/>
          <p:nvPr/>
        </p:nvSpPr>
        <p:spPr>
          <a:xfrm>
            <a:off x="1371600" y="4873752"/>
            <a:ext cx="3200400" cy="1024128"/>
          </a:xfrm>
          <a:prstGeom prst="rect">
            <a:avLst/>
          </a:prstGeom>
          <a:noFill/>
          <a:ln/>
        </p:spPr>
        <p:txBody>
          <a:bodyPr wrap="square" lIns="0" tIns="0" rIns="0" bIns="0" rtlCol="0" anchor="t"/>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Danh mục TT12/2026</a:t>
            </a:r>
            <a:endParaRPr lang="en-US" sz="1600" dirty="0"/>
          </a:p>
          <a:p>
            <a:pPr indent="0" marL="0">
              <a:lnSpc>
                <a:spcPts val="1700"/>
              </a:lnSpc>
              <a:buNone/>
            </a:pPr>
            <a:r>
              <a:rPr lang="en-US" sz="1250" dirty="0">
                <a:solidFill>
                  <a:srgbClr val="A9BCD6"/>
                </a:solidFill>
                <a:latin typeface="Arial" pitchFamily="34" charset="0"/>
                <a:ea typeface="Arial" pitchFamily="34" charset="-122"/>
                <a:cs typeface="Arial" pitchFamily="34" charset="-120"/>
              </a:rPr>
              <a:t>Nạp theo biểu mẫu, kiểm, ký và gửi danh mục lên cổng.</a:t>
            </a:r>
            <a:endParaRPr lang="en-US" sz="1600" dirty="0"/>
          </a:p>
        </p:txBody>
      </p:sp>
      <p:sp>
        <p:nvSpPr>
          <p:cNvPr id="16" name="Shape 14"/>
          <p:cNvSpPr/>
          <p:nvPr/>
        </p:nvSpPr>
        <p:spPr>
          <a:xfrm>
            <a:off x="5811693" y="1563624"/>
            <a:ext cx="4820269" cy="4279392"/>
          </a:xfrm>
          <a:prstGeom prst="rect">
            <a:avLst/>
          </a:prstGeom>
          <a:solidFill>
            <a:srgbClr val="2E4B74"/>
          </a:solidFill>
          <a:ln w="9525">
            <a:solidFill>
              <a:srgbClr val="4A6890"/>
            </a:solidFill>
            <a:prstDash val="solid"/>
          </a:ln>
        </p:spPr>
      </p:sp>
      <p:pic>
        <p:nvPicPr>
          <p:cNvPr id="17" name="Image 0" descr="C:\Users\tracnn\qlbv\docs\dao-tao\anh\anh-05-ket-qua-mcct.png">    </p:cNvPr>
          <p:cNvPicPr>
            <a:picLocks noChangeAspect="1"/>
          </p:cNvPicPr>
          <p:nvPr/>
        </p:nvPicPr>
        <p:blipFill>
          <a:blip r:embed="rId2"/>
          <a:stretch>
            <a:fillRect/>
          </a:stretch>
        </p:blipFill>
        <p:spPr>
          <a:xfrm>
            <a:off x="5848269" y="1600200"/>
            <a:ext cx="4747117" cy="4206240"/>
          </a:xfrm>
          <a:prstGeom prst="rect">
            <a:avLst/>
          </a:prstGeom>
        </p:spPr>
      </p:pic>
      <p:sp>
        <p:nvSpPr>
          <p:cNvPr id="18" name="Text 15"/>
          <p:cNvSpPr txBox="1"/>
          <p:nvPr/>
        </p:nvSpPr>
        <p:spPr>
          <a:xfrm>
            <a:off x="4892040" y="5916168"/>
            <a:ext cx="6659575" cy="274320"/>
          </a:xfrm>
          <a:prstGeom prst="rect">
            <a:avLst/>
          </a:prstGeom>
          <a:noFill/>
          <a:ln/>
        </p:spPr>
        <p:txBody>
          <a:bodyPr wrap="square" lIns="0" tIns="0" rIns="0" bIns="0" rtlCol="0" anchor="ctr"/>
          <a:lstStyle/>
          <a:p>
            <a:pPr algn="ctr" indent="0" marL="0">
              <a:buNone/>
            </a:pPr>
            <a:r>
              <a:rPr lang="en-US" sz="1050" i="1" dirty="0">
                <a:solidFill>
                  <a:srgbClr val="7F93B0"/>
                </a:solidFill>
                <a:latin typeface="Arial" pitchFamily="34" charset="0"/>
                <a:ea typeface="Arial" pitchFamily="34" charset="-122"/>
                <a:cs typeface="Arial" pitchFamily="34" charset="-120"/>
              </a:rPr>
              <a:t>Kết quả tra cứu tiền cùng chi trả — dữ liệu mẫu</a:t>
            </a:r>
            <a:endParaRPr lang="en-US" sz="1050" dirty="0"/>
          </a:p>
        </p:txBody>
      </p:sp>
      <p:sp>
        <p:nvSpPr>
          <p:cNvPr id="20" name="Text 16"/>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12 / 19</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QUẢN TRỊ</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Dashboard trả lời bốn câu hỏi của lãnh đạo</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Dashboard lỗi XML có bốn biểu đồ — mỗi biểu đồ dẫn tới một hành động cụ thể.</a:t>
            </a:r>
            <a:endParaRPr lang="en-US" sz="1500" dirty="0"/>
          </a:p>
        </p:txBody>
      </p:sp>
      <p:sp>
        <p:nvSpPr>
          <p:cNvPr id="5" name="Shape 3"/>
          <p:cNvSpPr/>
          <p:nvPr/>
        </p:nvSpPr>
        <p:spPr>
          <a:xfrm>
            <a:off x="640080" y="1783080"/>
            <a:ext cx="5318608" cy="1920240"/>
          </a:xfrm>
          <a:prstGeom prst="roundRect">
            <a:avLst>
              <a:gd name="adj" fmla="val 4762"/>
            </a:avLst>
          </a:prstGeom>
          <a:solidFill>
            <a:srgbClr val="1C3558">
              <a:alpha val="85000"/>
            </a:srgbClr>
          </a:solidFill>
          <a:ln w="9525">
            <a:solidFill>
              <a:srgbClr val="2E4B74"/>
            </a:solidFill>
            <a:prstDash val="solid"/>
          </a:ln>
        </p:spPr>
      </p:sp>
      <p:sp>
        <p:nvSpPr>
          <p:cNvPr id="6" name="Shape 4"/>
          <p:cNvSpPr/>
          <p:nvPr/>
        </p:nvSpPr>
        <p:spPr>
          <a:xfrm>
            <a:off x="868680" y="2057400"/>
            <a:ext cx="1828800" cy="219456"/>
          </a:xfrm>
          <a:prstGeom prst="rect">
            <a:avLst/>
          </a:prstGeom>
          <a:solidFill>
            <a:srgbClr val="38BDF8">
              <a:alpha val="85000"/>
            </a:srgbClr>
          </a:solidFill>
          <a:ln w="12700">
            <a:solidFill>
              <a:srgbClr val="38BDF8"/>
            </a:solidFill>
            <a:prstDash val="solid"/>
          </a:ln>
        </p:spPr>
      </p:sp>
      <p:sp>
        <p:nvSpPr>
          <p:cNvPr id="7" name="Shape 5"/>
          <p:cNvSpPr/>
          <p:nvPr/>
        </p:nvSpPr>
        <p:spPr>
          <a:xfrm>
            <a:off x="1033272" y="2331720"/>
            <a:ext cx="1499616" cy="219456"/>
          </a:xfrm>
          <a:prstGeom prst="rect">
            <a:avLst/>
          </a:prstGeom>
          <a:solidFill>
            <a:srgbClr val="38BDF8">
              <a:alpha val="77000"/>
            </a:srgbClr>
          </a:solidFill>
          <a:ln w="12700">
            <a:solidFill>
              <a:srgbClr val="38BDF8"/>
            </a:solidFill>
            <a:prstDash val="solid"/>
          </a:ln>
        </p:spPr>
      </p:sp>
      <p:sp>
        <p:nvSpPr>
          <p:cNvPr id="8" name="Shape 6"/>
          <p:cNvSpPr/>
          <p:nvPr/>
        </p:nvSpPr>
        <p:spPr>
          <a:xfrm>
            <a:off x="1179576" y="2606040"/>
            <a:ext cx="1207008" cy="219456"/>
          </a:xfrm>
          <a:prstGeom prst="rect">
            <a:avLst/>
          </a:prstGeom>
          <a:solidFill>
            <a:srgbClr val="38BDF8">
              <a:alpha val="69000"/>
            </a:srgbClr>
          </a:solidFill>
          <a:ln w="12700">
            <a:solidFill>
              <a:srgbClr val="38BDF8"/>
            </a:solidFill>
            <a:prstDash val="solid"/>
          </a:ln>
        </p:spPr>
      </p:sp>
      <p:sp>
        <p:nvSpPr>
          <p:cNvPr id="9" name="Shape 7"/>
          <p:cNvSpPr/>
          <p:nvPr/>
        </p:nvSpPr>
        <p:spPr>
          <a:xfrm>
            <a:off x="1307592" y="2880360"/>
            <a:ext cx="950976" cy="219456"/>
          </a:xfrm>
          <a:prstGeom prst="rect">
            <a:avLst/>
          </a:prstGeom>
          <a:solidFill>
            <a:srgbClr val="38BDF8">
              <a:alpha val="61000"/>
            </a:srgbClr>
          </a:solidFill>
          <a:ln w="12700">
            <a:solidFill>
              <a:srgbClr val="38BDF8"/>
            </a:solidFill>
            <a:prstDash val="solid"/>
          </a:ln>
        </p:spPr>
      </p:sp>
      <p:sp>
        <p:nvSpPr>
          <p:cNvPr id="10" name="Shape 8"/>
          <p:cNvSpPr/>
          <p:nvPr/>
        </p:nvSpPr>
        <p:spPr>
          <a:xfrm>
            <a:off x="1417320" y="3154680"/>
            <a:ext cx="731520" cy="219456"/>
          </a:xfrm>
          <a:prstGeom prst="rect">
            <a:avLst/>
          </a:prstGeom>
          <a:solidFill>
            <a:srgbClr val="4ADE80">
              <a:alpha val="53000"/>
            </a:srgbClr>
          </a:solidFill>
          <a:ln w="12700">
            <a:solidFill>
              <a:srgbClr val="38BDF8"/>
            </a:solidFill>
            <a:prstDash val="solid"/>
          </a:ln>
        </p:spPr>
      </p:sp>
      <p:sp>
        <p:nvSpPr>
          <p:cNvPr id="11" name="Text 9"/>
          <p:cNvSpPr txBox="1"/>
          <p:nvPr/>
        </p:nvSpPr>
        <p:spPr>
          <a:xfrm>
            <a:off x="2971800" y="1984248"/>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Phễu xử lý hồ sơ</a:t>
            </a:r>
            <a:endParaRPr lang="en-US" sz="1600" dirty="0"/>
          </a:p>
        </p:txBody>
      </p:sp>
      <p:sp>
        <p:nvSpPr>
          <p:cNvPr id="12" name="Text 10"/>
          <p:cNvSpPr txBox="1"/>
          <p:nvPr/>
        </p:nvSpPr>
        <p:spPr>
          <a:xfrm>
            <a:off x="2971800" y="2377440"/>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Hồ sơ đang nghẽn ở bậc nào?</a:t>
            </a:r>
            <a:endParaRPr lang="en-US" sz="1400" dirty="0"/>
          </a:p>
        </p:txBody>
      </p:sp>
      <p:sp>
        <p:nvSpPr>
          <p:cNvPr id="13" name="Text 11"/>
          <p:cNvSpPr txBox="1"/>
          <p:nvPr/>
        </p:nvSpPr>
        <p:spPr>
          <a:xfrm>
            <a:off x="2971800" y="2788920"/>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Đã nạp → Không lỗi nghiêm trọng → Đã xuất → Đã ký → Đã gửi</a:t>
            </a:r>
            <a:endParaRPr lang="en-US" sz="1250" dirty="0"/>
          </a:p>
        </p:txBody>
      </p:sp>
      <p:sp>
        <p:nvSpPr>
          <p:cNvPr id="14" name="Shape 12"/>
          <p:cNvSpPr/>
          <p:nvPr/>
        </p:nvSpPr>
        <p:spPr>
          <a:xfrm>
            <a:off x="6233008" y="1783080"/>
            <a:ext cx="5318608" cy="1920240"/>
          </a:xfrm>
          <a:prstGeom prst="roundRect">
            <a:avLst>
              <a:gd name="adj" fmla="val 4762"/>
            </a:avLst>
          </a:prstGeom>
          <a:solidFill>
            <a:srgbClr val="1C3558">
              <a:alpha val="85000"/>
            </a:srgbClr>
          </a:solidFill>
          <a:ln w="9525">
            <a:solidFill>
              <a:srgbClr val="2E4B74"/>
            </a:solidFill>
            <a:prstDash val="solid"/>
          </a:ln>
        </p:spPr>
      </p:sp>
      <p:sp>
        <p:nvSpPr>
          <p:cNvPr id="15" name="Shape 13"/>
          <p:cNvSpPr/>
          <p:nvPr/>
        </p:nvSpPr>
        <p:spPr>
          <a:xfrm>
            <a:off x="6461608" y="2057400"/>
            <a:ext cx="173736" cy="1371600"/>
          </a:xfrm>
          <a:prstGeom prst="rect">
            <a:avLst/>
          </a:prstGeom>
          <a:solidFill>
            <a:srgbClr val="FBBF24"/>
          </a:solidFill>
          <a:ln w="12700">
            <a:solidFill>
              <a:srgbClr val="38BDF8"/>
            </a:solidFill>
            <a:prstDash val="solid"/>
          </a:ln>
        </p:spPr>
      </p:sp>
      <p:sp>
        <p:nvSpPr>
          <p:cNvPr id="16" name="Shape 14"/>
          <p:cNvSpPr/>
          <p:nvPr/>
        </p:nvSpPr>
        <p:spPr>
          <a:xfrm>
            <a:off x="6690208" y="2441448"/>
            <a:ext cx="173736" cy="987552"/>
          </a:xfrm>
          <a:prstGeom prst="rect">
            <a:avLst/>
          </a:prstGeom>
          <a:solidFill>
            <a:srgbClr val="FBBF24"/>
          </a:solidFill>
          <a:ln w="12700">
            <a:solidFill>
              <a:srgbClr val="38BDF8"/>
            </a:solidFill>
            <a:prstDash val="solid"/>
          </a:ln>
        </p:spPr>
      </p:sp>
      <p:sp>
        <p:nvSpPr>
          <p:cNvPr id="17" name="Shape 15"/>
          <p:cNvSpPr/>
          <p:nvPr/>
        </p:nvSpPr>
        <p:spPr>
          <a:xfrm>
            <a:off x="6918808" y="2743200"/>
            <a:ext cx="173736" cy="685800"/>
          </a:xfrm>
          <a:prstGeom prst="rect">
            <a:avLst/>
          </a:prstGeom>
          <a:solidFill>
            <a:srgbClr val="38BDF8">
              <a:alpha val="70000"/>
            </a:srgbClr>
          </a:solidFill>
          <a:ln w="12700">
            <a:solidFill>
              <a:srgbClr val="38BDF8"/>
            </a:solidFill>
            <a:prstDash val="solid"/>
          </a:ln>
        </p:spPr>
      </p:sp>
      <p:sp>
        <p:nvSpPr>
          <p:cNvPr id="18" name="Shape 16"/>
          <p:cNvSpPr/>
          <p:nvPr/>
        </p:nvSpPr>
        <p:spPr>
          <a:xfrm>
            <a:off x="7147408" y="2935224"/>
            <a:ext cx="173736" cy="493776"/>
          </a:xfrm>
          <a:prstGeom prst="rect">
            <a:avLst/>
          </a:prstGeom>
          <a:solidFill>
            <a:srgbClr val="38BDF8">
              <a:alpha val="70000"/>
            </a:srgbClr>
          </a:solidFill>
          <a:ln w="12700">
            <a:solidFill>
              <a:srgbClr val="38BDF8"/>
            </a:solidFill>
            <a:prstDash val="solid"/>
          </a:ln>
        </p:spPr>
      </p:sp>
      <p:sp>
        <p:nvSpPr>
          <p:cNvPr id="19" name="Shape 17"/>
          <p:cNvSpPr/>
          <p:nvPr/>
        </p:nvSpPr>
        <p:spPr>
          <a:xfrm>
            <a:off x="7376008" y="3072384"/>
            <a:ext cx="173736" cy="356616"/>
          </a:xfrm>
          <a:prstGeom prst="rect">
            <a:avLst/>
          </a:prstGeom>
          <a:solidFill>
            <a:srgbClr val="38BDF8">
              <a:alpha val="70000"/>
            </a:srgbClr>
          </a:solidFill>
          <a:ln w="12700">
            <a:solidFill>
              <a:srgbClr val="38BDF8"/>
            </a:solidFill>
            <a:prstDash val="solid"/>
          </a:ln>
        </p:spPr>
      </p:sp>
      <p:sp>
        <p:nvSpPr>
          <p:cNvPr id="20" name="Shape 18"/>
          <p:cNvSpPr/>
          <p:nvPr/>
        </p:nvSpPr>
        <p:spPr>
          <a:xfrm>
            <a:off x="7604608" y="3168396"/>
            <a:ext cx="173736" cy="260604"/>
          </a:xfrm>
          <a:prstGeom prst="rect">
            <a:avLst/>
          </a:prstGeom>
          <a:solidFill>
            <a:srgbClr val="38BDF8">
              <a:alpha val="70000"/>
            </a:srgbClr>
          </a:solidFill>
          <a:ln w="12700">
            <a:solidFill>
              <a:srgbClr val="38BDF8"/>
            </a:solidFill>
            <a:prstDash val="solid"/>
          </a:ln>
        </p:spPr>
      </p:sp>
      <p:sp>
        <p:nvSpPr>
          <p:cNvPr id="21" name="Shape 19"/>
          <p:cNvSpPr/>
          <p:nvPr/>
        </p:nvSpPr>
        <p:spPr>
          <a:xfrm>
            <a:off x="7833208" y="3236976"/>
            <a:ext cx="173736" cy="192024"/>
          </a:xfrm>
          <a:prstGeom prst="rect">
            <a:avLst/>
          </a:prstGeom>
          <a:solidFill>
            <a:srgbClr val="38BDF8">
              <a:alpha val="70000"/>
            </a:srgbClr>
          </a:solidFill>
          <a:ln w="12700">
            <a:solidFill>
              <a:srgbClr val="38BDF8"/>
            </a:solidFill>
            <a:prstDash val="solid"/>
          </a:ln>
        </p:spPr>
      </p:sp>
      <p:sp>
        <p:nvSpPr>
          <p:cNvPr id="22" name="Shape 20"/>
          <p:cNvSpPr/>
          <p:nvPr/>
        </p:nvSpPr>
        <p:spPr>
          <a:xfrm>
            <a:off x="8061808" y="3291840"/>
            <a:ext cx="173736" cy="137160"/>
          </a:xfrm>
          <a:prstGeom prst="rect">
            <a:avLst/>
          </a:prstGeom>
          <a:solidFill>
            <a:srgbClr val="38BDF8">
              <a:alpha val="70000"/>
            </a:srgbClr>
          </a:solidFill>
          <a:ln w="12700">
            <a:solidFill>
              <a:srgbClr val="38BDF8"/>
            </a:solidFill>
            <a:prstDash val="solid"/>
          </a:ln>
        </p:spPr>
      </p:sp>
      <p:sp>
        <p:nvSpPr>
          <p:cNvPr id="23" name="Text 21"/>
          <p:cNvSpPr txBox="1"/>
          <p:nvPr/>
        </p:nvSpPr>
        <p:spPr>
          <a:xfrm>
            <a:off x="8564728" y="1984248"/>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Top 15 mã lỗi (Pareto)</a:t>
            </a:r>
            <a:endParaRPr lang="en-US" sz="1600" dirty="0"/>
          </a:p>
        </p:txBody>
      </p:sp>
      <p:sp>
        <p:nvSpPr>
          <p:cNvPr id="24" name="Text 22"/>
          <p:cNvSpPr txBox="1"/>
          <p:nvPr/>
        </p:nvSpPr>
        <p:spPr>
          <a:xfrm>
            <a:off x="8564728" y="2377440"/>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Sửa lỗi nào thì được nhiều nhất?</a:t>
            </a:r>
            <a:endParaRPr lang="en-US" sz="1400" dirty="0"/>
          </a:p>
        </p:txBody>
      </p:sp>
      <p:sp>
        <p:nvSpPr>
          <p:cNvPr id="25" name="Text 23"/>
          <p:cNvSpPr txBox="1"/>
          <p:nvPr/>
        </p:nvSpPr>
        <p:spPr>
          <a:xfrm>
            <a:off x="8564728" y="2788920"/>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Xử lý vài mã đầu bảng giải quyết phần lớn hồ sơ lỗi</a:t>
            </a:r>
            <a:endParaRPr lang="en-US" sz="1250" dirty="0"/>
          </a:p>
        </p:txBody>
      </p:sp>
      <p:sp>
        <p:nvSpPr>
          <p:cNvPr id="26" name="Shape 24"/>
          <p:cNvSpPr/>
          <p:nvPr/>
        </p:nvSpPr>
        <p:spPr>
          <a:xfrm>
            <a:off x="640080" y="3904488"/>
            <a:ext cx="5318608" cy="1920240"/>
          </a:xfrm>
          <a:prstGeom prst="roundRect">
            <a:avLst>
              <a:gd name="adj" fmla="val 4762"/>
            </a:avLst>
          </a:prstGeom>
          <a:solidFill>
            <a:srgbClr val="1C3558">
              <a:alpha val="85000"/>
            </a:srgbClr>
          </a:solidFill>
          <a:ln w="9525">
            <a:solidFill>
              <a:srgbClr val="2E4B74"/>
            </a:solidFill>
            <a:prstDash val="solid"/>
          </a:ln>
        </p:spPr>
      </p:sp>
      <p:sp>
        <p:nvSpPr>
          <p:cNvPr id="27" name="Shape 25"/>
          <p:cNvSpPr/>
          <p:nvPr/>
        </p:nvSpPr>
        <p:spPr>
          <a:xfrm>
            <a:off x="868680" y="4933188"/>
            <a:ext cx="329184" cy="617220"/>
          </a:xfrm>
          <a:prstGeom prst="rect">
            <a:avLst/>
          </a:prstGeom>
          <a:solidFill>
            <a:srgbClr val="38BDF8">
              <a:alpha val="70000"/>
            </a:srgbClr>
          </a:solidFill>
          <a:ln w="12700">
            <a:solidFill>
              <a:srgbClr val="38BDF8"/>
            </a:solidFill>
            <a:prstDash val="solid"/>
          </a:ln>
        </p:spPr>
      </p:sp>
      <p:sp>
        <p:nvSpPr>
          <p:cNvPr id="28" name="Shape 26"/>
          <p:cNvSpPr/>
          <p:nvPr/>
        </p:nvSpPr>
        <p:spPr>
          <a:xfrm>
            <a:off x="1325880" y="4590288"/>
            <a:ext cx="329184" cy="960120"/>
          </a:xfrm>
          <a:prstGeom prst="rect">
            <a:avLst/>
          </a:prstGeom>
          <a:solidFill>
            <a:srgbClr val="38BDF8">
              <a:alpha val="70000"/>
            </a:srgbClr>
          </a:solidFill>
          <a:ln w="12700">
            <a:solidFill>
              <a:srgbClr val="38BDF8"/>
            </a:solidFill>
            <a:prstDash val="solid"/>
          </a:ln>
        </p:spPr>
      </p:sp>
      <p:sp>
        <p:nvSpPr>
          <p:cNvPr id="29" name="Shape 27"/>
          <p:cNvSpPr/>
          <p:nvPr/>
        </p:nvSpPr>
        <p:spPr>
          <a:xfrm>
            <a:off x="1783080" y="4796028"/>
            <a:ext cx="329184" cy="754380"/>
          </a:xfrm>
          <a:prstGeom prst="rect">
            <a:avLst/>
          </a:prstGeom>
          <a:solidFill>
            <a:srgbClr val="38BDF8">
              <a:alpha val="70000"/>
            </a:srgbClr>
          </a:solidFill>
          <a:ln w="12700">
            <a:solidFill>
              <a:srgbClr val="38BDF8"/>
            </a:solidFill>
            <a:prstDash val="solid"/>
          </a:ln>
        </p:spPr>
      </p:sp>
      <p:sp>
        <p:nvSpPr>
          <p:cNvPr id="30" name="Shape 28"/>
          <p:cNvSpPr/>
          <p:nvPr/>
        </p:nvSpPr>
        <p:spPr>
          <a:xfrm>
            <a:off x="2240280" y="4178808"/>
            <a:ext cx="329184" cy="1371600"/>
          </a:xfrm>
          <a:prstGeom prst="rect">
            <a:avLst/>
          </a:prstGeom>
          <a:solidFill>
            <a:srgbClr val="F87171"/>
          </a:solidFill>
          <a:ln w="12700">
            <a:solidFill>
              <a:srgbClr val="38BDF8"/>
            </a:solidFill>
            <a:prstDash val="solid"/>
          </a:ln>
        </p:spPr>
      </p:sp>
      <p:sp>
        <p:nvSpPr>
          <p:cNvPr id="31" name="Text 29"/>
          <p:cNvSpPr txBox="1"/>
          <p:nvPr/>
        </p:nvSpPr>
        <p:spPr>
          <a:xfrm>
            <a:off x="2971800" y="4105656"/>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Tồn đọng theo tuổi hồ sơ</a:t>
            </a:r>
            <a:endParaRPr lang="en-US" sz="1600" dirty="0"/>
          </a:p>
        </p:txBody>
      </p:sp>
      <p:sp>
        <p:nvSpPr>
          <p:cNvPr id="32" name="Text 30"/>
          <p:cNvSpPr txBox="1"/>
          <p:nvPr/>
        </p:nvSpPr>
        <p:spPr>
          <a:xfrm>
            <a:off x="2971800" y="4498848"/>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Hồ sơ nào sắp quá hạn?</a:t>
            </a:r>
            <a:endParaRPr lang="en-US" sz="1400" dirty="0"/>
          </a:p>
        </p:txBody>
      </p:sp>
      <p:sp>
        <p:nvSpPr>
          <p:cNvPr id="33" name="Text 31"/>
          <p:cNvSpPr txBox="1"/>
          <p:nvPr/>
        </p:nvSpPr>
        <p:spPr>
          <a:xfrm>
            <a:off x="2971800" y="4910328"/>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0–7 · 8–15 · 16–30 · trên 30 ngày — nhóm trên 30 ngày xử lý trước</a:t>
            </a:r>
            <a:endParaRPr lang="en-US" sz="1250" dirty="0"/>
          </a:p>
        </p:txBody>
      </p:sp>
      <p:sp>
        <p:nvSpPr>
          <p:cNvPr id="34" name="Shape 32"/>
          <p:cNvSpPr/>
          <p:nvPr/>
        </p:nvSpPr>
        <p:spPr>
          <a:xfrm>
            <a:off x="6233008" y="3904488"/>
            <a:ext cx="5318608" cy="1920240"/>
          </a:xfrm>
          <a:prstGeom prst="roundRect">
            <a:avLst>
              <a:gd name="adj" fmla="val 4762"/>
            </a:avLst>
          </a:prstGeom>
          <a:solidFill>
            <a:srgbClr val="1C3558">
              <a:alpha val="85000"/>
            </a:srgbClr>
          </a:solidFill>
          <a:ln w="9525">
            <a:solidFill>
              <a:srgbClr val="2E4B74"/>
            </a:solidFill>
            <a:prstDash val="solid"/>
          </a:ln>
        </p:spPr>
      </p:sp>
      <p:sp>
        <p:nvSpPr>
          <p:cNvPr id="35" name="Shape 33"/>
          <p:cNvSpPr/>
          <p:nvPr/>
        </p:nvSpPr>
        <p:spPr>
          <a:xfrm>
            <a:off x="6461608" y="4178808"/>
            <a:ext cx="1828800" cy="201168"/>
          </a:xfrm>
          <a:prstGeom prst="rect">
            <a:avLst/>
          </a:prstGeom>
          <a:solidFill>
            <a:srgbClr val="FBBF24"/>
          </a:solidFill>
          <a:ln w="12700">
            <a:solidFill>
              <a:srgbClr val="38BDF8"/>
            </a:solidFill>
            <a:prstDash val="solid"/>
          </a:ln>
        </p:spPr>
      </p:sp>
      <p:sp>
        <p:nvSpPr>
          <p:cNvPr id="36" name="Shape 34"/>
          <p:cNvSpPr/>
          <p:nvPr/>
        </p:nvSpPr>
        <p:spPr>
          <a:xfrm>
            <a:off x="6461608" y="4453128"/>
            <a:ext cx="1426464" cy="201168"/>
          </a:xfrm>
          <a:prstGeom prst="rect">
            <a:avLst/>
          </a:prstGeom>
          <a:solidFill>
            <a:srgbClr val="38BDF8">
              <a:alpha val="70000"/>
            </a:srgbClr>
          </a:solidFill>
          <a:ln w="12700">
            <a:solidFill>
              <a:srgbClr val="38BDF8"/>
            </a:solidFill>
            <a:prstDash val="solid"/>
          </a:ln>
        </p:spPr>
      </p:sp>
      <p:sp>
        <p:nvSpPr>
          <p:cNvPr id="37" name="Shape 35"/>
          <p:cNvSpPr/>
          <p:nvPr/>
        </p:nvSpPr>
        <p:spPr>
          <a:xfrm>
            <a:off x="6461608" y="4727448"/>
            <a:ext cx="1097280" cy="201168"/>
          </a:xfrm>
          <a:prstGeom prst="rect">
            <a:avLst/>
          </a:prstGeom>
          <a:solidFill>
            <a:srgbClr val="38BDF8">
              <a:alpha val="70000"/>
            </a:srgbClr>
          </a:solidFill>
          <a:ln w="12700">
            <a:solidFill>
              <a:srgbClr val="38BDF8"/>
            </a:solidFill>
            <a:prstDash val="solid"/>
          </a:ln>
        </p:spPr>
      </p:sp>
      <p:sp>
        <p:nvSpPr>
          <p:cNvPr id="38" name="Shape 36"/>
          <p:cNvSpPr/>
          <p:nvPr/>
        </p:nvSpPr>
        <p:spPr>
          <a:xfrm>
            <a:off x="6461608" y="5001768"/>
            <a:ext cx="768096" cy="201168"/>
          </a:xfrm>
          <a:prstGeom prst="rect">
            <a:avLst/>
          </a:prstGeom>
          <a:solidFill>
            <a:srgbClr val="38BDF8">
              <a:alpha val="70000"/>
            </a:srgbClr>
          </a:solidFill>
          <a:ln w="12700">
            <a:solidFill>
              <a:srgbClr val="38BDF8"/>
            </a:solidFill>
            <a:prstDash val="solid"/>
          </a:ln>
        </p:spPr>
      </p:sp>
      <p:sp>
        <p:nvSpPr>
          <p:cNvPr id="39" name="Shape 37"/>
          <p:cNvSpPr/>
          <p:nvPr/>
        </p:nvSpPr>
        <p:spPr>
          <a:xfrm>
            <a:off x="6461608" y="5276088"/>
            <a:ext cx="548640" cy="201168"/>
          </a:xfrm>
          <a:prstGeom prst="rect">
            <a:avLst/>
          </a:prstGeom>
          <a:solidFill>
            <a:srgbClr val="38BDF8">
              <a:alpha val="70000"/>
            </a:srgbClr>
          </a:solidFill>
          <a:ln w="12700">
            <a:solidFill>
              <a:srgbClr val="38BDF8"/>
            </a:solidFill>
            <a:prstDash val="solid"/>
          </a:ln>
        </p:spPr>
      </p:sp>
      <p:sp>
        <p:nvSpPr>
          <p:cNvPr id="40" name="Text 38"/>
          <p:cNvSpPr txBox="1"/>
          <p:nvPr/>
        </p:nvSpPr>
        <p:spPr>
          <a:xfrm>
            <a:off x="8564728" y="4105656"/>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Lỗi nghiêm trọng theo khoa</a:t>
            </a:r>
            <a:endParaRPr lang="en-US" sz="1600" dirty="0"/>
          </a:p>
        </p:txBody>
      </p:sp>
      <p:sp>
        <p:nvSpPr>
          <p:cNvPr id="41" name="Text 39"/>
          <p:cNvSpPr txBox="1"/>
          <p:nvPr/>
        </p:nvSpPr>
        <p:spPr>
          <a:xfrm>
            <a:off x="8564728" y="4498848"/>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Giao việc cho ai?</a:t>
            </a:r>
            <a:endParaRPr lang="en-US" sz="1400" dirty="0"/>
          </a:p>
        </p:txBody>
      </p:sp>
      <p:sp>
        <p:nvSpPr>
          <p:cNvPr id="42" name="Text 40"/>
          <p:cNvSpPr txBox="1"/>
          <p:nvPr/>
        </p:nvSpPr>
        <p:spPr>
          <a:xfrm>
            <a:off x="8564728" y="4910328"/>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Phân bổ lỗi theo khoa thực hiện để giao đúng đầu mối</a:t>
            </a:r>
            <a:endParaRPr lang="en-US" sz="1250" dirty="0"/>
          </a:p>
        </p:txBody>
      </p:sp>
      <p:sp>
        <p:nvSpPr>
          <p:cNvPr id="43" name="Text 41"/>
          <p:cNvSpPr txBox="1"/>
          <p:nvPr/>
        </p:nvSpPr>
        <p:spPr>
          <a:xfrm>
            <a:off x="640080" y="6035040"/>
            <a:ext cx="10911535" cy="256032"/>
          </a:xfrm>
          <a:prstGeom prst="rect">
            <a:avLst/>
          </a:prstGeom>
          <a:noFill/>
          <a:ln/>
        </p:spPr>
        <p:txBody>
          <a:bodyPr wrap="square" lIns="0" tIns="0" rIns="0" bIns="0" rtlCol="0" anchor="ctr"/>
          <a:lstStyle/>
          <a:p>
            <a:pPr indent="0" marL="0">
              <a:buNone/>
            </a:pPr>
            <a:r>
              <a:rPr lang="en-US" sz="1050" i="1" dirty="0">
                <a:solidFill>
                  <a:srgbClr val="7F93B0"/>
                </a:solidFill>
                <a:latin typeface="Arial" pitchFamily="34" charset="0"/>
                <a:ea typeface="Arial" pitchFamily="34" charset="-122"/>
                <a:cs typeface="Arial" pitchFamily="34" charset="-120"/>
              </a:rPr>
              <a:t>Hình bên trái mỗi ô là minh hoạ dạng biểu đồ, không phải số liệu thật.</a:t>
            </a:r>
            <a:endParaRPr lang="en-US" sz="1050" dirty="0"/>
          </a:p>
        </p:txBody>
      </p:sp>
      <p:sp>
        <p:nvSpPr>
          <p:cNvPr id="45" name="Text 42"/>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13 / 19</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GIÁ TRỊ</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Mỗi vai trò nhận được gì</a:t>
            </a:r>
            <a:endParaRPr lang="en-US" sz="2800" dirty="0"/>
          </a:p>
        </p:txBody>
      </p:sp>
      <p:sp>
        <p:nvSpPr>
          <p:cNvPr id="4" name="Shape 2"/>
          <p:cNvSpPr/>
          <p:nvPr/>
        </p:nvSpPr>
        <p:spPr>
          <a:xfrm>
            <a:off x="640080" y="1600200"/>
            <a:ext cx="3454298" cy="3977640"/>
          </a:xfrm>
          <a:prstGeom prst="roundRect">
            <a:avLst>
              <a:gd name="adj" fmla="val 2647"/>
            </a:avLst>
          </a:prstGeom>
          <a:solidFill>
            <a:srgbClr val="1C3558">
              <a:alpha val="85000"/>
            </a:srgbClr>
          </a:solidFill>
          <a:ln w="9525">
            <a:solidFill>
              <a:srgbClr val="2E4B74"/>
            </a:solidFill>
            <a:prstDash val="solid"/>
          </a:ln>
        </p:spPr>
      </p:sp>
      <p:sp>
        <p:nvSpPr>
          <p:cNvPr id="5" name="Shape 3"/>
          <p:cNvSpPr/>
          <p:nvPr/>
        </p:nvSpPr>
        <p:spPr>
          <a:xfrm>
            <a:off x="1932889" y="1874520"/>
            <a:ext cx="868680" cy="868680"/>
          </a:xfrm>
          <a:prstGeom prst="ellipse">
            <a:avLst/>
          </a:prstGeom>
          <a:solidFill>
            <a:srgbClr val="25324A"/>
          </a:solidFill>
          <a:ln w="15875">
            <a:solidFill>
              <a:srgbClr val="FBBF24"/>
            </a:solidFill>
            <a:prstDash val="solid"/>
          </a:ln>
        </p:spPr>
      </p:sp>
      <p:sp>
        <p:nvSpPr>
          <p:cNvPr id="6" name="Text 4"/>
          <p:cNvSpPr txBox="1"/>
          <p:nvPr/>
        </p:nvSpPr>
        <p:spPr>
          <a:xfrm>
            <a:off x="1932889" y="1874520"/>
            <a:ext cx="868680" cy="868680"/>
          </a:xfrm>
          <a:prstGeom prst="rect">
            <a:avLst/>
          </a:prstGeom>
          <a:noFill/>
          <a:ln/>
        </p:spPr>
        <p:txBody>
          <a:bodyPr wrap="square" lIns="0" tIns="0" rIns="0" bIns="0" rtlCol="0" anchor="ctr"/>
          <a:lstStyle/>
          <a:p>
            <a:pPr algn="ct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7" name="Text 5"/>
          <p:cNvSpPr txBox="1"/>
          <p:nvPr/>
        </p:nvSpPr>
        <p:spPr>
          <a:xfrm>
            <a:off x="822960" y="2880360"/>
            <a:ext cx="308853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Lãnh đạo bệnh viện</a:t>
            </a:r>
            <a:endParaRPr lang="en-US" sz="1900" dirty="0"/>
          </a:p>
        </p:txBody>
      </p:sp>
      <p:sp>
        <p:nvSpPr>
          <p:cNvPr id="8" name="Text 6"/>
          <p:cNvSpPr txBox="1"/>
          <p:nvPr/>
        </p:nvSpPr>
        <p:spPr>
          <a:xfrm>
            <a:off x="914400" y="3520440"/>
            <a:ext cx="2951378" cy="2286000"/>
          </a:xfrm>
          <a:prstGeom prst="rect">
            <a:avLst/>
          </a:prstGeom>
          <a:noFill/>
          <a:ln/>
        </p:spPr>
        <p:txBody>
          <a:bodyPr wrap="square" lIns="0" tIns="0" rIns="0" bIns="0" rtlCol="0" anchor="t"/>
          <a:lstStyle/>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Giảm rủi ro xuất toán từ gốc — lỗi được chặn trước khi gửi</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Nắm chất lượng hồ sơ bằng số liệu, không chờ cổng báo về</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Thấy được chi phí BHYT đang bị treo vì hồ sơ chưa gửi được</a:t>
            </a:r>
            <a:endParaRPr lang="en-US" sz="1400" dirty="0"/>
          </a:p>
        </p:txBody>
      </p:sp>
      <p:sp>
        <p:nvSpPr>
          <p:cNvPr id="9" name="Shape 7"/>
          <p:cNvSpPr/>
          <p:nvPr/>
        </p:nvSpPr>
        <p:spPr>
          <a:xfrm>
            <a:off x="4368698" y="1600200"/>
            <a:ext cx="3454298" cy="3977640"/>
          </a:xfrm>
          <a:prstGeom prst="roundRect">
            <a:avLst>
              <a:gd name="adj" fmla="val 2647"/>
            </a:avLst>
          </a:prstGeom>
          <a:solidFill>
            <a:srgbClr val="1C3558">
              <a:alpha val="85000"/>
            </a:srgbClr>
          </a:solidFill>
          <a:ln w="9525">
            <a:solidFill>
              <a:srgbClr val="2E4B74"/>
            </a:solidFill>
            <a:prstDash val="solid"/>
          </a:ln>
        </p:spPr>
      </p:sp>
      <p:sp>
        <p:nvSpPr>
          <p:cNvPr id="10" name="Shape 8"/>
          <p:cNvSpPr/>
          <p:nvPr/>
        </p:nvSpPr>
        <p:spPr>
          <a:xfrm>
            <a:off x="5661508" y="1874520"/>
            <a:ext cx="868680" cy="868680"/>
          </a:xfrm>
          <a:prstGeom prst="ellipse">
            <a:avLst/>
          </a:prstGeom>
          <a:solidFill>
            <a:srgbClr val="25324A"/>
          </a:solidFill>
          <a:ln w="15875">
            <a:solidFill>
              <a:srgbClr val="FBBF24"/>
            </a:solidFill>
            <a:prstDash val="solid"/>
          </a:ln>
        </p:spPr>
      </p:sp>
      <p:sp>
        <p:nvSpPr>
          <p:cNvPr id="11" name="Text 9"/>
          <p:cNvSpPr txBox="1"/>
          <p:nvPr/>
        </p:nvSpPr>
        <p:spPr>
          <a:xfrm>
            <a:off x="5661508" y="1874520"/>
            <a:ext cx="868680" cy="868680"/>
          </a:xfrm>
          <a:prstGeom prst="rect">
            <a:avLst/>
          </a:prstGeom>
          <a:noFill/>
          <a:ln/>
        </p:spPr>
        <p:txBody>
          <a:bodyPr wrap="square" lIns="0" tIns="0" rIns="0" bIns="0" rtlCol="0" anchor="ctr"/>
          <a:lstStyle/>
          <a:p>
            <a:pPr algn="ct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2" name="Text 10"/>
          <p:cNvSpPr txBox="1"/>
          <p:nvPr/>
        </p:nvSpPr>
        <p:spPr>
          <a:xfrm>
            <a:off x="4551578" y="2880360"/>
            <a:ext cx="308853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Lãnh đạo phòng KHTH</a:t>
            </a:r>
            <a:endParaRPr lang="en-US" sz="1900" dirty="0"/>
          </a:p>
        </p:txBody>
      </p:sp>
      <p:sp>
        <p:nvSpPr>
          <p:cNvPr id="13" name="Text 11"/>
          <p:cNvSpPr txBox="1"/>
          <p:nvPr/>
        </p:nvSpPr>
        <p:spPr>
          <a:xfrm>
            <a:off x="4643018" y="3520440"/>
            <a:ext cx="2951378" cy="2286000"/>
          </a:xfrm>
          <a:prstGeom prst="rect">
            <a:avLst/>
          </a:prstGeom>
          <a:noFill/>
          <a:ln/>
        </p:spPr>
        <p:txBody>
          <a:bodyPr wrap="square" lIns="0" tIns="0" rIns="0" bIns="0" rtlCol="0" anchor="t"/>
          <a:lstStyle/>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Biết lỗi tập trung ở khoa nào, mã lỗi nào để ưu tiên</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Theo dõi tồn đọng theo tuổi hồ sơ, xử lý nhóm quá hạn trước</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Giao việc sửa lỗi có căn cứ: phiếu lỗi theo mã điều trị</a:t>
            </a:r>
            <a:endParaRPr lang="en-US" sz="1400" dirty="0"/>
          </a:p>
        </p:txBody>
      </p:sp>
      <p:sp>
        <p:nvSpPr>
          <p:cNvPr id="14" name="Shape 12"/>
          <p:cNvSpPr/>
          <p:nvPr/>
        </p:nvSpPr>
        <p:spPr>
          <a:xfrm>
            <a:off x="8097317" y="1600200"/>
            <a:ext cx="3454298" cy="3977640"/>
          </a:xfrm>
          <a:prstGeom prst="roundRect">
            <a:avLst>
              <a:gd name="adj" fmla="val 2647"/>
            </a:avLst>
          </a:prstGeom>
          <a:solidFill>
            <a:srgbClr val="1C3558">
              <a:alpha val="85000"/>
            </a:srgbClr>
          </a:solidFill>
          <a:ln w="9525">
            <a:solidFill>
              <a:srgbClr val="2E4B74"/>
            </a:solidFill>
            <a:prstDash val="solid"/>
          </a:ln>
        </p:spPr>
      </p:sp>
      <p:sp>
        <p:nvSpPr>
          <p:cNvPr id="15" name="Shape 13"/>
          <p:cNvSpPr/>
          <p:nvPr/>
        </p:nvSpPr>
        <p:spPr>
          <a:xfrm>
            <a:off x="9390126" y="1874520"/>
            <a:ext cx="868680" cy="868680"/>
          </a:xfrm>
          <a:prstGeom prst="ellipse">
            <a:avLst/>
          </a:prstGeom>
          <a:solidFill>
            <a:srgbClr val="25324A"/>
          </a:solidFill>
          <a:ln w="15875">
            <a:solidFill>
              <a:srgbClr val="FBBF24"/>
            </a:solidFill>
            <a:prstDash val="solid"/>
          </a:ln>
        </p:spPr>
      </p:sp>
      <p:sp>
        <p:nvSpPr>
          <p:cNvPr id="16" name="Text 14"/>
          <p:cNvSpPr txBox="1"/>
          <p:nvPr/>
        </p:nvSpPr>
        <p:spPr>
          <a:xfrm>
            <a:off x="9390126" y="1874520"/>
            <a:ext cx="868680" cy="868680"/>
          </a:xfrm>
          <a:prstGeom prst="rect">
            <a:avLst/>
          </a:prstGeom>
          <a:noFill/>
          <a:ln/>
        </p:spPr>
        <p:txBody>
          <a:bodyPr wrap="square" lIns="0" tIns="0" rIns="0" bIns="0" rtlCol="0" anchor="ctr"/>
          <a:lstStyle/>
          <a:p>
            <a:pPr algn="ct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7" name="Text 15"/>
          <p:cNvSpPr txBox="1"/>
          <p:nvPr/>
        </p:nvSpPr>
        <p:spPr>
          <a:xfrm>
            <a:off x="8280197" y="2880360"/>
            <a:ext cx="308853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Nhân viên nghiệp vụ</a:t>
            </a:r>
            <a:endParaRPr lang="en-US" sz="1900" dirty="0"/>
          </a:p>
        </p:txBody>
      </p:sp>
      <p:sp>
        <p:nvSpPr>
          <p:cNvPr id="18" name="Text 16"/>
          <p:cNvSpPr txBox="1"/>
          <p:nvPr/>
        </p:nvSpPr>
        <p:spPr>
          <a:xfrm>
            <a:off x="8371637" y="3520440"/>
            <a:ext cx="2951378" cy="2286000"/>
          </a:xfrm>
          <a:prstGeom prst="rect">
            <a:avLst/>
          </a:prstGeom>
          <a:noFill/>
          <a:ln/>
        </p:spPr>
        <p:txBody>
          <a:bodyPr wrap="square" lIns="0" tIns="0" rIns="0" bIns="0" rtlCol="0" anchor="t"/>
          <a:lstStyle/>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Không dò hồ sơ thủ công — lỗi chỉ ra tận bảng, tận trường</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Ký số và gửi cổng tự động khi hồ sơ đạt yêu cầu</a:t>
            </a:r>
            <a:endParaRPr lang="en-US" sz="1400" dirty="0"/>
          </a:p>
          <a:p>
            <a:pPr marL="203200" indent="-203200">
              <a:lnSpc>
                <a:spcPts val="1900"/>
              </a:lnSpc>
              <a:spcAft>
                <a:spcPts val="1000"/>
              </a:spcAft>
              <a:buSzPct val="100000"/>
              <a:buChar char="•"/>
            </a:pPr>
            <a:r>
              <a:rPr lang="en-US" sz="1400" dirty="0">
                <a:solidFill>
                  <a:srgbClr val="A9BCD6"/>
                </a:solidFill>
                <a:latin typeface="Arial" pitchFamily="34" charset="0"/>
                <a:ea typeface="Arial" pitchFamily="34" charset="-122"/>
                <a:cs typeface="Arial" pitchFamily="34" charset="-120"/>
              </a:rPr>
              <a:t>Tra thẻ hàng loạt, tra tiền cùng chi trả ngay trên một màn hình</a:t>
            </a:r>
            <a:endParaRPr lang="en-US" sz="1400" dirty="0"/>
          </a:p>
        </p:txBody>
      </p:sp>
      <p:sp>
        <p:nvSpPr>
          <p:cNvPr id="20" name="Text 17"/>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14 / 19</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NÓI RÕ TRƯỚC</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Nguyên tắc vận hành và giới hạn cần biết</a:t>
            </a:r>
            <a:endParaRPr lang="en-US" sz="2800" dirty="0"/>
          </a:p>
        </p:txBody>
      </p:sp>
      <p:sp>
        <p:nvSpPr>
          <p:cNvPr id="4" name="Shape 2"/>
          <p:cNvSpPr/>
          <p:nvPr/>
        </p:nvSpPr>
        <p:spPr>
          <a:xfrm>
            <a:off x="640080" y="1508760"/>
            <a:ext cx="5295748" cy="3657600"/>
          </a:xfrm>
          <a:prstGeom prst="roundRect">
            <a:avLst>
              <a:gd name="adj" fmla="val 2500"/>
            </a:avLst>
          </a:prstGeom>
          <a:solidFill>
            <a:srgbClr val="1C3558">
              <a:alpha val="85000"/>
            </a:srgbClr>
          </a:solidFill>
          <a:ln w="9525">
            <a:solidFill>
              <a:srgbClr val="2E4B74"/>
            </a:solidFill>
            <a:prstDash val="solid"/>
          </a:ln>
        </p:spPr>
      </p:sp>
      <p:sp>
        <p:nvSpPr>
          <p:cNvPr id="5" name="Text 3"/>
          <p:cNvSpPr txBox="1"/>
          <p:nvPr/>
        </p:nvSpPr>
        <p:spPr>
          <a:xfrm>
            <a:off x="868680" y="1709928"/>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6" name="Text 4"/>
          <p:cNvSpPr txBox="1"/>
          <p:nvPr/>
        </p:nvSpPr>
        <p:spPr>
          <a:xfrm>
            <a:off x="1417320" y="1709928"/>
            <a:ext cx="4289908" cy="457200"/>
          </a:xfrm>
          <a:prstGeom prst="rect">
            <a:avLst/>
          </a:prstGeom>
          <a:noFill/>
          <a:ln/>
        </p:spPr>
        <p:txBody>
          <a:bodyPr wrap="square" lIns="0" tIns="0" rIns="0" bIns="0" rtlCol="0" anchor="ctr"/>
          <a:lstStyle/>
          <a:p>
            <a:pPr indent="0" marL="0">
              <a:buNone/>
            </a:pPr>
            <a:r>
              <a:rPr lang="en-US" sz="1900" b="1" dirty="0">
                <a:solidFill>
                  <a:srgbClr val="4ADE80"/>
                </a:solidFill>
                <a:latin typeface="Arial" pitchFamily="34" charset="0"/>
                <a:ea typeface="Arial" pitchFamily="34" charset="-122"/>
                <a:cs typeface="Arial" pitchFamily="34" charset="-120"/>
              </a:rPr>
              <a:t>Nguyên tắc</a:t>
            </a:r>
            <a:endParaRPr lang="en-US" sz="1900" dirty="0"/>
          </a:p>
        </p:txBody>
      </p:sp>
      <p:sp>
        <p:nvSpPr>
          <p:cNvPr id="7" name="Text 5"/>
          <p:cNvSpPr txBox="1"/>
          <p:nvPr/>
        </p:nvSpPr>
        <p:spPr>
          <a:xfrm>
            <a:off x="914400" y="2377440"/>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Chỉ đọc HIS</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Không ghi, không sửa dữ liệu, không đổi cấu trúc HIS</a:t>
            </a:r>
            <a:endParaRPr lang="en-US" sz="1550" dirty="0"/>
          </a:p>
        </p:txBody>
      </p:sp>
      <p:sp>
        <p:nvSpPr>
          <p:cNvPr id="8" name="Text 6"/>
          <p:cNvSpPr txBox="1"/>
          <p:nvPr/>
        </p:nvSpPr>
        <p:spPr>
          <a:xfrm>
            <a:off x="914400" y="3273552"/>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Sửa tại nơi phát sinh</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Lỗi sửa trên HIS rồi nạp lại — phần mềm không sửa hộ</a:t>
            </a:r>
            <a:endParaRPr lang="en-US" sz="1550" dirty="0"/>
          </a:p>
        </p:txBody>
      </p:sp>
      <p:sp>
        <p:nvSpPr>
          <p:cNvPr id="9" name="Text 7"/>
          <p:cNvSpPr txBox="1"/>
          <p:nvPr/>
        </p:nvSpPr>
        <p:spPr>
          <a:xfrm>
            <a:off x="914400" y="4169664"/>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Không đánh giá cá nhân</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Công cụ giảm sai sót, bảo vệ bác sĩ và người bệnh (no-blame)</a:t>
            </a:r>
            <a:endParaRPr lang="en-US" sz="1550" dirty="0"/>
          </a:p>
        </p:txBody>
      </p:sp>
      <p:sp>
        <p:nvSpPr>
          <p:cNvPr id="10" name="Shape 8"/>
          <p:cNvSpPr/>
          <p:nvPr/>
        </p:nvSpPr>
        <p:spPr>
          <a:xfrm>
            <a:off x="6255868" y="1508760"/>
            <a:ext cx="5295748" cy="3657600"/>
          </a:xfrm>
          <a:prstGeom prst="roundRect">
            <a:avLst>
              <a:gd name="adj" fmla="val 2500"/>
            </a:avLst>
          </a:prstGeom>
          <a:solidFill>
            <a:srgbClr val="1C3558">
              <a:alpha val="85000"/>
            </a:srgbClr>
          </a:solidFill>
          <a:ln w="9525">
            <a:solidFill>
              <a:srgbClr val="2E4B74"/>
            </a:solidFill>
            <a:prstDash val="solid"/>
          </a:ln>
        </p:spPr>
      </p:sp>
      <p:sp>
        <p:nvSpPr>
          <p:cNvPr id="11" name="Text 9"/>
          <p:cNvSpPr txBox="1"/>
          <p:nvPr/>
        </p:nvSpPr>
        <p:spPr>
          <a:xfrm>
            <a:off x="6484468" y="1709928"/>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2" name="Text 10"/>
          <p:cNvSpPr txBox="1"/>
          <p:nvPr/>
        </p:nvSpPr>
        <p:spPr>
          <a:xfrm>
            <a:off x="7033108" y="1709928"/>
            <a:ext cx="4289908" cy="457200"/>
          </a:xfrm>
          <a:prstGeom prst="rect">
            <a:avLst/>
          </a:prstGeom>
          <a:noFill/>
          <a:ln/>
        </p:spPr>
        <p:txBody>
          <a:bodyPr wrap="square" lIns="0" tIns="0" rIns="0" bIns="0" rtlCol="0" anchor="ctr"/>
          <a:lstStyle/>
          <a:p>
            <a:pPr indent="0" marL="0">
              <a:buNone/>
            </a:pPr>
            <a:r>
              <a:rPr lang="en-US" sz="1900" b="1" dirty="0">
                <a:solidFill>
                  <a:srgbClr val="FBBF24"/>
                </a:solidFill>
                <a:latin typeface="Arial" pitchFamily="34" charset="0"/>
                <a:ea typeface="Arial" pitchFamily="34" charset="-122"/>
                <a:cs typeface="Arial" pitchFamily="34" charset="-120"/>
              </a:rPr>
              <a:t>Giới hạn</a:t>
            </a:r>
            <a:endParaRPr lang="en-US" sz="1900" dirty="0"/>
          </a:p>
        </p:txBody>
      </p:sp>
      <p:sp>
        <p:nvSpPr>
          <p:cNvPr id="13" name="Text 11"/>
          <p:cNvSpPr txBox="1"/>
          <p:nvPr/>
        </p:nvSpPr>
        <p:spPr>
          <a:xfrm>
            <a:off x="6530188" y="2377440"/>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Chưa trùng toàn bộ quy tắc BHXH</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Hồ sơ qua Tiền giám định vẫn có thể bị cổng trả về</a:t>
            </a:r>
            <a:endParaRPr lang="en-US" sz="1550" dirty="0"/>
          </a:p>
        </p:txBody>
      </p:sp>
      <p:sp>
        <p:nvSpPr>
          <p:cNvPr id="14" name="Text 12"/>
          <p:cNvSpPr txBox="1"/>
          <p:nvPr/>
        </p:nvSpPr>
        <p:spPr>
          <a:xfrm>
            <a:off x="6530188" y="3273552"/>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Chỉ bắt lỗi có trong bộ quy tắc</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Quy định mới cần thời gian cập nhật quy tắc</a:t>
            </a:r>
            <a:endParaRPr lang="en-US" sz="1550" dirty="0"/>
          </a:p>
        </p:txBody>
      </p:sp>
      <p:sp>
        <p:nvSpPr>
          <p:cNvPr id="15" name="Text 13"/>
          <p:cNvSpPr txBox="1"/>
          <p:nvPr/>
        </p:nvSpPr>
        <p:spPr>
          <a:xfrm>
            <a:off x="6530188" y="4169664"/>
            <a:ext cx="4747108" cy="91440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Phụ thuộc chất lượng danh mục</a:t>
            </a:r>
            <a:endParaRPr lang="en-US" sz="1550" dirty="0"/>
          </a:p>
          <a:p>
            <a:pPr indent="0" marL="0">
              <a:lnSpc>
                <a:spcPts val="1900"/>
              </a:lnSpc>
              <a:buNone/>
            </a:pPr>
            <a:r>
              <a:rPr lang="en-US" sz="1350" dirty="0">
                <a:solidFill>
                  <a:srgbClr val="A9BCD6"/>
                </a:solidFill>
                <a:latin typeface="Arial" pitchFamily="34" charset="0"/>
                <a:ea typeface="Arial" pitchFamily="34" charset="-122"/>
                <a:cs typeface="Arial" pitchFamily="34" charset="-120"/>
              </a:rPr>
              <a:t>Danh mục thiếu hoặc sai hiệu lực sinh ra lỗi giả hàng loạt</a:t>
            </a:r>
            <a:endParaRPr lang="en-US" sz="1550" dirty="0"/>
          </a:p>
        </p:txBody>
      </p:sp>
      <p:sp>
        <p:nvSpPr>
          <p:cNvPr id="16" name="Text 14"/>
          <p:cNvSpPr txBox="1"/>
          <p:nvPr/>
        </p:nvSpPr>
        <p:spPr>
          <a:xfrm>
            <a:off x="640080" y="544068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Tiền giám định là công cụ hỗ trợ — không thay thế quyết định chuyên môn</a:t>
            </a:r>
            <a:endParaRPr lang="en-US" sz="1600" dirty="0"/>
          </a:p>
        </p:txBody>
      </p:sp>
      <p:sp>
        <p:nvSpPr>
          <p:cNvPr id="18" name="Text 15"/>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15 / 19</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AN TOÀN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Dữ liệu người bệnh và hệ thống HIS được bảo vệ thế nào</a:t>
            </a:r>
            <a:endParaRPr lang="en-US" sz="2800" dirty="0"/>
          </a:p>
        </p:txBody>
      </p:sp>
      <p:sp>
        <p:nvSpPr>
          <p:cNvPr id="4" name="Shape 2"/>
          <p:cNvSpPr/>
          <p:nvPr/>
        </p:nvSpPr>
        <p:spPr>
          <a:xfrm>
            <a:off x="640080" y="1508760"/>
            <a:ext cx="5318608" cy="1783080"/>
          </a:xfrm>
          <a:prstGeom prst="roundRect">
            <a:avLst>
              <a:gd name="adj" fmla="val 5128"/>
            </a:avLst>
          </a:prstGeom>
          <a:solidFill>
            <a:srgbClr val="1C3558">
              <a:alpha val="85000"/>
            </a:srgbClr>
          </a:solidFill>
          <a:ln w="9525">
            <a:solidFill>
              <a:srgbClr val="2E4B74"/>
            </a:solidFill>
            <a:prstDash val="solid"/>
          </a:ln>
        </p:spPr>
      </p:sp>
      <p:sp>
        <p:nvSpPr>
          <p:cNvPr id="5" name="Shape 3"/>
          <p:cNvSpPr/>
          <p:nvPr/>
        </p:nvSpPr>
        <p:spPr>
          <a:xfrm>
            <a:off x="914400" y="1783080"/>
            <a:ext cx="731520" cy="731520"/>
          </a:xfrm>
          <a:prstGeom prst="ellipse">
            <a:avLst/>
          </a:prstGeom>
          <a:solidFill>
            <a:srgbClr val="25324A"/>
          </a:solidFill>
          <a:ln w="12700">
            <a:solidFill>
              <a:srgbClr val="38BDF8"/>
            </a:solidFill>
            <a:prstDash val="solid"/>
          </a:ln>
        </p:spPr>
      </p:sp>
      <p:sp>
        <p:nvSpPr>
          <p:cNvPr id="6" name="Text 4"/>
          <p:cNvSpPr txBox="1"/>
          <p:nvPr/>
        </p:nvSpPr>
        <p:spPr>
          <a:xfrm>
            <a:off x="914400" y="178308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7" name="Text 5"/>
          <p:cNvSpPr txBox="1"/>
          <p:nvPr/>
        </p:nvSpPr>
        <p:spPr>
          <a:xfrm>
            <a:off x="1874520" y="178308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Đặt tại bệnh viện</a:t>
            </a:r>
            <a:endParaRPr lang="en-US" sz="1800" dirty="0"/>
          </a:p>
        </p:txBody>
      </p:sp>
      <p:sp>
        <p:nvSpPr>
          <p:cNvPr id="8" name="Text 6"/>
          <p:cNvSpPr txBox="1"/>
          <p:nvPr/>
        </p:nvSpPr>
        <p:spPr>
          <a:xfrm>
            <a:off x="1874520" y="228600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Máy chủ đặt trong mạng nội bộ của viện. Dữ liệu chỉ gửi lên Cổng giám định BHXH — như quy trình hiện nay.</a:t>
            </a:r>
            <a:endParaRPr lang="en-US" sz="1350" dirty="0"/>
          </a:p>
        </p:txBody>
      </p:sp>
      <p:sp>
        <p:nvSpPr>
          <p:cNvPr id="9" name="Shape 7"/>
          <p:cNvSpPr/>
          <p:nvPr/>
        </p:nvSpPr>
        <p:spPr>
          <a:xfrm>
            <a:off x="6233008" y="1508760"/>
            <a:ext cx="5318608" cy="1783080"/>
          </a:xfrm>
          <a:prstGeom prst="roundRect">
            <a:avLst>
              <a:gd name="adj" fmla="val 5128"/>
            </a:avLst>
          </a:prstGeom>
          <a:solidFill>
            <a:srgbClr val="1C3558">
              <a:alpha val="85000"/>
            </a:srgbClr>
          </a:solidFill>
          <a:ln w="9525">
            <a:solidFill>
              <a:srgbClr val="2E4B74"/>
            </a:solidFill>
            <a:prstDash val="solid"/>
          </a:ln>
        </p:spPr>
      </p:sp>
      <p:sp>
        <p:nvSpPr>
          <p:cNvPr id="10" name="Shape 8"/>
          <p:cNvSpPr/>
          <p:nvPr/>
        </p:nvSpPr>
        <p:spPr>
          <a:xfrm>
            <a:off x="6507328" y="1783080"/>
            <a:ext cx="731520" cy="731520"/>
          </a:xfrm>
          <a:prstGeom prst="ellipse">
            <a:avLst/>
          </a:prstGeom>
          <a:solidFill>
            <a:srgbClr val="25324A"/>
          </a:solidFill>
          <a:ln w="12700">
            <a:solidFill>
              <a:srgbClr val="38BDF8"/>
            </a:solidFill>
            <a:prstDash val="solid"/>
          </a:ln>
        </p:spPr>
      </p:sp>
      <p:sp>
        <p:nvSpPr>
          <p:cNvPr id="11" name="Text 9"/>
          <p:cNvSpPr txBox="1"/>
          <p:nvPr/>
        </p:nvSpPr>
        <p:spPr>
          <a:xfrm>
            <a:off x="6507328" y="178308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2" name="Text 10"/>
          <p:cNvSpPr txBox="1"/>
          <p:nvPr/>
        </p:nvSpPr>
        <p:spPr>
          <a:xfrm>
            <a:off x="7467448" y="178308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Chỉ đọc HIS</a:t>
            </a:r>
            <a:endParaRPr lang="en-US" sz="1800" dirty="0"/>
          </a:p>
        </p:txBody>
      </p:sp>
      <p:sp>
        <p:nvSpPr>
          <p:cNvPr id="13" name="Text 11"/>
          <p:cNvSpPr txBox="1"/>
          <p:nvPr/>
        </p:nvSpPr>
        <p:spPr>
          <a:xfrm>
            <a:off x="7467448" y="228600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Tài khoản chỉ có quyền đọc: không ghi, không cài trigger, không đổi cấu trúc cơ sở dữ liệu HIS.</a:t>
            </a:r>
            <a:endParaRPr lang="en-US" sz="1350" dirty="0"/>
          </a:p>
        </p:txBody>
      </p:sp>
      <p:sp>
        <p:nvSpPr>
          <p:cNvPr id="14" name="Shape 12"/>
          <p:cNvSpPr/>
          <p:nvPr/>
        </p:nvSpPr>
        <p:spPr>
          <a:xfrm>
            <a:off x="640080" y="3520440"/>
            <a:ext cx="5318608" cy="1783080"/>
          </a:xfrm>
          <a:prstGeom prst="roundRect">
            <a:avLst>
              <a:gd name="adj" fmla="val 5128"/>
            </a:avLst>
          </a:prstGeom>
          <a:solidFill>
            <a:srgbClr val="1C3558">
              <a:alpha val="85000"/>
            </a:srgbClr>
          </a:solidFill>
          <a:ln w="9525">
            <a:solidFill>
              <a:srgbClr val="2E4B74"/>
            </a:solidFill>
            <a:prstDash val="solid"/>
          </a:ln>
        </p:spPr>
      </p:sp>
      <p:sp>
        <p:nvSpPr>
          <p:cNvPr id="15" name="Shape 13"/>
          <p:cNvSpPr/>
          <p:nvPr/>
        </p:nvSpPr>
        <p:spPr>
          <a:xfrm>
            <a:off x="914400" y="3794760"/>
            <a:ext cx="731520" cy="731520"/>
          </a:xfrm>
          <a:prstGeom prst="ellipse">
            <a:avLst/>
          </a:prstGeom>
          <a:solidFill>
            <a:srgbClr val="25324A"/>
          </a:solidFill>
          <a:ln w="12700">
            <a:solidFill>
              <a:srgbClr val="38BDF8"/>
            </a:solidFill>
            <a:prstDash val="solid"/>
          </a:ln>
        </p:spPr>
      </p:sp>
      <p:sp>
        <p:nvSpPr>
          <p:cNvPr id="16" name="Text 14"/>
          <p:cNvSpPr txBox="1"/>
          <p:nvPr/>
        </p:nvSpPr>
        <p:spPr>
          <a:xfrm>
            <a:off x="914400" y="379476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7" name="Text 15"/>
          <p:cNvSpPr txBox="1"/>
          <p:nvPr/>
        </p:nvSpPr>
        <p:spPr>
          <a:xfrm>
            <a:off x="1874520" y="379476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Không làm nặng HIS</a:t>
            </a:r>
            <a:endParaRPr lang="en-US" sz="1800" dirty="0"/>
          </a:p>
        </p:txBody>
      </p:sp>
      <p:sp>
        <p:nvSpPr>
          <p:cNvPr id="18" name="Text 16"/>
          <p:cNvSpPr txBox="1"/>
          <p:nvPr/>
        </p:nvSpPr>
        <p:spPr>
          <a:xfrm>
            <a:off x="1874520" y="429768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Truy vấn chạy nền theo lô; khảo sát chỉ mục các bảng HIS lớn trước khi bật.</a:t>
            </a:r>
            <a:endParaRPr lang="en-US" sz="1350" dirty="0"/>
          </a:p>
        </p:txBody>
      </p:sp>
      <p:sp>
        <p:nvSpPr>
          <p:cNvPr id="19" name="Shape 17"/>
          <p:cNvSpPr/>
          <p:nvPr/>
        </p:nvSpPr>
        <p:spPr>
          <a:xfrm>
            <a:off x="6233008" y="3520440"/>
            <a:ext cx="5318608" cy="1783080"/>
          </a:xfrm>
          <a:prstGeom prst="roundRect">
            <a:avLst>
              <a:gd name="adj" fmla="val 5128"/>
            </a:avLst>
          </a:prstGeom>
          <a:solidFill>
            <a:srgbClr val="1C3558">
              <a:alpha val="85000"/>
            </a:srgbClr>
          </a:solidFill>
          <a:ln w="9525">
            <a:solidFill>
              <a:srgbClr val="2E4B74"/>
            </a:solidFill>
            <a:prstDash val="solid"/>
          </a:ln>
        </p:spPr>
      </p:sp>
      <p:sp>
        <p:nvSpPr>
          <p:cNvPr id="20" name="Shape 18"/>
          <p:cNvSpPr/>
          <p:nvPr/>
        </p:nvSpPr>
        <p:spPr>
          <a:xfrm>
            <a:off x="6507328" y="3794760"/>
            <a:ext cx="731520" cy="731520"/>
          </a:xfrm>
          <a:prstGeom prst="ellipse">
            <a:avLst/>
          </a:prstGeom>
          <a:solidFill>
            <a:srgbClr val="25324A"/>
          </a:solidFill>
          <a:ln w="12700">
            <a:solidFill>
              <a:srgbClr val="38BDF8"/>
            </a:solidFill>
            <a:prstDash val="solid"/>
          </a:ln>
        </p:spPr>
      </p:sp>
      <p:sp>
        <p:nvSpPr>
          <p:cNvPr id="21" name="Text 19"/>
          <p:cNvSpPr txBox="1"/>
          <p:nvPr/>
        </p:nvSpPr>
        <p:spPr>
          <a:xfrm>
            <a:off x="6507328" y="379476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2" name="Text 20"/>
          <p:cNvSpPr txBox="1"/>
          <p:nvPr/>
        </p:nvSpPr>
        <p:spPr>
          <a:xfrm>
            <a:off x="7467448" y="379476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Phân quyền và ghi vết</a:t>
            </a:r>
            <a:endParaRPr lang="en-US" sz="1800" dirty="0"/>
          </a:p>
        </p:txBody>
      </p:sp>
      <p:sp>
        <p:nvSpPr>
          <p:cNvPr id="23" name="Text 21"/>
          <p:cNvSpPr txBox="1"/>
          <p:nvPr/>
        </p:nvSpPr>
        <p:spPr>
          <a:xfrm>
            <a:off x="7467448" y="429768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Mỗi người chỉ thấy chức năng được cấp; ghi lại ai nạp, ai gửi hồ sơ, ai tra cứu thẻ.</a:t>
            </a:r>
            <a:endParaRPr lang="en-US" sz="1350" dirty="0"/>
          </a:p>
        </p:txBody>
      </p:sp>
      <p:sp>
        <p:nvSpPr>
          <p:cNvPr id="24" name="Text 22"/>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Dữ liệu người bệnh ở lại trong bệnh viện</a:t>
            </a:r>
            <a:endParaRPr lang="en-US" sz="1600" dirty="0"/>
          </a:p>
        </p:txBody>
      </p:sp>
      <p:sp>
        <p:nvSpPr>
          <p:cNvPr id="26" name="Text 2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16 / 19</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TRIỂN KHAI</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Điều kiện và lộ trình triển khai tại bệnh viện</a:t>
            </a:r>
            <a:endParaRPr lang="en-US" sz="2800" dirty="0"/>
          </a:p>
        </p:txBody>
      </p:sp>
      <p:sp>
        <p:nvSpPr>
          <p:cNvPr id="4" name="Shape 2"/>
          <p:cNvSpPr/>
          <p:nvPr/>
        </p:nvSpPr>
        <p:spPr>
          <a:xfrm>
            <a:off x="640080" y="1508760"/>
            <a:ext cx="4846320" cy="1325880"/>
          </a:xfrm>
          <a:prstGeom prst="roundRect">
            <a:avLst>
              <a:gd name="adj" fmla="val 6897"/>
            </a:avLst>
          </a:prstGeom>
          <a:solidFill>
            <a:srgbClr val="1C3558">
              <a:alpha val="85000"/>
            </a:srgbClr>
          </a:solidFill>
          <a:ln w="9525">
            <a:solidFill>
              <a:srgbClr val="2E4B74"/>
            </a:solidFill>
            <a:prstDash val="solid"/>
          </a:ln>
        </p:spPr>
      </p:sp>
      <p:sp>
        <p:nvSpPr>
          <p:cNvPr id="5" name="Text 3"/>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6" name="Text 4"/>
          <p:cNvSpPr txBox="1"/>
          <p:nvPr/>
        </p:nvSpPr>
        <p:spPr>
          <a:xfrm>
            <a:off x="1417320" y="1691640"/>
            <a:ext cx="3886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Dùng được với mọi HIS</a:t>
            </a:r>
            <a:endParaRPr lang="en-US" sz="1600" dirty="0"/>
          </a:p>
        </p:txBody>
      </p:sp>
      <p:sp>
        <p:nvSpPr>
          <p:cNvPr id="7" name="Text 5"/>
          <p:cNvSpPr txBox="1"/>
          <p:nvPr/>
        </p:nvSpPr>
        <p:spPr>
          <a:xfrm>
            <a:off x="914400" y="2194560"/>
            <a:ext cx="4343400" cy="59436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Hồ sơ XML 3176 — nhận tệp XML chuẩn theo Quyết định 3176, không phụ thuộc phần mềm HIS</a:t>
            </a:r>
            <a:endParaRPr lang="en-US" sz="1250" dirty="0"/>
          </a:p>
        </p:txBody>
      </p:sp>
      <p:sp>
        <p:nvSpPr>
          <p:cNvPr id="8" name="Shape 6"/>
          <p:cNvSpPr/>
          <p:nvPr/>
        </p:nvSpPr>
        <p:spPr>
          <a:xfrm>
            <a:off x="640080" y="2990088"/>
            <a:ext cx="4846320" cy="1325880"/>
          </a:xfrm>
          <a:prstGeom prst="roundRect">
            <a:avLst>
              <a:gd name="adj" fmla="val 6897"/>
            </a:avLst>
          </a:prstGeom>
          <a:solidFill>
            <a:srgbClr val="25324A">
              <a:alpha val="85000"/>
            </a:srgbClr>
          </a:solidFill>
          <a:ln w="19050">
            <a:solidFill>
              <a:srgbClr val="FBBF24"/>
            </a:solidFill>
            <a:prstDash val="solid"/>
          </a:ln>
        </p:spPr>
      </p:sp>
      <p:sp>
        <p:nvSpPr>
          <p:cNvPr id="9" name="Text 7"/>
          <p:cNvSpPr txBox="1"/>
          <p:nvPr/>
        </p:nvSpPr>
        <p:spPr>
          <a:xfrm>
            <a:off x="822960" y="3172968"/>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0" name="Text 8"/>
          <p:cNvSpPr txBox="1"/>
          <p:nvPr/>
        </p:nvSpPr>
        <p:spPr>
          <a:xfrm>
            <a:off x="1417320" y="3172968"/>
            <a:ext cx="3886200" cy="457200"/>
          </a:xfrm>
          <a:prstGeom prst="rect">
            <a:avLst/>
          </a:prstGeom>
          <a:noFill/>
          <a:ln/>
        </p:spPr>
        <p:txBody>
          <a:bodyPr wrap="square" lIns="0" tIns="0" rIns="0" bIns="0" rtlCol="0" anchor="ctr"/>
          <a:lstStyle/>
          <a:p>
            <a:pPr indent="0" marL="0">
              <a:buNone/>
            </a:pPr>
            <a:r>
              <a:rPr lang="en-US" sz="1600" b="1" dirty="0">
                <a:solidFill>
                  <a:srgbClr val="FBBF24"/>
                </a:solidFill>
                <a:latin typeface="Arial" pitchFamily="34" charset="0"/>
                <a:ea typeface="Arial" pitchFamily="34" charset="-122"/>
                <a:cs typeface="Arial" pitchFamily="34" charset="-120"/>
              </a:rPr>
              <a:t>Cần kết nối riêng với HIS của viện</a:t>
            </a:r>
            <a:endParaRPr lang="en-US" sz="1600" dirty="0"/>
          </a:p>
        </p:txBody>
      </p:sp>
      <p:sp>
        <p:nvSpPr>
          <p:cNvPr id="11" name="Text 9"/>
          <p:cNvSpPr txBox="1"/>
          <p:nvPr/>
        </p:nvSpPr>
        <p:spPr>
          <a:xfrm>
            <a:off x="914400" y="3675888"/>
            <a:ext cx="4343400" cy="59436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Kiểm sai sót y lệnh — đọc trực tiếp CSDL HIS (chỉ đọc); viện dùng HIS khác cần làm lớp kết nối riêng</a:t>
            </a:r>
            <a:endParaRPr lang="en-US" sz="1250" dirty="0"/>
          </a:p>
        </p:txBody>
      </p:sp>
      <p:sp>
        <p:nvSpPr>
          <p:cNvPr id="12" name="Shape 10"/>
          <p:cNvSpPr/>
          <p:nvPr/>
        </p:nvSpPr>
        <p:spPr>
          <a:xfrm>
            <a:off x="5806440" y="1508760"/>
            <a:ext cx="5745175" cy="2807208"/>
          </a:xfrm>
          <a:prstGeom prst="roundRect">
            <a:avLst>
              <a:gd name="adj" fmla="val 3257"/>
            </a:avLst>
          </a:prstGeom>
          <a:solidFill>
            <a:srgbClr val="1C3558">
              <a:alpha val="85000"/>
            </a:srgbClr>
          </a:solidFill>
          <a:ln w="9525">
            <a:solidFill>
              <a:srgbClr val="2E4B74"/>
            </a:solidFill>
            <a:prstDash val="solid"/>
          </a:ln>
        </p:spPr>
      </p:sp>
      <p:sp>
        <p:nvSpPr>
          <p:cNvPr id="13" name="Text 11"/>
          <p:cNvSpPr txBox="1"/>
          <p:nvPr/>
        </p:nvSpPr>
        <p:spPr>
          <a:xfrm>
            <a:off x="6080760" y="1691640"/>
            <a:ext cx="5196535" cy="292608"/>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VIỆN CẦN CHUẨN BỊ</a:t>
            </a:r>
            <a:endParaRPr lang="en-US" sz="1200" dirty="0"/>
          </a:p>
        </p:txBody>
      </p:sp>
      <p:sp>
        <p:nvSpPr>
          <p:cNvPr id="14" name="Text 12"/>
          <p:cNvSpPr txBox="1"/>
          <p:nvPr/>
        </p:nvSpPr>
        <p:spPr>
          <a:xfrm>
            <a:off x="6080760" y="2075688"/>
            <a:ext cx="5196535" cy="2148840"/>
          </a:xfrm>
          <a:prstGeom prst="rect">
            <a:avLst/>
          </a:prstGeom>
          <a:noFill/>
          <a:ln/>
        </p:spPr>
        <p:txBody>
          <a:bodyPr wrap="square" lIns="0" tIns="0" rIns="0" bIns="0" rtlCol="0" anchor="t"/>
          <a:lstStyle/>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Máy chủ: Windows Server, hoặc Linux / Docker</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Tài khoản chỉ đọc vào cơ sở dữ liệu HIS</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Thư mục nhận tệp XML do HIS xuất ra</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HSM hoặc USB Token để ký số</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Tài khoản Cổng giám định BHXH và mã cơ sở KCB</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Người phụ trách danh mục BHYT của viện</a:t>
            </a:r>
            <a:endParaRPr lang="en-US" sz="1350" dirty="0"/>
          </a:p>
        </p:txBody>
      </p:sp>
      <p:sp>
        <p:nvSpPr>
          <p:cNvPr id="15" name="Shape 13"/>
          <p:cNvSpPr/>
          <p:nvPr/>
        </p:nvSpPr>
        <p:spPr>
          <a:xfrm>
            <a:off x="640080" y="4572000"/>
            <a:ext cx="2769032" cy="548640"/>
          </a:xfrm>
          <a:prstGeom prst="homePlate">
            <a:avLst/>
          </a:prstGeom>
          <a:solidFill>
            <a:srgbClr val="1E4E86"/>
          </a:solidFill>
          <a:ln w="12700">
            <a:solidFill>
              <a:srgbClr val="0B1A30"/>
            </a:solidFill>
            <a:prstDash val="solid"/>
          </a:ln>
        </p:spPr>
      </p:sp>
      <p:sp>
        <p:nvSpPr>
          <p:cNvPr id="16" name="Text 14"/>
          <p:cNvSpPr txBox="1"/>
          <p:nvPr/>
        </p:nvSpPr>
        <p:spPr>
          <a:xfrm>
            <a:off x="841248"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Chuẩn bị  </a:t>
            </a:r>
            <a:pPr indent="0" marL="0">
              <a:buNone/>
            </a:pPr>
            <a:r>
              <a:rPr lang="en-US" sz="1250" dirty="0">
                <a:solidFill>
                  <a:srgbClr val="38BDF8"/>
                </a:solidFill>
                <a:latin typeface="Arial" pitchFamily="34" charset="0"/>
                <a:ea typeface="Arial" pitchFamily="34" charset="-122"/>
                <a:cs typeface="Arial" pitchFamily="34" charset="-120"/>
              </a:rPr>
              <a:t>2–4 tuần</a:t>
            </a:r>
            <a:endParaRPr lang="en-US" sz="1500" dirty="0"/>
          </a:p>
        </p:txBody>
      </p:sp>
      <p:sp>
        <p:nvSpPr>
          <p:cNvPr id="17" name="Text 15"/>
          <p:cNvSpPr txBox="1"/>
          <p:nvPr/>
        </p:nvSpPr>
        <p:spPr>
          <a:xfrm>
            <a:off x="841248"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Lập tổ, chốt chủ sở hữu danh mục, ban hành no-blame</a:t>
            </a:r>
            <a:endParaRPr lang="en-US" sz="1250" dirty="0"/>
          </a:p>
        </p:txBody>
      </p:sp>
      <p:sp>
        <p:nvSpPr>
          <p:cNvPr id="18" name="Shape 16"/>
          <p:cNvSpPr/>
          <p:nvPr/>
        </p:nvSpPr>
        <p:spPr>
          <a:xfrm>
            <a:off x="3390824" y="4572000"/>
            <a:ext cx="2769032" cy="548640"/>
          </a:xfrm>
          <a:prstGeom prst="chevron">
            <a:avLst/>
          </a:prstGeom>
          <a:solidFill>
            <a:srgbClr val="1E4E86"/>
          </a:solidFill>
          <a:ln w="12700">
            <a:solidFill>
              <a:srgbClr val="0B1A30"/>
            </a:solidFill>
            <a:prstDash val="solid"/>
          </a:ln>
        </p:spPr>
      </p:sp>
      <p:sp>
        <p:nvSpPr>
          <p:cNvPr id="19" name="Text 17"/>
          <p:cNvSpPr txBox="1"/>
          <p:nvPr/>
        </p:nvSpPr>
        <p:spPr>
          <a:xfrm>
            <a:off x="3756584"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Chạy thử  </a:t>
            </a:r>
            <a:pPr indent="0" marL="0">
              <a:buNone/>
            </a:pPr>
            <a:r>
              <a:rPr lang="en-US" sz="1250" dirty="0">
                <a:solidFill>
                  <a:srgbClr val="38BDF8"/>
                </a:solidFill>
                <a:latin typeface="Arial" pitchFamily="34" charset="0"/>
                <a:ea typeface="Arial" pitchFamily="34" charset="-122"/>
                <a:cs typeface="Arial" pitchFamily="34" charset="-120"/>
              </a:rPr>
              <a:t>4–8 tuần</a:t>
            </a:r>
            <a:endParaRPr lang="en-US" sz="1500" dirty="0"/>
          </a:p>
        </p:txBody>
      </p:sp>
      <p:sp>
        <p:nvSpPr>
          <p:cNvPr id="20" name="Text 18"/>
          <p:cNvSpPr txBox="1"/>
          <p:nvPr/>
        </p:nvSpPr>
        <p:spPr>
          <a:xfrm>
            <a:off x="3756584"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1–2 khoa, chạy song song quy trình cũ</a:t>
            </a:r>
            <a:endParaRPr lang="en-US" sz="1250" dirty="0"/>
          </a:p>
        </p:txBody>
      </p:sp>
      <p:sp>
        <p:nvSpPr>
          <p:cNvPr id="21" name="Shape 19"/>
          <p:cNvSpPr/>
          <p:nvPr/>
        </p:nvSpPr>
        <p:spPr>
          <a:xfrm>
            <a:off x="6141568" y="4572000"/>
            <a:ext cx="2769032" cy="548640"/>
          </a:xfrm>
          <a:prstGeom prst="chevron">
            <a:avLst/>
          </a:prstGeom>
          <a:solidFill>
            <a:srgbClr val="1E4E86"/>
          </a:solidFill>
          <a:ln w="12700">
            <a:solidFill>
              <a:srgbClr val="0B1A30"/>
            </a:solidFill>
            <a:prstDash val="solid"/>
          </a:ln>
        </p:spPr>
      </p:sp>
      <p:sp>
        <p:nvSpPr>
          <p:cNvPr id="22" name="Text 20"/>
          <p:cNvSpPr txBox="1"/>
          <p:nvPr/>
        </p:nvSpPr>
        <p:spPr>
          <a:xfrm>
            <a:off x="6507328"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Nhân rộng  </a:t>
            </a:r>
            <a:pPr indent="0" marL="0">
              <a:buNone/>
            </a:pPr>
            <a:r>
              <a:rPr lang="en-US" sz="1250" dirty="0">
                <a:solidFill>
                  <a:srgbClr val="38BDF8"/>
                </a:solidFill>
                <a:latin typeface="Arial" pitchFamily="34" charset="0"/>
                <a:ea typeface="Arial" pitchFamily="34" charset="-122"/>
                <a:cs typeface="Arial" pitchFamily="34" charset="-120"/>
              </a:rPr>
              <a:t>2–4 tháng</a:t>
            </a:r>
            <a:endParaRPr lang="en-US" sz="1500" dirty="0"/>
          </a:p>
        </p:txBody>
      </p:sp>
      <p:sp>
        <p:nvSpPr>
          <p:cNvPr id="23" name="Text 21"/>
          <p:cNvSpPr txBox="1"/>
          <p:nvPr/>
        </p:nvSpPr>
        <p:spPr>
          <a:xfrm>
            <a:off x="6507328"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Mở rộng theo khoa, đào tạo người dùng nòng cốt</a:t>
            </a:r>
            <a:endParaRPr lang="en-US" sz="1250" dirty="0"/>
          </a:p>
        </p:txBody>
      </p:sp>
      <p:sp>
        <p:nvSpPr>
          <p:cNvPr id="24" name="Shape 22"/>
          <p:cNvSpPr/>
          <p:nvPr/>
        </p:nvSpPr>
        <p:spPr>
          <a:xfrm>
            <a:off x="8892311" y="4572000"/>
            <a:ext cx="2659304" cy="548640"/>
          </a:xfrm>
          <a:prstGeom prst="chevron">
            <a:avLst/>
          </a:prstGeom>
          <a:solidFill>
            <a:srgbClr val="1F6B45"/>
          </a:solidFill>
          <a:ln w="12700">
            <a:solidFill>
              <a:srgbClr val="0B1A30"/>
            </a:solidFill>
            <a:prstDash val="solid"/>
          </a:ln>
        </p:spPr>
      </p:sp>
      <p:sp>
        <p:nvSpPr>
          <p:cNvPr id="25" name="Text 23"/>
          <p:cNvSpPr txBox="1"/>
          <p:nvPr/>
        </p:nvSpPr>
        <p:spPr>
          <a:xfrm>
            <a:off x="9258071"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Thường quy  </a:t>
            </a:r>
            <a:pPr indent="0" marL="0">
              <a:buNone/>
            </a:pPr>
            <a:r>
              <a:rPr lang="en-US" sz="1250" dirty="0">
                <a:solidFill>
                  <a:srgbClr val="4ADE80"/>
                </a:solidFill>
                <a:latin typeface="Arial" pitchFamily="34" charset="0"/>
                <a:ea typeface="Arial" pitchFamily="34" charset="-122"/>
                <a:cs typeface="Arial" pitchFamily="34" charset="-120"/>
              </a:rPr>
              <a:t>sau ổn định</a:t>
            </a:r>
            <a:endParaRPr lang="en-US" sz="1500" dirty="0"/>
          </a:p>
        </p:txBody>
      </p:sp>
      <p:sp>
        <p:nvSpPr>
          <p:cNvPr id="26" name="Text 24"/>
          <p:cNvSpPr txBox="1"/>
          <p:nvPr/>
        </p:nvSpPr>
        <p:spPr>
          <a:xfrm>
            <a:off x="9258071"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Bật tự gửi cổng, đưa vào quy chế</a:t>
            </a:r>
            <a:endParaRPr lang="en-US" sz="1250" dirty="0"/>
          </a:p>
        </p:txBody>
      </p:sp>
      <p:sp>
        <p:nvSpPr>
          <p:cNvPr id="28" name="Text 25"/>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17 / 19</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ĐỀ XUẤT</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Thí điểm 4–8 tuần, đo bằng số liệu của chính viện</a:t>
            </a:r>
            <a:endParaRPr lang="en-US" sz="2800" dirty="0"/>
          </a:p>
        </p:txBody>
      </p:sp>
      <p:sp>
        <p:nvSpPr>
          <p:cNvPr id="4" name="Shape 2"/>
          <p:cNvSpPr/>
          <p:nvPr/>
        </p:nvSpPr>
        <p:spPr>
          <a:xfrm>
            <a:off x="640080" y="1508760"/>
            <a:ext cx="6309360" cy="841248"/>
          </a:xfrm>
          <a:prstGeom prst="roundRect">
            <a:avLst>
              <a:gd name="adj" fmla="val 10870"/>
            </a:avLst>
          </a:prstGeom>
          <a:solidFill>
            <a:srgbClr val="1C3558">
              <a:alpha val="85000"/>
            </a:srgbClr>
          </a:solidFill>
          <a:ln w="9525">
            <a:solidFill>
              <a:srgbClr val="2E4B74"/>
            </a:solidFill>
            <a:prstDash val="solid"/>
          </a:ln>
        </p:spPr>
      </p:sp>
      <p:sp>
        <p:nvSpPr>
          <p:cNvPr id="5" name="Text 3"/>
          <p:cNvSpPr txBox="1"/>
          <p:nvPr/>
        </p:nvSpPr>
        <p:spPr>
          <a:xfrm>
            <a:off x="914400" y="1508760"/>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PHẠM VI</a:t>
            </a:r>
            <a:endParaRPr lang="en-US" sz="1100" dirty="0"/>
          </a:p>
        </p:txBody>
      </p:sp>
      <p:sp>
        <p:nvSpPr>
          <p:cNvPr id="6" name="Text 4"/>
          <p:cNvSpPr txBox="1"/>
          <p:nvPr/>
        </p:nvSpPr>
        <p:spPr>
          <a:xfrm>
            <a:off x="2697480" y="1508760"/>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Kiểm hồ sơ XML 3176 chạy song song quy trình hiện tại; chưa bật tự gửi cổng.</a:t>
            </a:r>
            <a:endParaRPr lang="en-US" sz="1400" dirty="0"/>
          </a:p>
        </p:txBody>
      </p:sp>
      <p:sp>
        <p:nvSpPr>
          <p:cNvPr id="7" name="Shape 5"/>
          <p:cNvSpPr/>
          <p:nvPr/>
        </p:nvSpPr>
        <p:spPr>
          <a:xfrm>
            <a:off x="640080" y="2478024"/>
            <a:ext cx="6309360" cy="841248"/>
          </a:xfrm>
          <a:prstGeom prst="roundRect">
            <a:avLst>
              <a:gd name="adj" fmla="val 10870"/>
            </a:avLst>
          </a:prstGeom>
          <a:solidFill>
            <a:srgbClr val="1C3558">
              <a:alpha val="85000"/>
            </a:srgbClr>
          </a:solidFill>
          <a:ln w="9525">
            <a:solidFill>
              <a:srgbClr val="2E4B74"/>
            </a:solidFill>
            <a:prstDash val="solid"/>
          </a:ln>
        </p:spPr>
      </p:sp>
      <p:sp>
        <p:nvSpPr>
          <p:cNvPr id="8" name="Text 6"/>
          <p:cNvSpPr txBox="1"/>
          <p:nvPr/>
        </p:nvSpPr>
        <p:spPr>
          <a:xfrm>
            <a:off x="914400" y="2478024"/>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VIỆN CỬ</a:t>
            </a:r>
            <a:endParaRPr lang="en-US" sz="1100" dirty="0"/>
          </a:p>
        </p:txBody>
      </p:sp>
      <p:sp>
        <p:nvSpPr>
          <p:cNvPr id="9" name="Text 7"/>
          <p:cNvSpPr txBox="1"/>
          <p:nvPr/>
        </p:nvSpPr>
        <p:spPr>
          <a:xfrm>
            <a:off x="2697480" y="2478024"/>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1 đầu mối phòng KHTH  ·  1 người phụ trách danh mục BHYT  ·  1 cán bộ CNTT</a:t>
            </a:r>
            <a:endParaRPr lang="en-US" sz="1400" dirty="0"/>
          </a:p>
        </p:txBody>
      </p:sp>
      <p:sp>
        <p:nvSpPr>
          <p:cNvPr id="10" name="Shape 8"/>
          <p:cNvSpPr/>
          <p:nvPr/>
        </p:nvSpPr>
        <p:spPr>
          <a:xfrm>
            <a:off x="640080" y="3447288"/>
            <a:ext cx="6309360" cy="841248"/>
          </a:xfrm>
          <a:prstGeom prst="roundRect">
            <a:avLst>
              <a:gd name="adj" fmla="val 10870"/>
            </a:avLst>
          </a:prstGeom>
          <a:solidFill>
            <a:srgbClr val="1C3558">
              <a:alpha val="85000"/>
            </a:srgbClr>
          </a:solidFill>
          <a:ln w="9525">
            <a:solidFill>
              <a:srgbClr val="2E4B74"/>
            </a:solidFill>
            <a:prstDash val="solid"/>
          </a:ln>
        </p:spPr>
      </p:sp>
      <p:sp>
        <p:nvSpPr>
          <p:cNvPr id="11" name="Text 9"/>
          <p:cNvSpPr txBox="1"/>
          <p:nvPr/>
        </p:nvSpPr>
        <p:spPr>
          <a:xfrm>
            <a:off x="914400" y="3447288"/>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CHÚNG TÔI LÀM</a:t>
            </a:r>
            <a:endParaRPr lang="en-US" sz="1100" dirty="0"/>
          </a:p>
        </p:txBody>
      </p:sp>
      <p:sp>
        <p:nvSpPr>
          <p:cNvPr id="12" name="Text 10"/>
          <p:cNvSpPr txBox="1"/>
          <p:nvPr/>
        </p:nvSpPr>
        <p:spPr>
          <a:xfrm>
            <a:off x="2697480" y="3447288"/>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Cài đặt tại viện, nạp danh mục, đào tạo người dùng, theo dõi kết quả cùng viện.</a:t>
            </a:r>
            <a:endParaRPr lang="en-US" sz="1400" dirty="0"/>
          </a:p>
        </p:txBody>
      </p:sp>
      <p:sp>
        <p:nvSpPr>
          <p:cNvPr id="13" name="Shape 11"/>
          <p:cNvSpPr/>
          <p:nvPr/>
        </p:nvSpPr>
        <p:spPr>
          <a:xfrm>
            <a:off x="640080" y="4416552"/>
            <a:ext cx="6309360" cy="841248"/>
          </a:xfrm>
          <a:prstGeom prst="roundRect">
            <a:avLst>
              <a:gd name="adj" fmla="val 10870"/>
            </a:avLst>
          </a:prstGeom>
          <a:solidFill>
            <a:srgbClr val="1C3558">
              <a:alpha val="85000"/>
            </a:srgbClr>
          </a:solidFill>
          <a:ln w="9525">
            <a:solidFill>
              <a:srgbClr val="2E4B74"/>
            </a:solidFill>
            <a:prstDash val="solid"/>
          </a:ln>
        </p:spPr>
      </p:sp>
      <p:sp>
        <p:nvSpPr>
          <p:cNvPr id="14" name="Text 12"/>
          <p:cNvSpPr txBox="1"/>
          <p:nvPr/>
        </p:nvSpPr>
        <p:spPr>
          <a:xfrm>
            <a:off x="914400" y="4416552"/>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CHI PHÍ</a:t>
            </a:r>
            <a:endParaRPr lang="en-US" sz="1100" dirty="0"/>
          </a:p>
        </p:txBody>
      </p:sp>
      <p:sp>
        <p:nvSpPr>
          <p:cNvPr id="15" name="Text 13"/>
          <p:cNvSpPr txBox="1"/>
          <p:nvPr/>
        </p:nvSpPr>
        <p:spPr>
          <a:xfrm>
            <a:off x="2697480" y="4416552"/>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7223760" y="1508760"/>
            <a:ext cx="4327855" cy="3749040"/>
          </a:xfrm>
          <a:prstGeom prst="roundRect">
            <a:avLst>
              <a:gd name="adj" fmla="val 2439"/>
            </a:avLst>
          </a:prstGeom>
          <a:solidFill>
            <a:srgbClr val="25324A">
              <a:alpha val="85000"/>
            </a:srgbClr>
          </a:solidFill>
          <a:ln w="19050">
            <a:solidFill>
              <a:srgbClr val="FBBF24"/>
            </a:solidFill>
            <a:prstDash val="solid"/>
          </a:ln>
        </p:spPr>
      </p:sp>
      <p:sp>
        <p:nvSpPr>
          <p:cNvPr id="17" name="Text 15"/>
          <p:cNvSpPr txBox="1"/>
          <p:nvPr/>
        </p:nvSpPr>
        <p:spPr>
          <a:xfrm>
            <a:off x="7498080" y="1691640"/>
            <a:ext cx="3779215" cy="310896"/>
          </a:xfrm>
          <a:prstGeom prst="rect">
            <a:avLst/>
          </a:prstGeom>
          <a:noFill/>
          <a:ln/>
        </p:spPr>
        <p:txBody>
          <a:bodyPr wrap="square" lIns="0" tIns="0" rIns="0" bIns="0" rtlCol="0" anchor="ctr"/>
          <a:lstStyle/>
          <a:p>
            <a:pPr indent="0" marL="0">
              <a:buNone/>
            </a:pPr>
            <a:r>
              <a:rPr lang="en-US" sz="1200" b="1" spc="200" kern="0" dirty="0">
                <a:solidFill>
                  <a:srgbClr val="FBBF24"/>
                </a:solidFill>
                <a:latin typeface="Arial" pitchFamily="34" charset="0"/>
                <a:ea typeface="Arial" pitchFamily="34" charset="-122"/>
                <a:cs typeface="Arial" pitchFamily="34" charset="-120"/>
              </a:rPr>
              <a:t>ĐO GÌ ĐỂ QUYẾT ĐỊNH</a:t>
            </a:r>
            <a:endParaRPr lang="en-US" sz="1200" dirty="0"/>
          </a:p>
        </p:txBody>
      </p:sp>
      <p:sp>
        <p:nvSpPr>
          <p:cNvPr id="18" name="Text 16"/>
          <p:cNvSpPr txBox="1"/>
          <p:nvPr/>
        </p:nvSpPr>
        <p:spPr>
          <a:xfrm>
            <a:off x="7498080" y="2148840"/>
            <a:ext cx="3779215" cy="2011680"/>
          </a:xfrm>
          <a:prstGeom prst="rect">
            <a:avLst/>
          </a:prstGeom>
          <a:noFill/>
          <a:ln/>
        </p:spPr>
        <p:txBody>
          <a:bodyPr wrap="square" lIns="0" tIns="0" rIns="0" bIns="0" rtlCol="0" anchor="t"/>
          <a:lstStyle/>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Tỷ lệ hồ sơ còn lỗi nghiêm trọng trước khi gửi</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Số hồ sơ bị cổng giám định trả về</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Thời gian sửa một hồ sơ lỗi</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Số hồ sơ tồn đọng theo tuổi</a:t>
            </a:r>
            <a:endParaRPr lang="en-US" sz="1500" dirty="0"/>
          </a:p>
        </p:txBody>
      </p:sp>
      <p:sp>
        <p:nvSpPr>
          <p:cNvPr id="19" name="Text 17"/>
          <p:cNvSpPr txBox="1"/>
          <p:nvPr/>
        </p:nvSpPr>
        <p:spPr>
          <a:xfrm>
            <a:off x="7498080" y="4343400"/>
            <a:ext cx="3779215" cy="731520"/>
          </a:xfrm>
          <a:prstGeom prst="rect">
            <a:avLst/>
          </a:prstGeom>
          <a:noFill/>
          <a:ln/>
        </p:spPr>
        <p:txBody>
          <a:bodyPr wrap="square" lIns="0" tIns="0" rIns="0" bIns="0" rtlCol="0" anchor="t"/>
          <a:lstStyle/>
          <a:p>
            <a:pPr indent="0" marL="0">
              <a:lnSpc>
                <a:spcPts val="1800"/>
              </a:lnSpc>
              <a:buNone/>
            </a:pPr>
            <a:r>
              <a:rPr lang="en-US" sz="1300" i="1" dirty="0">
                <a:solidFill>
                  <a:srgbClr val="A9BCD6"/>
                </a:solidFill>
                <a:latin typeface="Arial" pitchFamily="34" charset="0"/>
                <a:ea typeface="Arial" pitchFamily="34" charset="-122"/>
                <a:cs typeface="Arial" pitchFamily="34" charset="-120"/>
              </a:rPr>
              <a:t>Kết thúc thí điểm: báo cáo số liệu để lãnh đạo quyết định nhân rộng.</a:t>
            </a:r>
            <a:endParaRPr lang="en-US" sz="1300" dirty="0"/>
          </a:p>
        </p:txBody>
      </p:sp>
      <p:sp>
        <p:nvSpPr>
          <p:cNvPr id="20" name="Text 18"/>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Hôm nay chỉ cần một quyết định: cho phép thí điểm</a:t>
            </a:r>
            <a:endParaRPr lang="en-US" sz="1600" dirty="0"/>
          </a:p>
        </p:txBody>
      </p:sp>
      <p:sp>
        <p:nvSpPr>
          <p:cNvPr id="22" name="Text 1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18 / 19</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1417320"/>
            <a:ext cx="11277295"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Phát hiện sớm</a:t>
            </a:r>
            <a:pPr algn="ctr" indent="0" marL="0">
              <a:buNone/>
            </a:pPr>
            <a:r>
              <a:rPr lang="en-US" sz="3600" b="1" dirty="0">
                <a:solidFill>
                  <a:srgbClr val="7F93B0"/>
                </a:solidFill>
                <a:latin typeface="Arial" pitchFamily="34" charset="0"/>
                <a:ea typeface="Arial" pitchFamily="34" charset="-122"/>
                <a:cs typeface="Arial" pitchFamily="34" charset="-120"/>
              </a:rPr>
              <a:t>  ·  </a:t>
            </a:r>
            <a:pPr algn="ctr" indent="0" marL="0">
              <a:buNone/>
            </a:pPr>
            <a:r>
              <a:rPr lang="en-US" sz="3600" b="1" dirty="0">
                <a:solidFill>
                  <a:srgbClr val="38BDF8"/>
                </a:solidFill>
                <a:latin typeface="Arial" pitchFamily="34" charset="0"/>
                <a:ea typeface="Arial" pitchFamily="34" charset="-122"/>
                <a:cs typeface="Arial" pitchFamily="34" charset="-120"/>
              </a:rPr>
              <a:t>Sửa tại nguồn</a:t>
            </a:r>
            <a:pPr algn="ctr" indent="0" marL="0">
              <a:buNone/>
            </a:pPr>
            <a:r>
              <a:rPr lang="en-US" sz="3600" b="1" dirty="0">
                <a:solidFill>
                  <a:srgbClr val="7F93B0"/>
                </a:solidFill>
                <a:latin typeface="Arial" pitchFamily="34" charset="0"/>
                <a:ea typeface="Arial" pitchFamily="34" charset="-122"/>
                <a:cs typeface="Arial" pitchFamily="34" charset="-120"/>
              </a:rPr>
              <a:t>  ·  </a:t>
            </a:r>
            <a:pPr algn="ctr" indent="0" marL="0">
              <a:buNone/>
            </a:pPr>
            <a:r>
              <a:rPr lang="en-US" sz="3600" b="1" dirty="0">
                <a:solidFill>
                  <a:srgbClr val="FBBF24"/>
                </a:solidFill>
                <a:latin typeface="Arial" pitchFamily="34" charset="0"/>
                <a:ea typeface="Arial" pitchFamily="34" charset="-122"/>
                <a:cs typeface="Arial" pitchFamily="34" charset="-120"/>
              </a:rPr>
              <a:t>Gửi hồ sơ sạch</a:t>
            </a:r>
            <a:endParaRPr lang="en-US" sz="3600" dirty="0"/>
          </a:p>
        </p:txBody>
      </p:sp>
      <p:sp>
        <p:nvSpPr>
          <p:cNvPr id="3" name="Text 1"/>
          <p:cNvSpPr txBox="1"/>
          <p:nvPr/>
        </p:nvSpPr>
        <p:spPr>
          <a:xfrm>
            <a:off x="914400" y="2560320"/>
            <a:ext cx="10362895" cy="868680"/>
          </a:xfrm>
          <a:prstGeom prst="rect">
            <a:avLst/>
          </a:prstGeom>
          <a:noFill/>
          <a:ln/>
        </p:spPr>
        <p:txBody>
          <a:bodyPr wrap="square" lIns="0" tIns="0" rIns="0" bIns="0" rtlCol="0" anchor="t"/>
          <a:lstStyle/>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Tiền giám định đưa việc kiểm tra hồ sơ BHYT về bên trong bệnh viện —</a:t>
            </a:r>
            <a:endParaRPr lang="en-US" sz="1900" dirty="0"/>
          </a:p>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khi người làm sai còn ở đó, và hồ sơ còn chưa rời bệnh viện.</a:t>
            </a:r>
            <a:endParaRPr lang="en-US" sz="1900" dirty="0"/>
          </a:p>
        </p:txBody>
      </p:sp>
      <p:sp>
        <p:nvSpPr>
          <p:cNvPr id="4" name="Shape 2"/>
          <p:cNvSpPr/>
          <p:nvPr/>
        </p:nvSpPr>
        <p:spPr>
          <a:xfrm>
            <a:off x="2804008" y="3931920"/>
            <a:ext cx="6583680" cy="1280160"/>
          </a:xfrm>
          <a:prstGeom prst="roundRect">
            <a:avLst>
              <a:gd name="adj" fmla="val 7143"/>
            </a:avLst>
          </a:prstGeom>
          <a:solidFill>
            <a:srgbClr val="1C3558">
              <a:alpha val="85000"/>
            </a:srgbClr>
          </a:solidFill>
          <a:ln w="9525">
            <a:solidFill>
              <a:srgbClr val="2E4B74"/>
            </a:solidFill>
            <a:prstDash val="solid"/>
          </a:ln>
        </p:spPr>
      </p:sp>
      <p:sp>
        <p:nvSpPr>
          <p:cNvPr id="5" name="Text 3"/>
          <p:cNvSpPr txBox="1"/>
          <p:nvPr/>
        </p:nvSpPr>
        <p:spPr>
          <a:xfrm>
            <a:off x="2804008" y="3931920"/>
            <a:ext cx="6583680" cy="1280160"/>
          </a:xfrm>
          <a:prstGeom prst="rect">
            <a:avLst/>
          </a:prstGeom>
          <a:noFill/>
          <a:ln/>
        </p:spPr>
        <p:txBody>
          <a:bodyPr wrap="square" lIns="0" tIns="0" rIns="0" bIns="0" rtlCol="0" anchor="ctr"/>
          <a:lstStyle/>
          <a:p>
            <a:pPr algn="ctr" indent="0" marL="0">
              <a:lnSpc>
                <a:spcPts val="2400"/>
              </a:lnSpc>
              <a:buNone/>
            </a:pPr>
            <a:r>
              <a:rPr lang="en-US" sz="1200" b="1" spc="200" kern="0" dirty="0">
                <a:solidFill>
                  <a:srgbClr val="38BDF8"/>
                </a:solidFill>
                <a:latin typeface="Arial" pitchFamily="34" charset="0"/>
                <a:ea typeface="Arial" pitchFamily="34" charset="-122"/>
                <a:cs typeface="Arial" pitchFamily="34" charset="-120"/>
              </a:rPr>
              <a:t>HỎI ĐÁP  ·  LIÊN HỆ</a:t>
            </a:r>
            <a:endParaRPr lang="en-US" sz="1200" dirty="0"/>
          </a:p>
          <a:p>
            <a:pPr algn="ctr" indent="0" marL="0">
              <a:lnSpc>
                <a:spcPts val="2400"/>
              </a:lnSpc>
              <a:buNone/>
            </a:pPr>
            <a:r>
              <a:rPr lang="en-US" sz="1700" b="1" dirty="0">
                <a:solidFill>
                  <a:srgbClr val="FFFFFF"/>
                </a:solidFill>
                <a:latin typeface="Arial" pitchFamily="34" charset="0"/>
                <a:ea typeface="Arial" pitchFamily="34" charset="-122"/>
                <a:cs typeface="Arial" pitchFamily="34" charset="-120"/>
              </a:rPr>
              <a:t>Công ty Cổ phần Y tế Thông minh</a:t>
            </a:r>
            <a:endParaRPr lang="en-US" sz="1200" dirty="0"/>
          </a:p>
          <a:p>
            <a:pPr algn="ctr" indent="0" marL="0">
              <a:lnSpc>
                <a:spcPts val="2400"/>
              </a:lnSpc>
              <a:buNone/>
            </a:pPr>
            <a:r>
              <a:rPr lang="en-US" sz="1400" dirty="0">
                <a:solidFill>
                  <a:srgbClr val="A9BCD6"/>
                </a:solidFill>
                <a:latin typeface="Arial" pitchFamily="34" charset="0"/>
                <a:ea typeface="Arial" pitchFamily="34" charset="-122"/>
                <a:cs typeface="Arial" pitchFamily="34" charset="-120"/>
              </a:rPr>
              <a:t>Điện thoại: ………………   ·   Email: ………………</a:t>
            </a:r>
            <a:endParaRPr lang="en-US" sz="1200" dirty="0"/>
          </a:p>
        </p:txBody>
      </p:sp>
      <p:sp>
        <p:nvSpPr>
          <p:cNvPr id="7" name="Text 4"/>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19 / 19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pháp Tiền giám định — Giới thiệu hệ thống</dc:title>
  <dc:subject>Giới thiệu hệ thống Tiền giám định hồ sơ BHYT cho các bệnh viện</dc:subject>
  <dc:creator>PptxGenJS</dc:creator>
  <cp:lastModifiedBy>PptxGenJS</cp:lastModifiedBy>
  <cp:revision>1</cp:revision>
  <dcterms:created xsi:type="dcterms:W3CDTF">2026-10-09T06:29:42Z</dcterms:created>
  <dcterms:modified xsi:type="dcterms:W3CDTF">2026-10-09T06:29:42Z</dcterms:modified>
</cp:coreProperties>
</file>