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xml" ContentType="application/vnd.openxmlformats-officedocument.theme+xml"/>
  <Override PartName="/ppt/presentation.xml" ContentType="application/vnd.openxmlformats-officedocument.presentationml.presentation.main+xml"/>
  <Override PartName="/ppt/notesMasters/notesMaster1.xml" ContentType="application/vnd.openxmlformats-officedocument.presentationml.notesMaster+xml"/>
  <Override PartName="/ppt/slides/slide18.xml" ContentType="application/vnd.openxmlformats-officedocument.presentationml.slide+xml"/>
  <Override PartName="/ppt/slides/slide1.xml" ContentType="application/vnd.openxmlformats-officedocument.presentationml.slide+xml"/>
  <Override PartName="/ppt/slides/slide20.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Masters/slideMaster1.xml" ContentType="application/vnd.openxmlformats-officedocument.presentationml.slide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slideLayouts/slideLayout1.xml" ContentType="application/vnd.openxmlformats-officedocument.presentationml.slideLayout+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533520" y="764280"/>
            <a:ext cx="6704640" cy="3771360"/>
          </a:xfrm>
          <a:prstGeom prst="rect">
            <a:avLst/>
          </a:prstGeom>
          <a:noFill/>
          <a:ln w="0">
            <a:noFill/>
          </a:ln>
        </p:spPr>
        <p:txBody>
          <a:bodyPr lIns="0" tIns="0" rIns="0" bIns="0" anchor="ctr">
            <a:noAutofit/>
          </a:bodyPr>
          <a:p>
            <a:r>
              <a:rPr lang="en-US" sz="1800" b="0" u="none" strike="noStrike">
                <a:solidFill>
                  <a:schemeClr val="dk1"/>
                </a:solidFill>
                <a:effectLst/>
                <a:uFillTx/>
                <a:latin typeface="Calibri"/>
              </a:rPr>
              <a:t>Click to </a:t>
            </a:r>
            <a:r>
              <a:rPr lang="en-US" sz="1800" b="0" u="none" strike="noStrike">
                <a:solidFill>
                  <a:schemeClr val="dk1"/>
                </a:solidFill>
                <a:effectLst/>
                <a:uFillTx/>
                <a:latin typeface="Calibri"/>
              </a:rPr>
              <a:t>move the </a:t>
            </a:r>
            <a:r>
              <a:rPr lang="en-US" sz="1800" b="0" u="none" strike="noStrike">
                <a:solidFill>
                  <a:schemeClr val="dk1"/>
                </a:solidFill>
                <a:effectLst/>
                <a:uFillTx/>
                <a:latin typeface="Calibri"/>
              </a:rPr>
              <a:t>slide</a:t>
            </a:r>
            <a:endParaRPr lang="en-US" sz="1800" b="0" u="none" strike="noStrike">
              <a:solidFill>
                <a:schemeClr val="dk1"/>
              </a:solidFill>
              <a:effectLst/>
              <a:uFillTx/>
              <a:latin typeface="Calibri"/>
            </a:endParaRPr>
          </a:p>
        </p:txBody>
      </p:sp>
      <p:sp>
        <p:nvSpPr>
          <p:cNvPr id="5"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a:t>
            </a:r>
            <a:r>
              <a:rPr lang="en-US" sz="2000" b="0" u="none" strike="noStrike">
                <a:solidFill>
                  <a:srgbClr val="000000"/>
                </a:solidFill>
                <a:effectLst/>
                <a:uFillTx/>
                <a:latin typeface="Arial"/>
              </a:rPr>
              <a:t>k to </a:t>
            </a:r>
            <a:r>
              <a:rPr lang="en-US" sz="2000" b="0" u="none" strike="noStrike">
                <a:solidFill>
                  <a:srgbClr val="000000"/>
                </a:solidFill>
                <a:effectLst/>
                <a:uFillTx/>
                <a:latin typeface="Arial"/>
              </a:rPr>
              <a:t>edit </a:t>
            </a:r>
            <a:r>
              <a:rPr lang="en-US" sz="2000" b="0" u="none" strike="noStrike">
                <a:solidFill>
                  <a:srgbClr val="000000"/>
                </a:solidFill>
                <a:effectLst/>
                <a:uFillTx/>
                <a:latin typeface="Arial"/>
              </a:rPr>
              <a:t>the </a:t>
            </a:r>
            <a:r>
              <a:rPr lang="en-US" sz="2000" b="0" u="none" strike="noStrike">
                <a:solidFill>
                  <a:srgbClr val="000000"/>
                </a:solidFill>
                <a:effectLst/>
                <a:uFillTx/>
                <a:latin typeface="Arial"/>
              </a:rPr>
              <a:t>note</a:t>
            </a:r>
            <a:r>
              <a:rPr lang="en-US" sz="2000" b="0" u="none" strike="noStrike">
                <a:solidFill>
                  <a:srgbClr val="000000"/>
                </a:solidFill>
                <a:effectLst/>
                <a:uFillTx/>
                <a:latin typeface="Arial"/>
              </a:rPr>
              <a:t>s </a:t>
            </a:r>
            <a:r>
              <a:rPr lang="en-US" sz="2000" b="0" u="none" strike="noStrike">
                <a:solidFill>
                  <a:srgbClr val="000000"/>
                </a:solidFill>
                <a:effectLst/>
                <a:uFillTx/>
                <a:latin typeface="Arial"/>
              </a:rPr>
              <a:t>form</a:t>
            </a:r>
            <a:r>
              <a:rPr lang="en-US" sz="2000" b="0" u="none" strike="noStrike">
                <a:solidFill>
                  <a:srgbClr val="000000"/>
                </a:solidFill>
                <a:effectLst/>
                <a:uFillTx/>
                <a:latin typeface="Arial"/>
              </a:rPr>
              <a:t>at</a:t>
            </a:r>
            <a:endParaRPr lang="en-US" sz="2000" b="0" u="none" strike="noStrike">
              <a:solidFill>
                <a:srgbClr val="000000"/>
              </a:solidFill>
              <a:effectLst/>
              <a:uFillTx/>
              <a:latin typeface="Arial"/>
            </a:endParaRPr>
          </a:p>
        </p:txBody>
      </p:sp>
      <p:sp>
        <p:nvSpPr>
          <p:cNvPr id="6"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47E0C549-303C-456C-9F06-788A8A13446A}"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5" name="PlaceHolder 1"/>
          <p:cNvSpPr>
            <a:spLocks noGrp="1"/>
          </p:cNvSpPr>
          <p:nvPr>
            <p:ph type="sldImg"/>
          </p:nvPr>
        </p:nvSpPr>
        <p:spPr>
          <a:xfrm>
            <a:off x="685800" y="1143000"/>
            <a:ext cx="5486040" cy="3085920"/>
          </a:xfrm>
          <a:prstGeom prst="rect">
            <a:avLst/>
          </a:prstGeom>
          <a:ln w="0">
            <a:noFill/>
          </a:ln>
        </p:spPr>
      </p:sp>
      <p:sp>
        <p:nvSpPr>
          <p:cNvPr id="51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Slide mở đầu, nói trong khoảng một phút. Hồ sơ BHYT đi từ HIS của bệnh viện tới Cổng giám định BHXH; Tiền giám định là trạm kiểm tra nằm giữa: kiểm từng hồ sơ XML 3176 theo bộ quy tắc, tra thẻ BHYT, đối chiếu danh mục. Lỗi nghiêm trọng chặn ký số và gửi cho tới khi được sửa — và sửa trên HIS, tại khoa phòng phát sinh, rồi nạp lại. Hệ thống đang vận hành tại Bệnh viện Bạch Mai.</a:t>
            </a:r>
            <a:endParaRPr lang="en-US" sz="2000" b="0" u="none" strike="noStrike">
              <a:solidFill>
                <a:srgbClr val="000000"/>
              </a:solidFill>
              <a:effectLst/>
              <a:uFillTx/>
              <a:latin typeface="Arial"/>
            </a:endParaRPr>
          </a:p>
        </p:txBody>
      </p:sp>
      <p:sp>
        <p:nvSpPr>
          <p:cNvPr id="517"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7578A46-0A3F-4DE8-88FD-EFF59057C214}"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8" name="PlaceHolder 1"/>
          <p:cNvSpPr>
            <a:spLocks noGrp="1"/>
          </p:cNvSpPr>
          <p:nvPr>
            <p:ph type="sldImg"/>
          </p:nvPr>
        </p:nvSpPr>
        <p:spPr>
          <a:xfrm>
            <a:off x="685800" y="1143000"/>
            <a:ext cx="5486040" cy="3085920"/>
          </a:xfrm>
          <a:prstGeom prst="rect">
            <a:avLst/>
          </a:prstGeom>
          <a:ln w="0">
            <a:noFill/>
          </a:ln>
        </p:spPr>
      </p:sp>
      <p:sp>
        <p:nvSpPr>
          <p:cNvPr id="51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Mở bằng nỗi đau mà lãnh đạo và phòng KHTH đều biết. Không đưa con số xuất toán cụ thể — mỗi viện có số riêng; nếu viện bạn có số liệu, mời họ tự liên hệ. Ý chính: phát hiện càng muộn, chi phí sửa càng lớn và lỗi càng dễ lặp lại.</a:t>
            </a:r>
            <a:endParaRPr lang="en-US" sz="2000" b="0" u="none" strike="noStrike">
              <a:solidFill>
                <a:srgbClr val="000000"/>
              </a:solidFill>
              <a:effectLst/>
              <a:uFillTx/>
              <a:latin typeface="Arial"/>
            </a:endParaRPr>
          </a:p>
        </p:txBody>
      </p:sp>
      <p:sp>
        <p:nvSpPr>
          <p:cNvPr id="520"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17AA8F8-75C2-48EE-8372-55B65FF2679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1" name="PlaceHolder 1"/>
          <p:cNvSpPr>
            <a:spLocks noGrp="1"/>
          </p:cNvSpPr>
          <p:nvPr>
            <p:ph type="sldImg"/>
          </p:nvPr>
        </p:nvSpPr>
        <p:spPr>
          <a:xfrm>
            <a:off x="685800" y="1143000"/>
            <a:ext cx="5486040" cy="3085920"/>
          </a:xfrm>
          <a:prstGeom prst="rect">
            <a:avLst/>
          </a:prstGeom>
          <a:ln w="0">
            <a:noFill/>
          </a:ln>
        </p:spPr>
      </p:sp>
      <p:sp>
        <p:nvSpPr>
          <p:cNvPr id="52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Hai điểm kiểm soát: ① ngay sau khi bác sĩ ra y lệnh — hệ thống quét HIS mỗi 60 giây, lỗi hiện ra khi người làm còn trong ca; ② trước khi ký số — hồ sơ XML 3176 có lỗi nghiêm trọng thì không được ký, không được gửi. Nhấn vòng sửa lỗi: phần mềm không sửa dữ liệu, chỉ chỉ ra lỗi; khoa sửa trên HIS rồi nạp lại.</a:t>
            </a:r>
            <a:endParaRPr lang="en-US" sz="2000" b="0" u="none" strike="noStrike">
              <a:solidFill>
                <a:srgbClr val="000000"/>
              </a:solidFill>
              <a:effectLst/>
              <a:uFillTx/>
              <a:latin typeface="Arial"/>
            </a:endParaRPr>
          </a:p>
        </p:txBody>
      </p:sp>
      <p:sp>
        <p:nvSpPr>
          <p:cNvPr id="523"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E92B97E-8CD5-40B7-9BDE-03053C97ABF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4" name="PlaceHolder 1"/>
          <p:cNvSpPr>
            <a:spLocks noGrp="1"/>
          </p:cNvSpPr>
          <p:nvPr>
            <p:ph type="sldImg"/>
          </p:nvPr>
        </p:nvSpPr>
        <p:spPr>
          <a:xfrm>
            <a:off x="685800" y="1143000"/>
            <a:ext cx="5486040" cy="3085920"/>
          </a:xfrm>
          <a:prstGeom prst="rect">
            <a:avLst/>
          </a:prstGeom>
          <a:ln w="0">
            <a:noFill/>
          </a:ln>
        </p:spPr>
      </p:sp>
      <p:sp>
        <p:nvSpPr>
          <p:cNvPr id="52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Slide cho lãnh đạo: quy mô bộ kiểm. "Khoảng 300" là số mã lỗi riêng biệt trong bộ kiểm XML 3176 hiện tại; con số thay đổi khi quy định đổi. 19 quy tắc y lệnh gồm hai họ: lâm sàng/danh mục và cấu trúc/thời gian/chứng chỉ hành nghề. Không hứa số phần trăm giảm xuất toán — mỗi viện đo trên dữ liệu của mình.</a:t>
            </a:r>
            <a:endParaRPr lang="en-US" sz="2000" b="0" u="none" strike="noStrike">
              <a:solidFill>
                <a:srgbClr val="000000"/>
              </a:solidFill>
              <a:effectLst/>
              <a:uFillTx/>
              <a:latin typeface="Arial"/>
            </a:endParaRPr>
          </a:p>
        </p:txBody>
      </p:sp>
      <p:sp>
        <p:nvSpPr>
          <p:cNvPr id="526"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D5032F3-328D-4836-BA93-DAB5EFA153C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7" name="PlaceHolder 1"/>
          <p:cNvSpPr>
            <a:spLocks noGrp="1"/>
          </p:cNvSpPr>
          <p:nvPr>
            <p:ph type="sldImg"/>
          </p:nvPr>
        </p:nvSpPr>
        <p:spPr>
          <a:xfrm>
            <a:off x="685800" y="1143000"/>
            <a:ext cx="5486040" cy="3085920"/>
          </a:xfrm>
          <a:prstGeom prst="rect">
            <a:avLst/>
          </a:prstGeom>
          <a:ln w="0">
            <a:noFill/>
          </a:ln>
        </p:spPr>
      </p:sp>
      <p:sp>
        <p:nvSpPr>
          <p:cNvPr id="52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ĐIỀN SỐ LIỆU TRƯỚC KHI TRÌNH BÀY — và phải được Bệnh viện Bạch Mai đồng ý công bố. Số "sau" lấy từ Dashboard lỗi XML (thẻ chỉ số, phễu, tồn đọng); số "trước" phải lấy từ báo cáo kết quả giám định trên Cổng BHXH hoặc số liệu phòng KHTH lưu riêng, vì phần mềm chỉ lưu kết quả của lần kiểm mới nhất. Chọn hai kỳ dài bằng nhau. Nếu chưa có số đáng tin, bỏ slide này khỏi buổi trình bày — đừng thay bằng ước đoán; lãnh đạo hỏi lại một con số sai thì mất uy tín cả deck.</a:t>
            </a:r>
            <a:endParaRPr lang="en-US" sz="2000" b="0" u="none" strike="noStrike">
              <a:solidFill>
                <a:srgbClr val="000000"/>
              </a:solidFill>
              <a:effectLst/>
              <a:uFillTx/>
              <a:latin typeface="Arial"/>
            </a:endParaRPr>
          </a:p>
        </p:txBody>
      </p:sp>
      <p:sp>
        <p:nvSpPr>
          <p:cNvPr id="529"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CF184B9-C887-4F5D-AAED-4EB47645EF9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0" name="PlaceHolder 1"/>
          <p:cNvSpPr>
            <a:spLocks noGrp="1"/>
          </p:cNvSpPr>
          <p:nvPr>
            <p:ph type="sldImg"/>
          </p:nvPr>
        </p:nvSpPr>
        <p:spPr>
          <a:xfrm>
            <a:off x="685800" y="1143000"/>
            <a:ext cx="5486040" cy="3085920"/>
          </a:xfrm>
          <a:prstGeom prst="rect">
            <a:avLst/>
          </a:prstGeom>
          <a:ln w="0">
            <a:noFill/>
          </a:ln>
        </p:spPr>
      </p:sp>
      <p:sp>
        <p:nvSpPr>
          <p:cNvPr id="53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Mời lãnh đạo tự nhẩm với số của viện mình — con số họ tự ra thuyết phục hơn mọi con số ta đưa. Dòng ví dụ là giả định thuần tuý (20.000 × 5% × 1,5 triệu = 1,5 tỷ) để minh hoạ cách tính, nói rõ như vậy khi trình bày. Không hứa Tiền giám định xoá được toàn bộ khoản này: nó giảm phần lỗi nằm trong bộ quy tắc, và đưa phần còn lại ra ánh sáng sớm hơn.</a:t>
            </a:r>
            <a:endParaRPr lang="en-US" sz="2000" b="0" u="none" strike="noStrike">
              <a:solidFill>
                <a:srgbClr val="000000"/>
              </a:solidFill>
              <a:effectLst/>
              <a:uFillTx/>
              <a:latin typeface="Arial"/>
            </a:endParaRPr>
          </a:p>
        </p:txBody>
      </p:sp>
      <p:sp>
        <p:nvSpPr>
          <p:cNvPr id="532"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0541882-EC6C-4FDC-B982-4694E47537D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3" name="PlaceHolder 1"/>
          <p:cNvSpPr>
            <a:spLocks noGrp="1"/>
          </p:cNvSpPr>
          <p:nvPr>
            <p:ph type="sldImg"/>
          </p:nvPr>
        </p:nvSpPr>
        <p:spPr>
          <a:xfrm>
            <a:off x="685800" y="1143000"/>
            <a:ext cx="5486040" cy="3085920"/>
          </a:xfrm>
          <a:prstGeom prst="rect">
            <a:avLst/>
          </a:prstGeom>
          <a:ln w="0">
            <a:noFill/>
          </a:ln>
        </p:spPr>
      </p:sp>
      <p:sp>
        <p:nvSpPr>
          <p:cNvPr id="53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Hai trọng tâm tạo giá trị lớn nhất là kiểm sai sót y lệnh (bắt lỗi sớm nhất) và kiểm hồ sơ XML 3176 (chặn lỗi trước khi gửi). Năm nhóm còn lại hỗ trợ: đúng thẻ, đúng danh mục, đúng giá, phản hồi về đúng khoa, và đo được bằng số liệu. Ô viền đứt là phần mở rộng cùng hạ tầng ký số và gửi cổng.</a:t>
            </a:r>
            <a:endParaRPr lang="en-US" sz="2000" b="0" u="none" strike="noStrike">
              <a:solidFill>
                <a:srgbClr val="000000"/>
              </a:solidFill>
              <a:effectLst/>
              <a:uFillTx/>
              <a:latin typeface="Arial"/>
            </a:endParaRPr>
          </a:p>
        </p:txBody>
      </p:sp>
      <p:sp>
        <p:nvSpPr>
          <p:cNvPr id="535"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8F6DDEA-A3ED-4722-AFE9-EF740C6BAAE7}"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6" name="PlaceHolder 1"/>
          <p:cNvSpPr>
            <a:spLocks noGrp="1"/>
          </p:cNvSpPr>
          <p:nvPr>
            <p:ph type="sldImg"/>
          </p:nvPr>
        </p:nvSpPr>
        <p:spPr>
          <a:xfrm>
            <a:off x="685800" y="1143000"/>
            <a:ext cx="5486040" cy="3085920"/>
          </a:xfrm>
          <a:prstGeom prst="rect">
            <a:avLst/>
          </a:prstGeom>
          <a:ln w="0">
            <a:noFill/>
          </a:ln>
        </p:spPr>
      </p:sp>
      <p:sp>
        <p:nvSpPr>
          <p:cNvPr id="53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Bốn </a:t>
            </a:r>
            <a:r>
              <a:rPr lang="en-US" sz="2000" b="0" u="none" strike="noStrike">
                <a:solidFill>
                  <a:srgbClr val="000000"/>
                </a:solidFill>
                <a:effectLst/>
                <a:uFillTx/>
                <a:latin typeface="Arial"/>
              </a:rPr>
              <a:t>bướ</a:t>
            </a:r>
            <a:r>
              <a:rPr lang="en-US" sz="2000" b="0" u="none" strike="noStrike">
                <a:solidFill>
                  <a:srgbClr val="000000"/>
                </a:solidFill>
                <a:effectLst/>
                <a:uFillTx/>
                <a:latin typeface="Arial"/>
              </a:rPr>
              <a:t>c </a:t>
            </a:r>
            <a:r>
              <a:rPr lang="en-US" sz="2000" b="0" u="none" strike="noStrike">
                <a:solidFill>
                  <a:srgbClr val="000000"/>
                </a:solidFill>
                <a:effectLst/>
                <a:uFillTx/>
                <a:latin typeface="Arial"/>
              </a:rPr>
              <a:t>đầu </a:t>
            </a:r>
            <a:r>
              <a:rPr lang="en-US" sz="2000" b="0" u="none" strike="noStrike">
                <a:solidFill>
                  <a:srgbClr val="000000"/>
                </a:solidFill>
                <a:effectLst/>
                <a:uFillTx/>
                <a:latin typeface="Arial"/>
              </a:rPr>
              <a:t>máy </a:t>
            </a:r>
            <a:r>
              <a:rPr lang="en-US" sz="2000" b="0" u="none" strike="noStrike">
                <a:solidFill>
                  <a:srgbClr val="000000"/>
                </a:solidFill>
                <a:effectLst/>
                <a:uFillTx/>
                <a:latin typeface="Arial"/>
              </a:rPr>
              <a:t>tự </a:t>
            </a:r>
            <a:r>
              <a:rPr lang="en-US" sz="2000" b="0" u="none" strike="noStrike">
                <a:solidFill>
                  <a:srgbClr val="000000"/>
                </a:solidFill>
                <a:effectLst/>
                <a:uFillTx/>
                <a:latin typeface="Arial"/>
              </a:rPr>
              <a:t>làm, </a:t>
            </a:r>
            <a:r>
              <a:rPr lang="en-US" sz="2000" b="0" u="none" strike="noStrike">
                <a:solidFill>
                  <a:srgbClr val="000000"/>
                </a:solidFill>
                <a:effectLst/>
                <a:uFillTx/>
                <a:latin typeface="Arial"/>
              </a:rPr>
              <a:t>chạ</a:t>
            </a:r>
            <a:r>
              <a:rPr lang="en-US" sz="2000" b="0" u="none" strike="noStrike">
                <a:solidFill>
                  <a:srgbClr val="000000"/>
                </a:solidFill>
                <a:effectLst/>
                <a:uFillTx/>
                <a:latin typeface="Arial"/>
              </a:rPr>
              <a:t>y </a:t>
            </a:r>
            <a:r>
              <a:rPr lang="en-US" sz="2000" b="0" u="none" strike="noStrike">
                <a:solidFill>
                  <a:srgbClr val="000000"/>
                </a:solidFill>
                <a:effectLst/>
                <a:uFillTx/>
                <a:latin typeface="Arial"/>
              </a:rPr>
              <a:t>nền. </a:t>
            </a:r>
            <a:r>
              <a:rPr lang="en-US" sz="2000" b="0" u="none" strike="noStrike">
                <a:solidFill>
                  <a:srgbClr val="000000"/>
                </a:solidFill>
                <a:effectLst/>
                <a:uFillTx/>
                <a:latin typeface="Arial"/>
              </a:rPr>
              <a:t>Chứ</a:t>
            </a:r>
            <a:r>
              <a:rPr lang="en-US" sz="2000" b="0" u="none" strike="noStrike">
                <a:solidFill>
                  <a:srgbClr val="000000"/>
                </a:solidFill>
                <a:effectLst/>
                <a:uFillTx/>
                <a:latin typeface="Arial"/>
              </a:rPr>
              <a:t>c </a:t>
            </a:r>
            <a:r>
              <a:rPr lang="en-US" sz="2000" b="0" u="none" strike="noStrike">
                <a:solidFill>
                  <a:srgbClr val="000000"/>
                </a:solidFill>
                <a:effectLst/>
                <a:uFillTx/>
                <a:latin typeface="Arial"/>
              </a:rPr>
              <a:t>năn</a:t>
            </a:r>
            <a:r>
              <a:rPr lang="en-US" sz="2000" b="0" u="none" strike="noStrike">
                <a:solidFill>
                  <a:srgbClr val="000000"/>
                </a:solidFill>
                <a:effectLst/>
                <a:uFillTx/>
                <a:latin typeface="Arial"/>
              </a:rPr>
              <a:t>g tự </a:t>
            </a:r>
            <a:r>
              <a:rPr lang="en-US" sz="2000" b="0" u="none" strike="noStrike">
                <a:solidFill>
                  <a:srgbClr val="000000"/>
                </a:solidFill>
                <a:effectLst/>
                <a:uFillTx/>
                <a:latin typeface="Arial"/>
              </a:rPr>
              <a:t>gửi </a:t>
            </a:r>
            <a:r>
              <a:rPr lang="en-US" sz="2000" b="0" u="none" strike="noStrike">
                <a:solidFill>
                  <a:srgbClr val="000000"/>
                </a:solidFill>
                <a:effectLst/>
                <a:uFillTx/>
                <a:latin typeface="Arial"/>
              </a:rPr>
              <a:t>cổn</a:t>
            </a:r>
            <a:r>
              <a:rPr lang="en-US" sz="2000" b="0" u="none" strike="noStrike">
                <a:solidFill>
                  <a:srgbClr val="000000"/>
                </a:solidFill>
                <a:effectLst/>
                <a:uFillTx/>
                <a:latin typeface="Arial"/>
              </a:rPr>
              <a:t>g </a:t>
            </a:r>
            <a:r>
              <a:rPr lang="en-US" sz="2000" b="0" u="none" strike="noStrike">
                <a:solidFill>
                  <a:srgbClr val="000000"/>
                </a:solidFill>
                <a:effectLst/>
                <a:uFillTx/>
                <a:latin typeface="Arial"/>
              </a:rPr>
              <a:t>mặc </a:t>
            </a:r>
            <a:r>
              <a:rPr lang="en-US" sz="2000" b="0" u="none" strike="noStrike">
                <a:solidFill>
                  <a:srgbClr val="000000"/>
                </a:solidFill>
                <a:effectLst/>
                <a:uFillTx/>
                <a:latin typeface="Arial"/>
              </a:rPr>
              <a:t>định </a:t>
            </a:r>
            <a:r>
              <a:rPr lang="en-US" sz="2000" b="0" u="none" strike="noStrike">
                <a:solidFill>
                  <a:srgbClr val="000000"/>
                </a:solidFill>
                <a:effectLst/>
                <a:uFillTx/>
                <a:latin typeface="Arial"/>
              </a:rPr>
              <a:t>tắt </a:t>
            </a:r>
            <a:r>
              <a:rPr lang="en-US" sz="2000" b="0" u="none" strike="noStrike">
                <a:solidFill>
                  <a:srgbClr val="000000"/>
                </a:solidFill>
                <a:effectLst/>
                <a:uFillTx/>
                <a:latin typeface="Arial"/>
              </a:rPr>
              <a:t>và </a:t>
            </a:r>
            <a:r>
              <a:rPr lang="en-US" sz="2000" b="0" u="none" strike="noStrike">
                <a:solidFill>
                  <a:srgbClr val="000000"/>
                </a:solidFill>
                <a:effectLst/>
                <a:uFillTx/>
                <a:latin typeface="Arial"/>
              </a:rPr>
              <a:t>bật </a:t>
            </a:r>
            <a:r>
              <a:rPr lang="en-US" sz="2000" b="0" u="none" strike="noStrike">
                <a:solidFill>
                  <a:srgbClr val="000000"/>
                </a:solidFill>
                <a:effectLst/>
                <a:uFillTx/>
                <a:latin typeface="Arial"/>
              </a:rPr>
              <a:t>riên</a:t>
            </a:r>
            <a:r>
              <a:rPr lang="en-US" sz="2000" b="0" u="none" strike="noStrike">
                <a:solidFill>
                  <a:srgbClr val="000000"/>
                </a:solidFill>
                <a:effectLst/>
                <a:uFillTx/>
                <a:latin typeface="Arial"/>
              </a:rPr>
              <a:t>g </a:t>
            </a:r>
            <a:r>
              <a:rPr lang="en-US" sz="2000" b="0" u="none" strike="noStrike">
                <a:solidFill>
                  <a:srgbClr val="000000"/>
                </a:solidFill>
                <a:effectLst/>
                <a:uFillTx/>
                <a:latin typeface="Arial"/>
              </a:rPr>
              <a:t>cho </a:t>
            </a:r>
            <a:r>
              <a:rPr lang="en-US" sz="2000" b="0" u="none" strike="noStrike">
                <a:solidFill>
                  <a:srgbClr val="000000"/>
                </a:solidFill>
                <a:effectLst/>
                <a:uFillTx/>
                <a:latin typeface="Arial"/>
              </a:rPr>
              <a:t>từn</a:t>
            </a:r>
            <a:r>
              <a:rPr lang="en-US" sz="2000" b="0" u="none" strike="noStrike">
                <a:solidFill>
                  <a:srgbClr val="000000"/>
                </a:solidFill>
                <a:effectLst/>
                <a:uFillTx/>
                <a:latin typeface="Arial"/>
              </a:rPr>
              <a:t>g cơ </a:t>
            </a:r>
            <a:r>
              <a:rPr lang="en-US" sz="2000" b="0" u="none" strike="noStrike">
                <a:solidFill>
                  <a:srgbClr val="000000"/>
                </a:solidFill>
                <a:effectLst/>
                <a:uFillTx/>
                <a:latin typeface="Arial"/>
              </a:rPr>
              <a:t>sở </a:t>
            </a:r>
            <a:r>
              <a:rPr lang="en-US" sz="2000" b="0" u="none" strike="noStrike">
                <a:solidFill>
                  <a:srgbClr val="000000"/>
                </a:solidFill>
                <a:effectLst/>
                <a:uFillTx/>
                <a:latin typeface="Arial"/>
              </a:rPr>
              <a:t>— </a:t>
            </a:r>
            <a:r>
              <a:rPr lang="en-US" sz="2000" b="0" u="none" strike="noStrike">
                <a:solidFill>
                  <a:srgbClr val="000000"/>
                </a:solidFill>
                <a:effectLst/>
                <a:uFillTx/>
                <a:latin typeface="Arial"/>
              </a:rPr>
              <a:t>viện </a:t>
            </a:r>
            <a:r>
              <a:rPr lang="en-US" sz="2000" b="0" u="none" strike="noStrike">
                <a:solidFill>
                  <a:srgbClr val="000000"/>
                </a:solidFill>
                <a:effectLst/>
                <a:uFillTx/>
                <a:latin typeface="Arial"/>
              </a:rPr>
              <a:t>chủ </a:t>
            </a:r>
            <a:r>
              <a:rPr lang="en-US" sz="2000" b="0" u="none" strike="noStrike">
                <a:solidFill>
                  <a:srgbClr val="000000"/>
                </a:solidFill>
                <a:effectLst/>
                <a:uFillTx/>
                <a:latin typeface="Arial"/>
              </a:rPr>
              <a:t>độn</a:t>
            </a:r>
            <a:r>
              <a:rPr lang="en-US" sz="2000" b="0" u="none" strike="noStrike">
                <a:solidFill>
                  <a:srgbClr val="000000"/>
                </a:solidFill>
                <a:effectLst/>
                <a:uFillTx/>
                <a:latin typeface="Arial"/>
              </a:rPr>
              <a:t>g </a:t>
            </a:r>
            <a:r>
              <a:rPr lang="en-US" sz="2000" b="0" u="none" strike="noStrike">
                <a:solidFill>
                  <a:srgbClr val="000000"/>
                </a:solidFill>
                <a:effectLst/>
                <a:uFillTx/>
                <a:latin typeface="Arial"/>
              </a:rPr>
              <a:t>quy</a:t>
            </a:r>
            <a:r>
              <a:rPr lang="en-US" sz="2000" b="0" u="none" strike="noStrike">
                <a:solidFill>
                  <a:srgbClr val="000000"/>
                </a:solidFill>
                <a:effectLst/>
                <a:uFillTx/>
                <a:latin typeface="Arial"/>
              </a:rPr>
              <a:t>ết </a:t>
            </a:r>
            <a:r>
              <a:rPr lang="en-US" sz="2000" b="0" u="none" strike="noStrike">
                <a:solidFill>
                  <a:srgbClr val="000000"/>
                </a:solidFill>
                <a:effectLst/>
                <a:uFillTx/>
                <a:latin typeface="Arial"/>
              </a:rPr>
              <a:t>định </a:t>
            </a:r>
            <a:r>
              <a:rPr lang="en-US" sz="2000" b="0" u="none" strike="noStrike">
                <a:solidFill>
                  <a:srgbClr val="000000"/>
                </a:solidFill>
                <a:effectLst/>
                <a:uFillTx/>
                <a:latin typeface="Arial"/>
              </a:rPr>
              <a:t>khi </a:t>
            </a:r>
            <a:r>
              <a:rPr lang="en-US" sz="2000" b="0" u="none" strike="noStrike">
                <a:solidFill>
                  <a:srgbClr val="000000"/>
                </a:solidFill>
                <a:effectLst/>
                <a:uFillTx/>
                <a:latin typeface="Arial"/>
              </a:rPr>
              <a:t>nào </a:t>
            </a:r>
            <a:r>
              <a:rPr lang="en-US" sz="2000" b="0" u="none" strike="noStrike">
                <a:solidFill>
                  <a:srgbClr val="000000"/>
                </a:solidFill>
                <a:effectLst/>
                <a:uFillTx/>
                <a:latin typeface="Arial"/>
              </a:rPr>
              <a:t>đủ </a:t>
            </a:r>
            <a:r>
              <a:rPr lang="en-US" sz="2000" b="0" u="none" strike="noStrike">
                <a:solidFill>
                  <a:srgbClr val="000000"/>
                </a:solidFill>
                <a:effectLst/>
                <a:uFillTx/>
                <a:latin typeface="Arial"/>
              </a:rPr>
              <a:t>tin </a:t>
            </a:r>
            <a:r>
              <a:rPr lang="en-US" sz="2000" b="0" u="none" strike="noStrike">
                <a:solidFill>
                  <a:srgbClr val="000000"/>
                </a:solidFill>
                <a:effectLst/>
                <a:uFillTx/>
                <a:latin typeface="Arial"/>
              </a:rPr>
              <a:t>để </a:t>
            </a:r>
            <a:r>
              <a:rPr lang="en-US" sz="2000" b="0" u="none" strike="noStrike">
                <a:solidFill>
                  <a:srgbClr val="000000"/>
                </a:solidFill>
                <a:effectLst/>
                <a:uFillTx/>
                <a:latin typeface="Arial"/>
              </a:rPr>
              <a:t>bật </a:t>
            </a:r>
            <a:r>
              <a:rPr lang="en-US" sz="2000" b="0" u="none" strike="noStrike">
                <a:solidFill>
                  <a:srgbClr val="000000"/>
                </a:solidFill>
                <a:effectLst/>
                <a:uFillTx/>
                <a:latin typeface="Arial"/>
              </a:rPr>
              <a:t>(thư</a:t>
            </a:r>
            <a:r>
              <a:rPr lang="en-US" sz="2000" b="0" u="none" strike="noStrike">
                <a:solidFill>
                  <a:srgbClr val="000000"/>
                </a:solidFill>
                <a:effectLst/>
                <a:uFillTx/>
                <a:latin typeface="Arial"/>
              </a:rPr>
              <a:t>ờng </a:t>
            </a:r>
            <a:r>
              <a:rPr lang="en-US" sz="2000" b="0" u="none" strike="noStrike">
                <a:solidFill>
                  <a:srgbClr val="000000"/>
                </a:solidFill>
                <a:effectLst/>
                <a:uFillTx/>
                <a:latin typeface="Arial"/>
              </a:rPr>
              <a:t>sau </a:t>
            </a:r>
            <a:r>
              <a:rPr lang="en-US" sz="2000" b="0" u="none" strike="noStrike">
                <a:solidFill>
                  <a:srgbClr val="000000"/>
                </a:solidFill>
                <a:effectLst/>
                <a:uFillTx/>
                <a:latin typeface="Arial"/>
              </a:rPr>
              <a:t>giai </a:t>
            </a:r>
            <a:r>
              <a:rPr lang="en-US" sz="2000" b="0" u="none" strike="noStrike">
                <a:solidFill>
                  <a:srgbClr val="000000"/>
                </a:solidFill>
                <a:effectLst/>
                <a:uFillTx/>
                <a:latin typeface="Arial"/>
              </a:rPr>
              <a:t>đoạ</a:t>
            </a:r>
            <a:r>
              <a:rPr lang="en-US" sz="2000" b="0" u="none" strike="noStrike">
                <a:solidFill>
                  <a:srgbClr val="000000"/>
                </a:solidFill>
                <a:effectLst/>
                <a:uFillTx/>
                <a:latin typeface="Arial"/>
              </a:rPr>
              <a:t>n </a:t>
            </a:r>
            <a:r>
              <a:rPr lang="en-US" sz="2000" b="0" u="none" strike="noStrike">
                <a:solidFill>
                  <a:srgbClr val="000000"/>
                </a:solidFill>
                <a:effectLst/>
                <a:uFillTx/>
                <a:latin typeface="Arial"/>
              </a:rPr>
              <a:t>chạ</a:t>
            </a:r>
            <a:r>
              <a:rPr lang="en-US" sz="2000" b="0" u="none" strike="noStrike">
                <a:solidFill>
                  <a:srgbClr val="000000"/>
                </a:solidFill>
                <a:effectLst/>
                <a:uFillTx/>
                <a:latin typeface="Arial"/>
              </a:rPr>
              <a:t>y </a:t>
            </a:r>
            <a:r>
              <a:rPr lang="en-US" sz="2000" b="0" u="none" strike="noStrike">
                <a:solidFill>
                  <a:srgbClr val="000000"/>
                </a:solidFill>
                <a:effectLst/>
                <a:uFillTx/>
                <a:latin typeface="Arial"/>
              </a:rPr>
              <a:t>thử)</a:t>
            </a:r>
            <a:r>
              <a:rPr lang="en-US" sz="2000" b="0" u="none" strike="noStrike">
                <a:solidFill>
                  <a:srgbClr val="000000"/>
                </a:solidFill>
                <a:effectLst/>
                <a:uFillTx/>
                <a:latin typeface="Arial"/>
              </a:rPr>
              <a:t>. </a:t>
            </a:r>
            <a:r>
              <a:rPr lang="en-US" sz="2000" b="0" u="none" strike="noStrike">
                <a:solidFill>
                  <a:srgbClr val="000000"/>
                </a:solidFill>
                <a:effectLst/>
                <a:uFillTx/>
                <a:latin typeface="Arial"/>
              </a:rPr>
              <a:t>Bướ</a:t>
            </a:r>
            <a:r>
              <a:rPr lang="en-US" sz="2000" b="0" u="none" strike="noStrike">
                <a:solidFill>
                  <a:srgbClr val="000000"/>
                </a:solidFill>
                <a:effectLst/>
                <a:uFillTx/>
                <a:latin typeface="Arial"/>
              </a:rPr>
              <a:t>c 05 </a:t>
            </a:r>
            <a:r>
              <a:rPr lang="en-US" sz="2000" b="0" u="none" strike="noStrike">
                <a:solidFill>
                  <a:srgbClr val="000000"/>
                </a:solidFill>
                <a:effectLst/>
                <a:uFillTx/>
                <a:latin typeface="Arial"/>
              </a:rPr>
              <a:t>là </a:t>
            </a:r>
            <a:r>
              <a:rPr lang="en-US" sz="2000" b="0" u="none" strike="noStrike">
                <a:solidFill>
                  <a:srgbClr val="000000"/>
                </a:solidFill>
                <a:effectLst/>
                <a:uFillTx/>
                <a:latin typeface="Arial"/>
              </a:rPr>
              <a:t>việc </a:t>
            </a:r>
            <a:r>
              <a:rPr lang="en-US" sz="2000" b="0" u="none" strike="noStrike">
                <a:solidFill>
                  <a:srgbClr val="000000"/>
                </a:solidFill>
                <a:effectLst/>
                <a:uFillTx/>
                <a:latin typeface="Arial"/>
              </a:rPr>
              <a:t>của </a:t>
            </a:r>
            <a:r>
              <a:rPr lang="en-US" sz="2000" b="0" u="none" strike="noStrike">
                <a:solidFill>
                  <a:srgbClr val="000000"/>
                </a:solidFill>
                <a:effectLst/>
                <a:uFillTx/>
                <a:latin typeface="Arial"/>
              </a:rPr>
              <a:t>nghi</a:t>
            </a:r>
            <a:r>
              <a:rPr lang="en-US" sz="2000" b="0" u="none" strike="noStrike">
                <a:solidFill>
                  <a:srgbClr val="000000"/>
                </a:solidFill>
                <a:effectLst/>
                <a:uFillTx/>
                <a:latin typeface="Arial"/>
              </a:rPr>
              <a:t>ệp </a:t>
            </a:r>
            <a:r>
              <a:rPr lang="en-US" sz="2000" b="0" u="none" strike="noStrike">
                <a:solidFill>
                  <a:srgbClr val="000000"/>
                </a:solidFill>
                <a:effectLst/>
                <a:uFillTx/>
                <a:latin typeface="Arial"/>
              </a:rPr>
              <a:t>vụ: </a:t>
            </a:r>
            <a:r>
              <a:rPr lang="en-US" sz="2000" b="0" u="none" strike="noStrike">
                <a:solidFill>
                  <a:srgbClr val="000000"/>
                </a:solidFill>
                <a:effectLst/>
                <a:uFillTx/>
                <a:latin typeface="Arial"/>
              </a:rPr>
              <a:t>đọc </a:t>
            </a:r>
            <a:r>
              <a:rPr lang="en-US" sz="2000" b="0" u="none" strike="noStrike">
                <a:solidFill>
                  <a:srgbClr val="000000"/>
                </a:solidFill>
                <a:effectLst/>
                <a:uFillTx/>
                <a:latin typeface="Arial"/>
              </a:rPr>
              <a:t>lỗi, </a:t>
            </a:r>
            <a:r>
              <a:rPr lang="en-US" sz="2000" b="0" u="none" strike="noStrike">
                <a:solidFill>
                  <a:srgbClr val="000000"/>
                </a:solidFill>
                <a:effectLst/>
                <a:uFillTx/>
                <a:latin typeface="Arial"/>
              </a:rPr>
              <a:t>giao </a:t>
            </a:r>
            <a:r>
              <a:rPr lang="en-US" sz="2000" b="0" u="none" strike="noStrike">
                <a:solidFill>
                  <a:srgbClr val="000000"/>
                </a:solidFill>
                <a:effectLst/>
                <a:uFillTx/>
                <a:latin typeface="Arial"/>
              </a:rPr>
              <a:t>kho</a:t>
            </a:r>
            <a:r>
              <a:rPr lang="en-US" sz="2000" b="0" u="none" strike="noStrike">
                <a:solidFill>
                  <a:srgbClr val="000000"/>
                </a:solidFill>
                <a:effectLst/>
                <a:uFillTx/>
                <a:latin typeface="Arial"/>
              </a:rPr>
              <a:t>a </a:t>
            </a:r>
            <a:r>
              <a:rPr lang="en-US" sz="2000" b="0" u="none" strike="noStrike">
                <a:solidFill>
                  <a:srgbClr val="000000"/>
                </a:solidFill>
                <a:effectLst/>
                <a:uFillTx/>
                <a:latin typeface="Arial"/>
              </a:rPr>
              <a:t>sửa</a:t>
            </a:r>
            <a:r>
              <a:rPr lang="en-US" sz="2000" b="0" u="none" strike="noStrike">
                <a:solidFill>
                  <a:srgbClr val="000000"/>
                </a:solidFill>
                <a:effectLst/>
                <a:uFillTx/>
                <a:latin typeface="Arial"/>
              </a:rPr>
              <a:t>, </a:t>
            </a:r>
            <a:r>
              <a:rPr lang="en-US" sz="2000" b="0" u="none" strike="noStrike">
                <a:solidFill>
                  <a:srgbClr val="000000"/>
                </a:solidFill>
                <a:effectLst/>
                <a:uFillTx/>
                <a:latin typeface="Arial"/>
              </a:rPr>
              <a:t>theo </a:t>
            </a:r>
            <a:r>
              <a:rPr lang="en-US" sz="2000" b="0" u="none" strike="noStrike">
                <a:solidFill>
                  <a:srgbClr val="000000"/>
                </a:solidFill>
                <a:effectLst/>
                <a:uFillTx/>
                <a:latin typeface="Arial"/>
              </a:rPr>
              <a:t>dõi </a:t>
            </a:r>
            <a:r>
              <a:rPr lang="en-US" sz="2000" b="0" u="none" strike="noStrike">
                <a:solidFill>
                  <a:srgbClr val="000000"/>
                </a:solidFill>
                <a:effectLst/>
                <a:uFillTx/>
                <a:latin typeface="Arial"/>
              </a:rPr>
              <a:t>tồn </a:t>
            </a:r>
            <a:r>
              <a:rPr lang="en-US" sz="2000" b="0" u="none" strike="noStrike">
                <a:solidFill>
                  <a:srgbClr val="000000"/>
                </a:solidFill>
                <a:effectLst/>
                <a:uFillTx/>
                <a:latin typeface="Arial"/>
              </a:rPr>
              <a:t>đọn</a:t>
            </a:r>
            <a:r>
              <a:rPr lang="en-US" sz="2000" b="0" u="none" strike="noStrike">
                <a:solidFill>
                  <a:srgbClr val="000000"/>
                </a:solidFill>
                <a:effectLst/>
                <a:uFillTx/>
                <a:latin typeface="Arial"/>
              </a:rPr>
              <a:t>g.</a:t>
            </a:r>
            <a:endParaRPr lang="en-US" sz="2000" b="0" u="none" strike="noStrike">
              <a:solidFill>
                <a:srgbClr val="000000"/>
              </a:solidFill>
              <a:effectLst/>
              <a:uFillTx/>
              <a:latin typeface="Arial"/>
            </a:endParaRPr>
          </a:p>
        </p:txBody>
      </p:sp>
      <p:sp>
        <p:nvSpPr>
          <p:cNvPr id="538"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AEB2077-94AD-49F3-97B1-77F1FDDDDB9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9" name="PlaceHolder 1"/>
          <p:cNvSpPr>
            <a:spLocks noGrp="1"/>
          </p:cNvSpPr>
          <p:nvPr>
            <p:ph type="sldImg"/>
          </p:nvPr>
        </p:nvSpPr>
        <p:spPr>
          <a:xfrm>
            <a:off x="685800" y="1143000"/>
            <a:ext cx="5486040" cy="3085920"/>
          </a:xfrm>
          <a:prstGeom prst="rect">
            <a:avLst/>
          </a:prstGeom>
          <a:ln w="0">
            <a:noFill/>
          </a:ln>
        </p:spPr>
      </p:sp>
      <p:sp>
        <p:nvSpPr>
          <p:cNvPr id="54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Đây là điểm kiểm soát sớm. Lỗi hiện ra khi bác sĩ, kỹ thuật viên còn trong ca, sửa trên HIS mất vài phút thay vì truy lại sau nhiều tuần. Bộ quy tắc do Hội đồng chuyên môn của viện chọn và tinh chỉnh; bắt đầu với ít quy tắc, giảm dương tính giả trước rồi mới mở rộng. Nếu được hỏi về Bạch Mai: phần này đang ở giai đoạn làm sạch danh mục để giảm cảnh báo giả, chưa giao khoa xử lý thường quy.</a:t>
            </a:r>
            <a:endParaRPr lang="en-US" sz="2000" b="0" u="none" strike="noStrike">
              <a:solidFill>
                <a:srgbClr val="000000"/>
              </a:solidFill>
              <a:effectLst/>
              <a:uFillTx/>
              <a:latin typeface="Arial"/>
            </a:endParaRPr>
          </a:p>
        </p:txBody>
      </p:sp>
      <p:sp>
        <p:nvSpPr>
          <p:cNvPr id="541"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9E68B0C-AB13-44F3-B52B-B0843714788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2" name="PlaceHolder 1"/>
          <p:cNvSpPr>
            <a:spLocks noGrp="1"/>
          </p:cNvSpPr>
          <p:nvPr>
            <p:ph type="sldImg"/>
          </p:nvPr>
        </p:nvSpPr>
        <p:spPr>
          <a:xfrm>
            <a:off x="685800" y="1143000"/>
            <a:ext cx="5486040" cy="3085920"/>
          </a:xfrm>
          <a:prstGeom prst="rect">
            <a:avLst/>
          </a:prstGeom>
          <a:ln w="0">
            <a:noFill/>
          </a:ln>
        </p:spPr>
      </p:sp>
      <p:sp>
        <p:nvSpPr>
          <p:cNvPr id="54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Điểm kiểm soát chính. Danh sách cho thấy hồ sơ nào lỗi (dòng đỏ), đã ký chưa, đã gửi chưa. Mức lỗi của từng mã do viện tự đặt ở danh mục mã lỗi — mã nào chặn, mã nào chỉ cảnh báo.</a:t>
            </a:r>
            <a:endParaRPr lang="en-US" sz="2000" b="0" u="none" strike="noStrike">
              <a:solidFill>
                <a:srgbClr val="000000"/>
              </a:solidFill>
              <a:effectLst/>
              <a:uFillTx/>
              <a:latin typeface="Arial"/>
            </a:endParaRPr>
          </a:p>
        </p:txBody>
      </p:sp>
      <p:sp>
        <p:nvSpPr>
          <p:cNvPr id="544"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06A1F67-2159-4C8F-87DB-F1FC635C1A5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5" name="PlaceHolder 1"/>
          <p:cNvSpPr>
            <a:spLocks noGrp="1"/>
          </p:cNvSpPr>
          <p:nvPr>
            <p:ph type="sldImg"/>
          </p:nvPr>
        </p:nvSpPr>
        <p:spPr>
          <a:xfrm>
            <a:off x="685800" y="1143000"/>
            <a:ext cx="5486040" cy="3085920"/>
          </a:xfrm>
          <a:prstGeom prst="rect">
            <a:avLst/>
          </a:prstGeom>
          <a:ln w="0">
            <a:noFill/>
          </a:ln>
        </p:spPr>
      </p:sp>
      <p:sp>
        <p:nvSpPr>
          <p:cNvPr id="54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Đây là công cụ của khoa và phòng KHTH khi trao đổi về một hồ sơ cụ thể: mọi lỗi nằm trên một trang, in ra được để giao việc.</a:t>
            </a:r>
            <a:endParaRPr lang="en-US" sz="2000" b="0" u="none" strike="noStrike">
              <a:solidFill>
                <a:srgbClr val="000000"/>
              </a:solidFill>
              <a:effectLst/>
              <a:uFillTx/>
              <a:latin typeface="Arial"/>
            </a:endParaRPr>
          </a:p>
        </p:txBody>
      </p:sp>
      <p:sp>
        <p:nvSpPr>
          <p:cNvPr id="547"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010BC09-C5FD-474B-942F-82A6F72D0AF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8" name="PlaceHolder 1"/>
          <p:cNvSpPr>
            <a:spLocks noGrp="1"/>
          </p:cNvSpPr>
          <p:nvPr>
            <p:ph type="sldImg"/>
          </p:nvPr>
        </p:nvSpPr>
        <p:spPr>
          <a:xfrm>
            <a:off x="685800" y="1143000"/>
            <a:ext cx="5486040" cy="3085920"/>
          </a:xfrm>
          <a:prstGeom prst="rect">
            <a:avLst/>
          </a:prstGeom>
          <a:ln w="0">
            <a:noFill/>
          </a:ln>
        </p:spPr>
      </p:sp>
      <p:sp>
        <p:nvSpPr>
          <p:cNvPr id="54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Hai cách nhận lỗi. Chủ động: nghiệp vụ và KHTH vào Cổng Tiền giám định xem danh sách, tra theo mã điều trị, xem dashboard. Thụ động: hệ thống tự gửi email — báo cáo lỗi thẻ BHYT và lỗi XML 3176 hằng ngày, và bản tin các sai sót y lệnh mới (chỉ gửi từ mức độ viện chọn trở lên để không làm phiền). Lãnh đạo không cần đăng nhập vẫn nắm được tình hình qua email. Danh sách người nhận do viện tự thêm, tắt.</a:t>
            </a:r>
            <a:endParaRPr lang="en-US" sz="2000" b="0" u="none" strike="noStrike">
              <a:solidFill>
                <a:srgbClr val="000000"/>
              </a:solidFill>
              <a:effectLst/>
              <a:uFillTx/>
              <a:latin typeface="Arial"/>
            </a:endParaRPr>
          </a:p>
        </p:txBody>
      </p:sp>
      <p:sp>
        <p:nvSpPr>
          <p:cNvPr id="550"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10EF385-B752-43BD-86DF-14A2898C124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1" name="PlaceHolder 1"/>
          <p:cNvSpPr>
            <a:spLocks noGrp="1"/>
          </p:cNvSpPr>
          <p:nvPr>
            <p:ph type="sldImg"/>
          </p:nvPr>
        </p:nvSpPr>
        <p:spPr>
          <a:xfrm>
            <a:off x="685800" y="1143000"/>
            <a:ext cx="5486040" cy="3085920"/>
          </a:xfrm>
          <a:prstGeom prst="rect">
            <a:avLst/>
          </a:prstGeom>
          <a:ln w="0">
            <a:noFill/>
          </a:ln>
        </p:spPr>
      </p:sp>
      <p:sp>
        <p:nvSpPr>
          <p:cNvPr id="55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Các chức năng hỗ trợ dùng chung hạ tầng ký số và gửi cổng. Tra cứu tiền cùng chi trả hữu ích cho Phòng Tài chính kế toán và Phòng BHYT khi xác định người bệnh đã đủ ngưỡng miễn cùng chi trả hay chưa.</a:t>
            </a:r>
            <a:endParaRPr lang="en-US" sz="2000" b="0" u="none" strike="noStrike">
              <a:solidFill>
                <a:srgbClr val="000000"/>
              </a:solidFill>
              <a:effectLst/>
              <a:uFillTx/>
              <a:latin typeface="Arial"/>
            </a:endParaRPr>
          </a:p>
        </p:txBody>
      </p:sp>
      <p:sp>
        <p:nvSpPr>
          <p:cNvPr id="553" name="PlaceHolder 3"/>
          <p:cNvSpPr>
            <a:spLocks noGrp="1"/>
          </p:cNvSpPr>
          <p:nvPr>
            <p:ph type="sldNum" idx="1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2862A5D-309C-407A-A572-B988C5F08A5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4" name="PlaceHolder 1"/>
          <p:cNvSpPr>
            <a:spLocks noGrp="1"/>
          </p:cNvSpPr>
          <p:nvPr>
            <p:ph type="sldImg"/>
          </p:nvPr>
        </p:nvSpPr>
        <p:spPr>
          <a:xfrm>
            <a:off x="685800" y="1143000"/>
            <a:ext cx="5486040" cy="3085920"/>
          </a:xfrm>
          <a:prstGeom prst="rect">
            <a:avLst/>
          </a:prstGeom>
          <a:ln w="0">
            <a:noFill/>
          </a:ln>
        </p:spPr>
      </p:sp>
      <p:sp>
        <p:nvSpPr>
          <p:cNvPr id="55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Slide cho lãnh đạo và phòng KHTH. Ngoài bốn biểu đồ còn có các thẻ chỉ số, trong đó "Chi phí BHYT bị treo" — tổng chi phí của hồ sơ chưa gửi được — là con số lãnh đạo hay hỏi nhất. Có thêm dashboard chứng từ điện tử và dashboard độ phủ danh mục TT12.</a:t>
            </a:r>
            <a:endParaRPr lang="en-US" sz="2000" b="0" u="none" strike="noStrike">
              <a:solidFill>
                <a:srgbClr val="000000"/>
              </a:solidFill>
              <a:effectLst/>
              <a:uFillTx/>
              <a:latin typeface="Arial"/>
            </a:endParaRPr>
          </a:p>
        </p:txBody>
      </p:sp>
      <p:sp>
        <p:nvSpPr>
          <p:cNvPr id="556" name="PlaceHolder 3"/>
          <p:cNvSpPr>
            <a:spLocks noGrp="1"/>
          </p:cNvSpPr>
          <p:nvPr>
            <p:ph type="sldNum" idx="1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AA99FD8-82E1-49E3-8A67-FDE7944E96E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7" name="PlaceHolder 1"/>
          <p:cNvSpPr>
            <a:spLocks noGrp="1"/>
          </p:cNvSpPr>
          <p:nvPr>
            <p:ph type="sldImg"/>
          </p:nvPr>
        </p:nvSpPr>
        <p:spPr>
          <a:xfrm>
            <a:off x="685800" y="1143000"/>
            <a:ext cx="5486040" cy="3085920"/>
          </a:xfrm>
          <a:prstGeom prst="rect">
            <a:avLst/>
          </a:prstGeom>
          <a:ln w="0">
            <a:noFill/>
          </a:ln>
        </p:spPr>
      </p:sp>
      <p:sp>
        <p:nvSpPr>
          <p:cNvPr id="55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Nói theo đúng người đang ngồi trong phòng. Lãnh đạo: quản trị rủi ro tài chính và chất lượng. KHTH: công cụ điều phối — biết ai cần sửa gì, cái gì sắp quá hạn. Nghiệp vụ: bớt việc tay, máy làm phần lặp lại.</a:t>
            </a:r>
            <a:endParaRPr lang="en-US" sz="2000" b="0" u="none" strike="noStrike">
              <a:solidFill>
                <a:srgbClr val="000000"/>
              </a:solidFill>
              <a:effectLst/>
              <a:uFillTx/>
              <a:latin typeface="Arial"/>
            </a:endParaRPr>
          </a:p>
        </p:txBody>
      </p:sp>
      <p:sp>
        <p:nvSpPr>
          <p:cNvPr id="559" name="PlaceHolder 3"/>
          <p:cNvSpPr>
            <a:spLocks noGrp="1"/>
          </p:cNvSpPr>
          <p:nvPr>
            <p:ph type="sldNum" idx="1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E70B783-D7A2-419E-97CD-1FEBB9340E4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0" name="PlaceHolder 1"/>
          <p:cNvSpPr>
            <a:spLocks noGrp="1"/>
          </p:cNvSpPr>
          <p:nvPr>
            <p:ph type="sldImg"/>
          </p:nvPr>
        </p:nvSpPr>
        <p:spPr>
          <a:xfrm>
            <a:off x="685800" y="1143000"/>
            <a:ext cx="5486040" cy="3085920"/>
          </a:xfrm>
          <a:prstGeom prst="rect">
            <a:avLst/>
          </a:prstGeom>
          <a:ln w="0">
            <a:noFill/>
          </a:ln>
        </p:spPr>
      </p:sp>
      <p:sp>
        <p:nvSpPr>
          <p:cNvPr id="56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Nói thẳng giới hạn giúp viện bạn tin phần còn lại. Bài học từ Bạch Mai: khi ba danh mục bị rỗng đã sinh ra khoảng 36.100 vi phạm giả — vì vậy giai đoạn chuẩn bị phải chốt chủ sở hữu danh mục. Thông điệp no-blame đặc biệt quan trọng với bác sĩ: phần mềm bắt lỗi dữ liệu, không chấm điểm người.</a:t>
            </a:r>
            <a:endParaRPr lang="en-US" sz="2000" b="0" u="none" strike="noStrike">
              <a:solidFill>
                <a:srgbClr val="000000"/>
              </a:solidFill>
              <a:effectLst/>
              <a:uFillTx/>
              <a:latin typeface="Arial"/>
            </a:endParaRPr>
          </a:p>
        </p:txBody>
      </p:sp>
      <p:sp>
        <p:nvSpPr>
          <p:cNvPr id="562" name="PlaceHolder 3"/>
          <p:cNvSpPr>
            <a:spLocks noGrp="1"/>
          </p:cNvSpPr>
          <p:nvPr>
            <p:ph type="sldNum" idx="1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8F63586-B5D2-4113-8EAA-A3087F48C52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3" name="PlaceHolder 1"/>
          <p:cNvSpPr>
            <a:spLocks noGrp="1"/>
          </p:cNvSpPr>
          <p:nvPr>
            <p:ph type="sldImg"/>
          </p:nvPr>
        </p:nvSpPr>
        <p:spPr>
          <a:xfrm>
            <a:off x="685800" y="1143000"/>
            <a:ext cx="5486040" cy="3085920"/>
          </a:xfrm>
          <a:prstGeom prst="rect">
            <a:avLst/>
          </a:prstGeom>
          <a:ln w="0">
            <a:noFill/>
          </a:ln>
        </p:spPr>
      </p:sp>
      <p:sp>
        <p:nvSpPr>
          <p:cNvPr id="56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Ba nỗi lo của lãnh đạo: làm hỏng HIS, lộ dữ liệu người bệnh, làm chậm hệ thống. Phần mềm triển khai trên máy chủ của viện (Windows Server, hoặc Linux / Docker), đọc HIS bằng tài khoản chỉ đọc. Kết nối ra ngoài duy nhất là Cổng giám định BHXH — để tra thẻ và gửi hồ sơ, đúng như viện đang làm. Đừng hứa chứng nhận an toàn thông tin nếu chưa có văn bản.</a:t>
            </a:r>
            <a:endParaRPr lang="en-US" sz="2000" b="0" u="none" strike="noStrike">
              <a:solidFill>
                <a:srgbClr val="000000"/>
              </a:solidFill>
              <a:effectLst/>
              <a:uFillTx/>
              <a:latin typeface="Arial"/>
            </a:endParaRPr>
          </a:p>
        </p:txBody>
      </p:sp>
      <p:sp>
        <p:nvSpPr>
          <p:cNvPr id="565" name="PlaceHolder 3"/>
          <p:cNvSpPr>
            <a:spLocks noGrp="1"/>
          </p:cNvSpPr>
          <p:nvPr>
            <p:ph type="sldNum" idx="2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DDC3130-327E-4C39-AC49-5D885CDDF017}"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6" name="PlaceHolder 1"/>
          <p:cNvSpPr>
            <a:spLocks noGrp="1"/>
          </p:cNvSpPr>
          <p:nvPr>
            <p:ph type="sldImg"/>
          </p:nvPr>
        </p:nvSpPr>
        <p:spPr>
          <a:xfrm>
            <a:off x="685800" y="1143000"/>
            <a:ext cx="5486040" cy="3085920"/>
          </a:xfrm>
          <a:prstGeom prst="rect">
            <a:avLst/>
          </a:prstGeom>
          <a:ln w="0">
            <a:noFill/>
          </a:ln>
        </p:spPr>
      </p:sp>
      <p:sp>
        <p:nvSpPr>
          <p:cNvPr id="56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Phân biệt rõ hai phần khi viện hỏi "HIS của chúng tôi có dùng được không": phần XML 3176 dùng được ngay vì đầu vào là tệp XML chuẩn; phần kiểm sai sót y lệnh đọc thẳng CSDL HIS nên với HIS khác cần khảo sát và làm lớp kết nối. Lộ trình lấy từ tài liệu tổng hợp mục 10.1; điều kiện chuyển giai đoạn: tỷ lệ lỗi nghiêm trọng ổn định, dương tính giả của kiểm y lệnh về mức chấp nhận được.</a:t>
            </a:r>
            <a:endParaRPr lang="en-US" sz="2000" b="0" u="none" strike="noStrike">
              <a:solidFill>
                <a:srgbClr val="000000"/>
              </a:solidFill>
              <a:effectLst/>
              <a:uFillTx/>
              <a:latin typeface="Arial"/>
            </a:endParaRPr>
          </a:p>
        </p:txBody>
      </p:sp>
      <p:sp>
        <p:nvSpPr>
          <p:cNvPr id="568" name="PlaceHolder 3"/>
          <p:cNvSpPr>
            <a:spLocks noGrp="1"/>
          </p:cNvSpPr>
          <p:nvPr>
            <p:ph type="sldNum" idx="2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F6FFE75-7BC2-4ADE-8BD4-45FBB1B7786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9" name="PlaceHolder 1"/>
          <p:cNvSpPr>
            <a:spLocks noGrp="1"/>
          </p:cNvSpPr>
          <p:nvPr>
            <p:ph type="sldImg"/>
          </p:nvPr>
        </p:nvSpPr>
        <p:spPr>
          <a:xfrm>
            <a:off x="685800" y="1143000"/>
            <a:ext cx="5486040" cy="3085920"/>
          </a:xfrm>
          <a:prstGeom prst="rect">
            <a:avLst/>
          </a:prstGeom>
          <a:ln w="0">
            <a:noFill/>
          </a:ln>
        </p:spPr>
      </p:sp>
      <p:sp>
        <p:nvSpPr>
          <p:cNvPr id="57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Trả lời câu hỏi lãnh đạo hay đặt ra: "mua về rồi quy định đổi thì sao?". Hai cam kết hiện tại: cập nhật quy tắc thường xuyên — Cổng tự động cập nhật, không cần cán bộ của viện can thiệp; và nâng cấp nền tảng miễn phí, đã có kế hoạch nâng cấp để đáp ứng tốc độ khi khối lượng hồ sơ tăng. Hai hướng phát triển: ứng dụng AI để tra soát lỗi thông minh, và tích hợp HIS sâu hơn để chủ động bắt lỗi logic (thời gian, mã đối tượng…) ngay trên HIS. Nói rõ ô "Lộ trình" là kế hoạch, không phải chức năng đã có. Rà lại phạm vi "miễn phí" với ban giám đốc công ty trước khi trình bày.</a:t>
            </a:r>
            <a:endParaRPr lang="en-US" sz="2000" b="0" u="none" strike="noStrike">
              <a:solidFill>
                <a:srgbClr val="000000"/>
              </a:solidFill>
              <a:effectLst/>
              <a:uFillTx/>
              <a:latin typeface="Arial"/>
            </a:endParaRPr>
          </a:p>
        </p:txBody>
      </p:sp>
      <p:sp>
        <p:nvSpPr>
          <p:cNvPr id="571" name="PlaceHolder 3"/>
          <p:cNvSpPr>
            <a:spLocks noGrp="1"/>
          </p:cNvSpPr>
          <p:nvPr>
            <p:ph type="sldNum" idx="2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67FA432-2F62-42F1-9B62-16BEFAFFAC7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2" name="PlaceHolder 1"/>
          <p:cNvSpPr>
            <a:spLocks noGrp="1"/>
          </p:cNvSpPr>
          <p:nvPr>
            <p:ph type="sldImg"/>
          </p:nvPr>
        </p:nvSpPr>
        <p:spPr>
          <a:xfrm>
            <a:off x="685800" y="1143000"/>
            <a:ext cx="5486040" cy="3085920"/>
          </a:xfrm>
          <a:prstGeom prst="rect">
            <a:avLst/>
          </a:prstGeom>
          <a:ln w="0">
            <a:noFill/>
          </a:ln>
        </p:spPr>
      </p:sp>
      <p:sp>
        <p:nvSpPr>
          <p:cNvPr id="57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Slide quan trọng nhất với lãnh đạo: một quyết định nhỏ, rủi ro thấp, có thước đo rõ. Thí điểm chạy song song, chưa bật tự gửi cổng — nên không ảnh hưởng quy trình đang chạy. Bốn chỉ số theo tài liệu tổng hợp mục 10.3. ĐIỀN CHI PHÍ và rà lại dòng "Chúng tôi làm" theo đúng cam kết của công ty trước khi trình bày.</a:t>
            </a:r>
            <a:endParaRPr lang="en-US" sz="2000" b="0" u="none" strike="noStrike">
              <a:solidFill>
                <a:srgbClr val="000000"/>
              </a:solidFill>
              <a:effectLst/>
              <a:uFillTx/>
              <a:latin typeface="Arial"/>
            </a:endParaRPr>
          </a:p>
        </p:txBody>
      </p:sp>
      <p:sp>
        <p:nvSpPr>
          <p:cNvPr id="574" name="PlaceHolder 3"/>
          <p:cNvSpPr>
            <a:spLocks noGrp="1"/>
          </p:cNvSpPr>
          <p:nvPr>
            <p:ph type="sldNum" idx="2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88AF3A3-EBA9-4037-8320-31C0F38B78A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5" name="PlaceHolder 1"/>
          <p:cNvSpPr>
            <a:spLocks noGrp="1"/>
          </p:cNvSpPr>
          <p:nvPr>
            <p:ph type="sldImg"/>
          </p:nvPr>
        </p:nvSpPr>
        <p:spPr>
          <a:xfrm>
            <a:off x="685800" y="1143000"/>
            <a:ext cx="5486040" cy="3085920"/>
          </a:xfrm>
          <a:prstGeom prst="rect">
            <a:avLst/>
          </a:prstGeom>
          <a:ln w="0">
            <a:noFill/>
          </a:ln>
        </p:spPr>
      </p:sp>
      <p:sp>
        <p:nvSpPr>
          <p:cNvPr id="57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Nhắc lại ba từ khoá rồi mở hỏi đáp. Điền số điện thoại và email đầu mối trước khi trình bày. Câu hỏi hay gặp: HIS khác có dùng được không (xem slide Triển khai), có thay bộ phận giám định không (không — xem slide Nguyên tắc và giới hạn), chi phí và thời gian (xem slide Đề xuất thí điểm).</a:t>
            </a:r>
            <a:endParaRPr lang="en-US" sz="2000" b="0" u="none" strike="noStrike">
              <a:solidFill>
                <a:srgbClr val="000000"/>
              </a:solidFill>
              <a:effectLst/>
              <a:uFillTx/>
              <a:latin typeface="Arial"/>
            </a:endParaRPr>
          </a:p>
        </p:txBody>
      </p:sp>
      <p:sp>
        <p:nvSpPr>
          <p:cNvPr id="577" name="PlaceHolder 3"/>
          <p:cNvSpPr>
            <a:spLocks noGrp="1"/>
          </p:cNvSpPr>
          <p:nvPr>
            <p:ph type="sldNum" idx="2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13E7B11-3A91-40A1-969A-D4A3BDEFB84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Calibri"/>
              </a:defRPr>
            </a:lvl1pPr>
          </a:lstStyle>
          <a:p>
            <a:pPr indent="0" algn="l">
              <a:buNone/>
            </a:pPr>
            <a:r>
              <a:rPr lang="en-US" sz="1800" b="0" u="none" strike="noStrike">
                <a:solidFill>
                  <a:schemeClr val="dk1"/>
                </a:solidFill>
                <a:effectLst/>
                <a:uFillTx/>
                <a:latin typeface="Calibri"/>
              </a:rPr>
              <a:t>Click to edit the title </a:t>
            </a:r>
            <a:r>
              <a:rPr lang="en-US" sz="1800" b="0" u="none" strike="noStrike">
                <a:solidFill>
                  <a:schemeClr val="dk1"/>
                </a:solidFill>
                <a:effectLst/>
                <a:uFillTx/>
                <a:latin typeface="Calibri"/>
              </a:rPr>
              <a:t>text format</a:t>
            </a:r>
            <a:endParaRPr lang="en-US" sz="1800" b="0" u="none" strike="noStrike">
              <a:solidFill>
                <a:schemeClr val="dk1"/>
              </a:solidFill>
              <a:effectLst/>
              <a:uFillTx/>
              <a:latin typeface="Calibri"/>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endParaRPr lang="en-US" sz="2400" b="0" u="none" strike="noStrike">
              <a:solidFill>
                <a:schemeClr val="dk1"/>
              </a:solidFill>
              <a:effectLst/>
              <a:uFillTx/>
              <a:latin typeface="Calibri"/>
            </a:endParaRP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endParaRPr lang="en-US" sz="2000" b="0" u="none" strike="noStrike">
              <a:solidFill>
                <a:schemeClr val="dk1"/>
              </a:solidFill>
              <a:effectLst/>
              <a:uFillTx/>
              <a:latin typeface="Calibri"/>
            </a:endParaRP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3.png"/><Relationship Id="rId3" Type="http://schemas.openxmlformats.org/officeDocument/2006/relationships/slideLayout" Target="../slideLayouts/slideLayout1.xml"/><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4.png"/><Relationship Id="rId3" Type="http://schemas.openxmlformats.org/officeDocument/2006/relationships/slideLayout" Target="../slideLayouts/slideLayout1.xml"/><Relationship Id="rId4"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5.png"/><Relationship Id="rId3" Type="http://schemas.openxmlformats.org/officeDocument/2006/relationships/slideLayout" Target="../slideLayouts/slideLayout1.xml"/><Relationship Id="rId4"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2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0" name="Shape 0"/>
          <p:cNvSpPr/>
          <p:nvPr/>
        </p:nvSpPr>
        <p:spPr>
          <a:xfrm>
            <a:off x="2804040" y="567000"/>
            <a:ext cx="6583320" cy="383760"/>
          </a:xfrm>
          <a:prstGeom prst="roundRect">
            <a:avLst>
              <a:gd name="adj" fmla="val 50000"/>
            </a:avLst>
          </a:prstGeom>
          <a:solidFill>
            <a:srgbClr val="FFFFFF">
              <a:alpha val="6000"/>
            </a:srgbClr>
          </a:solidFill>
          <a:ln w="9525">
            <a:solidFill>
              <a:srgbClr val="4A689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 name="Text 1"/>
          <p:cNvSpPr/>
          <p:nvPr/>
        </p:nvSpPr>
        <p:spPr>
          <a:xfrm>
            <a:off x="2804040" y="567000"/>
            <a:ext cx="658332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50" b="0" u="none" strike="noStrike">
                <a:solidFill>
                  <a:srgbClr val="C9D6E8"/>
                </a:solidFill>
                <a:effectLst/>
                <a:uFillTx/>
                <a:latin typeface="Arial"/>
                <a:ea typeface="Arial"/>
              </a:rPr>
              <a:t>Giải pháp Tiền giám định BHYT</a:t>
            </a:r>
            <a:endParaRPr lang="en-US" sz="1250" b="0" u="none" strike="noStrike">
              <a:solidFill>
                <a:srgbClr val="FFFFFF"/>
              </a:solidFill>
              <a:effectLst/>
              <a:uFillTx/>
              <a:latin typeface="Arial"/>
            </a:endParaRPr>
          </a:p>
        </p:txBody>
      </p:sp>
      <p:sp>
        <p:nvSpPr>
          <p:cNvPr id="12" name="Text 2"/>
          <p:cNvSpPr/>
          <p:nvPr/>
        </p:nvSpPr>
        <p:spPr>
          <a:xfrm>
            <a:off x="457200" y="1078920"/>
            <a:ext cx="11277000" cy="1005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6000" b="1" u="none" strike="noStrike">
                <a:solidFill>
                  <a:srgbClr val="FFFFFF"/>
                </a:solidFill>
                <a:effectLst/>
                <a:uFillTx/>
                <a:latin typeface="Arial"/>
                <a:ea typeface="Arial"/>
              </a:rPr>
              <a:t>Tiền </a:t>
            </a:r>
            <a:r>
              <a:rPr lang="en-US" sz="6000" b="1" u="none" strike="noStrike">
                <a:solidFill>
                  <a:srgbClr val="38BDF8"/>
                </a:solidFill>
                <a:effectLst/>
                <a:uFillTx/>
                <a:latin typeface="Arial"/>
                <a:ea typeface="Arial"/>
              </a:rPr>
              <a:t>giám định</a:t>
            </a:r>
            <a:endParaRPr lang="en-US" sz="6000" b="0" u="none" strike="noStrike">
              <a:solidFill>
                <a:srgbClr val="FFFFFF"/>
              </a:solidFill>
              <a:effectLst/>
              <a:uFillTx/>
              <a:latin typeface="Arial"/>
            </a:endParaRPr>
          </a:p>
        </p:txBody>
      </p:sp>
      <p:sp>
        <p:nvSpPr>
          <p:cNvPr id="13" name="Text 3"/>
          <p:cNvSpPr/>
          <p:nvPr/>
        </p:nvSpPr>
        <p:spPr>
          <a:xfrm>
            <a:off x="914400" y="2121480"/>
            <a:ext cx="10362600" cy="868320"/>
          </a:xfrm>
          <a:prstGeom prst="rect">
            <a:avLst/>
          </a:prstGeom>
          <a:noFill/>
          <a:ln w="0">
            <a:noFill/>
          </a:ln>
        </p:spPr>
        <p:style>
          <a:lnRef idx="0"/>
          <a:fillRef idx="0"/>
          <a:effectRef idx="0"/>
          <a:fontRef idx="minor"/>
        </p:style>
        <p:txBody>
          <a:bodyPr lIns="0" tIns="0" rIns="0" bIns="0" anchor="t">
            <a:noAutofit/>
          </a:bodyPr>
          <a:p>
            <a:pPr algn="ctr" defTabSz="914400">
              <a:lnSpc>
                <a:spcPts val="2801"/>
              </a:lnSpc>
              <a:tabLst>
                <a:tab pos="0" algn="l"/>
              </a:tabLst>
            </a:pPr>
            <a:r>
              <a:rPr lang="en-US" sz="1900" b="0" u="none" strike="noStrike">
                <a:solidFill>
                  <a:srgbClr val="A9BCD6"/>
                </a:solidFill>
                <a:effectLst/>
                <a:uFillTx/>
                <a:latin typeface="Arial"/>
                <a:ea typeface="Arial"/>
              </a:rPr>
              <a:t>Kiểm tra hồ sơ khám chữa bệnh </a:t>
            </a:r>
            <a:r>
              <a:rPr lang="en-US" sz="1900" b="0" u="none" strike="noStrike">
                <a:solidFill>
                  <a:srgbClr val="A9BCD6"/>
                </a:solidFill>
                <a:effectLst/>
                <a:uFillTx/>
                <a:latin typeface="Arial"/>
                <a:ea typeface="Arial"/>
              </a:rPr>
              <a:t>BHYT ngay tại bệnh viện</a:t>
            </a:r>
            <a:endParaRPr lang="en-US" sz="1900" b="0" u="none" strike="noStrike">
              <a:solidFill>
                <a:srgbClr val="FFFFFF"/>
              </a:solidFill>
              <a:effectLst/>
              <a:uFillTx/>
              <a:latin typeface="Arial"/>
            </a:endParaRPr>
          </a:p>
          <a:p>
            <a:pPr algn="ctr" defTabSz="914400">
              <a:lnSpc>
                <a:spcPts val="2801"/>
              </a:lnSpc>
              <a:tabLst>
                <a:tab pos="0" algn="l"/>
              </a:tabLst>
            </a:pPr>
            <a:r>
              <a:rPr lang="en-US" sz="1900" b="0" u="none" strike="noStrike">
                <a:solidFill>
                  <a:srgbClr val="A9BCD6"/>
                </a:solidFill>
                <a:effectLst/>
                <a:uFillTx/>
                <a:latin typeface="Arial"/>
                <a:ea typeface="Arial"/>
              </a:rPr>
              <a:t>trước khi ký số và gửi Cổng giám </a:t>
            </a:r>
            <a:r>
              <a:rPr lang="en-US" sz="1900" b="0" u="none" strike="noStrike">
                <a:solidFill>
                  <a:srgbClr val="A9BCD6"/>
                </a:solidFill>
                <a:effectLst/>
                <a:uFillTx/>
                <a:latin typeface="Arial"/>
                <a:ea typeface="Arial"/>
              </a:rPr>
              <a:t>định BHXH</a:t>
            </a:r>
            <a:endParaRPr lang="en-US" sz="1900" b="0" u="none" strike="noStrike">
              <a:solidFill>
                <a:srgbClr val="FFFFFF"/>
              </a:solidFill>
              <a:effectLst/>
              <a:uFillTx/>
              <a:latin typeface="Arial"/>
            </a:endParaRPr>
          </a:p>
        </p:txBody>
      </p:sp>
      <p:sp>
        <p:nvSpPr>
          <p:cNvPr id="14" name="Text 4"/>
          <p:cNvSpPr/>
          <p:nvPr/>
        </p:nvSpPr>
        <p:spPr>
          <a:xfrm>
            <a:off x="457200" y="3200400"/>
            <a:ext cx="1127700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700" b="0" u="none" strike="noStrike">
                <a:solidFill>
                  <a:srgbClr val="A9BCD6"/>
                </a:solidFill>
                <a:effectLst/>
                <a:uFillTx/>
                <a:latin typeface="Arial"/>
                <a:ea typeface="Arial"/>
              </a:rPr>
              <a:t>Tiền giám định </a:t>
            </a:r>
            <a:r>
              <a:rPr lang="en-US" sz="1700" b="0" u="none" strike="noStrike">
                <a:solidFill>
                  <a:srgbClr val="A9BCD6"/>
                </a:solidFill>
                <a:effectLst/>
                <a:uFillTx/>
                <a:latin typeface="Arial"/>
                <a:ea typeface="Arial"/>
              </a:rPr>
              <a:t>đặt điểm kiểm </a:t>
            </a:r>
            <a:r>
              <a:rPr lang="en-US" sz="1700" b="0" u="none" strike="noStrike">
                <a:solidFill>
                  <a:srgbClr val="A9BCD6"/>
                </a:solidFill>
                <a:effectLst/>
                <a:uFillTx/>
                <a:latin typeface="Arial"/>
                <a:ea typeface="Arial"/>
              </a:rPr>
              <a:t>soát trước khi hồ </a:t>
            </a:r>
            <a:r>
              <a:rPr lang="en-US" sz="1700" b="0" u="none" strike="noStrike">
                <a:solidFill>
                  <a:srgbClr val="A9BCD6"/>
                </a:solidFill>
                <a:effectLst/>
                <a:uFillTx/>
                <a:latin typeface="Arial"/>
                <a:ea typeface="Arial"/>
              </a:rPr>
              <a:t>sơ rời bệnh viện</a:t>
            </a:r>
            <a:endParaRPr lang="en-US" sz="1700" b="0" u="none" strike="noStrike">
              <a:solidFill>
                <a:srgbClr val="FFFFFF"/>
              </a:solidFill>
              <a:effectLst/>
              <a:uFillTx/>
              <a:latin typeface="Arial"/>
            </a:endParaRPr>
          </a:p>
        </p:txBody>
      </p:sp>
      <p:sp>
        <p:nvSpPr>
          <p:cNvPr id="15" name="Shape 5"/>
          <p:cNvSpPr/>
          <p:nvPr/>
        </p:nvSpPr>
        <p:spPr>
          <a:xfrm>
            <a:off x="685800" y="3767400"/>
            <a:ext cx="2279520" cy="1782720"/>
          </a:xfrm>
          <a:prstGeom prst="roundRect">
            <a:avLst>
              <a:gd name="adj" fmla="val 512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 name="Text 6"/>
          <p:cNvSpPr/>
          <p:nvPr/>
        </p:nvSpPr>
        <p:spPr>
          <a:xfrm>
            <a:off x="685800" y="3913560"/>
            <a:ext cx="2279520" cy="511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0" u="none" strike="noStrike">
                <a:solidFill>
                  <a:srgbClr val="000000"/>
                </a:solidFill>
                <a:effectLst/>
                <a:uFillTx/>
                <a:latin typeface="Segoe UI Emoji"/>
                <a:ea typeface="Segoe UI Emoji"/>
              </a:rPr>
              <a:t>🏥</a:t>
            </a:r>
            <a:endParaRPr lang="en-US" sz="2800" b="0" u="none" strike="noStrike">
              <a:solidFill>
                <a:srgbClr val="FFFFFF"/>
              </a:solidFill>
              <a:effectLst/>
              <a:uFillTx/>
              <a:latin typeface="Arial"/>
            </a:endParaRPr>
          </a:p>
        </p:txBody>
      </p:sp>
      <p:sp>
        <p:nvSpPr>
          <p:cNvPr id="17" name="Text 7"/>
          <p:cNvSpPr/>
          <p:nvPr/>
        </p:nvSpPr>
        <p:spPr>
          <a:xfrm>
            <a:off x="777240" y="4462200"/>
            <a:ext cx="209664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FFFFFF"/>
                </a:solidFill>
                <a:effectLst/>
                <a:uFillTx/>
                <a:latin typeface="Arial"/>
                <a:ea typeface="Arial"/>
              </a:rPr>
              <a:t>Bệnh viện</a:t>
            </a:r>
            <a:endParaRPr lang="en-US" sz="1900" b="0" u="none" strike="noStrike">
              <a:solidFill>
                <a:srgbClr val="FFFFFF"/>
              </a:solidFill>
              <a:effectLst/>
              <a:uFillTx/>
              <a:latin typeface="Arial"/>
            </a:endParaRPr>
          </a:p>
        </p:txBody>
      </p:sp>
      <p:sp>
        <p:nvSpPr>
          <p:cNvPr id="18" name="Text 8"/>
          <p:cNvSpPr/>
          <p:nvPr/>
        </p:nvSpPr>
        <p:spPr>
          <a:xfrm>
            <a:off x="850320" y="4883040"/>
            <a:ext cx="1950120" cy="56664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300" b="0" u="none" strike="noStrike">
                <a:solidFill>
                  <a:srgbClr val="A9BCD6"/>
                </a:solidFill>
                <a:effectLst/>
                <a:uFillTx/>
                <a:latin typeface="Arial"/>
                <a:ea typeface="Arial"/>
              </a:rPr>
              <a:t>Bác sĩ ra y lệnh trên HIS,</a:t>
            </a:r>
            <a:endParaRPr lang="en-US" sz="1300" b="0" u="none" strike="noStrike">
              <a:solidFill>
                <a:srgbClr val="FFFFFF"/>
              </a:solidFill>
              <a:effectLst/>
              <a:uFillTx/>
              <a:latin typeface="Arial"/>
            </a:endParaRPr>
          </a:p>
          <a:p>
            <a:pPr algn="ctr" defTabSz="914400">
              <a:lnSpc>
                <a:spcPts val="1800"/>
              </a:lnSpc>
              <a:tabLst>
                <a:tab pos="0" algn="l"/>
              </a:tabLst>
            </a:pPr>
            <a:r>
              <a:rPr lang="en-US" sz="1300" b="0" u="none" strike="noStrike">
                <a:solidFill>
                  <a:srgbClr val="A9BCD6"/>
                </a:solidFill>
                <a:effectLst/>
                <a:uFillTx/>
                <a:latin typeface="Arial"/>
                <a:ea typeface="Arial"/>
              </a:rPr>
              <a:t>xuất hồ sơ XML 3176</a:t>
            </a:r>
            <a:endParaRPr lang="en-US" sz="1300" b="0" u="none" strike="noStrike">
              <a:solidFill>
                <a:srgbClr val="FFFFFF"/>
              </a:solidFill>
              <a:effectLst/>
              <a:uFillTx/>
              <a:latin typeface="Arial"/>
            </a:endParaRPr>
          </a:p>
        </p:txBody>
      </p:sp>
      <p:sp>
        <p:nvSpPr>
          <p:cNvPr id="19" name="Text 9"/>
          <p:cNvSpPr/>
          <p:nvPr/>
        </p:nvSpPr>
        <p:spPr>
          <a:xfrm>
            <a:off x="2965680" y="4430160"/>
            <a:ext cx="5666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C9D6E8"/>
                </a:solidFill>
                <a:effectLst/>
                <a:uFillTx/>
                <a:latin typeface="Arial"/>
                <a:ea typeface="Arial"/>
              </a:rPr>
              <a:t>→</a:t>
            </a:r>
            <a:endParaRPr lang="en-US" sz="2200" b="0" u="none" strike="noStrike">
              <a:solidFill>
                <a:srgbClr val="FFFFFF"/>
              </a:solidFill>
              <a:effectLst/>
              <a:uFillTx/>
              <a:latin typeface="Arial"/>
            </a:endParaRPr>
          </a:p>
        </p:txBody>
      </p:sp>
      <p:sp>
        <p:nvSpPr>
          <p:cNvPr id="20" name="Shape 10"/>
          <p:cNvSpPr/>
          <p:nvPr/>
        </p:nvSpPr>
        <p:spPr>
          <a:xfrm>
            <a:off x="3532680" y="3767400"/>
            <a:ext cx="2279520" cy="1782720"/>
          </a:xfrm>
          <a:prstGeom prst="roundRect">
            <a:avLst>
              <a:gd name="adj" fmla="val 5128"/>
            </a:avLst>
          </a:prstGeom>
          <a:solidFill>
            <a:srgbClr val="25324A">
              <a:alpha val="85000"/>
            </a:srgbClr>
          </a:solidFill>
          <a:ln w="19050">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1" name="Text 11"/>
          <p:cNvSpPr/>
          <p:nvPr/>
        </p:nvSpPr>
        <p:spPr>
          <a:xfrm>
            <a:off x="3532680" y="3913560"/>
            <a:ext cx="2279520" cy="511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0" u="none" strike="noStrike">
                <a:solidFill>
                  <a:srgbClr val="000000"/>
                </a:solidFill>
                <a:effectLst/>
                <a:uFillTx/>
                <a:latin typeface="Segoe UI Emoji"/>
                <a:ea typeface="Segoe UI Emoji"/>
              </a:rPr>
              <a:t>🔍</a:t>
            </a:r>
            <a:endParaRPr lang="en-US" sz="2800" b="0" u="none" strike="noStrike">
              <a:solidFill>
                <a:srgbClr val="FFFFFF"/>
              </a:solidFill>
              <a:effectLst/>
              <a:uFillTx/>
              <a:latin typeface="Arial"/>
            </a:endParaRPr>
          </a:p>
        </p:txBody>
      </p:sp>
      <p:sp>
        <p:nvSpPr>
          <p:cNvPr id="22" name="Text 12"/>
          <p:cNvSpPr/>
          <p:nvPr/>
        </p:nvSpPr>
        <p:spPr>
          <a:xfrm>
            <a:off x="3624120" y="4462200"/>
            <a:ext cx="209664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FFFFFF"/>
                </a:solidFill>
                <a:effectLst/>
                <a:uFillTx/>
                <a:latin typeface="Arial"/>
                <a:ea typeface="Arial"/>
              </a:rPr>
              <a:t>Tiền giám định</a:t>
            </a:r>
            <a:endParaRPr lang="en-US" sz="1900" b="0" u="none" strike="noStrike">
              <a:solidFill>
                <a:srgbClr val="FFFFFF"/>
              </a:solidFill>
              <a:effectLst/>
              <a:uFillTx/>
              <a:latin typeface="Arial"/>
            </a:endParaRPr>
          </a:p>
        </p:txBody>
      </p:sp>
      <p:sp>
        <p:nvSpPr>
          <p:cNvPr id="23" name="Text 13"/>
          <p:cNvSpPr/>
          <p:nvPr/>
        </p:nvSpPr>
        <p:spPr>
          <a:xfrm>
            <a:off x="3697200" y="4883040"/>
            <a:ext cx="1950120" cy="56664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300" b="0" u="none" strike="noStrike">
                <a:solidFill>
                  <a:srgbClr val="A9BCD6"/>
                </a:solidFill>
                <a:effectLst/>
                <a:uFillTx/>
                <a:latin typeface="Arial"/>
                <a:ea typeface="Arial"/>
              </a:rPr>
              <a:t>Kiểm lỗi, tra thẻ BHYT,</a:t>
            </a:r>
            <a:endParaRPr lang="en-US" sz="1300" b="0" u="none" strike="noStrike">
              <a:solidFill>
                <a:srgbClr val="FFFFFF"/>
              </a:solidFill>
              <a:effectLst/>
              <a:uFillTx/>
              <a:latin typeface="Arial"/>
            </a:endParaRPr>
          </a:p>
          <a:p>
            <a:pPr algn="ctr" defTabSz="914400">
              <a:lnSpc>
                <a:spcPts val="1800"/>
              </a:lnSpc>
              <a:tabLst>
                <a:tab pos="0" algn="l"/>
              </a:tabLst>
            </a:pPr>
            <a:r>
              <a:rPr lang="en-US" sz="1300" b="0" u="none" strike="noStrike">
                <a:solidFill>
                  <a:srgbClr val="A9BCD6"/>
                </a:solidFill>
                <a:effectLst/>
                <a:uFillTx/>
                <a:latin typeface="Arial"/>
                <a:ea typeface="Arial"/>
              </a:rPr>
              <a:t>đối chiếu danh mục</a:t>
            </a:r>
            <a:endParaRPr lang="en-US" sz="1300" b="0" u="none" strike="noStrike">
              <a:solidFill>
                <a:srgbClr val="FFFFFF"/>
              </a:solidFill>
              <a:effectLst/>
              <a:uFillTx/>
              <a:latin typeface="Arial"/>
            </a:endParaRPr>
          </a:p>
        </p:txBody>
      </p:sp>
      <p:sp>
        <p:nvSpPr>
          <p:cNvPr id="24" name="Text 14"/>
          <p:cNvSpPr/>
          <p:nvPr/>
        </p:nvSpPr>
        <p:spPr>
          <a:xfrm>
            <a:off x="5812560" y="4430160"/>
            <a:ext cx="5666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C9D6E8"/>
                </a:solidFill>
                <a:effectLst/>
                <a:uFillTx/>
                <a:latin typeface="Arial"/>
                <a:ea typeface="Arial"/>
              </a:rPr>
              <a:t>→</a:t>
            </a:r>
            <a:endParaRPr lang="en-US" sz="2200" b="0" u="none" strike="noStrike">
              <a:solidFill>
                <a:srgbClr val="FFFFFF"/>
              </a:solidFill>
              <a:effectLst/>
              <a:uFillTx/>
              <a:latin typeface="Arial"/>
            </a:endParaRPr>
          </a:p>
        </p:txBody>
      </p:sp>
      <p:sp>
        <p:nvSpPr>
          <p:cNvPr id="25" name="Shape 15"/>
          <p:cNvSpPr/>
          <p:nvPr/>
        </p:nvSpPr>
        <p:spPr>
          <a:xfrm>
            <a:off x="6379200" y="3767400"/>
            <a:ext cx="2279520" cy="1782720"/>
          </a:xfrm>
          <a:prstGeom prst="roundRect">
            <a:avLst>
              <a:gd name="adj" fmla="val 512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 name="Text 16"/>
          <p:cNvSpPr/>
          <p:nvPr/>
        </p:nvSpPr>
        <p:spPr>
          <a:xfrm>
            <a:off x="6379200" y="3913560"/>
            <a:ext cx="2279520" cy="511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0" u="none" strike="noStrike">
                <a:solidFill>
                  <a:srgbClr val="000000"/>
                </a:solidFill>
                <a:effectLst/>
                <a:uFillTx/>
                <a:latin typeface="Segoe UI Emoji"/>
                <a:ea typeface="Segoe UI Emoji"/>
              </a:rPr>
              <a:t>🔏</a:t>
            </a:r>
            <a:endParaRPr lang="en-US" sz="2800" b="0" u="none" strike="noStrike">
              <a:solidFill>
                <a:srgbClr val="FFFFFF"/>
              </a:solidFill>
              <a:effectLst/>
              <a:uFillTx/>
              <a:latin typeface="Arial"/>
            </a:endParaRPr>
          </a:p>
        </p:txBody>
      </p:sp>
      <p:sp>
        <p:nvSpPr>
          <p:cNvPr id="27" name="Text 17"/>
          <p:cNvSpPr/>
          <p:nvPr/>
        </p:nvSpPr>
        <p:spPr>
          <a:xfrm>
            <a:off x="6470640" y="4462200"/>
            <a:ext cx="209664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FFFFFF"/>
                </a:solidFill>
                <a:effectLst/>
                <a:uFillTx/>
                <a:latin typeface="Arial"/>
                <a:ea typeface="Arial"/>
              </a:rPr>
              <a:t>Ký số</a:t>
            </a:r>
            <a:endParaRPr lang="en-US" sz="1900" b="0" u="none" strike="noStrike">
              <a:solidFill>
                <a:srgbClr val="FFFFFF"/>
              </a:solidFill>
              <a:effectLst/>
              <a:uFillTx/>
              <a:latin typeface="Arial"/>
            </a:endParaRPr>
          </a:p>
        </p:txBody>
      </p:sp>
      <p:sp>
        <p:nvSpPr>
          <p:cNvPr id="28" name="Text 18"/>
          <p:cNvSpPr/>
          <p:nvPr/>
        </p:nvSpPr>
        <p:spPr>
          <a:xfrm>
            <a:off x="6544080" y="4883040"/>
            <a:ext cx="1950120" cy="56664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300" b="0" u="none" strike="noStrike">
                <a:solidFill>
                  <a:srgbClr val="A9BCD6"/>
                </a:solidFill>
                <a:effectLst/>
                <a:uFillTx/>
                <a:latin typeface="Arial"/>
                <a:ea typeface="Arial"/>
              </a:rPr>
              <a:t>HSM hoặc USB Token,</a:t>
            </a:r>
            <a:endParaRPr lang="en-US" sz="1300" b="0" u="none" strike="noStrike">
              <a:solidFill>
                <a:srgbClr val="FFFFFF"/>
              </a:solidFill>
              <a:effectLst/>
              <a:uFillTx/>
              <a:latin typeface="Arial"/>
            </a:endParaRPr>
          </a:p>
          <a:p>
            <a:pPr algn="ctr" defTabSz="914400">
              <a:lnSpc>
                <a:spcPts val="1800"/>
              </a:lnSpc>
              <a:tabLst>
                <a:tab pos="0" algn="l"/>
              </a:tabLst>
            </a:pPr>
            <a:r>
              <a:rPr lang="en-US" sz="1300" b="0" u="none" strike="noStrike">
                <a:solidFill>
                  <a:srgbClr val="A9BCD6"/>
                </a:solidFill>
                <a:effectLst/>
                <a:uFillTx/>
                <a:latin typeface="Arial"/>
                <a:ea typeface="Arial"/>
              </a:rPr>
              <a:t>khi hết lỗi nghiêm trọng</a:t>
            </a:r>
            <a:endParaRPr lang="en-US" sz="1300" b="0" u="none" strike="noStrike">
              <a:solidFill>
                <a:srgbClr val="FFFFFF"/>
              </a:solidFill>
              <a:effectLst/>
              <a:uFillTx/>
              <a:latin typeface="Arial"/>
            </a:endParaRPr>
          </a:p>
        </p:txBody>
      </p:sp>
      <p:sp>
        <p:nvSpPr>
          <p:cNvPr id="29" name="Text 19"/>
          <p:cNvSpPr/>
          <p:nvPr/>
        </p:nvSpPr>
        <p:spPr>
          <a:xfrm>
            <a:off x="8659080" y="4430160"/>
            <a:ext cx="5666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C9D6E8"/>
                </a:solidFill>
                <a:effectLst/>
                <a:uFillTx/>
                <a:latin typeface="Arial"/>
                <a:ea typeface="Arial"/>
              </a:rPr>
              <a:t>→</a:t>
            </a:r>
            <a:endParaRPr lang="en-US" sz="2200" b="0" u="none" strike="noStrike">
              <a:solidFill>
                <a:srgbClr val="FFFFFF"/>
              </a:solidFill>
              <a:effectLst/>
              <a:uFillTx/>
              <a:latin typeface="Arial"/>
            </a:endParaRPr>
          </a:p>
        </p:txBody>
      </p:sp>
      <p:sp>
        <p:nvSpPr>
          <p:cNvPr id="30" name="Shape 20"/>
          <p:cNvSpPr/>
          <p:nvPr/>
        </p:nvSpPr>
        <p:spPr>
          <a:xfrm>
            <a:off x="9226080" y="3767400"/>
            <a:ext cx="2279520" cy="1782720"/>
          </a:xfrm>
          <a:prstGeom prst="roundRect">
            <a:avLst>
              <a:gd name="adj" fmla="val 512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 name="Text 21"/>
          <p:cNvSpPr/>
          <p:nvPr/>
        </p:nvSpPr>
        <p:spPr>
          <a:xfrm>
            <a:off x="9226080" y="3913560"/>
            <a:ext cx="2279520" cy="511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0" u="none" strike="noStrike">
                <a:solidFill>
                  <a:srgbClr val="000000"/>
                </a:solidFill>
                <a:effectLst/>
                <a:uFillTx/>
                <a:latin typeface="Segoe UI Emoji"/>
                <a:ea typeface="Segoe UI Emoji"/>
              </a:rPr>
              <a:t>🌐</a:t>
            </a:r>
            <a:endParaRPr lang="en-US" sz="2800" b="0" u="none" strike="noStrike">
              <a:solidFill>
                <a:srgbClr val="FFFFFF"/>
              </a:solidFill>
              <a:effectLst/>
              <a:uFillTx/>
              <a:latin typeface="Arial"/>
            </a:endParaRPr>
          </a:p>
        </p:txBody>
      </p:sp>
      <p:sp>
        <p:nvSpPr>
          <p:cNvPr id="32" name="Text 22"/>
          <p:cNvSpPr/>
          <p:nvPr/>
        </p:nvSpPr>
        <p:spPr>
          <a:xfrm>
            <a:off x="9317520" y="4462200"/>
            <a:ext cx="209664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FFFFFF"/>
                </a:solidFill>
                <a:effectLst/>
                <a:uFillTx/>
                <a:latin typeface="Arial"/>
                <a:ea typeface="Arial"/>
              </a:rPr>
              <a:t>Cổng BHXH</a:t>
            </a:r>
            <a:endParaRPr lang="en-US" sz="1900" b="0" u="none" strike="noStrike">
              <a:solidFill>
                <a:srgbClr val="FFFFFF"/>
              </a:solidFill>
              <a:effectLst/>
              <a:uFillTx/>
              <a:latin typeface="Arial"/>
            </a:endParaRPr>
          </a:p>
        </p:txBody>
      </p:sp>
      <p:sp>
        <p:nvSpPr>
          <p:cNvPr id="33" name="Text 23"/>
          <p:cNvSpPr/>
          <p:nvPr/>
        </p:nvSpPr>
        <p:spPr>
          <a:xfrm>
            <a:off x="9390600" y="4883040"/>
            <a:ext cx="1950120" cy="56664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300" b="0" u="none" strike="noStrike">
                <a:solidFill>
                  <a:srgbClr val="A9BCD6"/>
                </a:solidFill>
                <a:effectLst/>
                <a:uFillTx/>
                <a:latin typeface="Arial"/>
                <a:ea typeface="Arial"/>
              </a:rPr>
              <a:t>Tiếp nhận hồ sơ</a:t>
            </a:r>
            <a:endParaRPr lang="en-US" sz="1300" b="0" u="none" strike="noStrike">
              <a:solidFill>
                <a:srgbClr val="FFFFFF"/>
              </a:solidFill>
              <a:effectLst/>
              <a:uFillTx/>
              <a:latin typeface="Arial"/>
            </a:endParaRPr>
          </a:p>
          <a:p>
            <a:pPr algn="ctr" defTabSz="914400">
              <a:lnSpc>
                <a:spcPts val="1800"/>
              </a:lnSpc>
              <a:tabLst>
                <a:tab pos="0" algn="l"/>
              </a:tabLst>
            </a:pPr>
            <a:r>
              <a:rPr lang="en-US" sz="1300" b="0" u="none" strike="noStrike">
                <a:solidFill>
                  <a:srgbClr val="A9BCD6"/>
                </a:solidFill>
                <a:effectLst/>
                <a:uFillTx/>
                <a:latin typeface="Arial"/>
                <a:ea typeface="Arial"/>
              </a:rPr>
              <a:t>đã sạch lỗi</a:t>
            </a:r>
            <a:endParaRPr lang="en-US" sz="1300" b="0" u="none" strike="noStrike">
              <a:solidFill>
                <a:srgbClr val="FFFFFF"/>
              </a:solidFill>
              <a:effectLst/>
              <a:uFillTx/>
              <a:latin typeface="Arial"/>
            </a:endParaRPr>
          </a:p>
        </p:txBody>
      </p:sp>
      <p:sp>
        <p:nvSpPr>
          <p:cNvPr id="34" name="Text 24"/>
          <p:cNvSpPr/>
          <p:nvPr/>
        </p:nvSpPr>
        <p:spPr>
          <a:xfrm>
            <a:off x="640080" y="5779080"/>
            <a:ext cx="1091124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BBF24"/>
                </a:solidFill>
                <a:effectLst/>
                <a:uFillTx/>
                <a:latin typeface="Arial"/>
                <a:ea typeface="Arial"/>
              </a:rPr>
              <a:t>Lỗi được phát hiện sớm và sửa tại nơi phát sinh — trên HIS, trước khi gửi</a:t>
            </a:r>
            <a:endParaRPr lang="en-US" sz="16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35"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BÀI TOÁN</a:t>
            </a:r>
            <a:endParaRPr lang="en-US" sz="1200" b="0" u="none" strike="noStrike">
              <a:solidFill>
                <a:srgbClr val="FFFFFF"/>
              </a:solidFill>
              <a:effectLst/>
              <a:uFillTx/>
              <a:latin typeface="Arial"/>
            </a:endParaRPr>
          </a:p>
        </p:txBody>
      </p:sp>
      <p:sp>
        <p:nvSpPr>
          <p:cNvPr id="36"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Lỗi hồ sơ BHYT thường được phát hiện quá muộn</a:t>
            </a:r>
            <a:endParaRPr lang="en-US" sz="2800" b="0" u="none" strike="noStrike">
              <a:solidFill>
                <a:srgbClr val="FFFFFF"/>
              </a:solidFill>
              <a:effectLst/>
              <a:uFillTx/>
              <a:latin typeface="Arial"/>
            </a:endParaRPr>
          </a:p>
        </p:txBody>
      </p:sp>
      <p:sp>
        <p:nvSpPr>
          <p:cNvPr id="37" name="Text 2"/>
          <p:cNvSpPr/>
          <p:nvPr/>
        </p:nvSpPr>
        <p:spPr>
          <a:xfrm>
            <a:off x="640080" y="1298520"/>
            <a:ext cx="10911240" cy="328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A9BCD6"/>
                </a:solidFill>
                <a:effectLst/>
                <a:uFillTx/>
                <a:latin typeface="Arial"/>
                <a:ea typeface="Arial"/>
              </a:rPr>
              <a:t>Khi cổng giám định </a:t>
            </a:r>
            <a:r>
              <a:rPr lang="en-US" sz="1500" b="0" u="none" strike="noStrike">
                <a:solidFill>
                  <a:srgbClr val="A9BCD6"/>
                </a:solidFill>
                <a:effectLst/>
                <a:uFillTx/>
                <a:latin typeface="Arial"/>
                <a:ea typeface="Arial"/>
              </a:rPr>
              <a:t>báo lỗi, hồ sơ đã rời </a:t>
            </a:r>
            <a:r>
              <a:rPr lang="en-US" sz="1500" b="0" u="none" strike="noStrike">
                <a:solidFill>
                  <a:srgbClr val="A9BCD6"/>
                </a:solidFill>
                <a:effectLst/>
                <a:uFillTx/>
                <a:latin typeface="Arial"/>
                <a:ea typeface="Arial"/>
              </a:rPr>
              <a:t>bệnh viện từ lâu — </a:t>
            </a:r>
            <a:r>
              <a:rPr lang="en-US" sz="1500" b="0" u="none" strike="noStrike">
                <a:solidFill>
                  <a:srgbClr val="A9BCD6"/>
                </a:solidFill>
                <a:effectLst/>
                <a:uFillTx/>
                <a:latin typeface="Arial"/>
                <a:ea typeface="Arial"/>
              </a:rPr>
              <a:t>người ra y lệnh, </a:t>
            </a:r>
            <a:r>
              <a:rPr lang="en-US" sz="1500" b="0" u="none" strike="noStrike">
                <a:solidFill>
                  <a:srgbClr val="A9BCD6"/>
                </a:solidFill>
                <a:effectLst/>
                <a:uFillTx/>
                <a:latin typeface="Arial"/>
                <a:ea typeface="Arial"/>
              </a:rPr>
              <a:t>người lập hồ sơ đã </a:t>
            </a:r>
            <a:r>
              <a:rPr lang="en-US" sz="1500" b="0" u="none" strike="noStrike">
                <a:solidFill>
                  <a:srgbClr val="A9BCD6"/>
                </a:solidFill>
                <a:effectLst/>
                <a:uFillTx/>
                <a:latin typeface="Arial"/>
                <a:ea typeface="Arial"/>
              </a:rPr>
              <a:t>chuyển sang việc </a:t>
            </a:r>
            <a:r>
              <a:rPr lang="en-US" sz="1500" b="0" u="none" strike="noStrike">
                <a:solidFill>
                  <a:srgbClr val="A9BCD6"/>
                </a:solidFill>
                <a:effectLst/>
                <a:uFillTx/>
                <a:latin typeface="Arial"/>
                <a:ea typeface="Arial"/>
              </a:rPr>
              <a:t>khác.</a:t>
            </a:r>
            <a:endParaRPr lang="en-US" sz="1500" b="0" u="none" strike="noStrike">
              <a:solidFill>
                <a:srgbClr val="FFFFFF"/>
              </a:solidFill>
              <a:effectLst/>
              <a:uFillTx/>
              <a:latin typeface="Arial"/>
            </a:endParaRPr>
          </a:p>
        </p:txBody>
      </p:sp>
      <p:sp>
        <p:nvSpPr>
          <p:cNvPr id="38" name="Shape 3"/>
          <p:cNvSpPr/>
          <p:nvPr/>
        </p:nvSpPr>
        <p:spPr>
          <a:xfrm>
            <a:off x="1463040" y="2697480"/>
            <a:ext cx="9265320" cy="360"/>
          </a:xfrm>
          <a:prstGeom prst="line">
            <a:avLst/>
          </a:prstGeom>
          <a:ln w="25400">
            <a:solidFill>
              <a:srgbClr val="4A6890"/>
            </a:solidFill>
            <a:round/>
          </a:ln>
        </p:spPr>
        <p:style>
          <a:lnRef idx="0"/>
          <a:fillRef idx="0"/>
          <a:effectRef idx="0"/>
          <a:fontRef idx="minor"/>
        </p:style>
        <p:txBody>
          <a:bodyPr lIns="90000" tIns="-44640" rIns="90000" bIns="-44640" anchor="t" anchorCtr="1">
            <a:noAutofit/>
          </a:bodyPr>
          <a:p>
            <a:endParaRPr lang="en-US" sz="1800" b="0" u="none" strike="noStrike">
              <a:solidFill>
                <a:srgbClr val="FFFFFF"/>
              </a:solidFill>
              <a:effectLst/>
              <a:uFillTx/>
              <a:latin typeface="Arial"/>
            </a:endParaRPr>
          </a:p>
        </p:txBody>
      </p:sp>
      <p:sp>
        <p:nvSpPr>
          <p:cNvPr id="39" name="Shape 4"/>
          <p:cNvSpPr/>
          <p:nvPr/>
        </p:nvSpPr>
        <p:spPr>
          <a:xfrm>
            <a:off x="1353240" y="2587680"/>
            <a:ext cx="219240" cy="219240"/>
          </a:xfrm>
          <a:prstGeom prst="ellipse">
            <a:avLst/>
          </a:prstGeom>
          <a:solidFill>
            <a:srgbClr val="4A6890"/>
          </a:solidFill>
          <a:ln w="12700">
            <a:solidFill>
              <a:srgbClr val="4A689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0" name="Text 5"/>
          <p:cNvSpPr/>
          <p:nvPr/>
        </p:nvSpPr>
        <p:spPr>
          <a:xfrm>
            <a:off x="411480" y="2953440"/>
            <a:ext cx="2102760" cy="73116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500" b="1" u="none" strike="noStrike">
                <a:solidFill>
                  <a:srgbClr val="FFFFFF"/>
                </a:solidFill>
                <a:effectLst/>
                <a:uFillTx/>
                <a:latin typeface="Arial"/>
                <a:ea typeface="Arial"/>
              </a:rPr>
              <a:t>Ra y lệnh</a:t>
            </a:r>
            <a:endParaRPr lang="en-US" sz="1500" b="0" u="none" strike="noStrike">
              <a:solidFill>
                <a:srgbClr val="FFFFFF"/>
              </a:solidFill>
              <a:effectLst/>
              <a:uFillTx/>
              <a:latin typeface="Arial"/>
            </a:endParaRPr>
          </a:p>
          <a:p>
            <a:pPr algn="ctr" defTabSz="914400">
              <a:lnSpc>
                <a:spcPts val="1800"/>
              </a:lnSpc>
              <a:tabLst>
                <a:tab pos="0" algn="l"/>
              </a:tabLst>
            </a:pPr>
            <a:r>
              <a:rPr lang="en-US" sz="1200" b="0" u="none" strike="noStrike">
                <a:solidFill>
                  <a:srgbClr val="A9BCD6"/>
                </a:solidFill>
                <a:effectLst/>
                <a:uFillTx/>
                <a:latin typeface="Arial"/>
                <a:ea typeface="Arial"/>
              </a:rPr>
              <a:t>Bác sĩ chỉ định trên HIS</a:t>
            </a:r>
            <a:endParaRPr lang="en-US" sz="1200" b="0" u="none" strike="noStrike">
              <a:solidFill>
                <a:srgbClr val="FFFFFF"/>
              </a:solidFill>
              <a:effectLst/>
              <a:uFillTx/>
              <a:latin typeface="Arial"/>
            </a:endParaRPr>
          </a:p>
        </p:txBody>
      </p:sp>
      <p:sp>
        <p:nvSpPr>
          <p:cNvPr id="41" name="Shape 6"/>
          <p:cNvSpPr/>
          <p:nvPr/>
        </p:nvSpPr>
        <p:spPr>
          <a:xfrm>
            <a:off x="3669840" y="2587680"/>
            <a:ext cx="219240" cy="219240"/>
          </a:xfrm>
          <a:prstGeom prst="ellipse">
            <a:avLst/>
          </a:prstGeom>
          <a:solidFill>
            <a:srgbClr val="4A6890"/>
          </a:solidFill>
          <a:ln w="12700">
            <a:solidFill>
              <a:srgbClr val="4A689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 name="Text 7"/>
          <p:cNvSpPr/>
          <p:nvPr/>
        </p:nvSpPr>
        <p:spPr>
          <a:xfrm>
            <a:off x="2727720" y="2953440"/>
            <a:ext cx="2102760" cy="73116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500" b="1" u="none" strike="noStrike">
                <a:solidFill>
                  <a:srgbClr val="FFFFFF"/>
                </a:solidFill>
                <a:effectLst/>
                <a:uFillTx/>
                <a:latin typeface="Arial"/>
                <a:ea typeface="Arial"/>
              </a:rPr>
              <a:t>Ra viện</a:t>
            </a:r>
            <a:endParaRPr lang="en-US" sz="1500" b="0" u="none" strike="noStrike">
              <a:solidFill>
                <a:srgbClr val="FFFFFF"/>
              </a:solidFill>
              <a:effectLst/>
              <a:uFillTx/>
              <a:latin typeface="Arial"/>
            </a:endParaRPr>
          </a:p>
          <a:p>
            <a:pPr algn="ctr" defTabSz="914400">
              <a:lnSpc>
                <a:spcPts val="1800"/>
              </a:lnSpc>
              <a:tabLst>
                <a:tab pos="0" algn="l"/>
              </a:tabLst>
            </a:pPr>
            <a:r>
              <a:rPr lang="en-US" sz="1200" b="0" u="none" strike="noStrike">
                <a:solidFill>
                  <a:srgbClr val="A9BCD6"/>
                </a:solidFill>
                <a:effectLst/>
                <a:uFillTx/>
                <a:latin typeface="Arial"/>
                <a:ea typeface="Arial"/>
              </a:rPr>
              <a:t>Kết thúc điều trị</a:t>
            </a:r>
            <a:endParaRPr lang="en-US" sz="1200" b="0" u="none" strike="noStrike">
              <a:solidFill>
                <a:srgbClr val="FFFFFF"/>
              </a:solidFill>
              <a:effectLst/>
              <a:uFillTx/>
              <a:latin typeface="Arial"/>
            </a:endParaRPr>
          </a:p>
        </p:txBody>
      </p:sp>
      <p:sp>
        <p:nvSpPr>
          <p:cNvPr id="43" name="Shape 8"/>
          <p:cNvSpPr/>
          <p:nvPr/>
        </p:nvSpPr>
        <p:spPr>
          <a:xfrm>
            <a:off x="5986080" y="2587680"/>
            <a:ext cx="219240" cy="219240"/>
          </a:xfrm>
          <a:prstGeom prst="ellipse">
            <a:avLst/>
          </a:prstGeom>
          <a:solidFill>
            <a:srgbClr val="4A6890"/>
          </a:solidFill>
          <a:ln w="12700">
            <a:solidFill>
              <a:srgbClr val="4A689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4" name="Text 9"/>
          <p:cNvSpPr/>
          <p:nvPr/>
        </p:nvSpPr>
        <p:spPr>
          <a:xfrm>
            <a:off x="5044320" y="2953440"/>
            <a:ext cx="2102760" cy="73116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500" b="1" u="none" strike="noStrike">
                <a:solidFill>
                  <a:srgbClr val="FFFFFF"/>
                </a:solidFill>
                <a:effectLst/>
                <a:uFillTx/>
                <a:latin typeface="Arial"/>
                <a:ea typeface="Arial"/>
              </a:rPr>
              <a:t>Lập hồ sơ XML</a:t>
            </a:r>
            <a:endParaRPr lang="en-US" sz="1500" b="0" u="none" strike="noStrike">
              <a:solidFill>
                <a:srgbClr val="FFFFFF"/>
              </a:solidFill>
              <a:effectLst/>
              <a:uFillTx/>
              <a:latin typeface="Arial"/>
            </a:endParaRPr>
          </a:p>
          <a:p>
            <a:pPr algn="ctr" defTabSz="914400">
              <a:lnSpc>
                <a:spcPts val="1800"/>
              </a:lnSpc>
              <a:tabLst>
                <a:tab pos="0" algn="l"/>
              </a:tabLst>
            </a:pPr>
            <a:r>
              <a:rPr lang="en-US" sz="1200" b="0" u="none" strike="noStrike">
                <a:solidFill>
                  <a:srgbClr val="A9BCD6"/>
                </a:solidFill>
                <a:effectLst/>
                <a:uFillTx/>
                <a:latin typeface="Arial"/>
                <a:ea typeface="Arial"/>
              </a:rPr>
              <a:t>Kết xuất từ HIS</a:t>
            </a:r>
            <a:endParaRPr lang="en-US" sz="1200" b="0" u="none" strike="noStrike">
              <a:solidFill>
                <a:srgbClr val="FFFFFF"/>
              </a:solidFill>
              <a:effectLst/>
              <a:uFillTx/>
              <a:latin typeface="Arial"/>
            </a:endParaRPr>
          </a:p>
        </p:txBody>
      </p:sp>
      <p:sp>
        <p:nvSpPr>
          <p:cNvPr id="45" name="Shape 10"/>
          <p:cNvSpPr/>
          <p:nvPr/>
        </p:nvSpPr>
        <p:spPr>
          <a:xfrm>
            <a:off x="8302680" y="2587680"/>
            <a:ext cx="219240" cy="219240"/>
          </a:xfrm>
          <a:prstGeom prst="ellipse">
            <a:avLst/>
          </a:prstGeom>
          <a:solidFill>
            <a:srgbClr val="4A6890"/>
          </a:solidFill>
          <a:ln w="12700">
            <a:solidFill>
              <a:srgbClr val="4A689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6" name="Text 11"/>
          <p:cNvSpPr/>
          <p:nvPr/>
        </p:nvSpPr>
        <p:spPr>
          <a:xfrm>
            <a:off x="7360560" y="2953440"/>
            <a:ext cx="2102760" cy="73116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500" b="1" u="none" strike="noStrike">
                <a:solidFill>
                  <a:srgbClr val="FFFFFF"/>
                </a:solidFill>
                <a:effectLst/>
                <a:uFillTx/>
                <a:latin typeface="Arial"/>
                <a:ea typeface="Arial"/>
              </a:rPr>
              <a:t>Ký số, gửi cổng</a:t>
            </a:r>
            <a:endParaRPr lang="en-US" sz="1500" b="0" u="none" strike="noStrike">
              <a:solidFill>
                <a:srgbClr val="FFFFFF"/>
              </a:solidFill>
              <a:effectLst/>
              <a:uFillTx/>
              <a:latin typeface="Arial"/>
            </a:endParaRPr>
          </a:p>
          <a:p>
            <a:pPr algn="ctr" defTabSz="914400">
              <a:lnSpc>
                <a:spcPts val="1800"/>
              </a:lnSpc>
              <a:tabLst>
                <a:tab pos="0" algn="l"/>
              </a:tabLst>
            </a:pPr>
            <a:r>
              <a:rPr lang="en-US" sz="1200" b="0" u="none" strike="noStrike">
                <a:solidFill>
                  <a:srgbClr val="A9BCD6"/>
                </a:solidFill>
                <a:effectLst/>
                <a:uFillTx/>
                <a:latin typeface="Arial"/>
                <a:ea typeface="Arial"/>
              </a:rPr>
              <a:t>Cổng giám định BHXH</a:t>
            </a:r>
            <a:endParaRPr lang="en-US" sz="1200" b="0" u="none" strike="noStrike">
              <a:solidFill>
                <a:srgbClr val="FFFFFF"/>
              </a:solidFill>
              <a:effectLst/>
              <a:uFillTx/>
              <a:latin typeface="Arial"/>
            </a:endParaRPr>
          </a:p>
        </p:txBody>
      </p:sp>
      <p:sp>
        <p:nvSpPr>
          <p:cNvPr id="47" name="Shape 12"/>
          <p:cNvSpPr/>
          <p:nvPr/>
        </p:nvSpPr>
        <p:spPr>
          <a:xfrm>
            <a:off x="10573200" y="2541960"/>
            <a:ext cx="310680" cy="310680"/>
          </a:xfrm>
          <a:prstGeom prst="ellipse">
            <a:avLst/>
          </a:prstGeom>
          <a:solidFill>
            <a:srgbClr val="F87171"/>
          </a:solidFill>
          <a:ln w="12700">
            <a:solidFill>
              <a:srgbClr val="F87171"/>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8" name="Shape 13"/>
          <p:cNvSpPr/>
          <p:nvPr/>
        </p:nvSpPr>
        <p:spPr>
          <a:xfrm>
            <a:off x="9448560" y="2039040"/>
            <a:ext cx="2102760" cy="328680"/>
          </a:xfrm>
          <a:prstGeom prst="roundRect">
            <a:avLst>
              <a:gd name="adj" fmla="val 50000"/>
            </a:avLst>
          </a:prstGeom>
          <a:solidFill>
            <a:srgbClr val="F87171"/>
          </a:solidFill>
          <a:ln w="12700">
            <a:solidFill>
              <a:srgbClr val="F87171"/>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9" name="Text 14"/>
          <p:cNvSpPr/>
          <p:nvPr/>
        </p:nvSpPr>
        <p:spPr>
          <a:xfrm>
            <a:off x="9448560" y="2039040"/>
            <a:ext cx="2102760" cy="328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0B1A30"/>
                </a:solidFill>
                <a:effectLst/>
                <a:uFillTx/>
                <a:latin typeface="Arial"/>
                <a:ea typeface="Arial"/>
              </a:rPr>
              <a:t>LÚC NÀY MỚI BIẾT LỖI</a:t>
            </a:r>
            <a:endParaRPr lang="en-US" sz="1100" b="0" u="none" strike="noStrike">
              <a:solidFill>
                <a:srgbClr val="FFFFFF"/>
              </a:solidFill>
              <a:effectLst/>
              <a:uFillTx/>
              <a:latin typeface="Arial"/>
            </a:endParaRPr>
          </a:p>
        </p:txBody>
      </p:sp>
      <p:sp>
        <p:nvSpPr>
          <p:cNvPr id="50" name="Text 15"/>
          <p:cNvSpPr/>
          <p:nvPr/>
        </p:nvSpPr>
        <p:spPr>
          <a:xfrm>
            <a:off x="9677160" y="2953440"/>
            <a:ext cx="2102760" cy="73116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500" b="1" u="none" strike="noStrike">
                <a:solidFill>
                  <a:srgbClr val="F87171"/>
                </a:solidFill>
                <a:effectLst/>
                <a:uFillTx/>
                <a:latin typeface="Arial"/>
                <a:ea typeface="Arial"/>
              </a:rPr>
              <a:t>Cổng báo lỗi</a:t>
            </a:r>
            <a:endParaRPr lang="en-US" sz="1500" b="0" u="none" strike="noStrike">
              <a:solidFill>
                <a:srgbClr val="FFFFFF"/>
              </a:solidFill>
              <a:effectLst/>
              <a:uFillTx/>
              <a:latin typeface="Arial"/>
            </a:endParaRPr>
          </a:p>
          <a:p>
            <a:pPr algn="ctr" defTabSz="914400">
              <a:lnSpc>
                <a:spcPts val="1800"/>
              </a:lnSpc>
              <a:tabLst>
                <a:tab pos="0" algn="l"/>
              </a:tabLst>
            </a:pPr>
            <a:r>
              <a:rPr lang="en-US" sz="1200" b="0" u="none" strike="noStrike">
                <a:solidFill>
                  <a:srgbClr val="A9BCD6"/>
                </a:solidFill>
                <a:effectLst/>
                <a:uFillTx/>
                <a:latin typeface="Arial"/>
                <a:ea typeface="Arial"/>
              </a:rPr>
              <a:t>Hàng tuần lễ sau</a:t>
            </a:r>
            <a:endParaRPr lang="en-US" sz="1200" b="0" u="none" strike="noStrike">
              <a:solidFill>
                <a:srgbClr val="FFFFFF"/>
              </a:solidFill>
              <a:effectLst/>
              <a:uFillTx/>
              <a:latin typeface="Arial"/>
            </a:endParaRPr>
          </a:p>
        </p:txBody>
      </p:sp>
      <p:sp>
        <p:nvSpPr>
          <p:cNvPr id="51" name="Shape 16"/>
          <p:cNvSpPr/>
          <p:nvPr/>
        </p:nvSpPr>
        <p:spPr>
          <a:xfrm>
            <a:off x="640080" y="3931920"/>
            <a:ext cx="3453840" cy="1554120"/>
          </a:xfrm>
          <a:prstGeom prst="roundRect">
            <a:avLst>
              <a:gd name="adj" fmla="val 5882"/>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2" name="Text 17"/>
          <p:cNvSpPr/>
          <p:nvPr/>
        </p:nvSpPr>
        <p:spPr>
          <a:xfrm>
            <a:off x="822960" y="411480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53" name="Text 18"/>
          <p:cNvSpPr/>
          <p:nvPr/>
        </p:nvSpPr>
        <p:spPr>
          <a:xfrm>
            <a:off x="1417320" y="4114800"/>
            <a:ext cx="249372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FFFFF"/>
                </a:solidFill>
                <a:effectLst/>
                <a:uFillTx/>
                <a:latin typeface="Arial"/>
                <a:ea typeface="Arial"/>
              </a:rPr>
              <a:t>Sửa muộn, tốn công</a:t>
            </a:r>
            <a:endParaRPr lang="en-US" sz="1700" b="0" u="none" strike="noStrike">
              <a:solidFill>
                <a:srgbClr val="FFFFFF"/>
              </a:solidFill>
              <a:effectLst/>
              <a:uFillTx/>
              <a:latin typeface="Arial"/>
            </a:endParaRPr>
          </a:p>
        </p:txBody>
      </p:sp>
      <p:sp>
        <p:nvSpPr>
          <p:cNvPr id="54" name="Text 19"/>
          <p:cNvSpPr/>
          <p:nvPr/>
        </p:nvSpPr>
        <p:spPr>
          <a:xfrm>
            <a:off x="868680" y="4709160"/>
            <a:ext cx="2996640" cy="685440"/>
          </a:xfrm>
          <a:prstGeom prst="rect">
            <a:avLst/>
          </a:prstGeom>
          <a:noFill/>
          <a:ln w="0">
            <a:noFill/>
          </a:ln>
        </p:spPr>
        <p:style>
          <a:lnRef idx="0"/>
          <a:fillRef idx="0"/>
          <a:effectRef idx="0"/>
          <a:fontRef idx="minor"/>
        </p:style>
        <p:txBody>
          <a:bodyPr lIns="0" tIns="0" rIns="0" bIns="0" anchor="t">
            <a:noAutofit/>
          </a:bodyPr>
          <a:p>
            <a:pPr defTabSz="914400">
              <a:lnSpc>
                <a:spcPts val="1800"/>
              </a:lnSpc>
              <a:tabLst>
                <a:tab pos="0" algn="l"/>
              </a:tabLst>
            </a:pPr>
            <a:r>
              <a:rPr lang="en-US" sz="1300" b="0" u="none" strike="noStrike">
                <a:solidFill>
                  <a:srgbClr val="A9BCD6"/>
                </a:solidFill>
                <a:effectLst/>
                <a:uFillTx/>
                <a:latin typeface="Arial"/>
                <a:ea typeface="Arial"/>
              </a:rPr>
              <a:t>Phải truy lại khoa, người </a:t>
            </a:r>
            <a:r>
              <a:rPr lang="en-US" sz="1300" b="0" u="none" strike="noStrike">
                <a:solidFill>
                  <a:srgbClr val="A9BCD6"/>
                </a:solidFill>
                <a:effectLst/>
                <a:uFillTx/>
                <a:latin typeface="Arial"/>
                <a:ea typeface="Arial"/>
              </a:rPr>
              <a:t>thực hiện, bệnh án đã </a:t>
            </a:r>
            <a:r>
              <a:rPr lang="en-US" sz="1300" b="0" u="none" strike="noStrike">
                <a:solidFill>
                  <a:srgbClr val="A9BCD6"/>
                </a:solidFill>
                <a:effectLst/>
                <a:uFillTx/>
                <a:latin typeface="Arial"/>
                <a:ea typeface="Arial"/>
              </a:rPr>
              <a:t>đóng — một lỗi nhỏ thành </a:t>
            </a:r>
            <a:r>
              <a:rPr lang="en-US" sz="1300" b="0" u="none" strike="noStrike">
                <a:solidFill>
                  <a:srgbClr val="A9BCD6"/>
                </a:solidFill>
                <a:effectLst/>
                <a:uFillTx/>
                <a:latin typeface="Arial"/>
                <a:ea typeface="Arial"/>
              </a:rPr>
              <a:t>nhiều vòng trao đổi.</a:t>
            </a:r>
            <a:endParaRPr lang="en-US" sz="1300" b="0" u="none" strike="noStrike">
              <a:solidFill>
                <a:srgbClr val="FFFFFF"/>
              </a:solidFill>
              <a:effectLst/>
              <a:uFillTx/>
              <a:latin typeface="Arial"/>
            </a:endParaRPr>
          </a:p>
        </p:txBody>
      </p:sp>
      <p:sp>
        <p:nvSpPr>
          <p:cNvPr id="55" name="Shape 20"/>
          <p:cNvSpPr/>
          <p:nvPr/>
        </p:nvSpPr>
        <p:spPr>
          <a:xfrm>
            <a:off x="4368600" y="3931920"/>
            <a:ext cx="3453840" cy="1554120"/>
          </a:xfrm>
          <a:prstGeom prst="roundRect">
            <a:avLst>
              <a:gd name="adj" fmla="val 5882"/>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6" name="Text 21"/>
          <p:cNvSpPr/>
          <p:nvPr/>
        </p:nvSpPr>
        <p:spPr>
          <a:xfrm>
            <a:off x="4551480" y="411480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57" name="Text 22"/>
          <p:cNvSpPr/>
          <p:nvPr/>
        </p:nvSpPr>
        <p:spPr>
          <a:xfrm>
            <a:off x="5145840" y="4114800"/>
            <a:ext cx="249372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FFFFF"/>
                </a:solidFill>
                <a:effectLst/>
                <a:uFillTx/>
                <a:latin typeface="Arial"/>
                <a:ea typeface="Arial"/>
              </a:rPr>
              <a:t>Rủi ro xuất toán</a:t>
            </a:r>
            <a:endParaRPr lang="en-US" sz="1700" b="0" u="none" strike="noStrike">
              <a:solidFill>
                <a:srgbClr val="FFFFFF"/>
              </a:solidFill>
              <a:effectLst/>
              <a:uFillTx/>
              <a:latin typeface="Arial"/>
            </a:endParaRPr>
          </a:p>
        </p:txBody>
      </p:sp>
      <p:sp>
        <p:nvSpPr>
          <p:cNvPr id="58" name="Text 23"/>
          <p:cNvSpPr/>
          <p:nvPr/>
        </p:nvSpPr>
        <p:spPr>
          <a:xfrm>
            <a:off x="4597200" y="4709160"/>
            <a:ext cx="2996640" cy="685440"/>
          </a:xfrm>
          <a:prstGeom prst="rect">
            <a:avLst/>
          </a:prstGeom>
          <a:noFill/>
          <a:ln w="0">
            <a:noFill/>
          </a:ln>
        </p:spPr>
        <p:style>
          <a:lnRef idx="0"/>
          <a:fillRef idx="0"/>
          <a:effectRef idx="0"/>
          <a:fontRef idx="minor"/>
        </p:style>
        <p:txBody>
          <a:bodyPr lIns="0" tIns="0" rIns="0" bIns="0" anchor="t">
            <a:noAutofit/>
          </a:bodyPr>
          <a:p>
            <a:pPr defTabSz="914400">
              <a:lnSpc>
                <a:spcPts val="1800"/>
              </a:lnSpc>
              <a:tabLst>
                <a:tab pos="0" algn="l"/>
              </a:tabLst>
            </a:pPr>
            <a:r>
              <a:rPr lang="en-US" sz="1300" b="0" u="none" strike="noStrike">
                <a:solidFill>
                  <a:srgbClr val="A9BCD6"/>
                </a:solidFill>
                <a:effectLst/>
                <a:uFillTx/>
                <a:latin typeface="Arial"/>
                <a:ea typeface="Arial"/>
              </a:rPr>
              <a:t>Chi phí của hồ sơ lỗi có thể không được thanh toán, hoặc bị treo trong lúc chờ sửa.</a:t>
            </a:r>
            <a:endParaRPr lang="en-US" sz="1300" b="0" u="none" strike="noStrike">
              <a:solidFill>
                <a:srgbClr val="FFFFFF"/>
              </a:solidFill>
              <a:effectLst/>
              <a:uFillTx/>
              <a:latin typeface="Arial"/>
            </a:endParaRPr>
          </a:p>
        </p:txBody>
      </p:sp>
      <p:sp>
        <p:nvSpPr>
          <p:cNvPr id="59" name="Shape 24"/>
          <p:cNvSpPr/>
          <p:nvPr/>
        </p:nvSpPr>
        <p:spPr>
          <a:xfrm>
            <a:off x="8097480" y="3931920"/>
            <a:ext cx="3453840" cy="1554120"/>
          </a:xfrm>
          <a:prstGeom prst="roundRect">
            <a:avLst>
              <a:gd name="adj" fmla="val 5882"/>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0" name="Text 25"/>
          <p:cNvSpPr/>
          <p:nvPr/>
        </p:nvSpPr>
        <p:spPr>
          <a:xfrm>
            <a:off x="8280360" y="411480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61" name="Text 26"/>
          <p:cNvSpPr/>
          <p:nvPr/>
        </p:nvSpPr>
        <p:spPr>
          <a:xfrm>
            <a:off x="8874720" y="4114800"/>
            <a:ext cx="249372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FFFFF"/>
                </a:solidFill>
                <a:effectLst/>
                <a:uFillTx/>
                <a:latin typeface="Arial"/>
                <a:ea typeface="Arial"/>
              </a:rPr>
              <a:t>Lỗi cứ lặp lại</a:t>
            </a:r>
            <a:endParaRPr lang="en-US" sz="1700" b="0" u="none" strike="noStrike">
              <a:solidFill>
                <a:srgbClr val="FFFFFF"/>
              </a:solidFill>
              <a:effectLst/>
              <a:uFillTx/>
              <a:latin typeface="Arial"/>
            </a:endParaRPr>
          </a:p>
        </p:txBody>
      </p:sp>
      <p:sp>
        <p:nvSpPr>
          <p:cNvPr id="62" name="Text 27"/>
          <p:cNvSpPr/>
          <p:nvPr/>
        </p:nvSpPr>
        <p:spPr>
          <a:xfrm>
            <a:off x="8326080" y="4709160"/>
            <a:ext cx="2996640" cy="685440"/>
          </a:xfrm>
          <a:prstGeom prst="rect">
            <a:avLst/>
          </a:prstGeom>
          <a:noFill/>
          <a:ln w="0">
            <a:noFill/>
          </a:ln>
        </p:spPr>
        <p:style>
          <a:lnRef idx="0"/>
          <a:fillRef idx="0"/>
          <a:effectRef idx="0"/>
          <a:fontRef idx="minor"/>
        </p:style>
        <p:txBody>
          <a:bodyPr lIns="0" tIns="0" rIns="0" bIns="0" anchor="t">
            <a:noAutofit/>
          </a:bodyPr>
          <a:p>
            <a:pPr defTabSz="914400">
              <a:lnSpc>
                <a:spcPts val="1800"/>
              </a:lnSpc>
              <a:tabLst>
                <a:tab pos="0" algn="l"/>
              </a:tabLst>
            </a:pPr>
            <a:r>
              <a:rPr lang="en-US" sz="1300" b="0" u="none" strike="noStrike">
                <a:solidFill>
                  <a:srgbClr val="A9BCD6"/>
                </a:solidFill>
                <a:effectLst/>
                <a:uFillTx/>
                <a:latin typeface="Arial"/>
                <a:ea typeface="Arial"/>
              </a:rPr>
              <a:t>Không thấy lỗi tập trung ở khoa nào, mã lỗi nào — nên không sửa được tận gốc.</a:t>
            </a:r>
            <a:endParaRPr lang="en-US" sz="1300" b="0" u="none" strike="noStrike">
              <a:solidFill>
                <a:srgbClr val="FFFFFF"/>
              </a:solidFill>
              <a:effectLst/>
              <a:uFillTx/>
              <a:latin typeface="Arial"/>
            </a:endParaRPr>
          </a:p>
        </p:txBody>
      </p:sp>
      <p:sp>
        <p:nvSpPr>
          <p:cNvPr id="63" name="Text 28"/>
          <p:cNvSpPr/>
          <p:nvPr/>
        </p:nvSpPr>
        <p:spPr>
          <a:xfrm>
            <a:off x="640080" y="5760720"/>
            <a:ext cx="1091124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BBF24"/>
                </a:solidFill>
                <a:effectLst/>
                <a:uFillTx/>
                <a:latin typeface="Arial"/>
                <a:ea typeface="Arial"/>
              </a:rPr>
              <a:t>Câu hỏi: làm sao biết lỗi khi người làm sai còn đang ở đó, và hồ sơ còn chưa rời bệnh viện?</a:t>
            </a:r>
            <a:endParaRPr lang="en-US" sz="1600" b="0" u="none" strike="noStrike">
              <a:solidFill>
                <a:srgbClr val="FFFFFF"/>
              </a:solidFill>
              <a:effectLst/>
              <a:uFillTx/>
              <a:latin typeface="Arial"/>
            </a:endParaRPr>
          </a:p>
        </p:txBody>
      </p:sp>
      <p:sp>
        <p:nvSpPr>
          <p:cNvPr id="64" name="Text 29"/>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02 / 21</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65"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GIẢI PHÁP</a:t>
            </a:r>
            <a:endParaRPr lang="en-US" sz="1200" b="0" u="none" strike="noStrike">
              <a:solidFill>
                <a:srgbClr val="FFFFFF"/>
              </a:solidFill>
              <a:effectLst/>
              <a:uFillTx/>
              <a:latin typeface="Arial"/>
            </a:endParaRPr>
          </a:p>
        </p:txBody>
      </p:sp>
      <p:sp>
        <p:nvSpPr>
          <p:cNvPr id="66"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Đưa việc phát hiện lỗi về sớm nhất có thể</a:t>
            </a:r>
            <a:endParaRPr lang="en-US" sz="2800" b="0" u="none" strike="noStrike">
              <a:solidFill>
                <a:srgbClr val="FFFFFF"/>
              </a:solidFill>
              <a:effectLst/>
              <a:uFillTx/>
              <a:latin typeface="Arial"/>
            </a:endParaRPr>
          </a:p>
        </p:txBody>
      </p:sp>
      <p:sp>
        <p:nvSpPr>
          <p:cNvPr id="67" name="Text 2"/>
          <p:cNvSpPr/>
          <p:nvPr/>
        </p:nvSpPr>
        <p:spPr>
          <a:xfrm>
            <a:off x="640080" y="1298520"/>
            <a:ext cx="10911240" cy="328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A9BCD6"/>
                </a:solidFill>
                <a:effectLst/>
                <a:uFillTx/>
                <a:latin typeface="Arial"/>
                <a:ea typeface="Arial"/>
              </a:rPr>
              <a:t>Tiền giám định đặt hai điểm kiểm soát bên trong bệnh viện — trước khi hồ sơ được ký số và gửi đi.</a:t>
            </a:r>
            <a:endParaRPr lang="en-US" sz="1500" b="0" u="none" strike="noStrike">
              <a:solidFill>
                <a:srgbClr val="FFFFFF"/>
              </a:solidFill>
              <a:effectLst/>
              <a:uFillTx/>
              <a:latin typeface="Arial"/>
            </a:endParaRPr>
          </a:p>
        </p:txBody>
      </p:sp>
      <p:sp>
        <p:nvSpPr>
          <p:cNvPr id="68" name="Shape 3"/>
          <p:cNvSpPr/>
          <p:nvPr/>
        </p:nvSpPr>
        <p:spPr>
          <a:xfrm>
            <a:off x="1463040" y="2697480"/>
            <a:ext cx="9265320" cy="360"/>
          </a:xfrm>
          <a:prstGeom prst="line">
            <a:avLst/>
          </a:prstGeom>
          <a:ln w="25400">
            <a:solidFill>
              <a:srgbClr val="4A6890"/>
            </a:solidFill>
            <a:round/>
          </a:ln>
        </p:spPr>
        <p:style>
          <a:lnRef idx="0"/>
          <a:fillRef idx="0"/>
          <a:effectRef idx="0"/>
          <a:fontRef idx="minor"/>
        </p:style>
        <p:txBody>
          <a:bodyPr lIns="90000" tIns="-44640" rIns="90000" bIns="-44640" anchor="t" anchorCtr="1">
            <a:noAutofit/>
          </a:bodyPr>
          <a:p>
            <a:endParaRPr lang="en-US" sz="1800" b="0" u="none" strike="noStrike">
              <a:solidFill>
                <a:srgbClr val="FFFFFF"/>
              </a:solidFill>
              <a:effectLst/>
              <a:uFillTx/>
              <a:latin typeface="Arial"/>
            </a:endParaRPr>
          </a:p>
        </p:txBody>
      </p:sp>
      <p:sp>
        <p:nvSpPr>
          <p:cNvPr id="69" name="Shape 4"/>
          <p:cNvSpPr/>
          <p:nvPr/>
        </p:nvSpPr>
        <p:spPr>
          <a:xfrm>
            <a:off x="1307520" y="2541960"/>
            <a:ext cx="310680" cy="310680"/>
          </a:xfrm>
          <a:prstGeom prst="ellipse">
            <a:avLst/>
          </a:prstGeom>
          <a:solidFill>
            <a:srgbClr val="FBBF24"/>
          </a:solidFill>
          <a:ln w="12700">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0" name="Shape 5"/>
          <p:cNvSpPr/>
          <p:nvPr/>
        </p:nvSpPr>
        <p:spPr>
          <a:xfrm>
            <a:off x="640080" y="2039040"/>
            <a:ext cx="2102760" cy="328680"/>
          </a:xfrm>
          <a:prstGeom prst="roundRect">
            <a:avLst>
              <a:gd name="adj" fmla="val 50000"/>
            </a:avLst>
          </a:prstGeom>
          <a:solidFill>
            <a:srgbClr val="FBBF24"/>
          </a:solidFill>
          <a:ln w="12700">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1" name="Text 6"/>
          <p:cNvSpPr/>
          <p:nvPr/>
        </p:nvSpPr>
        <p:spPr>
          <a:xfrm>
            <a:off x="640080" y="2039040"/>
            <a:ext cx="2102760" cy="328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0B1A30"/>
                </a:solidFill>
                <a:effectLst/>
                <a:uFillTx/>
                <a:latin typeface="Arial"/>
                <a:ea typeface="Arial"/>
              </a:rPr>
              <a:t>① KHOẢNG 60 GIÂY</a:t>
            </a:r>
            <a:endParaRPr lang="en-US" sz="1100" b="0" u="none" strike="noStrike">
              <a:solidFill>
                <a:srgbClr val="FFFFFF"/>
              </a:solidFill>
              <a:effectLst/>
              <a:uFillTx/>
              <a:latin typeface="Arial"/>
            </a:endParaRPr>
          </a:p>
        </p:txBody>
      </p:sp>
      <p:sp>
        <p:nvSpPr>
          <p:cNvPr id="72" name="Text 7"/>
          <p:cNvSpPr/>
          <p:nvPr/>
        </p:nvSpPr>
        <p:spPr>
          <a:xfrm>
            <a:off x="411480" y="2953440"/>
            <a:ext cx="2102760" cy="73116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500" b="1" u="none" strike="noStrike">
                <a:solidFill>
                  <a:srgbClr val="FBBF24"/>
                </a:solidFill>
                <a:effectLst/>
                <a:uFillTx/>
                <a:latin typeface="Arial"/>
                <a:ea typeface="Arial"/>
              </a:rPr>
              <a:t>Ra y lệnh</a:t>
            </a:r>
            <a:endParaRPr lang="en-US" sz="1500" b="0" u="none" strike="noStrike">
              <a:solidFill>
                <a:srgbClr val="FFFFFF"/>
              </a:solidFill>
              <a:effectLst/>
              <a:uFillTx/>
              <a:latin typeface="Arial"/>
            </a:endParaRPr>
          </a:p>
          <a:p>
            <a:pPr algn="ctr" defTabSz="914400">
              <a:lnSpc>
                <a:spcPts val="1800"/>
              </a:lnSpc>
              <a:tabLst>
                <a:tab pos="0" algn="l"/>
              </a:tabLst>
            </a:pPr>
            <a:r>
              <a:rPr lang="en-US" sz="1200" b="0" u="none" strike="noStrike">
                <a:solidFill>
                  <a:srgbClr val="A9BCD6"/>
                </a:solidFill>
                <a:effectLst/>
                <a:uFillTx/>
                <a:latin typeface="Arial"/>
                <a:ea typeface="Arial"/>
              </a:rPr>
              <a:t>Kiểm sai sót y lệnh</a:t>
            </a:r>
            <a:endParaRPr lang="en-US" sz="1200" b="0" u="none" strike="noStrike">
              <a:solidFill>
                <a:srgbClr val="FFFFFF"/>
              </a:solidFill>
              <a:effectLst/>
              <a:uFillTx/>
              <a:latin typeface="Arial"/>
            </a:endParaRPr>
          </a:p>
        </p:txBody>
      </p:sp>
      <p:sp>
        <p:nvSpPr>
          <p:cNvPr id="73" name="Shape 8"/>
          <p:cNvSpPr/>
          <p:nvPr/>
        </p:nvSpPr>
        <p:spPr>
          <a:xfrm>
            <a:off x="3669840" y="2587680"/>
            <a:ext cx="219240" cy="219240"/>
          </a:xfrm>
          <a:prstGeom prst="ellipse">
            <a:avLst/>
          </a:prstGeom>
          <a:solidFill>
            <a:srgbClr val="4A6890"/>
          </a:solidFill>
          <a:ln w="12700">
            <a:solidFill>
              <a:srgbClr val="4A689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4" name="Text 9"/>
          <p:cNvSpPr/>
          <p:nvPr/>
        </p:nvSpPr>
        <p:spPr>
          <a:xfrm>
            <a:off x="2727720" y="2953440"/>
            <a:ext cx="2102760" cy="73116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500" b="1" u="none" strike="noStrike">
                <a:solidFill>
                  <a:srgbClr val="FFFFFF"/>
                </a:solidFill>
                <a:effectLst/>
                <a:uFillTx/>
                <a:latin typeface="Arial"/>
                <a:ea typeface="Arial"/>
              </a:rPr>
              <a:t>Ra viện</a:t>
            </a:r>
            <a:endParaRPr lang="en-US" sz="1500" b="0" u="none" strike="noStrike">
              <a:solidFill>
                <a:srgbClr val="FFFFFF"/>
              </a:solidFill>
              <a:effectLst/>
              <a:uFillTx/>
              <a:latin typeface="Arial"/>
            </a:endParaRPr>
          </a:p>
          <a:p>
            <a:pPr algn="ctr" defTabSz="914400">
              <a:lnSpc>
                <a:spcPts val="1800"/>
              </a:lnSpc>
              <a:tabLst>
                <a:tab pos="0" algn="l"/>
              </a:tabLst>
            </a:pPr>
            <a:r>
              <a:rPr lang="en-US" sz="1200" b="0" u="none" strike="noStrike">
                <a:solidFill>
                  <a:srgbClr val="A9BCD6"/>
                </a:solidFill>
                <a:effectLst/>
                <a:uFillTx/>
                <a:latin typeface="Arial"/>
                <a:ea typeface="Arial"/>
              </a:rPr>
              <a:t>Kết thúc điều trị</a:t>
            </a:r>
            <a:endParaRPr lang="en-US" sz="1200" b="0" u="none" strike="noStrike">
              <a:solidFill>
                <a:srgbClr val="FFFFFF"/>
              </a:solidFill>
              <a:effectLst/>
              <a:uFillTx/>
              <a:latin typeface="Arial"/>
            </a:endParaRPr>
          </a:p>
        </p:txBody>
      </p:sp>
      <p:sp>
        <p:nvSpPr>
          <p:cNvPr id="75" name="Shape 10"/>
          <p:cNvSpPr/>
          <p:nvPr/>
        </p:nvSpPr>
        <p:spPr>
          <a:xfrm>
            <a:off x="5986080" y="2587680"/>
            <a:ext cx="219240" cy="219240"/>
          </a:xfrm>
          <a:prstGeom prst="ellipse">
            <a:avLst/>
          </a:prstGeom>
          <a:solidFill>
            <a:srgbClr val="4A6890"/>
          </a:solidFill>
          <a:ln w="12700">
            <a:solidFill>
              <a:srgbClr val="4A689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6" name="Text 11"/>
          <p:cNvSpPr/>
          <p:nvPr/>
        </p:nvSpPr>
        <p:spPr>
          <a:xfrm>
            <a:off x="5044320" y="2953440"/>
            <a:ext cx="2102760" cy="73116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500" b="1" u="none" strike="noStrike">
                <a:solidFill>
                  <a:srgbClr val="FFFFFF"/>
                </a:solidFill>
                <a:effectLst/>
                <a:uFillTx/>
                <a:latin typeface="Arial"/>
                <a:ea typeface="Arial"/>
              </a:rPr>
              <a:t>Lập hồ sơ XML</a:t>
            </a:r>
            <a:endParaRPr lang="en-US" sz="1500" b="0" u="none" strike="noStrike">
              <a:solidFill>
                <a:srgbClr val="FFFFFF"/>
              </a:solidFill>
              <a:effectLst/>
              <a:uFillTx/>
              <a:latin typeface="Arial"/>
            </a:endParaRPr>
          </a:p>
          <a:p>
            <a:pPr algn="ctr" defTabSz="914400">
              <a:lnSpc>
                <a:spcPts val="1800"/>
              </a:lnSpc>
              <a:tabLst>
                <a:tab pos="0" algn="l"/>
              </a:tabLst>
            </a:pPr>
            <a:r>
              <a:rPr lang="en-US" sz="1200" b="0" u="none" strike="noStrike">
                <a:solidFill>
                  <a:srgbClr val="A9BCD6"/>
                </a:solidFill>
                <a:effectLst/>
                <a:uFillTx/>
                <a:latin typeface="Arial"/>
                <a:ea typeface="Arial"/>
              </a:rPr>
              <a:t>Nạp vào Tiền giám định</a:t>
            </a:r>
            <a:endParaRPr lang="en-US" sz="1200" b="0" u="none" strike="noStrike">
              <a:solidFill>
                <a:srgbClr val="FFFFFF"/>
              </a:solidFill>
              <a:effectLst/>
              <a:uFillTx/>
              <a:latin typeface="Arial"/>
            </a:endParaRPr>
          </a:p>
        </p:txBody>
      </p:sp>
      <p:sp>
        <p:nvSpPr>
          <p:cNvPr id="77" name="Shape 12"/>
          <p:cNvSpPr/>
          <p:nvPr/>
        </p:nvSpPr>
        <p:spPr>
          <a:xfrm>
            <a:off x="8256960" y="2541960"/>
            <a:ext cx="310680" cy="310680"/>
          </a:xfrm>
          <a:prstGeom prst="ellipse">
            <a:avLst/>
          </a:prstGeom>
          <a:solidFill>
            <a:srgbClr val="FBBF24"/>
          </a:solidFill>
          <a:ln w="12700">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8" name="Shape 13"/>
          <p:cNvSpPr/>
          <p:nvPr/>
        </p:nvSpPr>
        <p:spPr>
          <a:xfrm>
            <a:off x="7360560" y="2039040"/>
            <a:ext cx="2102760" cy="328680"/>
          </a:xfrm>
          <a:prstGeom prst="roundRect">
            <a:avLst>
              <a:gd name="adj" fmla="val 50000"/>
            </a:avLst>
          </a:prstGeom>
          <a:solidFill>
            <a:srgbClr val="FBBF24"/>
          </a:solidFill>
          <a:ln w="12700">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9" name="Text 14"/>
          <p:cNvSpPr/>
          <p:nvPr/>
        </p:nvSpPr>
        <p:spPr>
          <a:xfrm>
            <a:off x="7360560" y="2039040"/>
            <a:ext cx="2102760" cy="328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0B1A30"/>
                </a:solidFill>
                <a:effectLst/>
                <a:uFillTx/>
                <a:latin typeface="Arial"/>
                <a:ea typeface="Arial"/>
              </a:rPr>
              <a:t>② TRƯỚC KÝ SỐ</a:t>
            </a:r>
            <a:endParaRPr lang="en-US" sz="1100" b="0" u="none" strike="noStrike">
              <a:solidFill>
                <a:srgbClr val="FFFFFF"/>
              </a:solidFill>
              <a:effectLst/>
              <a:uFillTx/>
              <a:latin typeface="Arial"/>
            </a:endParaRPr>
          </a:p>
        </p:txBody>
      </p:sp>
      <p:sp>
        <p:nvSpPr>
          <p:cNvPr id="80" name="Text 15"/>
          <p:cNvSpPr/>
          <p:nvPr/>
        </p:nvSpPr>
        <p:spPr>
          <a:xfrm>
            <a:off x="7360560" y="2953440"/>
            <a:ext cx="2102760" cy="73116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500" b="1" u="none" strike="noStrike">
                <a:solidFill>
                  <a:srgbClr val="FBBF24"/>
                </a:solidFill>
                <a:effectLst/>
                <a:uFillTx/>
                <a:latin typeface="Arial"/>
                <a:ea typeface="Arial"/>
              </a:rPr>
              <a:t>Kiểm hồ sơ</a:t>
            </a:r>
            <a:endParaRPr lang="en-US" sz="1500" b="0" u="none" strike="noStrike">
              <a:solidFill>
                <a:srgbClr val="FFFFFF"/>
              </a:solidFill>
              <a:effectLst/>
              <a:uFillTx/>
              <a:latin typeface="Arial"/>
            </a:endParaRPr>
          </a:p>
          <a:p>
            <a:pPr algn="ctr" defTabSz="914400">
              <a:lnSpc>
                <a:spcPts val="1800"/>
              </a:lnSpc>
              <a:tabLst>
                <a:tab pos="0" algn="l"/>
              </a:tabLst>
            </a:pPr>
            <a:r>
              <a:rPr lang="en-US" sz="1200" b="0" u="none" strike="noStrike">
                <a:solidFill>
                  <a:srgbClr val="A9BCD6"/>
                </a:solidFill>
                <a:effectLst/>
                <a:uFillTx/>
                <a:latin typeface="Arial"/>
                <a:ea typeface="Arial"/>
              </a:rPr>
              <a:t>Lỗi nghiêm trọng bị chặn</a:t>
            </a:r>
            <a:endParaRPr lang="en-US" sz="1200" b="0" u="none" strike="noStrike">
              <a:solidFill>
                <a:srgbClr val="FFFFFF"/>
              </a:solidFill>
              <a:effectLst/>
              <a:uFillTx/>
              <a:latin typeface="Arial"/>
            </a:endParaRPr>
          </a:p>
        </p:txBody>
      </p:sp>
      <p:sp>
        <p:nvSpPr>
          <p:cNvPr id="81" name="Shape 16"/>
          <p:cNvSpPr/>
          <p:nvPr/>
        </p:nvSpPr>
        <p:spPr>
          <a:xfrm>
            <a:off x="10573200" y="2541960"/>
            <a:ext cx="310680" cy="310680"/>
          </a:xfrm>
          <a:prstGeom prst="ellipse">
            <a:avLst/>
          </a:prstGeom>
          <a:solidFill>
            <a:srgbClr val="4ADE80"/>
          </a:solidFill>
          <a:ln w="12700">
            <a:solidFill>
              <a:srgbClr val="4ADE8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2" name="Text 17"/>
          <p:cNvSpPr/>
          <p:nvPr/>
        </p:nvSpPr>
        <p:spPr>
          <a:xfrm>
            <a:off x="9677160" y="2953440"/>
            <a:ext cx="2102760" cy="73116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500" b="1" u="none" strike="noStrike">
                <a:solidFill>
                  <a:srgbClr val="4ADE80"/>
                </a:solidFill>
                <a:effectLst/>
                <a:uFillTx/>
                <a:latin typeface="Arial"/>
                <a:ea typeface="Arial"/>
              </a:rPr>
              <a:t>Ký số, gửi cổng</a:t>
            </a:r>
            <a:endParaRPr lang="en-US" sz="1500" b="0" u="none" strike="noStrike">
              <a:solidFill>
                <a:srgbClr val="FFFFFF"/>
              </a:solidFill>
              <a:effectLst/>
              <a:uFillTx/>
              <a:latin typeface="Arial"/>
            </a:endParaRPr>
          </a:p>
          <a:p>
            <a:pPr algn="ctr" defTabSz="914400">
              <a:lnSpc>
                <a:spcPts val="1800"/>
              </a:lnSpc>
              <a:tabLst>
                <a:tab pos="0" algn="l"/>
              </a:tabLst>
            </a:pPr>
            <a:r>
              <a:rPr lang="en-US" sz="1200" b="0" u="none" strike="noStrike">
                <a:solidFill>
                  <a:srgbClr val="A9BCD6"/>
                </a:solidFill>
                <a:effectLst/>
                <a:uFillTx/>
                <a:latin typeface="Arial"/>
                <a:ea typeface="Arial"/>
              </a:rPr>
              <a:t>Hồ sơ đã sạch lỗi hơn</a:t>
            </a:r>
            <a:endParaRPr lang="en-US" sz="1200" b="0" u="none" strike="noStrike">
              <a:solidFill>
                <a:srgbClr val="FFFFFF"/>
              </a:solidFill>
              <a:effectLst/>
              <a:uFillTx/>
              <a:latin typeface="Arial"/>
            </a:endParaRPr>
          </a:p>
        </p:txBody>
      </p:sp>
      <p:sp>
        <p:nvSpPr>
          <p:cNvPr id="83" name="Text 18"/>
          <p:cNvSpPr/>
          <p:nvPr/>
        </p:nvSpPr>
        <p:spPr>
          <a:xfrm>
            <a:off x="640080" y="391356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pc="201" strike="noStrike">
                <a:solidFill>
                  <a:srgbClr val="7F93B0"/>
                </a:solidFill>
                <a:effectLst/>
                <a:uFillTx/>
                <a:latin typeface="Arial"/>
                <a:ea typeface="Arial"/>
              </a:rPr>
              <a:t>VÒNG SỬA LỖI</a:t>
            </a:r>
            <a:endParaRPr lang="en-US" sz="1100" b="0" u="none" strike="noStrike">
              <a:solidFill>
                <a:srgbClr val="FFFFFF"/>
              </a:solidFill>
              <a:effectLst/>
              <a:uFillTx/>
              <a:latin typeface="Arial"/>
            </a:endParaRPr>
          </a:p>
        </p:txBody>
      </p:sp>
      <p:sp>
        <p:nvSpPr>
          <p:cNvPr id="84" name="Shape 19"/>
          <p:cNvSpPr/>
          <p:nvPr/>
        </p:nvSpPr>
        <p:spPr>
          <a:xfrm>
            <a:off x="640080" y="4251960"/>
            <a:ext cx="1889280" cy="502560"/>
          </a:xfrm>
          <a:prstGeom prst="roundRect">
            <a:avLst>
              <a:gd name="adj" fmla="val 49091"/>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5" name="Text 20"/>
          <p:cNvSpPr/>
          <p:nvPr/>
        </p:nvSpPr>
        <p:spPr>
          <a:xfrm>
            <a:off x="640080" y="4251960"/>
            <a:ext cx="188928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FFFFFF"/>
                </a:solidFill>
                <a:effectLst/>
                <a:uFillTx/>
                <a:latin typeface="Arial"/>
                <a:ea typeface="Arial"/>
              </a:rPr>
              <a:t>Phát hiện lỗi</a:t>
            </a:r>
            <a:endParaRPr lang="en-US" sz="1400" b="0" u="none" strike="noStrike">
              <a:solidFill>
                <a:srgbClr val="FFFFFF"/>
              </a:solidFill>
              <a:effectLst/>
              <a:uFillTx/>
              <a:latin typeface="Arial"/>
            </a:endParaRPr>
          </a:p>
        </p:txBody>
      </p:sp>
      <p:sp>
        <p:nvSpPr>
          <p:cNvPr id="86" name="Text 21"/>
          <p:cNvSpPr/>
          <p:nvPr/>
        </p:nvSpPr>
        <p:spPr>
          <a:xfrm>
            <a:off x="2529720" y="4251960"/>
            <a:ext cx="36540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0" u="none" strike="noStrike">
                <a:solidFill>
                  <a:srgbClr val="C9D6E8"/>
                </a:solidFill>
                <a:effectLst/>
                <a:uFillTx/>
                <a:latin typeface="Arial"/>
                <a:ea typeface="Arial"/>
              </a:rPr>
              <a:t>→</a:t>
            </a:r>
            <a:endParaRPr lang="en-US" sz="1800" b="0" u="none" strike="noStrike">
              <a:solidFill>
                <a:srgbClr val="FFFFFF"/>
              </a:solidFill>
              <a:effectLst/>
              <a:uFillTx/>
              <a:latin typeface="Arial"/>
            </a:endParaRPr>
          </a:p>
        </p:txBody>
      </p:sp>
      <p:sp>
        <p:nvSpPr>
          <p:cNvPr id="87" name="Shape 22"/>
          <p:cNvSpPr/>
          <p:nvPr/>
        </p:nvSpPr>
        <p:spPr>
          <a:xfrm>
            <a:off x="2895480" y="4251960"/>
            <a:ext cx="1889280" cy="502560"/>
          </a:xfrm>
          <a:prstGeom prst="roundRect">
            <a:avLst>
              <a:gd name="adj" fmla="val 49091"/>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8" name="Text 23"/>
          <p:cNvSpPr/>
          <p:nvPr/>
        </p:nvSpPr>
        <p:spPr>
          <a:xfrm>
            <a:off x="2895480" y="4251960"/>
            <a:ext cx="188928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FFFFFF"/>
                </a:solidFill>
                <a:effectLst/>
                <a:uFillTx/>
                <a:latin typeface="Arial"/>
                <a:ea typeface="Arial"/>
              </a:rPr>
              <a:t>Báo về khoa phát sinh</a:t>
            </a:r>
            <a:endParaRPr lang="en-US" sz="1400" b="0" u="none" strike="noStrike">
              <a:solidFill>
                <a:srgbClr val="FFFFFF"/>
              </a:solidFill>
              <a:effectLst/>
              <a:uFillTx/>
              <a:latin typeface="Arial"/>
            </a:endParaRPr>
          </a:p>
        </p:txBody>
      </p:sp>
      <p:sp>
        <p:nvSpPr>
          <p:cNvPr id="89" name="Text 24"/>
          <p:cNvSpPr/>
          <p:nvPr/>
        </p:nvSpPr>
        <p:spPr>
          <a:xfrm>
            <a:off x="4785120" y="4251960"/>
            <a:ext cx="36540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0" u="none" strike="noStrike">
                <a:solidFill>
                  <a:srgbClr val="C9D6E8"/>
                </a:solidFill>
                <a:effectLst/>
                <a:uFillTx/>
                <a:latin typeface="Arial"/>
                <a:ea typeface="Arial"/>
              </a:rPr>
              <a:t>→</a:t>
            </a:r>
            <a:endParaRPr lang="en-US" sz="1800" b="0" u="none" strike="noStrike">
              <a:solidFill>
                <a:srgbClr val="FFFFFF"/>
              </a:solidFill>
              <a:effectLst/>
              <a:uFillTx/>
              <a:latin typeface="Arial"/>
            </a:endParaRPr>
          </a:p>
        </p:txBody>
      </p:sp>
      <p:sp>
        <p:nvSpPr>
          <p:cNvPr id="90" name="Shape 25"/>
          <p:cNvSpPr/>
          <p:nvPr/>
        </p:nvSpPr>
        <p:spPr>
          <a:xfrm>
            <a:off x="5150880" y="4251960"/>
            <a:ext cx="1889280" cy="502560"/>
          </a:xfrm>
          <a:prstGeom prst="roundRect">
            <a:avLst>
              <a:gd name="adj" fmla="val 49091"/>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1" name="Text 26"/>
          <p:cNvSpPr/>
          <p:nvPr/>
        </p:nvSpPr>
        <p:spPr>
          <a:xfrm>
            <a:off x="5150880" y="4251960"/>
            <a:ext cx="188928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BBF24"/>
                </a:solidFill>
                <a:effectLst/>
                <a:uFillTx/>
                <a:latin typeface="Arial"/>
                <a:ea typeface="Arial"/>
              </a:rPr>
              <a:t>Sửa trên HIS</a:t>
            </a:r>
            <a:endParaRPr lang="en-US" sz="1400" b="0" u="none" strike="noStrike">
              <a:solidFill>
                <a:srgbClr val="FFFFFF"/>
              </a:solidFill>
              <a:effectLst/>
              <a:uFillTx/>
              <a:latin typeface="Arial"/>
            </a:endParaRPr>
          </a:p>
        </p:txBody>
      </p:sp>
      <p:sp>
        <p:nvSpPr>
          <p:cNvPr id="92" name="Text 27"/>
          <p:cNvSpPr/>
          <p:nvPr/>
        </p:nvSpPr>
        <p:spPr>
          <a:xfrm>
            <a:off x="7040520" y="4251960"/>
            <a:ext cx="36540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0" u="none" strike="noStrike">
                <a:solidFill>
                  <a:srgbClr val="C9D6E8"/>
                </a:solidFill>
                <a:effectLst/>
                <a:uFillTx/>
                <a:latin typeface="Arial"/>
                <a:ea typeface="Arial"/>
              </a:rPr>
              <a:t>→</a:t>
            </a:r>
            <a:endParaRPr lang="en-US" sz="1800" b="0" u="none" strike="noStrike">
              <a:solidFill>
                <a:srgbClr val="FFFFFF"/>
              </a:solidFill>
              <a:effectLst/>
              <a:uFillTx/>
              <a:latin typeface="Arial"/>
            </a:endParaRPr>
          </a:p>
        </p:txBody>
      </p:sp>
      <p:sp>
        <p:nvSpPr>
          <p:cNvPr id="93" name="Shape 28"/>
          <p:cNvSpPr/>
          <p:nvPr/>
        </p:nvSpPr>
        <p:spPr>
          <a:xfrm>
            <a:off x="7406280" y="4251960"/>
            <a:ext cx="1889280" cy="502560"/>
          </a:xfrm>
          <a:prstGeom prst="roundRect">
            <a:avLst>
              <a:gd name="adj" fmla="val 49091"/>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4" name="Text 29"/>
          <p:cNvSpPr/>
          <p:nvPr/>
        </p:nvSpPr>
        <p:spPr>
          <a:xfrm>
            <a:off x="7406280" y="4251960"/>
            <a:ext cx="188928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FFFFFF"/>
                </a:solidFill>
                <a:effectLst/>
                <a:uFillTx/>
                <a:latin typeface="Arial"/>
                <a:ea typeface="Arial"/>
              </a:rPr>
              <a:t>Nạp lại</a:t>
            </a:r>
            <a:endParaRPr lang="en-US" sz="1400" b="0" u="none" strike="noStrike">
              <a:solidFill>
                <a:srgbClr val="FFFFFF"/>
              </a:solidFill>
              <a:effectLst/>
              <a:uFillTx/>
              <a:latin typeface="Arial"/>
            </a:endParaRPr>
          </a:p>
        </p:txBody>
      </p:sp>
      <p:sp>
        <p:nvSpPr>
          <p:cNvPr id="95" name="Text 30"/>
          <p:cNvSpPr/>
          <p:nvPr/>
        </p:nvSpPr>
        <p:spPr>
          <a:xfrm>
            <a:off x="9296280" y="4251960"/>
            <a:ext cx="36540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0" u="none" strike="noStrike">
                <a:solidFill>
                  <a:srgbClr val="C9D6E8"/>
                </a:solidFill>
                <a:effectLst/>
                <a:uFillTx/>
                <a:latin typeface="Arial"/>
                <a:ea typeface="Arial"/>
              </a:rPr>
              <a:t>→</a:t>
            </a:r>
            <a:endParaRPr lang="en-US" sz="1800" b="0" u="none" strike="noStrike">
              <a:solidFill>
                <a:srgbClr val="FFFFFF"/>
              </a:solidFill>
              <a:effectLst/>
              <a:uFillTx/>
              <a:latin typeface="Arial"/>
            </a:endParaRPr>
          </a:p>
        </p:txBody>
      </p:sp>
      <p:sp>
        <p:nvSpPr>
          <p:cNvPr id="96" name="Shape 31"/>
          <p:cNvSpPr/>
          <p:nvPr/>
        </p:nvSpPr>
        <p:spPr>
          <a:xfrm>
            <a:off x="9662040" y="4251960"/>
            <a:ext cx="1889280" cy="502560"/>
          </a:xfrm>
          <a:prstGeom prst="roundRect">
            <a:avLst>
              <a:gd name="adj" fmla="val 49091"/>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7" name="Text 32"/>
          <p:cNvSpPr/>
          <p:nvPr/>
        </p:nvSpPr>
        <p:spPr>
          <a:xfrm>
            <a:off x="9662040" y="4251960"/>
            <a:ext cx="188928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FFFFFF"/>
                </a:solidFill>
                <a:effectLst/>
                <a:uFillTx/>
                <a:latin typeface="Arial"/>
                <a:ea typeface="Arial"/>
              </a:rPr>
              <a:t>Kiểm lại</a:t>
            </a:r>
            <a:endParaRPr lang="en-US" sz="1400" b="0" u="none" strike="noStrike">
              <a:solidFill>
                <a:srgbClr val="FFFFFF"/>
              </a:solidFill>
              <a:effectLst/>
              <a:uFillTx/>
              <a:latin typeface="Arial"/>
            </a:endParaRPr>
          </a:p>
        </p:txBody>
      </p:sp>
      <p:sp>
        <p:nvSpPr>
          <p:cNvPr id="98" name="Text 33"/>
          <p:cNvSpPr/>
          <p:nvPr/>
        </p:nvSpPr>
        <p:spPr>
          <a:xfrm>
            <a:off x="640080" y="4983480"/>
            <a:ext cx="1091124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A9BCD6"/>
                </a:solidFill>
                <a:effectLst/>
                <a:uFillTx/>
                <a:latin typeface="Arial"/>
                <a:ea typeface="Arial"/>
              </a:rPr>
              <a:t>Phần mềm chỉ đọc HIS, không sửa hộ: lỗi được sửa đúng nơi phát sinh, nên dữ liệu gốc trên HIS và hồ sơ gửi đi luôn khớp nhau.</a:t>
            </a:r>
            <a:endParaRPr lang="en-US" sz="1400" b="0" u="none" strike="noStrike">
              <a:solidFill>
                <a:srgbClr val="FFFFFF"/>
              </a:solidFill>
              <a:effectLst/>
              <a:uFillTx/>
              <a:latin typeface="Arial"/>
            </a:endParaRPr>
          </a:p>
        </p:txBody>
      </p:sp>
      <p:sp>
        <p:nvSpPr>
          <p:cNvPr id="99" name="Text 34"/>
          <p:cNvSpPr/>
          <p:nvPr/>
        </p:nvSpPr>
        <p:spPr>
          <a:xfrm>
            <a:off x="640080" y="5760720"/>
            <a:ext cx="1091124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BBF24"/>
                </a:solidFill>
                <a:effectLst/>
                <a:uFillTx/>
                <a:latin typeface="Arial"/>
                <a:ea typeface="Arial"/>
              </a:rPr>
              <a:t>Phát hiện sớm  ·  Sửa tại nguồn  ·  Gửi hồ sơ sạch</a:t>
            </a:r>
            <a:endParaRPr lang="en-US" sz="1600" b="0" u="none" strike="noStrike">
              <a:solidFill>
                <a:srgbClr val="FFFFFF"/>
              </a:solidFill>
              <a:effectLst/>
              <a:uFillTx/>
              <a:latin typeface="Arial"/>
            </a:endParaRPr>
          </a:p>
        </p:txBody>
      </p:sp>
      <p:sp>
        <p:nvSpPr>
          <p:cNvPr id="100" name="Text 35"/>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03 / 21</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01"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NĂNG LỰC</a:t>
            </a:r>
            <a:endParaRPr lang="en-US" sz="1200" b="0" u="none" strike="noStrike">
              <a:solidFill>
                <a:srgbClr val="FFFFFF"/>
              </a:solidFill>
              <a:effectLst/>
              <a:uFillTx/>
              <a:latin typeface="Arial"/>
            </a:endParaRPr>
          </a:p>
        </p:txBody>
      </p:sp>
      <p:sp>
        <p:nvSpPr>
          <p:cNvPr id="102"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Hệ thống đang chạy thực tế tại Bệnh viện Bạch Mai</a:t>
            </a:r>
            <a:endParaRPr lang="en-US" sz="2800" b="0" u="none" strike="noStrike">
              <a:solidFill>
                <a:srgbClr val="FFFFFF"/>
              </a:solidFill>
              <a:effectLst/>
              <a:uFillTx/>
              <a:latin typeface="Arial"/>
            </a:endParaRPr>
          </a:p>
        </p:txBody>
      </p:sp>
      <p:sp>
        <p:nvSpPr>
          <p:cNvPr id="103" name="Text 2"/>
          <p:cNvSpPr/>
          <p:nvPr/>
        </p:nvSpPr>
        <p:spPr>
          <a:xfrm>
            <a:off x="640080" y="1298520"/>
            <a:ext cx="10911240" cy="328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A9BCD6"/>
                </a:solidFill>
                <a:effectLst/>
                <a:uFillTx/>
                <a:latin typeface="Arial"/>
                <a:ea typeface="Arial"/>
              </a:rPr>
              <a:t>Các con số lấy từ cấu hình và bộ quy tắc hiện hành của phần mềm.</a:t>
            </a:r>
            <a:endParaRPr lang="en-US" sz="1500" b="0" u="none" strike="noStrike">
              <a:solidFill>
                <a:srgbClr val="FFFFFF"/>
              </a:solidFill>
              <a:effectLst/>
              <a:uFillTx/>
              <a:latin typeface="Arial"/>
            </a:endParaRPr>
          </a:p>
        </p:txBody>
      </p:sp>
      <p:sp>
        <p:nvSpPr>
          <p:cNvPr id="104" name="Shape 3"/>
          <p:cNvSpPr/>
          <p:nvPr/>
        </p:nvSpPr>
        <p:spPr>
          <a:xfrm>
            <a:off x="640080" y="2011680"/>
            <a:ext cx="1999080" cy="3108600"/>
          </a:xfrm>
          <a:prstGeom prst="roundRect">
            <a:avLst>
              <a:gd name="adj" fmla="val 4573"/>
            </a:avLst>
          </a:prstGeom>
          <a:solidFill>
            <a:srgbClr val="25324A">
              <a:alpha val="85000"/>
            </a:srgbClr>
          </a:solidFill>
          <a:ln w="19050">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5" name="Text 4"/>
          <p:cNvSpPr/>
          <p:nvPr/>
        </p:nvSpPr>
        <p:spPr>
          <a:xfrm>
            <a:off x="640080" y="2331720"/>
            <a:ext cx="1999080" cy="914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5000" b="1" u="none" strike="noStrike">
                <a:solidFill>
                  <a:srgbClr val="FBBF24"/>
                </a:solidFill>
                <a:effectLst/>
                <a:uFillTx/>
                <a:latin typeface="Arial"/>
                <a:ea typeface="Arial"/>
              </a:rPr>
              <a:t>~60</a:t>
            </a:r>
            <a:endParaRPr lang="en-US" sz="5000" b="0" u="none" strike="noStrike">
              <a:solidFill>
                <a:srgbClr val="FFFFFF"/>
              </a:solidFill>
              <a:effectLst/>
              <a:uFillTx/>
              <a:latin typeface="Arial"/>
            </a:endParaRPr>
          </a:p>
        </p:txBody>
      </p:sp>
      <p:sp>
        <p:nvSpPr>
          <p:cNvPr id="106" name="Text 5"/>
          <p:cNvSpPr/>
          <p:nvPr/>
        </p:nvSpPr>
        <p:spPr>
          <a:xfrm>
            <a:off x="640080" y="3246120"/>
            <a:ext cx="199908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Arial"/>
                <a:ea typeface="Arial"/>
              </a:rPr>
              <a:t>giây</a:t>
            </a:r>
            <a:endParaRPr lang="en-US" sz="1600" b="0" u="none" strike="noStrike">
              <a:solidFill>
                <a:srgbClr val="FFFFFF"/>
              </a:solidFill>
              <a:effectLst/>
              <a:uFillTx/>
              <a:latin typeface="Arial"/>
            </a:endParaRPr>
          </a:p>
        </p:txBody>
      </p:sp>
      <p:sp>
        <p:nvSpPr>
          <p:cNvPr id="107" name="Text 6"/>
          <p:cNvSpPr/>
          <p:nvPr/>
        </p:nvSpPr>
        <p:spPr>
          <a:xfrm>
            <a:off x="822960" y="3794760"/>
            <a:ext cx="1633320" cy="109692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300" b="0" u="none" strike="noStrike">
                <a:solidFill>
                  <a:srgbClr val="A9BCD6"/>
                </a:solidFill>
                <a:effectLst/>
                <a:uFillTx/>
                <a:latin typeface="Arial"/>
                <a:ea typeface="Arial"/>
              </a:rPr>
              <a:t>Sai sót y lệnh được phát hiện sau khi phát sinh</a:t>
            </a:r>
            <a:endParaRPr lang="en-US" sz="1300" b="0" u="none" strike="noStrike">
              <a:solidFill>
                <a:srgbClr val="FFFFFF"/>
              </a:solidFill>
              <a:effectLst/>
              <a:uFillTx/>
              <a:latin typeface="Arial"/>
            </a:endParaRPr>
          </a:p>
        </p:txBody>
      </p:sp>
      <p:sp>
        <p:nvSpPr>
          <p:cNvPr id="108" name="Shape 7"/>
          <p:cNvSpPr/>
          <p:nvPr/>
        </p:nvSpPr>
        <p:spPr>
          <a:xfrm>
            <a:off x="2868120" y="2011680"/>
            <a:ext cx="1999080" cy="3108600"/>
          </a:xfrm>
          <a:prstGeom prst="roundRect">
            <a:avLst>
              <a:gd name="adj" fmla="val 4573"/>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9" name="Text 8"/>
          <p:cNvSpPr/>
          <p:nvPr/>
        </p:nvSpPr>
        <p:spPr>
          <a:xfrm>
            <a:off x="2868120" y="2331720"/>
            <a:ext cx="1999080" cy="914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5000" b="1" u="none" strike="noStrike">
                <a:solidFill>
                  <a:srgbClr val="38BDF8"/>
                </a:solidFill>
                <a:effectLst/>
                <a:uFillTx/>
                <a:latin typeface="Arial"/>
                <a:ea typeface="Arial"/>
              </a:rPr>
              <a:t>19</a:t>
            </a:r>
            <a:endParaRPr lang="en-US" sz="5000" b="0" u="none" strike="noStrike">
              <a:solidFill>
                <a:srgbClr val="FFFFFF"/>
              </a:solidFill>
              <a:effectLst/>
              <a:uFillTx/>
              <a:latin typeface="Arial"/>
            </a:endParaRPr>
          </a:p>
        </p:txBody>
      </p:sp>
      <p:sp>
        <p:nvSpPr>
          <p:cNvPr id="110" name="Text 9"/>
          <p:cNvSpPr/>
          <p:nvPr/>
        </p:nvSpPr>
        <p:spPr>
          <a:xfrm>
            <a:off x="2868120" y="3246120"/>
            <a:ext cx="199908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Arial"/>
                <a:ea typeface="Arial"/>
              </a:rPr>
              <a:t>quy tắc</a:t>
            </a:r>
            <a:endParaRPr lang="en-US" sz="1600" b="0" u="none" strike="noStrike">
              <a:solidFill>
                <a:srgbClr val="FFFFFF"/>
              </a:solidFill>
              <a:effectLst/>
              <a:uFillTx/>
              <a:latin typeface="Arial"/>
            </a:endParaRPr>
          </a:p>
        </p:txBody>
      </p:sp>
      <p:sp>
        <p:nvSpPr>
          <p:cNvPr id="111" name="Text 10"/>
          <p:cNvSpPr/>
          <p:nvPr/>
        </p:nvSpPr>
        <p:spPr>
          <a:xfrm>
            <a:off x="3051000" y="3794760"/>
            <a:ext cx="1633320" cy="109692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300" b="0" u="none" strike="noStrike">
                <a:solidFill>
                  <a:srgbClr val="A9BCD6"/>
                </a:solidFill>
                <a:effectLst/>
                <a:uFillTx/>
                <a:latin typeface="Arial"/>
                <a:ea typeface="Arial"/>
              </a:rPr>
              <a:t>Kiểm y lệnh nạp sẵn, thêm được quy tắc mới</a:t>
            </a:r>
            <a:endParaRPr lang="en-US" sz="1300" b="0" u="none" strike="noStrike">
              <a:solidFill>
                <a:srgbClr val="FFFFFF"/>
              </a:solidFill>
              <a:effectLst/>
              <a:uFillTx/>
              <a:latin typeface="Arial"/>
            </a:endParaRPr>
          </a:p>
        </p:txBody>
      </p:sp>
      <p:sp>
        <p:nvSpPr>
          <p:cNvPr id="112" name="Shape 11"/>
          <p:cNvSpPr/>
          <p:nvPr/>
        </p:nvSpPr>
        <p:spPr>
          <a:xfrm>
            <a:off x="5096160" y="2011680"/>
            <a:ext cx="1999080" cy="3108600"/>
          </a:xfrm>
          <a:prstGeom prst="roundRect">
            <a:avLst>
              <a:gd name="adj" fmla="val 4573"/>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3" name="Text 12"/>
          <p:cNvSpPr/>
          <p:nvPr/>
        </p:nvSpPr>
        <p:spPr>
          <a:xfrm>
            <a:off x="5096160" y="2331720"/>
            <a:ext cx="1999080" cy="914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5000" b="1" u="none" strike="noStrike">
                <a:solidFill>
                  <a:srgbClr val="38BDF8"/>
                </a:solidFill>
                <a:effectLst/>
                <a:uFillTx/>
                <a:latin typeface="Arial"/>
                <a:ea typeface="Arial"/>
              </a:rPr>
              <a:t>~300</a:t>
            </a:r>
            <a:endParaRPr lang="en-US" sz="5000" b="0" u="none" strike="noStrike">
              <a:solidFill>
                <a:srgbClr val="FFFFFF"/>
              </a:solidFill>
              <a:effectLst/>
              <a:uFillTx/>
              <a:latin typeface="Arial"/>
            </a:endParaRPr>
          </a:p>
        </p:txBody>
      </p:sp>
      <p:sp>
        <p:nvSpPr>
          <p:cNvPr id="114" name="Text 13"/>
          <p:cNvSpPr/>
          <p:nvPr/>
        </p:nvSpPr>
        <p:spPr>
          <a:xfrm>
            <a:off x="5096160" y="3246120"/>
            <a:ext cx="199908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Arial"/>
                <a:ea typeface="Arial"/>
              </a:rPr>
              <a:t>mã lỗi</a:t>
            </a:r>
            <a:endParaRPr lang="en-US" sz="1600" b="0" u="none" strike="noStrike">
              <a:solidFill>
                <a:srgbClr val="FFFFFF"/>
              </a:solidFill>
              <a:effectLst/>
              <a:uFillTx/>
              <a:latin typeface="Arial"/>
            </a:endParaRPr>
          </a:p>
        </p:txBody>
      </p:sp>
      <p:sp>
        <p:nvSpPr>
          <p:cNvPr id="115" name="Text 14"/>
          <p:cNvSpPr/>
          <p:nvPr/>
        </p:nvSpPr>
        <p:spPr>
          <a:xfrm>
            <a:off x="5279040" y="3794760"/>
            <a:ext cx="1633320" cy="109692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300" b="0" u="none" strike="noStrike">
                <a:solidFill>
                  <a:srgbClr val="A9BCD6"/>
                </a:solidFill>
                <a:effectLst/>
                <a:uFillTx/>
                <a:latin typeface="Arial"/>
                <a:ea typeface="Arial"/>
              </a:rPr>
              <a:t>Kiểm hồ sơ XML 3176 theo từng trường dữ liệu</a:t>
            </a:r>
            <a:endParaRPr lang="en-US" sz="1300" b="0" u="none" strike="noStrike">
              <a:solidFill>
                <a:srgbClr val="FFFFFF"/>
              </a:solidFill>
              <a:effectLst/>
              <a:uFillTx/>
              <a:latin typeface="Arial"/>
            </a:endParaRPr>
          </a:p>
        </p:txBody>
      </p:sp>
      <p:sp>
        <p:nvSpPr>
          <p:cNvPr id="116" name="Shape 15"/>
          <p:cNvSpPr/>
          <p:nvPr/>
        </p:nvSpPr>
        <p:spPr>
          <a:xfrm>
            <a:off x="7324200" y="2011680"/>
            <a:ext cx="1999080" cy="3108600"/>
          </a:xfrm>
          <a:prstGeom prst="roundRect">
            <a:avLst>
              <a:gd name="adj" fmla="val 4573"/>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7" name="Text 16"/>
          <p:cNvSpPr/>
          <p:nvPr/>
        </p:nvSpPr>
        <p:spPr>
          <a:xfrm>
            <a:off x="7324200" y="2331720"/>
            <a:ext cx="1999080" cy="914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5000" b="1" u="none" strike="noStrike">
                <a:solidFill>
                  <a:srgbClr val="38BDF8"/>
                </a:solidFill>
                <a:effectLst/>
                <a:uFillTx/>
                <a:latin typeface="Arial"/>
                <a:ea typeface="Arial"/>
              </a:rPr>
              <a:t>12</a:t>
            </a:r>
            <a:endParaRPr lang="en-US" sz="5000" b="0" u="none" strike="noStrike">
              <a:solidFill>
                <a:srgbClr val="FFFFFF"/>
              </a:solidFill>
              <a:effectLst/>
              <a:uFillTx/>
              <a:latin typeface="Arial"/>
            </a:endParaRPr>
          </a:p>
        </p:txBody>
      </p:sp>
      <p:sp>
        <p:nvSpPr>
          <p:cNvPr id="118" name="Text 17"/>
          <p:cNvSpPr/>
          <p:nvPr/>
        </p:nvSpPr>
        <p:spPr>
          <a:xfrm>
            <a:off x="7324200" y="3246120"/>
            <a:ext cx="199908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Arial"/>
                <a:ea typeface="Arial"/>
              </a:rPr>
              <a:t>bảng XML</a:t>
            </a:r>
            <a:endParaRPr lang="en-US" sz="1600" b="0" u="none" strike="noStrike">
              <a:solidFill>
                <a:srgbClr val="FFFFFF"/>
              </a:solidFill>
              <a:effectLst/>
              <a:uFillTx/>
              <a:latin typeface="Arial"/>
            </a:endParaRPr>
          </a:p>
        </p:txBody>
      </p:sp>
      <p:sp>
        <p:nvSpPr>
          <p:cNvPr id="119" name="Text 18"/>
          <p:cNvSpPr/>
          <p:nvPr/>
        </p:nvSpPr>
        <p:spPr>
          <a:xfrm>
            <a:off x="7507080" y="3794760"/>
            <a:ext cx="1633320" cy="109692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300" b="0" u="none" strike="noStrike">
                <a:solidFill>
                  <a:srgbClr val="A9BCD6"/>
                </a:solidFill>
                <a:effectLst/>
                <a:uFillTx/>
                <a:latin typeface="Arial"/>
                <a:ea typeface="Arial"/>
              </a:rPr>
              <a:t>Có bộ kiểm riêng, cộng kiểm chéo toàn hồ sơ</a:t>
            </a:r>
            <a:endParaRPr lang="en-US" sz="1300" b="0" u="none" strike="noStrike">
              <a:solidFill>
                <a:srgbClr val="FFFFFF"/>
              </a:solidFill>
              <a:effectLst/>
              <a:uFillTx/>
              <a:latin typeface="Arial"/>
            </a:endParaRPr>
          </a:p>
        </p:txBody>
      </p:sp>
      <p:sp>
        <p:nvSpPr>
          <p:cNvPr id="120" name="Shape 19"/>
          <p:cNvSpPr/>
          <p:nvPr/>
        </p:nvSpPr>
        <p:spPr>
          <a:xfrm>
            <a:off x="9552240" y="2011680"/>
            <a:ext cx="1999080" cy="3108600"/>
          </a:xfrm>
          <a:prstGeom prst="roundRect">
            <a:avLst>
              <a:gd name="adj" fmla="val 4573"/>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1" name="Text 20"/>
          <p:cNvSpPr/>
          <p:nvPr/>
        </p:nvSpPr>
        <p:spPr>
          <a:xfrm>
            <a:off x="9552240" y="2331720"/>
            <a:ext cx="1999080" cy="914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5000" b="1" u="none" strike="noStrike">
                <a:solidFill>
                  <a:srgbClr val="38BDF8"/>
                </a:solidFill>
                <a:effectLst/>
                <a:uFillTx/>
                <a:latin typeface="Arial"/>
                <a:ea typeface="Arial"/>
              </a:rPr>
              <a:t>2</a:t>
            </a:r>
            <a:endParaRPr lang="en-US" sz="5000" b="0" u="none" strike="noStrike">
              <a:solidFill>
                <a:srgbClr val="FFFFFF"/>
              </a:solidFill>
              <a:effectLst/>
              <a:uFillTx/>
              <a:latin typeface="Arial"/>
            </a:endParaRPr>
          </a:p>
        </p:txBody>
      </p:sp>
      <p:sp>
        <p:nvSpPr>
          <p:cNvPr id="122" name="Text 21"/>
          <p:cNvSpPr/>
          <p:nvPr/>
        </p:nvSpPr>
        <p:spPr>
          <a:xfrm>
            <a:off x="9552240" y="3246120"/>
            <a:ext cx="199908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Arial"/>
                <a:ea typeface="Arial"/>
              </a:rPr>
              <a:t>mức lỗi</a:t>
            </a:r>
            <a:endParaRPr lang="en-US" sz="1600" b="0" u="none" strike="noStrike">
              <a:solidFill>
                <a:srgbClr val="FFFFFF"/>
              </a:solidFill>
              <a:effectLst/>
              <a:uFillTx/>
              <a:latin typeface="Arial"/>
            </a:endParaRPr>
          </a:p>
        </p:txBody>
      </p:sp>
      <p:sp>
        <p:nvSpPr>
          <p:cNvPr id="123" name="Text 22"/>
          <p:cNvSpPr/>
          <p:nvPr/>
        </p:nvSpPr>
        <p:spPr>
          <a:xfrm>
            <a:off x="9735120" y="3794760"/>
            <a:ext cx="1633320" cy="109692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300" b="0" u="none" strike="noStrike">
                <a:solidFill>
                  <a:srgbClr val="A9BCD6"/>
                </a:solidFill>
                <a:effectLst/>
                <a:uFillTx/>
                <a:latin typeface="Arial"/>
                <a:ea typeface="Arial"/>
              </a:rPr>
              <a:t>Nghiêm trọng thì chặn gửi; cảnh báo thì ghi nhận</a:t>
            </a:r>
            <a:endParaRPr lang="en-US" sz="1300" b="0" u="none" strike="noStrike">
              <a:solidFill>
                <a:srgbClr val="FFFFFF"/>
              </a:solidFill>
              <a:effectLst/>
              <a:uFillTx/>
              <a:latin typeface="Arial"/>
            </a:endParaRPr>
          </a:p>
        </p:txBody>
      </p:sp>
      <p:sp>
        <p:nvSpPr>
          <p:cNvPr id="124" name="Text 23"/>
          <p:cNvSpPr/>
          <p:nvPr/>
        </p:nvSpPr>
        <p:spPr>
          <a:xfrm>
            <a:off x="640080" y="5532120"/>
            <a:ext cx="1091124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BBF24"/>
                </a:solidFill>
                <a:effectLst/>
                <a:uFillTx/>
                <a:latin typeface="Arial"/>
                <a:ea typeface="Arial"/>
              </a:rPr>
              <a:t>Ký số bằng HSM hoặc USB Token  ·  Tự gửi cổng, tự thử lại tối đa 3 lần  ·  Nhận tệp XML tới 100 MB</a:t>
            </a:r>
            <a:endParaRPr lang="en-US" sz="1600" b="0" u="none" strike="noStrike">
              <a:solidFill>
                <a:srgbClr val="FFFFFF"/>
              </a:solidFill>
              <a:effectLst/>
              <a:uFillTx/>
              <a:latin typeface="Arial"/>
            </a:endParaRPr>
          </a:p>
        </p:txBody>
      </p:sp>
      <p:sp>
        <p:nvSpPr>
          <p:cNvPr id="125" name="Text 24"/>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04 / 21</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26"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KẾT QUẢ TẠI BẠCH MAI</a:t>
            </a:r>
            <a:endParaRPr lang="en-US" sz="1200" b="0" u="none" strike="noStrike">
              <a:solidFill>
                <a:srgbClr val="FFFFFF"/>
              </a:solidFill>
              <a:effectLst/>
              <a:uFillTx/>
              <a:latin typeface="Arial"/>
            </a:endParaRPr>
          </a:p>
        </p:txBody>
      </p:sp>
      <p:sp>
        <p:nvSpPr>
          <p:cNvPr id="127"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Trước và sau khi áp dụng Tiền giám định</a:t>
            </a:r>
            <a:endParaRPr lang="en-US" sz="2800" b="0" u="none" strike="noStrike">
              <a:solidFill>
                <a:srgbClr val="FFFFFF"/>
              </a:solidFill>
              <a:effectLst/>
              <a:uFillTx/>
              <a:latin typeface="Arial"/>
            </a:endParaRPr>
          </a:p>
        </p:txBody>
      </p:sp>
      <p:sp>
        <p:nvSpPr>
          <p:cNvPr id="128" name="Text 2"/>
          <p:cNvSpPr/>
          <p:nvPr/>
        </p:nvSpPr>
        <p:spPr>
          <a:xfrm>
            <a:off x="640080" y="1298520"/>
            <a:ext cx="10911240" cy="328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A9BCD6"/>
                </a:solidFill>
                <a:effectLst/>
                <a:uFillTx/>
                <a:latin typeface="Arial"/>
                <a:ea typeface="Arial"/>
              </a:rPr>
              <a:t>Kỳ trước: ………………   ·   Kỳ sau: ………………   ·   Nguồn số liệu: ………………</a:t>
            </a:r>
            <a:endParaRPr lang="en-US" sz="1500" b="0" u="none" strike="noStrike">
              <a:solidFill>
                <a:srgbClr val="FFFFFF"/>
              </a:solidFill>
              <a:effectLst/>
              <a:uFillTx/>
              <a:latin typeface="Arial"/>
            </a:endParaRPr>
          </a:p>
        </p:txBody>
      </p:sp>
      <p:sp>
        <p:nvSpPr>
          <p:cNvPr id="129" name="Text 3"/>
          <p:cNvSpPr/>
          <p:nvPr/>
        </p:nvSpPr>
        <p:spPr>
          <a:xfrm>
            <a:off x="914400" y="1874520"/>
            <a:ext cx="4297320" cy="29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pc="201" strike="noStrike">
                <a:solidFill>
                  <a:srgbClr val="38BDF8"/>
                </a:solidFill>
                <a:effectLst/>
                <a:uFillTx/>
                <a:latin typeface="Arial"/>
                <a:ea typeface="Arial"/>
              </a:rPr>
              <a:t>CHỈ SỐ</a:t>
            </a:r>
            <a:endParaRPr lang="en-US" sz="1100" b="0" u="none" strike="noStrike">
              <a:solidFill>
                <a:srgbClr val="FFFFFF"/>
              </a:solidFill>
              <a:effectLst/>
              <a:uFillTx/>
              <a:latin typeface="Arial"/>
            </a:endParaRPr>
          </a:p>
        </p:txBody>
      </p:sp>
      <p:sp>
        <p:nvSpPr>
          <p:cNvPr id="130" name="Text 4"/>
          <p:cNvSpPr/>
          <p:nvPr/>
        </p:nvSpPr>
        <p:spPr>
          <a:xfrm>
            <a:off x="5760720" y="1874520"/>
            <a:ext cx="1279800" cy="292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pc="201" strike="noStrike">
                <a:solidFill>
                  <a:srgbClr val="38BDF8"/>
                </a:solidFill>
                <a:effectLst/>
                <a:uFillTx/>
                <a:latin typeface="Arial"/>
                <a:ea typeface="Arial"/>
              </a:rPr>
              <a:t>TRƯỚC</a:t>
            </a:r>
            <a:endParaRPr lang="en-US" sz="1100" b="0" u="none" strike="noStrike">
              <a:solidFill>
                <a:srgbClr val="FFFFFF"/>
              </a:solidFill>
              <a:effectLst/>
              <a:uFillTx/>
              <a:latin typeface="Arial"/>
            </a:endParaRPr>
          </a:p>
        </p:txBody>
      </p:sp>
      <p:sp>
        <p:nvSpPr>
          <p:cNvPr id="131" name="Text 5"/>
          <p:cNvSpPr/>
          <p:nvPr/>
        </p:nvSpPr>
        <p:spPr>
          <a:xfrm>
            <a:off x="7589520" y="1874520"/>
            <a:ext cx="1279800" cy="292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pc="201" strike="noStrike">
                <a:solidFill>
                  <a:srgbClr val="38BDF8"/>
                </a:solidFill>
                <a:effectLst/>
                <a:uFillTx/>
                <a:latin typeface="Arial"/>
                <a:ea typeface="Arial"/>
              </a:rPr>
              <a:t>SAU</a:t>
            </a:r>
            <a:endParaRPr lang="en-US" sz="1100" b="0" u="none" strike="noStrike">
              <a:solidFill>
                <a:srgbClr val="FFFFFF"/>
              </a:solidFill>
              <a:effectLst/>
              <a:uFillTx/>
              <a:latin typeface="Arial"/>
            </a:endParaRPr>
          </a:p>
        </p:txBody>
      </p:sp>
      <p:sp>
        <p:nvSpPr>
          <p:cNvPr id="132" name="Text 6"/>
          <p:cNvSpPr/>
          <p:nvPr/>
        </p:nvSpPr>
        <p:spPr>
          <a:xfrm>
            <a:off x="9418320" y="1874520"/>
            <a:ext cx="1858680" cy="292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pc="201" strike="noStrike">
                <a:solidFill>
                  <a:srgbClr val="38BDF8"/>
                </a:solidFill>
                <a:effectLst/>
                <a:uFillTx/>
                <a:latin typeface="Arial"/>
                <a:ea typeface="Arial"/>
              </a:rPr>
              <a:t>THAY ĐỔI</a:t>
            </a:r>
            <a:endParaRPr lang="en-US" sz="1100" b="0" u="none" strike="noStrike">
              <a:solidFill>
                <a:srgbClr val="FFFFFF"/>
              </a:solidFill>
              <a:effectLst/>
              <a:uFillTx/>
              <a:latin typeface="Arial"/>
            </a:endParaRPr>
          </a:p>
        </p:txBody>
      </p:sp>
      <p:sp>
        <p:nvSpPr>
          <p:cNvPr id="133" name="Shape 7"/>
          <p:cNvSpPr/>
          <p:nvPr/>
        </p:nvSpPr>
        <p:spPr>
          <a:xfrm>
            <a:off x="640080" y="2286000"/>
            <a:ext cx="10911240" cy="694440"/>
          </a:xfrm>
          <a:prstGeom prst="roundRect">
            <a:avLst>
              <a:gd name="adj" fmla="val 1315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4" name="Text 8"/>
          <p:cNvSpPr/>
          <p:nvPr/>
        </p:nvSpPr>
        <p:spPr>
          <a:xfrm>
            <a:off x="914400" y="2286000"/>
            <a:ext cx="4480200" cy="694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Tỷ lệ hồ sơ còn lỗi nghiêm trọng khi gửi cổng</a:t>
            </a:r>
            <a:endParaRPr lang="en-US" sz="1500" b="0" u="none" strike="noStrike">
              <a:solidFill>
                <a:srgbClr val="FFFFFF"/>
              </a:solidFill>
              <a:effectLst/>
              <a:uFillTx/>
              <a:latin typeface="Arial"/>
            </a:endParaRPr>
          </a:p>
        </p:txBody>
      </p:sp>
      <p:sp>
        <p:nvSpPr>
          <p:cNvPr id="135" name="Text 9"/>
          <p:cNvSpPr/>
          <p:nvPr/>
        </p:nvSpPr>
        <p:spPr>
          <a:xfrm>
            <a:off x="5486400" y="2286000"/>
            <a:ext cx="182844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A9BCD6"/>
                </a:solidFill>
                <a:effectLst/>
                <a:uFillTx/>
                <a:latin typeface="Arial"/>
                <a:ea typeface="Arial"/>
              </a:rPr>
              <a:t>………</a:t>
            </a:r>
            <a:endParaRPr lang="en-US" sz="2000" b="0" u="none" strike="noStrike">
              <a:solidFill>
                <a:srgbClr val="FFFFFF"/>
              </a:solidFill>
              <a:effectLst/>
              <a:uFillTx/>
              <a:latin typeface="Arial"/>
            </a:endParaRPr>
          </a:p>
        </p:txBody>
      </p:sp>
      <p:sp>
        <p:nvSpPr>
          <p:cNvPr id="136" name="Text 10"/>
          <p:cNvSpPr/>
          <p:nvPr/>
        </p:nvSpPr>
        <p:spPr>
          <a:xfrm>
            <a:off x="7315200" y="2286000"/>
            <a:ext cx="182844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A9BCD6"/>
                </a:solidFill>
                <a:effectLst/>
                <a:uFillTx/>
                <a:latin typeface="Arial"/>
                <a:ea typeface="Arial"/>
              </a:rPr>
              <a:t>………</a:t>
            </a:r>
            <a:endParaRPr lang="en-US" sz="2000" b="0" u="none" strike="noStrike">
              <a:solidFill>
                <a:srgbClr val="FFFFFF"/>
              </a:solidFill>
              <a:effectLst/>
              <a:uFillTx/>
              <a:latin typeface="Arial"/>
            </a:endParaRPr>
          </a:p>
        </p:txBody>
      </p:sp>
      <p:sp>
        <p:nvSpPr>
          <p:cNvPr id="137" name="Text 11"/>
          <p:cNvSpPr/>
          <p:nvPr/>
        </p:nvSpPr>
        <p:spPr>
          <a:xfrm>
            <a:off x="9144000" y="2286000"/>
            <a:ext cx="240732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FBBF24"/>
                </a:solidFill>
                <a:effectLst/>
                <a:uFillTx/>
                <a:latin typeface="Arial"/>
                <a:ea typeface="Arial"/>
              </a:rPr>
              <a:t>………</a:t>
            </a:r>
            <a:endParaRPr lang="en-US" sz="2000" b="0" u="none" strike="noStrike">
              <a:solidFill>
                <a:srgbClr val="FFFFFF"/>
              </a:solidFill>
              <a:effectLst/>
              <a:uFillTx/>
              <a:latin typeface="Arial"/>
            </a:endParaRPr>
          </a:p>
        </p:txBody>
      </p:sp>
      <p:sp>
        <p:nvSpPr>
          <p:cNvPr id="138" name="Shape 12"/>
          <p:cNvSpPr/>
          <p:nvPr/>
        </p:nvSpPr>
        <p:spPr>
          <a:xfrm>
            <a:off x="640080" y="3090600"/>
            <a:ext cx="10911240" cy="694440"/>
          </a:xfrm>
          <a:prstGeom prst="roundRect">
            <a:avLst>
              <a:gd name="adj" fmla="val 1315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9" name="Text 13"/>
          <p:cNvSpPr/>
          <p:nvPr/>
        </p:nvSpPr>
        <p:spPr>
          <a:xfrm>
            <a:off x="914400" y="3090600"/>
            <a:ext cx="4480200" cy="694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Số hồ sơ bị cổng giám định trả về mỗi tháng</a:t>
            </a:r>
            <a:endParaRPr lang="en-US" sz="1500" b="0" u="none" strike="noStrike">
              <a:solidFill>
                <a:srgbClr val="FFFFFF"/>
              </a:solidFill>
              <a:effectLst/>
              <a:uFillTx/>
              <a:latin typeface="Arial"/>
            </a:endParaRPr>
          </a:p>
        </p:txBody>
      </p:sp>
      <p:sp>
        <p:nvSpPr>
          <p:cNvPr id="140" name="Text 14"/>
          <p:cNvSpPr/>
          <p:nvPr/>
        </p:nvSpPr>
        <p:spPr>
          <a:xfrm>
            <a:off x="5486400" y="3090600"/>
            <a:ext cx="182844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A9BCD6"/>
                </a:solidFill>
                <a:effectLst/>
                <a:uFillTx/>
                <a:latin typeface="Arial"/>
                <a:ea typeface="Arial"/>
              </a:rPr>
              <a:t>………</a:t>
            </a:r>
            <a:endParaRPr lang="en-US" sz="2000" b="0" u="none" strike="noStrike">
              <a:solidFill>
                <a:srgbClr val="FFFFFF"/>
              </a:solidFill>
              <a:effectLst/>
              <a:uFillTx/>
              <a:latin typeface="Arial"/>
            </a:endParaRPr>
          </a:p>
        </p:txBody>
      </p:sp>
      <p:sp>
        <p:nvSpPr>
          <p:cNvPr id="141" name="Text 15"/>
          <p:cNvSpPr/>
          <p:nvPr/>
        </p:nvSpPr>
        <p:spPr>
          <a:xfrm>
            <a:off x="7315200" y="3090600"/>
            <a:ext cx="182844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A9BCD6"/>
                </a:solidFill>
                <a:effectLst/>
                <a:uFillTx/>
                <a:latin typeface="Arial"/>
                <a:ea typeface="Arial"/>
              </a:rPr>
              <a:t>………</a:t>
            </a:r>
            <a:endParaRPr lang="en-US" sz="2000" b="0" u="none" strike="noStrike">
              <a:solidFill>
                <a:srgbClr val="FFFFFF"/>
              </a:solidFill>
              <a:effectLst/>
              <a:uFillTx/>
              <a:latin typeface="Arial"/>
            </a:endParaRPr>
          </a:p>
        </p:txBody>
      </p:sp>
      <p:sp>
        <p:nvSpPr>
          <p:cNvPr id="142" name="Text 16"/>
          <p:cNvSpPr/>
          <p:nvPr/>
        </p:nvSpPr>
        <p:spPr>
          <a:xfrm>
            <a:off x="9144000" y="3090600"/>
            <a:ext cx="240732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FBBF24"/>
                </a:solidFill>
                <a:effectLst/>
                <a:uFillTx/>
                <a:latin typeface="Arial"/>
                <a:ea typeface="Arial"/>
              </a:rPr>
              <a:t>………</a:t>
            </a:r>
            <a:endParaRPr lang="en-US" sz="2000" b="0" u="none" strike="noStrike">
              <a:solidFill>
                <a:srgbClr val="FFFFFF"/>
              </a:solidFill>
              <a:effectLst/>
              <a:uFillTx/>
              <a:latin typeface="Arial"/>
            </a:endParaRPr>
          </a:p>
        </p:txBody>
      </p:sp>
      <p:sp>
        <p:nvSpPr>
          <p:cNvPr id="143" name="Shape 17"/>
          <p:cNvSpPr/>
          <p:nvPr/>
        </p:nvSpPr>
        <p:spPr>
          <a:xfrm>
            <a:off x="640080" y="3895200"/>
            <a:ext cx="10911240" cy="694440"/>
          </a:xfrm>
          <a:prstGeom prst="roundRect">
            <a:avLst>
              <a:gd name="adj" fmla="val 1315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4" name="Text 18"/>
          <p:cNvSpPr/>
          <p:nvPr/>
        </p:nvSpPr>
        <p:spPr>
          <a:xfrm>
            <a:off x="914400" y="3895200"/>
            <a:ext cx="4480200" cy="694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Số tiền BHYT bị xuất toán mỗi tháng</a:t>
            </a:r>
            <a:endParaRPr lang="en-US" sz="1500" b="0" u="none" strike="noStrike">
              <a:solidFill>
                <a:srgbClr val="FFFFFF"/>
              </a:solidFill>
              <a:effectLst/>
              <a:uFillTx/>
              <a:latin typeface="Arial"/>
            </a:endParaRPr>
          </a:p>
        </p:txBody>
      </p:sp>
      <p:sp>
        <p:nvSpPr>
          <p:cNvPr id="145" name="Text 19"/>
          <p:cNvSpPr/>
          <p:nvPr/>
        </p:nvSpPr>
        <p:spPr>
          <a:xfrm>
            <a:off x="5486400" y="3895200"/>
            <a:ext cx="182844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A9BCD6"/>
                </a:solidFill>
                <a:effectLst/>
                <a:uFillTx/>
                <a:latin typeface="Arial"/>
                <a:ea typeface="Arial"/>
              </a:rPr>
              <a:t>………</a:t>
            </a:r>
            <a:endParaRPr lang="en-US" sz="2000" b="0" u="none" strike="noStrike">
              <a:solidFill>
                <a:srgbClr val="FFFFFF"/>
              </a:solidFill>
              <a:effectLst/>
              <a:uFillTx/>
              <a:latin typeface="Arial"/>
            </a:endParaRPr>
          </a:p>
        </p:txBody>
      </p:sp>
      <p:sp>
        <p:nvSpPr>
          <p:cNvPr id="146" name="Text 20"/>
          <p:cNvSpPr/>
          <p:nvPr/>
        </p:nvSpPr>
        <p:spPr>
          <a:xfrm>
            <a:off x="7315200" y="3895200"/>
            <a:ext cx="182844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A9BCD6"/>
                </a:solidFill>
                <a:effectLst/>
                <a:uFillTx/>
                <a:latin typeface="Arial"/>
                <a:ea typeface="Arial"/>
              </a:rPr>
              <a:t>………</a:t>
            </a:r>
            <a:endParaRPr lang="en-US" sz="2000" b="0" u="none" strike="noStrike">
              <a:solidFill>
                <a:srgbClr val="FFFFFF"/>
              </a:solidFill>
              <a:effectLst/>
              <a:uFillTx/>
              <a:latin typeface="Arial"/>
            </a:endParaRPr>
          </a:p>
        </p:txBody>
      </p:sp>
      <p:sp>
        <p:nvSpPr>
          <p:cNvPr id="147" name="Text 21"/>
          <p:cNvSpPr/>
          <p:nvPr/>
        </p:nvSpPr>
        <p:spPr>
          <a:xfrm>
            <a:off x="9144000" y="3895200"/>
            <a:ext cx="240732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FBBF24"/>
                </a:solidFill>
                <a:effectLst/>
                <a:uFillTx/>
                <a:latin typeface="Arial"/>
                <a:ea typeface="Arial"/>
              </a:rPr>
              <a:t>………</a:t>
            </a:r>
            <a:endParaRPr lang="en-US" sz="2000" b="0" u="none" strike="noStrike">
              <a:solidFill>
                <a:srgbClr val="FFFFFF"/>
              </a:solidFill>
              <a:effectLst/>
              <a:uFillTx/>
              <a:latin typeface="Arial"/>
            </a:endParaRPr>
          </a:p>
        </p:txBody>
      </p:sp>
      <p:sp>
        <p:nvSpPr>
          <p:cNvPr id="148" name="Shape 22"/>
          <p:cNvSpPr/>
          <p:nvPr/>
        </p:nvSpPr>
        <p:spPr>
          <a:xfrm>
            <a:off x="640080" y="4700160"/>
            <a:ext cx="10911240" cy="694440"/>
          </a:xfrm>
          <a:prstGeom prst="roundRect">
            <a:avLst>
              <a:gd name="adj" fmla="val 1315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9" name="Text 23"/>
          <p:cNvSpPr/>
          <p:nvPr/>
        </p:nvSpPr>
        <p:spPr>
          <a:xfrm>
            <a:off x="914400" y="4700160"/>
            <a:ext cx="4480200" cy="694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Thời gian từ khi phát sinh lỗi tới khi sửa xong</a:t>
            </a:r>
            <a:endParaRPr lang="en-US" sz="1500" b="0" u="none" strike="noStrike">
              <a:solidFill>
                <a:srgbClr val="FFFFFF"/>
              </a:solidFill>
              <a:effectLst/>
              <a:uFillTx/>
              <a:latin typeface="Arial"/>
            </a:endParaRPr>
          </a:p>
        </p:txBody>
      </p:sp>
      <p:sp>
        <p:nvSpPr>
          <p:cNvPr id="150" name="Text 24"/>
          <p:cNvSpPr/>
          <p:nvPr/>
        </p:nvSpPr>
        <p:spPr>
          <a:xfrm>
            <a:off x="5486400" y="4700160"/>
            <a:ext cx="182844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A9BCD6"/>
                </a:solidFill>
                <a:effectLst/>
                <a:uFillTx/>
                <a:latin typeface="Arial"/>
                <a:ea typeface="Arial"/>
              </a:rPr>
              <a:t>………</a:t>
            </a:r>
            <a:endParaRPr lang="en-US" sz="2000" b="0" u="none" strike="noStrike">
              <a:solidFill>
                <a:srgbClr val="FFFFFF"/>
              </a:solidFill>
              <a:effectLst/>
              <a:uFillTx/>
              <a:latin typeface="Arial"/>
            </a:endParaRPr>
          </a:p>
        </p:txBody>
      </p:sp>
      <p:sp>
        <p:nvSpPr>
          <p:cNvPr id="151" name="Text 25"/>
          <p:cNvSpPr/>
          <p:nvPr/>
        </p:nvSpPr>
        <p:spPr>
          <a:xfrm>
            <a:off x="7315200" y="4700160"/>
            <a:ext cx="182844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A9BCD6"/>
                </a:solidFill>
                <a:effectLst/>
                <a:uFillTx/>
                <a:latin typeface="Arial"/>
                <a:ea typeface="Arial"/>
              </a:rPr>
              <a:t>………</a:t>
            </a:r>
            <a:endParaRPr lang="en-US" sz="2000" b="0" u="none" strike="noStrike">
              <a:solidFill>
                <a:srgbClr val="FFFFFF"/>
              </a:solidFill>
              <a:effectLst/>
              <a:uFillTx/>
              <a:latin typeface="Arial"/>
            </a:endParaRPr>
          </a:p>
        </p:txBody>
      </p:sp>
      <p:sp>
        <p:nvSpPr>
          <p:cNvPr id="152" name="Text 26"/>
          <p:cNvSpPr/>
          <p:nvPr/>
        </p:nvSpPr>
        <p:spPr>
          <a:xfrm>
            <a:off x="9144000" y="4700160"/>
            <a:ext cx="2407320" cy="694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FBBF24"/>
                </a:solidFill>
                <a:effectLst/>
                <a:uFillTx/>
                <a:latin typeface="Arial"/>
                <a:ea typeface="Arial"/>
              </a:rPr>
              <a:t>………</a:t>
            </a:r>
            <a:endParaRPr lang="en-US" sz="2000" b="0" u="none" strike="noStrike">
              <a:solidFill>
                <a:srgbClr val="FFFFFF"/>
              </a:solidFill>
              <a:effectLst/>
              <a:uFillTx/>
              <a:latin typeface="Arial"/>
            </a:endParaRPr>
          </a:p>
        </p:txBody>
      </p:sp>
      <p:sp>
        <p:nvSpPr>
          <p:cNvPr id="153" name="Text 27"/>
          <p:cNvSpPr/>
          <p:nvPr/>
        </p:nvSpPr>
        <p:spPr>
          <a:xfrm>
            <a:off x="640080" y="5623560"/>
            <a:ext cx="1091124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BBF24"/>
                </a:solidFill>
                <a:effectLst/>
                <a:uFillTx/>
                <a:latin typeface="Arial"/>
                <a:ea typeface="Arial"/>
              </a:rPr>
              <a:t>Viện của anh chị sẽ tự đo được đúng các chỉ số này ngay trong giai đoạn thí điểm</a:t>
            </a:r>
            <a:endParaRPr lang="en-US" sz="1600" b="0" u="none" strike="noStrike">
              <a:solidFill>
                <a:srgbClr val="FFFFFF"/>
              </a:solidFill>
              <a:effectLst/>
              <a:uFillTx/>
              <a:latin typeface="Arial"/>
            </a:endParaRPr>
          </a:p>
        </p:txBody>
      </p:sp>
      <p:sp>
        <p:nvSpPr>
          <p:cNvPr id="154" name="Text 28"/>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05 / 21</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55"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QUY RA TIỀN</a:t>
            </a:r>
            <a:endParaRPr lang="en-US" sz="1200" b="0" u="none" strike="noStrike">
              <a:solidFill>
                <a:srgbClr val="FFFFFF"/>
              </a:solidFill>
              <a:effectLst/>
              <a:uFillTx/>
              <a:latin typeface="Arial"/>
            </a:endParaRPr>
          </a:p>
        </p:txBody>
      </p:sp>
      <p:sp>
        <p:nvSpPr>
          <p:cNvPr id="156"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Viện mình đang có bao nhiêu tiền chịu rủi ro mỗi tháng?</a:t>
            </a:r>
            <a:endParaRPr lang="en-US" sz="2800" b="0" u="none" strike="noStrike">
              <a:solidFill>
                <a:srgbClr val="FFFFFF"/>
              </a:solidFill>
              <a:effectLst/>
              <a:uFillTx/>
              <a:latin typeface="Arial"/>
            </a:endParaRPr>
          </a:p>
        </p:txBody>
      </p:sp>
      <p:sp>
        <p:nvSpPr>
          <p:cNvPr id="157" name="Text 2"/>
          <p:cNvSpPr/>
          <p:nvPr/>
        </p:nvSpPr>
        <p:spPr>
          <a:xfrm>
            <a:off x="640080" y="1298520"/>
            <a:ext cx="10911240" cy="328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A9BCD6"/>
                </a:solidFill>
                <a:effectLst/>
                <a:uFillTx/>
                <a:latin typeface="Arial"/>
                <a:ea typeface="Arial"/>
              </a:rPr>
              <a:t>Ba con số đầu vào phòng KHTH và Phòng BHYT của viện đều có sẵn.</a:t>
            </a:r>
            <a:endParaRPr lang="en-US" sz="1500" b="0" u="none" strike="noStrike">
              <a:solidFill>
                <a:srgbClr val="FFFFFF"/>
              </a:solidFill>
              <a:effectLst/>
              <a:uFillTx/>
              <a:latin typeface="Arial"/>
            </a:endParaRPr>
          </a:p>
        </p:txBody>
      </p:sp>
      <p:sp>
        <p:nvSpPr>
          <p:cNvPr id="158" name="Shape 3"/>
          <p:cNvSpPr/>
          <p:nvPr/>
        </p:nvSpPr>
        <p:spPr>
          <a:xfrm>
            <a:off x="640080" y="1920240"/>
            <a:ext cx="2350440" cy="1691280"/>
          </a:xfrm>
          <a:prstGeom prst="roundRect">
            <a:avLst>
              <a:gd name="adj" fmla="val 5405"/>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9" name="Text 4"/>
          <p:cNvSpPr/>
          <p:nvPr/>
        </p:nvSpPr>
        <p:spPr>
          <a:xfrm>
            <a:off x="640080" y="2030040"/>
            <a:ext cx="23504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000000"/>
                </a:solidFill>
                <a:effectLst/>
                <a:uFillTx/>
                <a:latin typeface="Segoe UI Emoji"/>
                <a:ea typeface="Segoe UI Emoji"/>
              </a:rPr>
              <a:t>📄</a:t>
            </a:r>
            <a:endParaRPr lang="en-US" sz="2000" b="0" u="none" strike="noStrike">
              <a:solidFill>
                <a:srgbClr val="FFFFFF"/>
              </a:solidFill>
              <a:effectLst/>
              <a:uFillTx/>
              <a:latin typeface="Arial"/>
            </a:endParaRPr>
          </a:p>
        </p:txBody>
      </p:sp>
      <p:sp>
        <p:nvSpPr>
          <p:cNvPr id="160" name="Text 5"/>
          <p:cNvSpPr/>
          <p:nvPr/>
        </p:nvSpPr>
        <p:spPr>
          <a:xfrm>
            <a:off x="731520" y="2487240"/>
            <a:ext cx="2167560" cy="56664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600" b="1" u="none" strike="noStrike">
                <a:solidFill>
                  <a:srgbClr val="FFFFFF"/>
                </a:solidFill>
                <a:effectLst/>
                <a:uFillTx/>
                <a:latin typeface="Arial"/>
                <a:ea typeface="Arial"/>
              </a:rPr>
              <a:t>Số hồ sơ BHYT</a:t>
            </a:r>
            <a:endParaRPr lang="en-US" sz="1600" b="0" u="none" strike="noStrike">
              <a:solidFill>
                <a:srgbClr val="FFFFFF"/>
              </a:solidFill>
              <a:effectLst/>
              <a:uFillTx/>
              <a:latin typeface="Arial"/>
            </a:endParaRPr>
          </a:p>
          <a:p>
            <a:pPr algn="ctr" defTabSz="914400">
              <a:lnSpc>
                <a:spcPts val="1800"/>
              </a:lnSpc>
              <a:tabLst>
                <a:tab pos="0" algn="l"/>
              </a:tabLst>
            </a:pPr>
            <a:r>
              <a:rPr lang="en-US" sz="1250" b="0" u="none" strike="noStrike">
                <a:solidFill>
                  <a:srgbClr val="A9BCD6"/>
                </a:solidFill>
                <a:effectLst/>
                <a:uFillTx/>
                <a:latin typeface="Arial"/>
                <a:ea typeface="Arial"/>
              </a:rPr>
              <a:t>mỗi tháng</a:t>
            </a:r>
            <a:endParaRPr lang="en-US" sz="1250" b="0" u="none" strike="noStrike">
              <a:solidFill>
                <a:srgbClr val="FFFFFF"/>
              </a:solidFill>
              <a:effectLst/>
              <a:uFillTx/>
              <a:latin typeface="Arial"/>
            </a:endParaRPr>
          </a:p>
        </p:txBody>
      </p:sp>
      <p:sp>
        <p:nvSpPr>
          <p:cNvPr id="161" name="Text 6"/>
          <p:cNvSpPr/>
          <p:nvPr/>
        </p:nvSpPr>
        <p:spPr>
          <a:xfrm>
            <a:off x="640080" y="3063240"/>
            <a:ext cx="2350440" cy="438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38BDF8"/>
                </a:solidFill>
                <a:effectLst/>
                <a:uFillTx/>
                <a:latin typeface="Arial"/>
                <a:ea typeface="Arial"/>
              </a:rPr>
              <a:t>………</a:t>
            </a:r>
            <a:endParaRPr lang="en-US" sz="2000" b="0" u="none" strike="noStrike">
              <a:solidFill>
                <a:srgbClr val="FFFFFF"/>
              </a:solidFill>
              <a:effectLst/>
              <a:uFillTx/>
              <a:latin typeface="Arial"/>
            </a:endParaRPr>
          </a:p>
        </p:txBody>
      </p:sp>
      <p:sp>
        <p:nvSpPr>
          <p:cNvPr id="162" name="Text 7"/>
          <p:cNvSpPr/>
          <p:nvPr/>
        </p:nvSpPr>
        <p:spPr>
          <a:xfrm>
            <a:off x="2990880" y="2491920"/>
            <a:ext cx="50256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600" b="1" u="none" strike="noStrike">
                <a:solidFill>
                  <a:srgbClr val="C9D6E8"/>
                </a:solidFill>
                <a:effectLst/>
                <a:uFillTx/>
                <a:latin typeface="Arial"/>
                <a:ea typeface="Arial"/>
              </a:rPr>
              <a:t>×</a:t>
            </a:r>
            <a:endParaRPr lang="en-US" sz="2600" b="0" u="none" strike="noStrike">
              <a:solidFill>
                <a:srgbClr val="FFFFFF"/>
              </a:solidFill>
              <a:effectLst/>
              <a:uFillTx/>
              <a:latin typeface="Arial"/>
            </a:endParaRPr>
          </a:p>
        </p:txBody>
      </p:sp>
      <p:sp>
        <p:nvSpPr>
          <p:cNvPr id="163" name="Shape 8"/>
          <p:cNvSpPr/>
          <p:nvPr/>
        </p:nvSpPr>
        <p:spPr>
          <a:xfrm>
            <a:off x="3493800" y="1920240"/>
            <a:ext cx="2350440" cy="1691280"/>
          </a:xfrm>
          <a:prstGeom prst="roundRect">
            <a:avLst>
              <a:gd name="adj" fmla="val 5405"/>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4" name="Text 9"/>
          <p:cNvSpPr/>
          <p:nvPr/>
        </p:nvSpPr>
        <p:spPr>
          <a:xfrm>
            <a:off x="3493800" y="2030040"/>
            <a:ext cx="23504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000000"/>
                </a:solidFill>
                <a:effectLst/>
                <a:uFillTx/>
                <a:latin typeface="Segoe UI Emoji"/>
                <a:ea typeface="Segoe UI Emoji"/>
              </a:rPr>
              <a:t>⚠️</a:t>
            </a:r>
            <a:endParaRPr lang="en-US" sz="2000" b="0" u="none" strike="noStrike">
              <a:solidFill>
                <a:srgbClr val="FFFFFF"/>
              </a:solidFill>
              <a:effectLst/>
              <a:uFillTx/>
              <a:latin typeface="Arial"/>
            </a:endParaRPr>
          </a:p>
        </p:txBody>
      </p:sp>
      <p:sp>
        <p:nvSpPr>
          <p:cNvPr id="165" name="Text 10"/>
          <p:cNvSpPr/>
          <p:nvPr/>
        </p:nvSpPr>
        <p:spPr>
          <a:xfrm>
            <a:off x="3585240" y="2487240"/>
            <a:ext cx="2167560" cy="56664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600" b="1" u="none" strike="noStrike">
                <a:solidFill>
                  <a:srgbClr val="FFFFFF"/>
                </a:solidFill>
                <a:effectLst/>
                <a:uFillTx/>
                <a:latin typeface="Arial"/>
                <a:ea typeface="Arial"/>
              </a:rPr>
              <a:t>Tỷ lệ hồ sơ</a:t>
            </a:r>
            <a:endParaRPr lang="en-US" sz="1600" b="0" u="none" strike="noStrike">
              <a:solidFill>
                <a:srgbClr val="FFFFFF"/>
              </a:solidFill>
              <a:effectLst/>
              <a:uFillTx/>
              <a:latin typeface="Arial"/>
            </a:endParaRPr>
          </a:p>
          <a:p>
            <a:pPr algn="ctr" defTabSz="914400">
              <a:lnSpc>
                <a:spcPts val="1800"/>
              </a:lnSpc>
              <a:tabLst>
                <a:tab pos="0" algn="l"/>
              </a:tabLst>
            </a:pPr>
            <a:r>
              <a:rPr lang="en-US" sz="1250" b="0" u="none" strike="noStrike">
                <a:solidFill>
                  <a:srgbClr val="A9BCD6"/>
                </a:solidFill>
                <a:effectLst/>
                <a:uFillTx/>
                <a:latin typeface="Arial"/>
                <a:ea typeface="Arial"/>
              </a:rPr>
              <a:t>bị cổng trả lỗi</a:t>
            </a:r>
            <a:endParaRPr lang="en-US" sz="1250" b="0" u="none" strike="noStrike">
              <a:solidFill>
                <a:srgbClr val="FFFFFF"/>
              </a:solidFill>
              <a:effectLst/>
              <a:uFillTx/>
              <a:latin typeface="Arial"/>
            </a:endParaRPr>
          </a:p>
        </p:txBody>
      </p:sp>
      <p:sp>
        <p:nvSpPr>
          <p:cNvPr id="166" name="Text 11"/>
          <p:cNvSpPr/>
          <p:nvPr/>
        </p:nvSpPr>
        <p:spPr>
          <a:xfrm>
            <a:off x="3493800" y="3063240"/>
            <a:ext cx="2350440" cy="438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38BDF8"/>
                </a:solidFill>
                <a:effectLst/>
                <a:uFillTx/>
                <a:latin typeface="Arial"/>
                <a:ea typeface="Arial"/>
              </a:rPr>
              <a:t>………</a:t>
            </a:r>
            <a:endParaRPr lang="en-US" sz="2000" b="0" u="none" strike="noStrike">
              <a:solidFill>
                <a:srgbClr val="FFFFFF"/>
              </a:solidFill>
              <a:effectLst/>
              <a:uFillTx/>
              <a:latin typeface="Arial"/>
            </a:endParaRPr>
          </a:p>
        </p:txBody>
      </p:sp>
      <p:sp>
        <p:nvSpPr>
          <p:cNvPr id="167" name="Text 12"/>
          <p:cNvSpPr/>
          <p:nvPr/>
        </p:nvSpPr>
        <p:spPr>
          <a:xfrm>
            <a:off x="5844240" y="2491920"/>
            <a:ext cx="50256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600" b="1" u="none" strike="noStrike">
                <a:solidFill>
                  <a:srgbClr val="C9D6E8"/>
                </a:solidFill>
                <a:effectLst/>
                <a:uFillTx/>
                <a:latin typeface="Arial"/>
                <a:ea typeface="Arial"/>
              </a:rPr>
              <a:t>×</a:t>
            </a:r>
            <a:endParaRPr lang="en-US" sz="2600" b="0" u="none" strike="noStrike">
              <a:solidFill>
                <a:srgbClr val="FFFFFF"/>
              </a:solidFill>
              <a:effectLst/>
              <a:uFillTx/>
              <a:latin typeface="Arial"/>
            </a:endParaRPr>
          </a:p>
        </p:txBody>
      </p:sp>
      <p:sp>
        <p:nvSpPr>
          <p:cNvPr id="168" name="Shape 13"/>
          <p:cNvSpPr/>
          <p:nvPr/>
        </p:nvSpPr>
        <p:spPr>
          <a:xfrm>
            <a:off x="6347160" y="1920240"/>
            <a:ext cx="2350440" cy="1691280"/>
          </a:xfrm>
          <a:prstGeom prst="roundRect">
            <a:avLst>
              <a:gd name="adj" fmla="val 5405"/>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9" name="Text 14"/>
          <p:cNvSpPr/>
          <p:nvPr/>
        </p:nvSpPr>
        <p:spPr>
          <a:xfrm>
            <a:off x="6347160" y="2030040"/>
            <a:ext cx="23504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000000"/>
                </a:solidFill>
                <a:effectLst/>
                <a:uFillTx/>
                <a:latin typeface="Segoe UI Emoji"/>
                <a:ea typeface="Segoe UI Emoji"/>
              </a:rPr>
              <a:t>💰</a:t>
            </a:r>
            <a:endParaRPr lang="en-US" sz="2000" b="0" u="none" strike="noStrike">
              <a:solidFill>
                <a:srgbClr val="FFFFFF"/>
              </a:solidFill>
              <a:effectLst/>
              <a:uFillTx/>
              <a:latin typeface="Arial"/>
            </a:endParaRPr>
          </a:p>
        </p:txBody>
      </p:sp>
      <p:sp>
        <p:nvSpPr>
          <p:cNvPr id="170" name="Text 15"/>
          <p:cNvSpPr/>
          <p:nvPr/>
        </p:nvSpPr>
        <p:spPr>
          <a:xfrm>
            <a:off x="6438600" y="2487240"/>
            <a:ext cx="2167560" cy="56664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600" b="1" u="none" strike="noStrike">
                <a:solidFill>
                  <a:srgbClr val="FFFFFF"/>
                </a:solidFill>
                <a:effectLst/>
                <a:uFillTx/>
                <a:latin typeface="Arial"/>
                <a:ea typeface="Arial"/>
              </a:rPr>
              <a:t>Chi phí BHYT</a:t>
            </a:r>
            <a:endParaRPr lang="en-US" sz="1600" b="0" u="none" strike="noStrike">
              <a:solidFill>
                <a:srgbClr val="FFFFFF"/>
              </a:solidFill>
              <a:effectLst/>
              <a:uFillTx/>
              <a:latin typeface="Arial"/>
            </a:endParaRPr>
          </a:p>
          <a:p>
            <a:pPr algn="ctr" defTabSz="914400">
              <a:lnSpc>
                <a:spcPts val="1800"/>
              </a:lnSpc>
              <a:tabLst>
                <a:tab pos="0" algn="l"/>
              </a:tabLst>
            </a:pPr>
            <a:r>
              <a:rPr lang="en-US" sz="1250" b="0" u="none" strike="noStrike">
                <a:solidFill>
                  <a:srgbClr val="A9BCD6"/>
                </a:solidFill>
                <a:effectLst/>
                <a:uFillTx/>
                <a:latin typeface="Arial"/>
                <a:ea typeface="Arial"/>
              </a:rPr>
              <a:t>trung bình mỗi hồ sơ</a:t>
            </a:r>
            <a:endParaRPr lang="en-US" sz="1250" b="0" u="none" strike="noStrike">
              <a:solidFill>
                <a:srgbClr val="FFFFFF"/>
              </a:solidFill>
              <a:effectLst/>
              <a:uFillTx/>
              <a:latin typeface="Arial"/>
            </a:endParaRPr>
          </a:p>
        </p:txBody>
      </p:sp>
      <p:sp>
        <p:nvSpPr>
          <p:cNvPr id="171" name="Text 16"/>
          <p:cNvSpPr/>
          <p:nvPr/>
        </p:nvSpPr>
        <p:spPr>
          <a:xfrm>
            <a:off x="6347160" y="3063240"/>
            <a:ext cx="2350440" cy="438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38BDF8"/>
                </a:solidFill>
                <a:effectLst/>
                <a:uFillTx/>
                <a:latin typeface="Arial"/>
                <a:ea typeface="Arial"/>
              </a:rPr>
              <a:t>……</a:t>
            </a:r>
            <a:r>
              <a:rPr lang="en-US" sz="2000" b="1" u="none" strike="noStrike">
                <a:solidFill>
                  <a:srgbClr val="38BDF8"/>
                </a:solidFill>
                <a:effectLst/>
                <a:uFillTx/>
                <a:latin typeface="Arial"/>
                <a:ea typeface="Arial"/>
              </a:rPr>
              <a:t>…</a:t>
            </a:r>
            <a:endParaRPr lang="en-US" sz="2000" b="0" u="none" strike="noStrike">
              <a:solidFill>
                <a:srgbClr val="FFFFFF"/>
              </a:solidFill>
              <a:effectLst/>
              <a:uFillTx/>
              <a:latin typeface="Arial"/>
            </a:endParaRPr>
          </a:p>
        </p:txBody>
      </p:sp>
      <p:sp>
        <p:nvSpPr>
          <p:cNvPr id="172" name="Text 17"/>
          <p:cNvSpPr/>
          <p:nvPr/>
        </p:nvSpPr>
        <p:spPr>
          <a:xfrm>
            <a:off x="8697960" y="2491920"/>
            <a:ext cx="50256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600" b="1" u="none" strike="noStrike">
                <a:solidFill>
                  <a:srgbClr val="C9D6E8"/>
                </a:solidFill>
                <a:effectLst/>
                <a:uFillTx/>
                <a:latin typeface="Arial"/>
                <a:ea typeface="Arial"/>
              </a:rPr>
              <a:t>=</a:t>
            </a:r>
            <a:endParaRPr lang="en-US" sz="2600" b="0" u="none" strike="noStrike">
              <a:solidFill>
                <a:srgbClr val="FFFFFF"/>
              </a:solidFill>
              <a:effectLst/>
              <a:uFillTx/>
              <a:latin typeface="Arial"/>
            </a:endParaRPr>
          </a:p>
        </p:txBody>
      </p:sp>
      <p:sp>
        <p:nvSpPr>
          <p:cNvPr id="173" name="Shape 18"/>
          <p:cNvSpPr/>
          <p:nvPr/>
        </p:nvSpPr>
        <p:spPr>
          <a:xfrm>
            <a:off x="9200880" y="1920240"/>
            <a:ext cx="2350440" cy="1691280"/>
          </a:xfrm>
          <a:prstGeom prst="roundRect">
            <a:avLst>
              <a:gd name="adj" fmla="val 5405"/>
            </a:avLst>
          </a:prstGeom>
          <a:solidFill>
            <a:srgbClr val="25324A">
              <a:alpha val="85000"/>
            </a:srgbClr>
          </a:solidFill>
          <a:ln w="19050">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4" name="Text 19"/>
          <p:cNvSpPr/>
          <p:nvPr/>
        </p:nvSpPr>
        <p:spPr>
          <a:xfrm>
            <a:off x="9200880" y="2030040"/>
            <a:ext cx="23504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000000"/>
                </a:solidFill>
                <a:effectLst/>
                <a:uFillTx/>
                <a:latin typeface="Segoe UI Emoji"/>
                <a:ea typeface="Segoe UI Emoji"/>
              </a:rPr>
              <a:t>🎯</a:t>
            </a:r>
            <a:endParaRPr lang="en-US" sz="2000" b="0" u="none" strike="noStrike">
              <a:solidFill>
                <a:srgbClr val="FFFFFF"/>
              </a:solidFill>
              <a:effectLst/>
              <a:uFillTx/>
              <a:latin typeface="Arial"/>
            </a:endParaRPr>
          </a:p>
        </p:txBody>
      </p:sp>
      <p:sp>
        <p:nvSpPr>
          <p:cNvPr id="175" name="Text 20"/>
          <p:cNvSpPr/>
          <p:nvPr/>
        </p:nvSpPr>
        <p:spPr>
          <a:xfrm>
            <a:off x="9292320" y="2487240"/>
            <a:ext cx="2167560" cy="566640"/>
          </a:xfrm>
          <a:prstGeom prst="rect">
            <a:avLst/>
          </a:prstGeom>
          <a:noFill/>
          <a:ln w="0">
            <a:noFill/>
          </a:ln>
        </p:spPr>
        <p:style>
          <a:lnRef idx="0"/>
          <a:fillRef idx="0"/>
          <a:effectRef idx="0"/>
          <a:fontRef idx="minor"/>
        </p:style>
        <p:txBody>
          <a:bodyPr lIns="0" tIns="0" rIns="0" bIns="0" anchor="t">
            <a:noAutofit/>
          </a:bodyPr>
          <a:p>
            <a:pPr algn="ctr" defTabSz="914400">
              <a:lnSpc>
                <a:spcPts val="1800"/>
              </a:lnSpc>
              <a:tabLst>
                <a:tab pos="0" algn="l"/>
              </a:tabLst>
            </a:pPr>
            <a:r>
              <a:rPr lang="en-US" sz="1600" b="1" u="none" strike="noStrike">
                <a:solidFill>
                  <a:srgbClr val="FFFFFF"/>
                </a:solidFill>
                <a:effectLst/>
                <a:uFillTx/>
                <a:latin typeface="Arial"/>
                <a:ea typeface="Arial"/>
              </a:rPr>
              <a:t>Tiền chịu rủi ro</a:t>
            </a:r>
            <a:endParaRPr lang="en-US" sz="1600" b="0" u="none" strike="noStrike">
              <a:solidFill>
                <a:srgbClr val="FFFFFF"/>
              </a:solidFill>
              <a:effectLst/>
              <a:uFillTx/>
              <a:latin typeface="Arial"/>
            </a:endParaRPr>
          </a:p>
          <a:p>
            <a:pPr algn="ctr" defTabSz="914400">
              <a:lnSpc>
                <a:spcPts val="1800"/>
              </a:lnSpc>
              <a:tabLst>
                <a:tab pos="0" algn="l"/>
              </a:tabLst>
            </a:pPr>
            <a:r>
              <a:rPr lang="en-US" sz="1250" b="0" u="none" strike="noStrike">
                <a:solidFill>
                  <a:srgbClr val="A9BCD6"/>
                </a:solidFill>
                <a:effectLst/>
                <a:uFillTx/>
                <a:latin typeface="Arial"/>
                <a:ea typeface="Arial"/>
              </a:rPr>
              <a:t>mỗi tháng</a:t>
            </a:r>
            <a:endParaRPr lang="en-US" sz="1250" b="0" u="none" strike="noStrike">
              <a:solidFill>
                <a:srgbClr val="FFFFFF"/>
              </a:solidFill>
              <a:effectLst/>
              <a:uFillTx/>
              <a:latin typeface="Arial"/>
            </a:endParaRPr>
          </a:p>
        </p:txBody>
      </p:sp>
      <p:sp>
        <p:nvSpPr>
          <p:cNvPr id="176" name="Text 21"/>
          <p:cNvSpPr/>
          <p:nvPr/>
        </p:nvSpPr>
        <p:spPr>
          <a:xfrm>
            <a:off x="9200880" y="3063240"/>
            <a:ext cx="2350440" cy="438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FBBF24"/>
                </a:solidFill>
                <a:effectLst/>
                <a:uFillTx/>
                <a:latin typeface="Arial"/>
                <a:ea typeface="Arial"/>
              </a:rPr>
              <a:t>………</a:t>
            </a:r>
            <a:endParaRPr lang="en-US" sz="2000" b="0" u="none" strike="noStrike">
              <a:solidFill>
                <a:srgbClr val="FFFFFF"/>
              </a:solidFill>
              <a:effectLst/>
              <a:uFillTx/>
              <a:latin typeface="Arial"/>
            </a:endParaRPr>
          </a:p>
        </p:txBody>
      </p:sp>
      <p:sp>
        <p:nvSpPr>
          <p:cNvPr id="177" name="Shape 22"/>
          <p:cNvSpPr/>
          <p:nvPr/>
        </p:nvSpPr>
        <p:spPr>
          <a:xfrm>
            <a:off x="640080" y="3840480"/>
            <a:ext cx="10911240" cy="566640"/>
          </a:xfrm>
          <a:prstGeom prst="roundRect">
            <a:avLst>
              <a:gd name="adj" fmla="val 12903"/>
            </a:avLst>
          </a:prstGeom>
          <a:solidFill>
            <a:srgbClr val="FFFFFF">
              <a:alpha val="6000"/>
            </a:srgbClr>
          </a:solidFill>
          <a:ln w="9525">
            <a:solidFill>
              <a:srgbClr val="4A6890"/>
            </a:solidFill>
            <a:prstDash val="dash"/>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8" name="Text 23"/>
          <p:cNvSpPr/>
          <p:nvPr/>
        </p:nvSpPr>
        <p:spPr>
          <a:xfrm>
            <a:off x="640080" y="3840480"/>
            <a:ext cx="10911240" cy="5666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pc="99" strike="noStrike">
                <a:solidFill>
                  <a:srgbClr val="7F93B0"/>
                </a:solidFill>
                <a:effectLst/>
                <a:uFillTx/>
                <a:latin typeface="Arial"/>
                <a:ea typeface="Arial"/>
              </a:rPr>
              <a:t>VÍ DỤ GIẢ ĐỊNH   </a:t>
            </a:r>
            <a:r>
              <a:rPr lang="en-US" sz="1600" b="1" u="none" strike="noStrike">
                <a:solidFill>
                  <a:srgbClr val="FFFFFF"/>
                </a:solidFill>
                <a:effectLst/>
                <a:uFillTx/>
                <a:latin typeface="Arial"/>
                <a:ea typeface="Arial"/>
              </a:rPr>
              <a:t>20.000 hồ sơ  ×  5%  ×  1.500.000 đ  =  1,5 tỷ đồng mỗi tháng</a:t>
            </a:r>
            <a:r>
              <a:rPr lang="en-US" sz="1200" b="0" i="1" u="none" strike="noStrike">
                <a:solidFill>
                  <a:srgbClr val="7F93B0"/>
                </a:solidFill>
                <a:effectLst/>
                <a:uFillTx/>
                <a:latin typeface="Arial"/>
                <a:ea typeface="Arial"/>
              </a:rPr>
              <a:t>   — không phải số liệu của bệnh viện nào</a:t>
            </a:r>
            <a:endParaRPr lang="en-US" sz="1200" b="0" u="none" strike="noStrike">
              <a:solidFill>
                <a:srgbClr val="FFFFFF"/>
              </a:solidFill>
              <a:effectLst/>
              <a:uFillTx/>
              <a:latin typeface="Arial"/>
            </a:endParaRPr>
          </a:p>
        </p:txBody>
      </p:sp>
      <p:sp>
        <p:nvSpPr>
          <p:cNvPr id="179" name="Shape 24"/>
          <p:cNvSpPr/>
          <p:nvPr/>
        </p:nvSpPr>
        <p:spPr>
          <a:xfrm>
            <a:off x="640080" y="4617720"/>
            <a:ext cx="5318280" cy="868320"/>
          </a:xfrm>
          <a:prstGeom prst="roundRect">
            <a:avLst>
              <a:gd name="adj" fmla="val 10526"/>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0" name="Text 25"/>
          <p:cNvSpPr/>
          <p:nvPr/>
        </p:nvSpPr>
        <p:spPr>
          <a:xfrm>
            <a:off x="914400" y="4617720"/>
            <a:ext cx="4769640" cy="868320"/>
          </a:xfrm>
          <a:prstGeom prst="rect">
            <a:avLst/>
          </a:prstGeom>
          <a:noFill/>
          <a:ln w="0">
            <a:noFill/>
          </a:ln>
        </p:spPr>
        <p:style>
          <a:lnRef idx="0"/>
          <a:fillRef idx="0"/>
          <a:effectRef idx="0"/>
          <a:fontRef idx="minor"/>
        </p:style>
        <p:txBody>
          <a:bodyPr lIns="0" tIns="0" rIns="0" bIns="0" anchor="ctr">
            <a:noAutofit/>
          </a:bodyPr>
          <a:p>
            <a:pPr defTabSz="914400">
              <a:lnSpc>
                <a:spcPts val="1800"/>
              </a:lnSpc>
              <a:tabLst>
                <a:tab pos="0" algn="l"/>
              </a:tabLst>
            </a:pPr>
            <a:r>
              <a:rPr lang="en-US" sz="1500" b="1" u="none" strike="noStrike">
                <a:solidFill>
                  <a:srgbClr val="FBBF24"/>
                </a:solidFill>
                <a:effectLst/>
                <a:uFillTx/>
                <a:latin typeface="Arial"/>
                <a:ea typeface="Arial"/>
              </a:rPr>
              <a:t>Tiền bị treo</a:t>
            </a:r>
            <a:endParaRPr lang="en-US" sz="1500" b="0" u="none" strike="noStrike">
              <a:solidFill>
                <a:srgbClr val="FFFFFF"/>
              </a:solidFill>
              <a:effectLst/>
              <a:uFillTx/>
              <a:latin typeface="Arial"/>
            </a:endParaRPr>
          </a:p>
          <a:p>
            <a:pPr defTabSz="914400">
              <a:lnSpc>
                <a:spcPts val="1800"/>
              </a:lnSpc>
              <a:tabLst>
                <a:tab pos="0" algn="l"/>
              </a:tabLst>
            </a:pPr>
            <a:r>
              <a:rPr lang="en-US" sz="1300" b="0" u="none" strike="noStrike">
                <a:solidFill>
                  <a:srgbClr val="A9BCD6"/>
                </a:solidFill>
                <a:effectLst/>
                <a:uFillTx/>
                <a:latin typeface="Arial"/>
                <a:ea typeface="Arial"/>
              </a:rPr>
              <a:t>Hồ sơ lỗi chưa gửi được: chậm thanh toán, ảnh hưởng dòng tiền của viện.</a:t>
            </a:r>
            <a:endParaRPr lang="en-US" sz="1300" b="0" u="none" strike="noStrike">
              <a:solidFill>
                <a:srgbClr val="FFFFFF"/>
              </a:solidFill>
              <a:effectLst/>
              <a:uFillTx/>
              <a:latin typeface="Arial"/>
            </a:endParaRPr>
          </a:p>
        </p:txBody>
      </p:sp>
      <p:sp>
        <p:nvSpPr>
          <p:cNvPr id="181" name="Shape 26"/>
          <p:cNvSpPr/>
          <p:nvPr/>
        </p:nvSpPr>
        <p:spPr>
          <a:xfrm>
            <a:off x="6233040" y="4617720"/>
            <a:ext cx="5318280" cy="868320"/>
          </a:xfrm>
          <a:prstGeom prst="roundRect">
            <a:avLst>
              <a:gd name="adj" fmla="val 10526"/>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2" name="Text 27"/>
          <p:cNvSpPr/>
          <p:nvPr/>
        </p:nvSpPr>
        <p:spPr>
          <a:xfrm>
            <a:off x="6507360" y="4617720"/>
            <a:ext cx="4769640" cy="868320"/>
          </a:xfrm>
          <a:prstGeom prst="rect">
            <a:avLst/>
          </a:prstGeom>
          <a:noFill/>
          <a:ln w="0">
            <a:noFill/>
          </a:ln>
        </p:spPr>
        <p:style>
          <a:lnRef idx="0"/>
          <a:fillRef idx="0"/>
          <a:effectRef idx="0"/>
          <a:fontRef idx="minor"/>
        </p:style>
        <p:txBody>
          <a:bodyPr lIns="0" tIns="0" rIns="0" bIns="0" anchor="ctr">
            <a:noAutofit/>
          </a:bodyPr>
          <a:p>
            <a:pPr defTabSz="914400">
              <a:lnSpc>
                <a:spcPts val="1800"/>
              </a:lnSpc>
              <a:tabLst>
                <a:tab pos="0" algn="l"/>
              </a:tabLst>
            </a:pPr>
            <a:r>
              <a:rPr lang="en-US" sz="1500" b="1" u="none" strike="noStrike">
                <a:solidFill>
                  <a:srgbClr val="F87171"/>
                </a:solidFill>
                <a:effectLst/>
                <a:uFillTx/>
                <a:latin typeface="Arial"/>
                <a:ea typeface="Arial"/>
              </a:rPr>
              <a:t>Tiền bị mất</a:t>
            </a:r>
            <a:endParaRPr lang="en-US" sz="1500" b="0" u="none" strike="noStrike">
              <a:solidFill>
                <a:srgbClr val="FFFFFF"/>
              </a:solidFill>
              <a:effectLst/>
              <a:uFillTx/>
              <a:latin typeface="Arial"/>
            </a:endParaRPr>
          </a:p>
          <a:p>
            <a:pPr defTabSz="914400">
              <a:lnSpc>
                <a:spcPts val="1800"/>
              </a:lnSpc>
              <a:tabLst>
                <a:tab pos="0" algn="l"/>
              </a:tabLst>
            </a:pPr>
            <a:r>
              <a:rPr lang="en-US" sz="1300" b="0" u="none" strike="noStrike">
                <a:solidFill>
                  <a:srgbClr val="A9BCD6"/>
                </a:solidFill>
                <a:effectLst/>
                <a:uFillTx/>
                <a:latin typeface="Arial"/>
                <a:ea typeface="Arial"/>
              </a:rPr>
              <a:t>Chi phí bị xuất toán sau </a:t>
            </a:r>
            <a:r>
              <a:rPr lang="en-US" sz="1300" b="0" u="none" strike="noStrike">
                <a:solidFill>
                  <a:srgbClr val="A9BCD6"/>
                </a:solidFill>
                <a:effectLst/>
                <a:uFillTx/>
                <a:latin typeface="Arial"/>
                <a:ea typeface="Arial"/>
              </a:rPr>
              <a:t>giám định — phần không </a:t>
            </a:r>
            <a:r>
              <a:rPr lang="en-US" sz="1300" b="0" u="none" strike="noStrike">
                <a:solidFill>
                  <a:srgbClr val="A9BCD6"/>
                </a:solidFill>
                <a:effectLst/>
                <a:uFillTx/>
                <a:latin typeface="Arial"/>
                <a:ea typeface="Arial"/>
              </a:rPr>
              <a:t>lấy lại được.</a:t>
            </a:r>
            <a:endParaRPr lang="en-US" sz="1300" b="0" u="none" strike="noStrike">
              <a:solidFill>
                <a:srgbClr val="FFFFFF"/>
              </a:solidFill>
              <a:effectLst/>
              <a:uFillTx/>
              <a:latin typeface="Arial"/>
            </a:endParaRPr>
          </a:p>
        </p:txBody>
      </p:sp>
      <p:sp>
        <p:nvSpPr>
          <p:cNvPr id="183" name="Text 28"/>
          <p:cNvSpPr/>
          <p:nvPr/>
        </p:nvSpPr>
        <p:spPr>
          <a:xfrm>
            <a:off x="640080" y="5623560"/>
            <a:ext cx="1091124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BBF24"/>
                </a:solidFill>
                <a:effectLst/>
                <a:uFillTx/>
                <a:latin typeface="Arial"/>
                <a:ea typeface="Arial"/>
              </a:rPr>
              <a:t>Tiền giám định kéo phần rủi ro này về lại trong tầm kiểm soát của bệnh viện</a:t>
            </a:r>
            <a:endParaRPr lang="en-US" sz="1600" b="0" u="none" strike="noStrike">
              <a:solidFill>
                <a:srgbClr val="FFFFFF"/>
              </a:solidFill>
              <a:effectLst/>
              <a:uFillTx/>
              <a:latin typeface="Arial"/>
            </a:endParaRPr>
          </a:p>
        </p:txBody>
      </p:sp>
      <p:sp>
        <p:nvSpPr>
          <p:cNvPr id="184" name="Text 29"/>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06 / 21</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85"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CHỨC NĂNG</a:t>
            </a:r>
            <a:endParaRPr lang="en-US" sz="1200" b="0" u="none" strike="noStrike">
              <a:solidFill>
                <a:srgbClr val="FFFFFF"/>
              </a:solidFill>
              <a:effectLst/>
              <a:uFillTx/>
              <a:latin typeface="Arial"/>
            </a:endParaRPr>
          </a:p>
        </p:txBody>
      </p:sp>
      <p:sp>
        <p:nvSpPr>
          <p:cNvPr id="186"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Bảy nhóm chức năng, hai trọng tâm</a:t>
            </a:r>
            <a:endParaRPr lang="en-US" sz="2800" b="0" u="none" strike="noStrike">
              <a:solidFill>
                <a:srgbClr val="FFFFFF"/>
              </a:solidFill>
              <a:effectLst/>
              <a:uFillTx/>
              <a:latin typeface="Arial"/>
            </a:endParaRPr>
          </a:p>
        </p:txBody>
      </p:sp>
      <p:sp>
        <p:nvSpPr>
          <p:cNvPr id="187" name="Shape 2"/>
          <p:cNvSpPr/>
          <p:nvPr/>
        </p:nvSpPr>
        <p:spPr>
          <a:xfrm>
            <a:off x="640080" y="1508760"/>
            <a:ext cx="2556000" cy="2011320"/>
          </a:xfrm>
          <a:prstGeom prst="roundRect">
            <a:avLst>
              <a:gd name="adj" fmla="val 4545"/>
            </a:avLst>
          </a:prstGeom>
          <a:solidFill>
            <a:srgbClr val="25324A">
              <a:alpha val="85000"/>
            </a:srgbClr>
          </a:solidFill>
          <a:ln w="19050">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8" name="Text 3"/>
          <p:cNvSpPr/>
          <p:nvPr/>
        </p:nvSpPr>
        <p:spPr>
          <a:xfrm>
            <a:off x="822960" y="169164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189" name="Text 4"/>
          <p:cNvSpPr/>
          <p:nvPr/>
        </p:nvSpPr>
        <p:spPr>
          <a:xfrm>
            <a:off x="1962000" y="1764720"/>
            <a:ext cx="105120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1" u="none" spc="99" strike="noStrike">
                <a:solidFill>
                  <a:srgbClr val="FBBF24"/>
                </a:solidFill>
                <a:effectLst/>
                <a:uFillTx/>
                <a:latin typeface="Arial"/>
                <a:ea typeface="Arial"/>
              </a:rPr>
              <a:t>TRỌNG TÂM</a:t>
            </a:r>
            <a:endParaRPr lang="en-US" sz="950" b="0" u="none" strike="noStrike">
              <a:solidFill>
                <a:srgbClr val="FFFFFF"/>
              </a:solidFill>
              <a:effectLst/>
              <a:uFillTx/>
              <a:latin typeface="Arial"/>
            </a:endParaRPr>
          </a:p>
        </p:txBody>
      </p:sp>
      <p:sp>
        <p:nvSpPr>
          <p:cNvPr id="190" name="Text 5"/>
          <p:cNvSpPr/>
          <p:nvPr/>
        </p:nvSpPr>
        <p:spPr>
          <a:xfrm>
            <a:off x="841320" y="2286000"/>
            <a:ext cx="215388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Arial"/>
                <a:ea typeface="Arial"/>
              </a:rPr>
              <a:t>Kiểm sai sót y lệnh</a:t>
            </a:r>
            <a:endParaRPr lang="en-US" sz="1600" b="0" u="none" strike="noStrike">
              <a:solidFill>
                <a:srgbClr val="FFFFFF"/>
              </a:solidFill>
              <a:effectLst/>
              <a:uFillTx/>
              <a:latin typeface="Arial"/>
            </a:endParaRPr>
          </a:p>
        </p:txBody>
      </p:sp>
      <p:sp>
        <p:nvSpPr>
          <p:cNvPr id="191" name="Text 6"/>
          <p:cNvSpPr/>
          <p:nvPr/>
        </p:nvSpPr>
        <p:spPr>
          <a:xfrm>
            <a:off x="841320" y="2715840"/>
            <a:ext cx="2153880" cy="73116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Quét HIS liên tục, báo lỗi khoảng 60 giây sau khi ra y lệnh</a:t>
            </a:r>
            <a:endParaRPr lang="en-US" sz="1250" b="0" u="none" strike="noStrike">
              <a:solidFill>
                <a:srgbClr val="FFFFFF"/>
              </a:solidFill>
              <a:effectLst/>
              <a:uFillTx/>
              <a:latin typeface="Arial"/>
            </a:endParaRPr>
          </a:p>
        </p:txBody>
      </p:sp>
      <p:sp>
        <p:nvSpPr>
          <p:cNvPr id="192" name="Shape 7"/>
          <p:cNvSpPr/>
          <p:nvPr/>
        </p:nvSpPr>
        <p:spPr>
          <a:xfrm>
            <a:off x="3425040" y="1508760"/>
            <a:ext cx="2556000" cy="2011320"/>
          </a:xfrm>
          <a:prstGeom prst="roundRect">
            <a:avLst>
              <a:gd name="adj" fmla="val 4545"/>
            </a:avLst>
          </a:prstGeom>
          <a:solidFill>
            <a:srgbClr val="25324A">
              <a:alpha val="85000"/>
            </a:srgbClr>
          </a:solidFill>
          <a:ln w="19050">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3" name="Text 8"/>
          <p:cNvSpPr/>
          <p:nvPr/>
        </p:nvSpPr>
        <p:spPr>
          <a:xfrm>
            <a:off x="3607920" y="169164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194" name="Text 9"/>
          <p:cNvSpPr/>
          <p:nvPr/>
        </p:nvSpPr>
        <p:spPr>
          <a:xfrm>
            <a:off x="4746960" y="1764720"/>
            <a:ext cx="105120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1" u="none" spc="99" strike="noStrike">
                <a:solidFill>
                  <a:srgbClr val="FBBF24"/>
                </a:solidFill>
                <a:effectLst/>
                <a:uFillTx/>
                <a:latin typeface="Arial"/>
                <a:ea typeface="Arial"/>
              </a:rPr>
              <a:t>TRỌNG TÂM</a:t>
            </a:r>
            <a:endParaRPr lang="en-US" sz="950" b="0" u="none" strike="noStrike">
              <a:solidFill>
                <a:srgbClr val="FFFFFF"/>
              </a:solidFill>
              <a:effectLst/>
              <a:uFillTx/>
              <a:latin typeface="Arial"/>
            </a:endParaRPr>
          </a:p>
        </p:txBody>
      </p:sp>
      <p:sp>
        <p:nvSpPr>
          <p:cNvPr id="195" name="Text 10"/>
          <p:cNvSpPr/>
          <p:nvPr/>
        </p:nvSpPr>
        <p:spPr>
          <a:xfrm>
            <a:off x="3626280" y="2286000"/>
            <a:ext cx="215388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Arial"/>
                <a:ea typeface="Arial"/>
              </a:rPr>
              <a:t>Kiểm hồ sơ XML 3176</a:t>
            </a:r>
            <a:endParaRPr lang="en-US" sz="1600" b="0" u="none" strike="noStrike">
              <a:solidFill>
                <a:srgbClr val="FFFFFF"/>
              </a:solidFill>
              <a:effectLst/>
              <a:uFillTx/>
              <a:latin typeface="Arial"/>
            </a:endParaRPr>
          </a:p>
        </p:txBody>
      </p:sp>
      <p:sp>
        <p:nvSpPr>
          <p:cNvPr id="196" name="Text 11"/>
          <p:cNvSpPr/>
          <p:nvPr/>
        </p:nvSpPr>
        <p:spPr>
          <a:xfrm>
            <a:off x="3626280" y="2715840"/>
            <a:ext cx="2153880" cy="73116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Kiểm từng bảng và kiểm chéo; lỗi nghiêm trọng chặn ký số, gửi cổng</a:t>
            </a:r>
            <a:endParaRPr lang="en-US" sz="1250" b="0" u="none" strike="noStrike">
              <a:solidFill>
                <a:srgbClr val="FFFFFF"/>
              </a:solidFill>
              <a:effectLst/>
              <a:uFillTx/>
              <a:latin typeface="Arial"/>
            </a:endParaRPr>
          </a:p>
        </p:txBody>
      </p:sp>
      <p:sp>
        <p:nvSpPr>
          <p:cNvPr id="197" name="Shape 12"/>
          <p:cNvSpPr/>
          <p:nvPr/>
        </p:nvSpPr>
        <p:spPr>
          <a:xfrm>
            <a:off x="6210000" y="1508760"/>
            <a:ext cx="2556000" cy="2011320"/>
          </a:xfrm>
          <a:prstGeom prst="roundRect">
            <a:avLst>
              <a:gd name="adj" fmla="val 4545"/>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8" name="Text 13"/>
          <p:cNvSpPr/>
          <p:nvPr/>
        </p:nvSpPr>
        <p:spPr>
          <a:xfrm>
            <a:off x="6392880" y="169164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199" name="Text 14"/>
          <p:cNvSpPr/>
          <p:nvPr/>
        </p:nvSpPr>
        <p:spPr>
          <a:xfrm>
            <a:off x="6411240" y="2286000"/>
            <a:ext cx="215388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Arial"/>
                <a:ea typeface="Arial"/>
              </a:rPr>
              <a:t>Thẻ BHYT, quyền lợi</a:t>
            </a:r>
            <a:endParaRPr lang="en-US" sz="1600" b="0" u="none" strike="noStrike">
              <a:solidFill>
                <a:srgbClr val="FFFFFF"/>
              </a:solidFill>
              <a:effectLst/>
              <a:uFillTx/>
              <a:latin typeface="Arial"/>
            </a:endParaRPr>
          </a:p>
        </p:txBody>
      </p:sp>
      <p:sp>
        <p:nvSpPr>
          <p:cNvPr id="200" name="Text 15"/>
          <p:cNvSpPr/>
          <p:nvPr/>
        </p:nvSpPr>
        <p:spPr>
          <a:xfrm>
            <a:off x="6411240" y="2715840"/>
            <a:ext cx="2153880" cy="73116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Tra thẻ hàng loạt trên cổng BHXH; tra lũy kế tiền cùng chi trả</a:t>
            </a:r>
            <a:endParaRPr lang="en-US" sz="1250" b="0" u="none" strike="noStrike">
              <a:solidFill>
                <a:srgbClr val="FFFFFF"/>
              </a:solidFill>
              <a:effectLst/>
              <a:uFillTx/>
              <a:latin typeface="Arial"/>
            </a:endParaRPr>
          </a:p>
        </p:txBody>
      </p:sp>
      <p:sp>
        <p:nvSpPr>
          <p:cNvPr id="201" name="Shape 16"/>
          <p:cNvSpPr/>
          <p:nvPr/>
        </p:nvSpPr>
        <p:spPr>
          <a:xfrm>
            <a:off x="8995320" y="1508760"/>
            <a:ext cx="2556000" cy="2011320"/>
          </a:xfrm>
          <a:prstGeom prst="roundRect">
            <a:avLst>
              <a:gd name="adj" fmla="val 4545"/>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02" name="Text 17"/>
          <p:cNvSpPr/>
          <p:nvPr/>
        </p:nvSpPr>
        <p:spPr>
          <a:xfrm>
            <a:off x="9178200" y="169164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203" name="Text 18"/>
          <p:cNvSpPr/>
          <p:nvPr/>
        </p:nvSpPr>
        <p:spPr>
          <a:xfrm>
            <a:off x="9196200" y="2286000"/>
            <a:ext cx="215388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Arial"/>
                <a:ea typeface="Arial"/>
              </a:rPr>
              <a:t>Thuốc, VTYT, DVKT</a:t>
            </a:r>
            <a:endParaRPr lang="en-US" sz="1600" b="0" u="none" strike="noStrike">
              <a:solidFill>
                <a:srgbClr val="FFFFFF"/>
              </a:solidFill>
              <a:effectLst/>
              <a:uFillTx/>
              <a:latin typeface="Arial"/>
            </a:endParaRPr>
          </a:p>
        </p:txBody>
      </p:sp>
      <p:sp>
        <p:nvSpPr>
          <p:cNvPr id="204" name="Text 19"/>
          <p:cNvSpPr/>
          <p:nvPr/>
        </p:nvSpPr>
        <p:spPr>
          <a:xfrm>
            <a:off x="9196200" y="2715840"/>
            <a:ext cx="2153880" cy="73116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Đối chiếu mã và tên với danh mục đã đăng ký</a:t>
            </a:r>
            <a:endParaRPr lang="en-US" sz="1250" b="0" u="none" strike="noStrike">
              <a:solidFill>
                <a:srgbClr val="FFFFFF"/>
              </a:solidFill>
              <a:effectLst/>
              <a:uFillTx/>
              <a:latin typeface="Arial"/>
            </a:endParaRPr>
          </a:p>
        </p:txBody>
      </p:sp>
      <p:sp>
        <p:nvSpPr>
          <p:cNvPr id="205" name="Shape 20"/>
          <p:cNvSpPr/>
          <p:nvPr/>
        </p:nvSpPr>
        <p:spPr>
          <a:xfrm>
            <a:off x="640080" y="3749040"/>
            <a:ext cx="2556000" cy="2011320"/>
          </a:xfrm>
          <a:prstGeom prst="roundRect">
            <a:avLst>
              <a:gd name="adj" fmla="val 4545"/>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06" name="Text 21"/>
          <p:cNvSpPr/>
          <p:nvPr/>
        </p:nvSpPr>
        <p:spPr>
          <a:xfrm>
            <a:off x="822960" y="393192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207" name="Text 22"/>
          <p:cNvSpPr/>
          <p:nvPr/>
        </p:nvSpPr>
        <p:spPr>
          <a:xfrm>
            <a:off x="841320" y="4526280"/>
            <a:ext cx="215388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Arial"/>
                <a:ea typeface="Arial"/>
              </a:rPr>
              <a:t>Danh mục và giá</a:t>
            </a:r>
            <a:endParaRPr lang="en-US" sz="1600" b="0" u="none" strike="noStrike">
              <a:solidFill>
                <a:srgbClr val="FFFFFF"/>
              </a:solidFill>
              <a:effectLst/>
              <a:uFillTx/>
              <a:latin typeface="Arial"/>
            </a:endParaRPr>
          </a:p>
        </p:txBody>
      </p:sp>
      <p:sp>
        <p:nvSpPr>
          <p:cNvPr id="208" name="Text 23"/>
          <p:cNvSpPr/>
          <p:nvPr/>
        </p:nvSpPr>
        <p:spPr>
          <a:xfrm>
            <a:off x="841320" y="4956120"/>
            <a:ext cx="2153880" cy="73116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Quản lý 11 bộ danh mục BHYT, kiểm hiệu lực và giá</a:t>
            </a:r>
            <a:endParaRPr lang="en-US" sz="1250" b="0" u="none" strike="noStrike">
              <a:solidFill>
                <a:srgbClr val="FFFFFF"/>
              </a:solidFill>
              <a:effectLst/>
              <a:uFillTx/>
              <a:latin typeface="Arial"/>
            </a:endParaRPr>
          </a:p>
        </p:txBody>
      </p:sp>
      <p:sp>
        <p:nvSpPr>
          <p:cNvPr id="209" name="Shape 24"/>
          <p:cNvSpPr/>
          <p:nvPr/>
        </p:nvSpPr>
        <p:spPr>
          <a:xfrm>
            <a:off x="3425040" y="3749040"/>
            <a:ext cx="2556000" cy="2011320"/>
          </a:xfrm>
          <a:prstGeom prst="roundRect">
            <a:avLst>
              <a:gd name="adj" fmla="val 4545"/>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10" name="Text 25"/>
          <p:cNvSpPr/>
          <p:nvPr/>
        </p:nvSpPr>
        <p:spPr>
          <a:xfrm>
            <a:off x="3607920" y="393192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211" name="Text 26"/>
          <p:cNvSpPr/>
          <p:nvPr/>
        </p:nvSpPr>
        <p:spPr>
          <a:xfrm>
            <a:off x="3626280" y="4526280"/>
            <a:ext cx="215388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Arial"/>
                <a:ea typeface="Arial"/>
              </a:rPr>
              <a:t>Phản hồi lỗi về khoa</a:t>
            </a:r>
            <a:endParaRPr lang="en-US" sz="1600" b="0" u="none" strike="noStrike">
              <a:solidFill>
                <a:srgbClr val="FFFFFF"/>
              </a:solidFill>
              <a:effectLst/>
              <a:uFillTx/>
              <a:latin typeface="Arial"/>
            </a:endParaRPr>
          </a:p>
        </p:txBody>
      </p:sp>
      <p:sp>
        <p:nvSpPr>
          <p:cNvPr id="212" name="Text 27"/>
          <p:cNvSpPr/>
          <p:nvPr/>
        </p:nvSpPr>
        <p:spPr>
          <a:xfrm>
            <a:off x="3626280" y="4956120"/>
            <a:ext cx="2153880" cy="73116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Quét mã vạch mã điều trị, in phiếu lỗi cho đơn vị phát sinh</a:t>
            </a:r>
            <a:endParaRPr lang="en-US" sz="1250" b="0" u="none" strike="noStrike">
              <a:solidFill>
                <a:srgbClr val="FFFFFF"/>
              </a:solidFill>
              <a:effectLst/>
              <a:uFillTx/>
              <a:latin typeface="Arial"/>
            </a:endParaRPr>
          </a:p>
        </p:txBody>
      </p:sp>
      <p:sp>
        <p:nvSpPr>
          <p:cNvPr id="213" name="Shape 28"/>
          <p:cNvSpPr/>
          <p:nvPr/>
        </p:nvSpPr>
        <p:spPr>
          <a:xfrm>
            <a:off x="6210000" y="3749040"/>
            <a:ext cx="2556000" cy="2011320"/>
          </a:xfrm>
          <a:prstGeom prst="roundRect">
            <a:avLst>
              <a:gd name="adj" fmla="val 4545"/>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14" name="Text 29"/>
          <p:cNvSpPr/>
          <p:nvPr/>
        </p:nvSpPr>
        <p:spPr>
          <a:xfrm>
            <a:off x="6392880" y="393192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215" name="Text 30"/>
          <p:cNvSpPr/>
          <p:nvPr/>
        </p:nvSpPr>
        <p:spPr>
          <a:xfrm>
            <a:off x="6411240" y="4526280"/>
            <a:ext cx="215388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Arial"/>
                <a:ea typeface="Arial"/>
              </a:rPr>
              <a:t>Chỉ số và báo cáo</a:t>
            </a:r>
            <a:endParaRPr lang="en-US" sz="1600" b="0" u="none" strike="noStrike">
              <a:solidFill>
                <a:srgbClr val="FFFFFF"/>
              </a:solidFill>
              <a:effectLst/>
              <a:uFillTx/>
              <a:latin typeface="Arial"/>
            </a:endParaRPr>
          </a:p>
        </p:txBody>
      </p:sp>
      <p:sp>
        <p:nvSpPr>
          <p:cNvPr id="216" name="Text 31"/>
          <p:cNvSpPr/>
          <p:nvPr/>
        </p:nvSpPr>
        <p:spPr>
          <a:xfrm>
            <a:off x="6411240" y="4956120"/>
            <a:ext cx="2153880" cy="73116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Dashboard lỗi XML, chứng từ, độ phủ danh mục</a:t>
            </a:r>
            <a:endParaRPr lang="en-US" sz="1250" b="0" u="none" strike="noStrike">
              <a:solidFill>
                <a:srgbClr val="FFFFFF"/>
              </a:solidFill>
              <a:effectLst/>
              <a:uFillTx/>
              <a:latin typeface="Arial"/>
            </a:endParaRPr>
          </a:p>
        </p:txBody>
      </p:sp>
      <p:sp>
        <p:nvSpPr>
          <p:cNvPr id="217" name="Shape 32"/>
          <p:cNvSpPr/>
          <p:nvPr/>
        </p:nvSpPr>
        <p:spPr>
          <a:xfrm>
            <a:off x="8995320" y="3749040"/>
            <a:ext cx="2556000" cy="2011320"/>
          </a:xfrm>
          <a:prstGeom prst="roundRect">
            <a:avLst>
              <a:gd name="adj" fmla="val 4545"/>
            </a:avLst>
          </a:prstGeom>
          <a:solidFill>
            <a:srgbClr val="1C3558">
              <a:alpha val="45000"/>
            </a:srgbClr>
          </a:solidFill>
          <a:ln w="9525">
            <a:solidFill>
              <a:srgbClr val="2E4B74"/>
            </a:solidFill>
            <a:prstDash val="dash"/>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18" name="Text 33"/>
          <p:cNvSpPr/>
          <p:nvPr/>
        </p:nvSpPr>
        <p:spPr>
          <a:xfrm>
            <a:off x="9178200" y="393192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219" name="Text 34"/>
          <p:cNvSpPr/>
          <p:nvPr/>
        </p:nvSpPr>
        <p:spPr>
          <a:xfrm>
            <a:off x="9196200" y="4526280"/>
            <a:ext cx="215388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Arial"/>
                <a:ea typeface="Arial"/>
              </a:rPr>
              <a:t>Mở rộng</a:t>
            </a:r>
            <a:endParaRPr lang="en-US" sz="1600" b="0" u="none" strike="noStrike">
              <a:solidFill>
                <a:srgbClr val="FFFFFF"/>
              </a:solidFill>
              <a:effectLst/>
              <a:uFillTx/>
              <a:latin typeface="Arial"/>
            </a:endParaRPr>
          </a:p>
        </p:txBody>
      </p:sp>
      <p:sp>
        <p:nvSpPr>
          <p:cNvPr id="220" name="Text 35"/>
          <p:cNvSpPr/>
          <p:nvPr/>
        </p:nvSpPr>
        <p:spPr>
          <a:xfrm>
            <a:off x="9196200" y="4956120"/>
            <a:ext cx="2153880" cy="73116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Chứng từ điện tử Phụ lục 02 · Danh mục theo Thông tư 12/2026</a:t>
            </a:r>
            <a:endParaRPr lang="en-US" sz="1250" b="0" u="none" strike="noStrike">
              <a:solidFill>
                <a:srgbClr val="FFFFFF"/>
              </a:solidFill>
              <a:effectLst/>
              <a:uFillTx/>
              <a:latin typeface="Arial"/>
            </a:endParaRPr>
          </a:p>
        </p:txBody>
      </p:sp>
      <p:sp>
        <p:nvSpPr>
          <p:cNvPr id="221" name="Text 36"/>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07 / 21</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22"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VẬN HÀNH</a:t>
            </a:r>
            <a:endParaRPr lang="en-US" sz="1200" b="0" u="none" strike="noStrike">
              <a:solidFill>
                <a:srgbClr val="FFFFFF"/>
              </a:solidFill>
              <a:effectLst/>
              <a:uFillTx/>
              <a:latin typeface="Arial"/>
            </a:endParaRPr>
          </a:p>
        </p:txBody>
      </p:sp>
      <p:sp>
        <p:nvSpPr>
          <p:cNvPr id="223"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Năm bước, bốn bước máy tự làm</a:t>
            </a:r>
            <a:endParaRPr lang="en-US" sz="2800" b="0" u="none" strike="noStrike">
              <a:solidFill>
                <a:srgbClr val="FFFFFF"/>
              </a:solidFill>
              <a:effectLst/>
              <a:uFillTx/>
              <a:latin typeface="Arial"/>
            </a:endParaRPr>
          </a:p>
        </p:txBody>
      </p:sp>
      <p:sp>
        <p:nvSpPr>
          <p:cNvPr id="224" name="Text 2"/>
          <p:cNvSpPr/>
          <p:nvPr/>
        </p:nvSpPr>
        <p:spPr>
          <a:xfrm>
            <a:off x="640080" y="1298520"/>
            <a:ext cx="10911240" cy="328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A9BCD6"/>
                </a:solidFill>
                <a:effectLst/>
                <a:uFillTx/>
                <a:latin typeface="Arial"/>
                <a:ea typeface="Arial"/>
              </a:rPr>
              <a:t>Người dùng không phải bấm ký hay bấm gửi từng hồ sơ XML 3176 — chỉ tập trung đọc lỗi và phối hợp sửa.</a:t>
            </a:r>
            <a:endParaRPr lang="en-US" sz="1500" b="0" u="none" strike="noStrike">
              <a:solidFill>
                <a:srgbClr val="FFFFFF"/>
              </a:solidFill>
              <a:effectLst/>
              <a:uFillTx/>
              <a:latin typeface="Arial"/>
            </a:endParaRPr>
          </a:p>
        </p:txBody>
      </p:sp>
      <p:sp>
        <p:nvSpPr>
          <p:cNvPr id="225" name="Shape 3"/>
          <p:cNvSpPr/>
          <p:nvPr/>
        </p:nvSpPr>
        <p:spPr>
          <a:xfrm>
            <a:off x="640080" y="2148840"/>
            <a:ext cx="2218680" cy="685440"/>
          </a:xfrm>
          <a:prstGeom prst="homePlate">
            <a:avLst>
              <a:gd name="adj" fmla="val 50000"/>
            </a:avLst>
          </a:prstGeom>
          <a:solidFill>
            <a:srgbClr val="1E4E86"/>
          </a:solidFill>
          <a:ln w="12700">
            <a:solidFill>
              <a:srgbClr val="0B1A3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6" name="Text 4"/>
          <p:cNvSpPr/>
          <p:nvPr/>
        </p:nvSpPr>
        <p:spPr>
          <a:xfrm>
            <a:off x="841320" y="2148840"/>
            <a:ext cx="165168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38BDF8"/>
                </a:solidFill>
                <a:effectLst/>
                <a:uFillTx/>
                <a:latin typeface="Arial"/>
                <a:ea typeface="Arial"/>
              </a:rPr>
              <a:t>01  </a:t>
            </a:r>
            <a:r>
              <a:rPr lang="en-US" sz="1600" b="1" u="none" strike="noStrike">
                <a:solidFill>
                  <a:srgbClr val="FFFFFF"/>
                </a:solidFill>
                <a:effectLst/>
                <a:uFillTx/>
                <a:latin typeface="Arial"/>
                <a:ea typeface="Arial"/>
              </a:rPr>
              <a:t>Nạp hồ sơ</a:t>
            </a:r>
            <a:endParaRPr lang="en-US" sz="1600" b="0" u="none" strike="noStrike">
              <a:solidFill>
                <a:srgbClr val="FFFFFF"/>
              </a:solidFill>
              <a:effectLst/>
              <a:uFillTx/>
              <a:latin typeface="Arial"/>
            </a:endParaRPr>
          </a:p>
        </p:txBody>
      </p:sp>
      <p:sp>
        <p:nvSpPr>
          <p:cNvPr id="227" name="Shape 5"/>
          <p:cNvSpPr/>
          <p:nvPr/>
        </p:nvSpPr>
        <p:spPr>
          <a:xfrm>
            <a:off x="640080" y="3017520"/>
            <a:ext cx="2108880" cy="1737000"/>
          </a:xfrm>
          <a:prstGeom prst="roundRect">
            <a:avLst>
              <a:gd name="adj" fmla="val 5263"/>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8" name="Text 6"/>
          <p:cNvSpPr/>
          <p:nvPr/>
        </p:nvSpPr>
        <p:spPr>
          <a:xfrm>
            <a:off x="822960" y="3200400"/>
            <a:ext cx="174312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1" u="none" spc="99" strike="noStrike">
                <a:solidFill>
                  <a:srgbClr val="4ADE80"/>
                </a:solidFill>
                <a:effectLst/>
                <a:uFillTx/>
                <a:latin typeface="Arial"/>
                <a:ea typeface="Arial"/>
              </a:rPr>
              <a:t>TỰ ĐỘNG</a:t>
            </a:r>
            <a:endParaRPr lang="en-US" sz="1050" b="0" u="none" strike="noStrike">
              <a:solidFill>
                <a:srgbClr val="FFFFFF"/>
              </a:solidFill>
              <a:effectLst/>
              <a:uFillTx/>
              <a:latin typeface="Arial"/>
            </a:endParaRPr>
          </a:p>
        </p:txBody>
      </p:sp>
      <p:sp>
        <p:nvSpPr>
          <p:cNvPr id="229" name="Text 7"/>
          <p:cNvSpPr/>
          <p:nvPr/>
        </p:nvSpPr>
        <p:spPr>
          <a:xfrm>
            <a:off x="822960" y="3566160"/>
            <a:ext cx="1743120" cy="1096920"/>
          </a:xfrm>
          <a:prstGeom prst="rect">
            <a:avLst/>
          </a:prstGeom>
          <a:noFill/>
          <a:ln w="0">
            <a:noFill/>
          </a:ln>
        </p:spPr>
        <p:style>
          <a:lnRef idx="0"/>
          <a:fillRef idx="0"/>
          <a:effectRef idx="0"/>
          <a:fontRef idx="minor"/>
        </p:style>
        <p:txBody>
          <a:bodyPr lIns="0" tIns="0" rIns="0" bIns="0" anchor="t">
            <a:noAutofit/>
          </a:bodyPr>
          <a:p>
            <a:pPr defTabSz="914400">
              <a:lnSpc>
                <a:spcPts val="2001"/>
              </a:lnSpc>
              <a:tabLst>
                <a:tab pos="0" algn="l"/>
              </a:tabLst>
            </a:pPr>
            <a:r>
              <a:rPr lang="en-US" sz="1400" b="0" u="none" strike="noStrike">
                <a:solidFill>
                  <a:srgbClr val="FFFFFF"/>
                </a:solidFill>
                <a:effectLst/>
                <a:uFillTx/>
                <a:latin typeface="Arial"/>
                <a:ea typeface="Arial"/>
              </a:rPr>
              <a:t>Tự quét thư mục HIS xuất ra, hoặc kéo thả tệp (tới 100 MB)</a:t>
            </a:r>
            <a:endParaRPr lang="en-US" sz="1400" b="0" u="none" strike="noStrike">
              <a:solidFill>
                <a:srgbClr val="FFFFFF"/>
              </a:solidFill>
              <a:effectLst/>
              <a:uFillTx/>
              <a:latin typeface="Arial"/>
            </a:endParaRPr>
          </a:p>
        </p:txBody>
      </p:sp>
      <p:sp>
        <p:nvSpPr>
          <p:cNvPr id="230" name="Shape 8"/>
          <p:cNvSpPr/>
          <p:nvPr/>
        </p:nvSpPr>
        <p:spPr>
          <a:xfrm>
            <a:off x="2840760" y="2148840"/>
            <a:ext cx="2218680" cy="685440"/>
          </a:xfrm>
          <a:prstGeom prst="chevron">
            <a:avLst>
              <a:gd name="adj" fmla="val 50000"/>
            </a:avLst>
          </a:prstGeom>
          <a:solidFill>
            <a:srgbClr val="1E4E86"/>
          </a:solidFill>
          <a:ln w="12700">
            <a:solidFill>
              <a:srgbClr val="0B1A3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1" name="Text 9"/>
          <p:cNvSpPr/>
          <p:nvPr/>
        </p:nvSpPr>
        <p:spPr>
          <a:xfrm>
            <a:off x="3206520" y="2148840"/>
            <a:ext cx="165168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38BDF8"/>
                </a:solidFill>
                <a:effectLst/>
                <a:uFillTx/>
                <a:latin typeface="Arial"/>
                <a:ea typeface="Arial"/>
              </a:rPr>
              <a:t>02  </a:t>
            </a:r>
            <a:r>
              <a:rPr lang="en-US" sz="1600" b="1" u="none" strike="noStrike">
                <a:solidFill>
                  <a:srgbClr val="FFFFFF"/>
                </a:solidFill>
                <a:effectLst/>
                <a:uFillTx/>
                <a:latin typeface="Arial"/>
                <a:ea typeface="Arial"/>
              </a:rPr>
              <a:t>Kiểm tra</a:t>
            </a:r>
            <a:endParaRPr lang="en-US" sz="1600" b="0" u="none" strike="noStrike">
              <a:solidFill>
                <a:srgbClr val="FFFFFF"/>
              </a:solidFill>
              <a:effectLst/>
              <a:uFillTx/>
              <a:latin typeface="Arial"/>
            </a:endParaRPr>
          </a:p>
        </p:txBody>
      </p:sp>
      <p:sp>
        <p:nvSpPr>
          <p:cNvPr id="232" name="Shape 10"/>
          <p:cNvSpPr/>
          <p:nvPr/>
        </p:nvSpPr>
        <p:spPr>
          <a:xfrm>
            <a:off x="2840760" y="3017520"/>
            <a:ext cx="2108880" cy="1737000"/>
          </a:xfrm>
          <a:prstGeom prst="roundRect">
            <a:avLst>
              <a:gd name="adj" fmla="val 5263"/>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3" name="Text 11"/>
          <p:cNvSpPr/>
          <p:nvPr/>
        </p:nvSpPr>
        <p:spPr>
          <a:xfrm>
            <a:off x="3023640" y="3200400"/>
            <a:ext cx="174312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1" u="none" spc="99" strike="noStrike">
                <a:solidFill>
                  <a:srgbClr val="4ADE80"/>
                </a:solidFill>
                <a:effectLst/>
                <a:uFillTx/>
                <a:latin typeface="Arial"/>
                <a:ea typeface="Arial"/>
              </a:rPr>
              <a:t>TỰ ĐỘNG</a:t>
            </a:r>
            <a:endParaRPr lang="en-US" sz="1050" b="0" u="none" strike="noStrike">
              <a:solidFill>
                <a:srgbClr val="FFFFFF"/>
              </a:solidFill>
              <a:effectLst/>
              <a:uFillTx/>
              <a:latin typeface="Arial"/>
            </a:endParaRPr>
          </a:p>
        </p:txBody>
      </p:sp>
      <p:sp>
        <p:nvSpPr>
          <p:cNvPr id="234" name="Text 12"/>
          <p:cNvSpPr/>
          <p:nvPr/>
        </p:nvSpPr>
        <p:spPr>
          <a:xfrm>
            <a:off x="3023640" y="3566160"/>
            <a:ext cx="1743120" cy="1096920"/>
          </a:xfrm>
          <a:prstGeom prst="rect">
            <a:avLst/>
          </a:prstGeom>
          <a:noFill/>
          <a:ln w="0">
            <a:noFill/>
          </a:ln>
        </p:spPr>
        <p:style>
          <a:lnRef idx="0"/>
          <a:fillRef idx="0"/>
          <a:effectRef idx="0"/>
          <a:fontRef idx="minor"/>
        </p:style>
        <p:txBody>
          <a:bodyPr lIns="0" tIns="0" rIns="0" bIns="0" anchor="t">
            <a:noAutofit/>
          </a:bodyPr>
          <a:p>
            <a:pPr defTabSz="914400">
              <a:lnSpc>
                <a:spcPts val="2001"/>
              </a:lnSpc>
              <a:tabLst>
                <a:tab pos="0" algn="l"/>
              </a:tabLst>
            </a:pPr>
            <a:r>
              <a:rPr lang="en-US" sz="1400" b="0" u="none" strike="noStrike">
                <a:solidFill>
                  <a:srgbClr val="FFFFFF"/>
                </a:solidFill>
                <a:effectLst/>
                <a:uFillTx/>
                <a:latin typeface="Arial"/>
                <a:ea typeface="Arial"/>
              </a:rPr>
              <a:t>Chạy nền: kiểm XML, tra thẻ BHYT, đối chiếu danh mục</a:t>
            </a:r>
            <a:endParaRPr lang="en-US" sz="1400" b="0" u="none" strike="noStrike">
              <a:solidFill>
                <a:srgbClr val="FFFFFF"/>
              </a:solidFill>
              <a:effectLst/>
              <a:uFillTx/>
              <a:latin typeface="Arial"/>
            </a:endParaRPr>
          </a:p>
        </p:txBody>
      </p:sp>
      <p:sp>
        <p:nvSpPr>
          <p:cNvPr id="235" name="Shape 13"/>
          <p:cNvSpPr/>
          <p:nvPr/>
        </p:nvSpPr>
        <p:spPr>
          <a:xfrm>
            <a:off x="5041440" y="2148840"/>
            <a:ext cx="2218680" cy="685440"/>
          </a:xfrm>
          <a:prstGeom prst="chevron">
            <a:avLst>
              <a:gd name="adj" fmla="val 50000"/>
            </a:avLst>
          </a:prstGeom>
          <a:solidFill>
            <a:srgbClr val="1E4E86"/>
          </a:solidFill>
          <a:ln w="12700">
            <a:solidFill>
              <a:srgbClr val="0B1A3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6" name="Text 14"/>
          <p:cNvSpPr/>
          <p:nvPr/>
        </p:nvSpPr>
        <p:spPr>
          <a:xfrm>
            <a:off x="5407200" y="2148840"/>
            <a:ext cx="165168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38BDF8"/>
                </a:solidFill>
                <a:effectLst/>
                <a:uFillTx/>
                <a:latin typeface="Arial"/>
                <a:ea typeface="Arial"/>
              </a:rPr>
              <a:t>03  </a:t>
            </a:r>
            <a:r>
              <a:rPr lang="en-US" sz="1600" b="1" u="none" strike="noStrike">
                <a:solidFill>
                  <a:srgbClr val="FFFFFF"/>
                </a:solidFill>
                <a:effectLst/>
                <a:uFillTx/>
                <a:latin typeface="Arial"/>
                <a:ea typeface="Arial"/>
              </a:rPr>
              <a:t>Ký số</a:t>
            </a:r>
            <a:endParaRPr lang="en-US" sz="1600" b="0" u="none" strike="noStrike">
              <a:solidFill>
                <a:srgbClr val="FFFFFF"/>
              </a:solidFill>
              <a:effectLst/>
              <a:uFillTx/>
              <a:latin typeface="Arial"/>
            </a:endParaRPr>
          </a:p>
        </p:txBody>
      </p:sp>
      <p:sp>
        <p:nvSpPr>
          <p:cNvPr id="237" name="Shape 15"/>
          <p:cNvSpPr/>
          <p:nvPr/>
        </p:nvSpPr>
        <p:spPr>
          <a:xfrm>
            <a:off x="5041440" y="3017520"/>
            <a:ext cx="2108880" cy="1737000"/>
          </a:xfrm>
          <a:prstGeom prst="roundRect">
            <a:avLst>
              <a:gd name="adj" fmla="val 5263"/>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8" name="Text 16"/>
          <p:cNvSpPr/>
          <p:nvPr/>
        </p:nvSpPr>
        <p:spPr>
          <a:xfrm>
            <a:off x="5224320" y="3200400"/>
            <a:ext cx="174312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1" u="none" spc="99" strike="noStrike">
                <a:solidFill>
                  <a:srgbClr val="4ADE80"/>
                </a:solidFill>
                <a:effectLst/>
                <a:uFillTx/>
                <a:latin typeface="Arial"/>
                <a:ea typeface="Arial"/>
              </a:rPr>
              <a:t>TỰ ĐỘNG</a:t>
            </a:r>
            <a:endParaRPr lang="en-US" sz="1050" b="0" u="none" strike="noStrike">
              <a:solidFill>
                <a:srgbClr val="FFFFFF"/>
              </a:solidFill>
              <a:effectLst/>
              <a:uFillTx/>
              <a:latin typeface="Arial"/>
            </a:endParaRPr>
          </a:p>
        </p:txBody>
      </p:sp>
      <p:sp>
        <p:nvSpPr>
          <p:cNvPr id="239" name="Text 17"/>
          <p:cNvSpPr/>
          <p:nvPr/>
        </p:nvSpPr>
        <p:spPr>
          <a:xfrm>
            <a:off x="5224320" y="3566160"/>
            <a:ext cx="1743120" cy="1096920"/>
          </a:xfrm>
          <a:prstGeom prst="rect">
            <a:avLst/>
          </a:prstGeom>
          <a:noFill/>
          <a:ln w="0">
            <a:noFill/>
          </a:ln>
        </p:spPr>
        <p:style>
          <a:lnRef idx="0"/>
          <a:fillRef idx="0"/>
          <a:effectRef idx="0"/>
          <a:fontRef idx="minor"/>
        </p:style>
        <p:txBody>
          <a:bodyPr lIns="0" tIns="0" rIns="0" bIns="0" anchor="t">
            <a:noAutofit/>
          </a:bodyPr>
          <a:p>
            <a:pPr defTabSz="914400">
              <a:lnSpc>
                <a:spcPts val="2001"/>
              </a:lnSpc>
              <a:tabLst>
                <a:tab pos="0" algn="l"/>
              </a:tabLst>
            </a:pPr>
            <a:r>
              <a:rPr lang="en-US" sz="1400" b="0" u="none" strike="noStrike">
                <a:solidFill>
                  <a:srgbClr val="FFFFFF"/>
                </a:solidFill>
                <a:effectLst/>
                <a:uFillTx/>
                <a:latin typeface="Arial"/>
                <a:ea typeface="Arial"/>
              </a:rPr>
              <a:t>Khi hồ sơ hết lỗi nghiêm trọng — HSM hoặc USB Token</a:t>
            </a:r>
            <a:endParaRPr lang="en-US" sz="1400" b="0" u="none" strike="noStrike">
              <a:solidFill>
                <a:srgbClr val="FFFFFF"/>
              </a:solidFill>
              <a:effectLst/>
              <a:uFillTx/>
              <a:latin typeface="Arial"/>
            </a:endParaRPr>
          </a:p>
        </p:txBody>
      </p:sp>
      <p:sp>
        <p:nvSpPr>
          <p:cNvPr id="240" name="Shape 18"/>
          <p:cNvSpPr/>
          <p:nvPr/>
        </p:nvSpPr>
        <p:spPr>
          <a:xfrm>
            <a:off x="7241760" y="2148840"/>
            <a:ext cx="2218680" cy="685440"/>
          </a:xfrm>
          <a:prstGeom prst="chevron">
            <a:avLst>
              <a:gd name="adj" fmla="val 50000"/>
            </a:avLst>
          </a:prstGeom>
          <a:solidFill>
            <a:srgbClr val="1E4E86"/>
          </a:solidFill>
          <a:ln w="12700">
            <a:solidFill>
              <a:srgbClr val="0B1A3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1" name="Text 19"/>
          <p:cNvSpPr/>
          <p:nvPr/>
        </p:nvSpPr>
        <p:spPr>
          <a:xfrm>
            <a:off x="7607520" y="2148840"/>
            <a:ext cx="165168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38BDF8"/>
                </a:solidFill>
                <a:effectLst/>
                <a:uFillTx/>
                <a:latin typeface="Arial"/>
                <a:ea typeface="Arial"/>
              </a:rPr>
              <a:t>04  </a:t>
            </a:r>
            <a:r>
              <a:rPr lang="en-US" sz="1600" b="1" u="none" strike="noStrike">
                <a:solidFill>
                  <a:srgbClr val="FFFFFF"/>
                </a:solidFill>
                <a:effectLst/>
                <a:uFillTx/>
                <a:latin typeface="Arial"/>
                <a:ea typeface="Arial"/>
              </a:rPr>
              <a:t>Gửi cổng</a:t>
            </a:r>
            <a:endParaRPr lang="en-US" sz="1600" b="0" u="none" strike="noStrike">
              <a:solidFill>
                <a:srgbClr val="FFFFFF"/>
              </a:solidFill>
              <a:effectLst/>
              <a:uFillTx/>
              <a:latin typeface="Arial"/>
            </a:endParaRPr>
          </a:p>
        </p:txBody>
      </p:sp>
      <p:sp>
        <p:nvSpPr>
          <p:cNvPr id="242" name="Shape 20"/>
          <p:cNvSpPr/>
          <p:nvPr/>
        </p:nvSpPr>
        <p:spPr>
          <a:xfrm>
            <a:off x="7241760" y="3017520"/>
            <a:ext cx="2108880" cy="1737000"/>
          </a:xfrm>
          <a:prstGeom prst="roundRect">
            <a:avLst>
              <a:gd name="adj" fmla="val 5263"/>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3" name="Text 21"/>
          <p:cNvSpPr/>
          <p:nvPr/>
        </p:nvSpPr>
        <p:spPr>
          <a:xfrm>
            <a:off x="7424640" y="3200400"/>
            <a:ext cx="174312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1" u="none" spc="99" strike="noStrike">
                <a:solidFill>
                  <a:srgbClr val="4ADE80"/>
                </a:solidFill>
                <a:effectLst/>
                <a:uFillTx/>
                <a:latin typeface="Arial"/>
                <a:ea typeface="Arial"/>
              </a:rPr>
              <a:t>TỰ ĐỘNG</a:t>
            </a:r>
            <a:endParaRPr lang="en-US" sz="1050" b="0" u="none" strike="noStrike">
              <a:solidFill>
                <a:srgbClr val="FFFFFF"/>
              </a:solidFill>
              <a:effectLst/>
              <a:uFillTx/>
              <a:latin typeface="Arial"/>
            </a:endParaRPr>
          </a:p>
        </p:txBody>
      </p:sp>
      <p:sp>
        <p:nvSpPr>
          <p:cNvPr id="244" name="Text 22"/>
          <p:cNvSpPr/>
          <p:nvPr/>
        </p:nvSpPr>
        <p:spPr>
          <a:xfrm>
            <a:off x="7424640" y="3566160"/>
            <a:ext cx="1743120" cy="1096920"/>
          </a:xfrm>
          <a:prstGeom prst="rect">
            <a:avLst/>
          </a:prstGeom>
          <a:noFill/>
          <a:ln w="0">
            <a:noFill/>
          </a:ln>
        </p:spPr>
        <p:style>
          <a:lnRef idx="0"/>
          <a:fillRef idx="0"/>
          <a:effectRef idx="0"/>
          <a:fontRef idx="minor"/>
        </p:style>
        <p:txBody>
          <a:bodyPr lIns="0" tIns="0" rIns="0" bIns="0" anchor="t">
            <a:noAutofit/>
          </a:bodyPr>
          <a:p>
            <a:pPr defTabSz="914400">
              <a:lnSpc>
                <a:spcPts val="2001"/>
              </a:lnSpc>
              <a:tabLst>
                <a:tab pos="0" algn="l"/>
              </a:tabLst>
            </a:pPr>
            <a:r>
              <a:rPr lang="en-US" sz="1400" b="0" u="none" strike="noStrike">
                <a:solidFill>
                  <a:srgbClr val="FFFFFF"/>
                </a:solidFill>
                <a:effectLst/>
                <a:uFillTx/>
                <a:latin typeface="Arial"/>
                <a:ea typeface="Arial"/>
              </a:rPr>
              <a:t>Tự gửi, tự thử lại tối đa 3 lần; bật theo từng cơ sở</a:t>
            </a:r>
            <a:endParaRPr lang="en-US" sz="1400" b="0" u="none" strike="noStrike">
              <a:solidFill>
                <a:srgbClr val="FFFFFF"/>
              </a:solidFill>
              <a:effectLst/>
              <a:uFillTx/>
              <a:latin typeface="Arial"/>
            </a:endParaRPr>
          </a:p>
        </p:txBody>
      </p:sp>
      <p:sp>
        <p:nvSpPr>
          <p:cNvPr id="245" name="Shape 23"/>
          <p:cNvSpPr/>
          <p:nvPr/>
        </p:nvSpPr>
        <p:spPr>
          <a:xfrm>
            <a:off x="9442440" y="2148840"/>
            <a:ext cx="2108880" cy="685440"/>
          </a:xfrm>
          <a:prstGeom prst="chevron">
            <a:avLst>
              <a:gd name="adj" fmla="val 50000"/>
            </a:avLst>
          </a:prstGeom>
          <a:solidFill>
            <a:srgbClr val="7A5A12"/>
          </a:solidFill>
          <a:ln w="12700">
            <a:solidFill>
              <a:srgbClr val="0B1A3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6" name="Text 24"/>
          <p:cNvSpPr/>
          <p:nvPr/>
        </p:nvSpPr>
        <p:spPr>
          <a:xfrm>
            <a:off x="9808200" y="2148840"/>
            <a:ext cx="165168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FBBF24"/>
                </a:solidFill>
                <a:effectLst/>
                <a:uFillTx/>
                <a:latin typeface="Arial"/>
                <a:ea typeface="Arial"/>
              </a:rPr>
              <a:t>05  </a:t>
            </a:r>
            <a:r>
              <a:rPr lang="en-US" sz="1600" b="1" u="none" strike="noStrike">
                <a:solidFill>
                  <a:srgbClr val="FFFFFF"/>
                </a:solidFill>
                <a:effectLst/>
                <a:uFillTx/>
                <a:latin typeface="Arial"/>
                <a:ea typeface="Arial"/>
              </a:rPr>
              <a:t>Theo dõi</a:t>
            </a:r>
            <a:endParaRPr lang="en-US" sz="1600" b="0" u="none" strike="noStrike">
              <a:solidFill>
                <a:srgbClr val="FFFFFF"/>
              </a:solidFill>
              <a:effectLst/>
              <a:uFillTx/>
              <a:latin typeface="Arial"/>
            </a:endParaRPr>
          </a:p>
        </p:txBody>
      </p:sp>
      <p:sp>
        <p:nvSpPr>
          <p:cNvPr id="247" name="Shape 25"/>
          <p:cNvSpPr/>
          <p:nvPr/>
        </p:nvSpPr>
        <p:spPr>
          <a:xfrm>
            <a:off x="9442440" y="3017520"/>
            <a:ext cx="2108880" cy="1737000"/>
          </a:xfrm>
          <a:prstGeom prst="roundRect">
            <a:avLst>
              <a:gd name="adj" fmla="val 5263"/>
            </a:avLst>
          </a:prstGeom>
          <a:solidFill>
            <a:srgbClr val="25324A">
              <a:alpha val="85000"/>
            </a:srgbClr>
          </a:solidFill>
          <a:ln w="19050">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8" name="Text 26"/>
          <p:cNvSpPr/>
          <p:nvPr/>
        </p:nvSpPr>
        <p:spPr>
          <a:xfrm>
            <a:off x="9625320" y="3200400"/>
            <a:ext cx="174312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1" u="none" spc="99" strike="noStrike">
                <a:solidFill>
                  <a:srgbClr val="FBBF24"/>
                </a:solidFill>
                <a:effectLst/>
                <a:uFillTx/>
                <a:latin typeface="Arial"/>
                <a:ea typeface="Arial"/>
              </a:rPr>
              <a:t>NGHIỆP VỤ</a:t>
            </a:r>
            <a:endParaRPr lang="en-US" sz="1050" b="0" u="none" strike="noStrike">
              <a:solidFill>
                <a:srgbClr val="FFFFFF"/>
              </a:solidFill>
              <a:effectLst/>
              <a:uFillTx/>
              <a:latin typeface="Arial"/>
            </a:endParaRPr>
          </a:p>
        </p:txBody>
      </p:sp>
      <p:sp>
        <p:nvSpPr>
          <p:cNvPr id="249" name="Text 27"/>
          <p:cNvSpPr/>
          <p:nvPr/>
        </p:nvSpPr>
        <p:spPr>
          <a:xfrm>
            <a:off x="9625320" y="3566160"/>
            <a:ext cx="1743120" cy="1096920"/>
          </a:xfrm>
          <a:prstGeom prst="rect">
            <a:avLst/>
          </a:prstGeom>
          <a:noFill/>
          <a:ln w="0">
            <a:noFill/>
          </a:ln>
        </p:spPr>
        <p:style>
          <a:lnRef idx="0"/>
          <a:fillRef idx="0"/>
          <a:effectRef idx="0"/>
          <a:fontRef idx="minor"/>
        </p:style>
        <p:txBody>
          <a:bodyPr lIns="0" tIns="0" rIns="0" bIns="0" anchor="t">
            <a:noAutofit/>
          </a:bodyPr>
          <a:p>
            <a:pPr defTabSz="914400">
              <a:lnSpc>
                <a:spcPts val="2001"/>
              </a:lnSpc>
              <a:tabLst>
                <a:tab pos="0" algn="l"/>
              </a:tabLst>
            </a:pPr>
            <a:r>
              <a:rPr lang="en-US" sz="1400" b="0" u="none" strike="noStrike">
                <a:solidFill>
                  <a:srgbClr val="FFFFFF"/>
                </a:solidFill>
                <a:effectLst/>
                <a:uFillTx/>
                <a:latin typeface="Arial"/>
                <a:ea typeface="Arial"/>
              </a:rPr>
              <a:t>Lọc hồ sơ lỗi, đọc phản hồi cổng, xem dashboard</a:t>
            </a:r>
            <a:endParaRPr lang="en-US" sz="1400" b="0" u="none" strike="noStrike">
              <a:solidFill>
                <a:srgbClr val="FFFFFF"/>
              </a:solidFill>
              <a:effectLst/>
              <a:uFillTx/>
              <a:latin typeface="Arial"/>
            </a:endParaRPr>
          </a:p>
        </p:txBody>
      </p:sp>
      <p:sp>
        <p:nvSpPr>
          <p:cNvPr id="250" name="Text 28"/>
          <p:cNvSpPr/>
          <p:nvPr/>
        </p:nvSpPr>
        <p:spPr>
          <a:xfrm>
            <a:off x="640080" y="5257800"/>
            <a:ext cx="1091124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BBF24"/>
                </a:solidFill>
                <a:effectLst/>
                <a:uFillTx/>
                <a:latin typeface="Arial"/>
                <a:ea typeface="Arial"/>
              </a:rPr>
              <a:t>Sửa trên HIS xong thì nạp lại — hồ sơ được kiểm lại từ đầu, hết lỗi nghiêm trọng là tự đi tiếp</a:t>
            </a:r>
            <a:endParaRPr lang="en-US" sz="1600" b="0" u="none" strike="noStrike">
              <a:solidFill>
                <a:srgbClr val="FFFFFF"/>
              </a:solidFill>
              <a:effectLst/>
              <a:uFillTx/>
              <a:latin typeface="Arial"/>
            </a:endParaRPr>
          </a:p>
        </p:txBody>
      </p:sp>
      <p:sp>
        <p:nvSpPr>
          <p:cNvPr id="251" name="Text 29"/>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08 / 21</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52"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TRỌNG TÂM 1</a:t>
            </a:r>
            <a:endParaRPr lang="en-US" sz="1200" b="0" u="none" strike="noStrike">
              <a:solidFill>
                <a:srgbClr val="FFFFFF"/>
              </a:solidFill>
              <a:effectLst/>
              <a:uFillTx/>
              <a:latin typeface="Arial"/>
            </a:endParaRPr>
          </a:p>
        </p:txBody>
      </p:sp>
      <p:sp>
        <p:nvSpPr>
          <p:cNvPr id="253"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Kiểm sai sót y lệnh — bắt lỗi khi người làm còn trong ca</a:t>
            </a:r>
            <a:endParaRPr lang="en-US" sz="2800" b="0" u="none" strike="noStrike">
              <a:solidFill>
                <a:srgbClr val="FFFFFF"/>
              </a:solidFill>
              <a:effectLst/>
              <a:uFillTx/>
              <a:latin typeface="Arial"/>
            </a:endParaRPr>
          </a:p>
        </p:txBody>
      </p:sp>
      <p:sp>
        <p:nvSpPr>
          <p:cNvPr id="254" name="Shape 2"/>
          <p:cNvSpPr/>
          <p:nvPr/>
        </p:nvSpPr>
        <p:spPr>
          <a:xfrm>
            <a:off x="640080" y="1600200"/>
            <a:ext cx="548280" cy="548280"/>
          </a:xfrm>
          <a:prstGeom prst="ellipse">
            <a:avLst/>
          </a:prstGeom>
          <a:solidFill>
            <a:srgbClr val="1C3558"/>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5" name="Text 3"/>
          <p:cNvSpPr/>
          <p:nvPr/>
        </p:nvSpPr>
        <p:spPr>
          <a:xfrm>
            <a:off x="640080" y="160020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000000"/>
                </a:solidFill>
                <a:effectLst/>
                <a:uFillTx/>
                <a:latin typeface="Segoe UI Emoji"/>
                <a:ea typeface="Segoe UI Emoji"/>
              </a:rPr>
              <a:t>⏱️</a:t>
            </a:r>
            <a:endParaRPr lang="en-US" sz="1600" b="0" u="none" strike="noStrike">
              <a:solidFill>
                <a:srgbClr val="FFFFFF"/>
              </a:solidFill>
              <a:effectLst/>
              <a:uFillTx/>
              <a:latin typeface="Arial"/>
            </a:endParaRPr>
          </a:p>
        </p:txBody>
      </p:sp>
      <p:sp>
        <p:nvSpPr>
          <p:cNvPr id="256" name="Text 4"/>
          <p:cNvSpPr/>
          <p:nvPr/>
        </p:nvSpPr>
        <p:spPr>
          <a:xfrm>
            <a:off x="1371600" y="1581840"/>
            <a:ext cx="3200040" cy="13255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600" b="1" u="none" strike="noStrike">
                <a:solidFill>
                  <a:srgbClr val="FFFFFF"/>
                </a:solidFill>
                <a:effectLst/>
                <a:uFillTx/>
                <a:latin typeface="Arial"/>
                <a:ea typeface="Arial"/>
              </a:rPr>
              <a:t>Gần thời gian thực</a:t>
            </a:r>
            <a:endParaRPr lang="en-US" sz="1600" b="0" u="none" strike="noStrike">
              <a:solidFill>
                <a:srgbClr val="FFFFFF"/>
              </a:solidFill>
              <a:effectLst/>
              <a:uFillTx/>
              <a:latin typeface="Arial"/>
            </a:endParaRPr>
          </a:p>
          <a:p>
            <a:pPr defTabSz="914400">
              <a:lnSpc>
                <a:spcPts val="1899"/>
              </a:lnSpc>
              <a:tabLst>
                <a:tab pos="0" algn="l"/>
              </a:tabLst>
            </a:pPr>
            <a:r>
              <a:rPr lang="en-US" sz="1350" b="0" u="none" strike="noStrike">
                <a:solidFill>
                  <a:srgbClr val="A9BCD6"/>
                </a:solidFill>
                <a:effectLst/>
                <a:uFillTx/>
                <a:latin typeface="Arial"/>
                <a:ea typeface="Arial"/>
              </a:rPr>
              <a:t>Quét HIS mỗi 60 giây, chỉ đọc. Ví dụ: chưa khai chứng chỉ hành nghề, ra viện trước vào viện.</a:t>
            </a:r>
            <a:endParaRPr lang="en-US" sz="1350" b="0" u="none" strike="noStrike">
              <a:solidFill>
                <a:srgbClr val="FFFFFF"/>
              </a:solidFill>
              <a:effectLst/>
              <a:uFillTx/>
              <a:latin typeface="Arial"/>
            </a:endParaRPr>
          </a:p>
        </p:txBody>
      </p:sp>
      <p:sp>
        <p:nvSpPr>
          <p:cNvPr id="257" name="Shape 5"/>
          <p:cNvSpPr/>
          <p:nvPr/>
        </p:nvSpPr>
        <p:spPr>
          <a:xfrm>
            <a:off x="640080" y="2999160"/>
            <a:ext cx="548280" cy="548280"/>
          </a:xfrm>
          <a:prstGeom prst="ellipse">
            <a:avLst/>
          </a:prstGeom>
          <a:solidFill>
            <a:srgbClr val="1C3558"/>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8" name="Text 6"/>
          <p:cNvSpPr/>
          <p:nvPr/>
        </p:nvSpPr>
        <p:spPr>
          <a:xfrm>
            <a:off x="640080" y="299916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000000"/>
                </a:solidFill>
                <a:effectLst/>
                <a:uFillTx/>
                <a:latin typeface="Segoe UI Emoji"/>
                <a:ea typeface="Segoe UI Emoji"/>
              </a:rPr>
              <a:t>🎯</a:t>
            </a:r>
            <a:endParaRPr lang="en-US" sz="1600" b="0" u="none" strike="noStrike">
              <a:solidFill>
                <a:srgbClr val="FFFFFF"/>
              </a:solidFill>
              <a:effectLst/>
              <a:uFillTx/>
              <a:latin typeface="Arial"/>
            </a:endParaRPr>
          </a:p>
        </p:txBody>
      </p:sp>
      <p:sp>
        <p:nvSpPr>
          <p:cNvPr id="259" name="Text 7"/>
          <p:cNvSpPr/>
          <p:nvPr/>
        </p:nvSpPr>
        <p:spPr>
          <a:xfrm>
            <a:off x="1371600" y="2980800"/>
            <a:ext cx="3200040" cy="13255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600" b="1" u="none" strike="noStrike">
                <a:solidFill>
                  <a:srgbClr val="FFFFFF"/>
                </a:solidFill>
                <a:effectLst/>
                <a:uFillTx/>
                <a:latin typeface="Arial"/>
                <a:ea typeface="Arial"/>
              </a:rPr>
              <a:t>Lọc đúng người, đúng khoa</a:t>
            </a:r>
            <a:endParaRPr lang="en-US" sz="1600" b="0" u="none" strike="noStrike">
              <a:solidFill>
                <a:srgbClr val="FFFFFF"/>
              </a:solidFill>
              <a:effectLst/>
              <a:uFillTx/>
              <a:latin typeface="Arial"/>
            </a:endParaRPr>
          </a:p>
          <a:p>
            <a:pPr defTabSz="914400">
              <a:lnSpc>
                <a:spcPts val="1899"/>
              </a:lnSpc>
              <a:tabLst>
                <a:tab pos="0" algn="l"/>
              </a:tabLst>
            </a:pPr>
            <a:r>
              <a:rPr lang="en-US" sz="1350" b="0" u="none" strike="noStrike">
                <a:solidFill>
                  <a:srgbClr val="A9BCD6"/>
                </a:solidFill>
                <a:effectLst/>
                <a:uFillTx/>
                <a:latin typeface="Arial"/>
                <a:ea typeface="Arial"/>
              </a:rPr>
              <a:t>Theo mức độ, khoa thực hiện, bác sĩ, loại dịch vụ, cơ sở KCB.</a:t>
            </a:r>
            <a:endParaRPr lang="en-US" sz="1350" b="0" u="none" strike="noStrike">
              <a:solidFill>
                <a:srgbClr val="FFFFFF"/>
              </a:solidFill>
              <a:effectLst/>
              <a:uFillTx/>
              <a:latin typeface="Arial"/>
            </a:endParaRPr>
          </a:p>
        </p:txBody>
      </p:sp>
      <p:sp>
        <p:nvSpPr>
          <p:cNvPr id="260" name="Shape 8"/>
          <p:cNvSpPr/>
          <p:nvPr/>
        </p:nvSpPr>
        <p:spPr>
          <a:xfrm>
            <a:off x="640080" y="4398120"/>
            <a:ext cx="548280" cy="548280"/>
          </a:xfrm>
          <a:prstGeom prst="ellipse">
            <a:avLst/>
          </a:prstGeom>
          <a:solidFill>
            <a:srgbClr val="1C3558"/>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1" name="Text 9"/>
          <p:cNvSpPr/>
          <p:nvPr/>
        </p:nvSpPr>
        <p:spPr>
          <a:xfrm>
            <a:off x="640080" y="43981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000000"/>
                </a:solidFill>
                <a:effectLst/>
                <a:uFillTx/>
                <a:latin typeface="Segoe UI Emoji"/>
                <a:ea typeface="Segoe UI Emoji"/>
              </a:rPr>
              <a:t>✔️</a:t>
            </a:r>
            <a:endParaRPr lang="en-US" sz="1600" b="0" u="none" strike="noStrike">
              <a:solidFill>
                <a:srgbClr val="FFFFFF"/>
              </a:solidFill>
              <a:effectLst/>
              <a:uFillTx/>
              <a:latin typeface="Arial"/>
            </a:endParaRPr>
          </a:p>
        </p:txBody>
      </p:sp>
      <p:sp>
        <p:nvSpPr>
          <p:cNvPr id="262" name="Text 10"/>
          <p:cNvSpPr/>
          <p:nvPr/>
        </p:nvSpPr>
        <p:spPr>
          <a:xfrm>
            <a:off x="1371600" y="4380120"/>
            <a:ext cx="3200040" cy="13255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600" b="1" u="none" strike="noStrike">
                <a:solidFill>
                  <a:srgbClr val="FFFFFF"/>
                </a:solidFill>
                <a:effectLst/>
                <a:uFillTx/>
                <a:latin typeface="Arial"/>
                <a:ea typeface="Arial"/>
              </a:rPr>
              <a:t>Khép vòng xử lý</a:t>
            </a:r>
            <a:endParaRPr lang="en-US" sz="1600" b="0" u="none" strike="noStrike">
              <a:solidFill>
                <a:srgbClr val="FFFFFF"/>
              </a:solidFill>
              <a:effectLst/>
              <a:uFillTx/>
              <a:latin typeface="Arial"/>
            </a:endParaRPr>
          </a:p>
          <a:p>
            <a:pPr defTabSz="914400">
              <a:lnSpc>
                <a:spcPts val="1899"/>
              </a:lnSpc>
              <a:tabLst>
                <a:tab pos="0" algn="l"/>
              </a:tabLst>
            </a:pPr>
            <a:r>
              <a:rPr lang="en-US" sz="1350" b="0" u="none" strike="noStrike">
                <a:solidFill>
                  <a:srgbClr val="A9BCD6"/>
                </a:solidFill>
                <a:effectLst/>
                <a:uFillTx/>
                <a:latin typeface="Arial"/>
                <a:ea typeface="Arial"/>
              </a:rPr>
              <a:t>Đánh dấu Đã xử lý hoặc Bỏ qua từng vi phạm; xuất Excel để giao khoa.</a:t>
            </a:r>
            <a:endParaRPr lang="en-US" sz="1350" b="0" u="none" strike="noStrike">
              <a:solidFill>
                <a:srgbClr val="FFFFFF"/>
              </a:solidFill>
              <a:effectLst/>
              <a:uFillTx/>
              <a:latin typeface="Arial"/>
            </a:endParaRPr>
          </a:p>
        </p:txBody>
      </p:sp>
      <p:sp>
        <p:nvSpPr>
          <p:cNvPr id="263" name="Shape 11"/>
          <p:cNvSpPr/>
          <p:nvPr/>
        </p:nvSpPr>
        <p:spPr>
          <a:xfrm>
            <a:off x="4855320" y="1563480"/>
            <a:ext cx="6732360" cy="3818880"/>
          </a:xfrm>
          <a:prstGeom prst="rect">
            <a:avLst/>
          </a:prstGeom>
          <a:solidFill>
            <a:srgbClr val="2E4B74"/>
          </a:solidFill>
          <a:ln w="9525">
            <a:solidFill>
              <a:srgbClr val="4A689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264" name="Image 0" descr="/Users/tracnn/qlbv/docs/dao-tao/anh/anh-01-danh-sach-vi-pham.png"/>
          <p:cNvPicPr/>
          <p:nvPr/>
        </p:nvPicPr>
        <p:blipFill>
          <a:blip r:embed="rId2"/>
          <a:stretch/>
        </p:blipFill>
        <p:spPr>
          <a:xfrm>
            <a:off x="4892040" y="1600200"/>
            <a:ext cx="6659280" cy="3745800"/>
          </a:xfrm>
          <a:prstGeom prst="rect">
            <a:avLst/>
          </a:prstGeom>
          <a:noFill/>
          <a:ln w="0">
            <a:noFill/>
          </a:ln>
        </p:spPr>
      </p:pic>
      <p:sp>
        <p:nvSpPr>
          <p:cNvPr id="265" name="Text 12"/>
          <p:cNvSpPr/>
          <p:nvPr/>
        </p:nvSpPr>
        <p:spPr>
          <a:xfrm>
            <a:off x="4892040" y="5455800"/>
            <a:ext cx="665928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50" b="0" i="1" u="none" strike="noStrike">
                <a:solidFill>
                  <a:srgbClr val="7F93B0"/>
                </a:solidFill>
                <a:effectLst/>
                <a:uFillTx/>
                <a:latin typeface="Arial"/>
                <a:ea typeface="Arial"/>
              </a:rPr>
              <a:t>Màn Danh sách vi phạm — dữ liệu trong ảnh là dữ liệu mẫu</a:t>
            </a:r>
            <a:endParaRPr lang="en-US" sz="1050" b="0" u="none" strike="noStrike">
              <a:solidFill>
                <a:srgbClr val="FFFFFF"/>
              </a:solidFill>
              <a:effectLst/>
              <a:uFillTx/>
              <a:latin typeface="Arial"/>
            </a:endParaRPr>
          </a:p>
        </p:txBody>
      </p:sp>
      <p:sp>
        <p:nvSpPr>
          <p:cNvPr id="266" name="Text 13"/>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09 / 21</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67"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TRỌNG TÂM 2</a:t>
            </a:r>
            <a:endParaRPr lang="en-US" sz="1200" b="0" u="none" strike="noStrike">
              <a:solidFill>
                <a:srgbClr val="FFFFFF"/>
              </a:solidFill>
              <a:effectLst/>
              <a:uFillTx/>
              <a:latin typeface="Arial"/>
            </a:endParaRPr>
          </a:p>
        </p:txBody>
      </p:sp>
      <p:sp>
        <p:nvSpPr>
          <p:cNvPr id="268"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Kiểm hồ sơ XML 3176 — chặn lỗi trước khi ký số</a:t>
            </a:r>
            <a:endParaRPr lang="en-US" sz="2800" b="0" u="none" strike="noStrike">
              <a:solidFill>
                <a:srgbClr val="FFFFFF"/>
              </a:solidFill>
              <a:effectLst/>
              <a:uFillTx/>
              <a:latin typeface="Arial"/>
            </a:endParaRPr>
          </a:p>
        </p:txBody>
      </p:sp>
      <p:sp>
        <p:nvSpPr>
          <p:cNvPr id="269" name="Shape 2"/>
          <p:cNvSpPr/>
          <p:nvPr/>
        </p:nvSpPr>
        <p:spPr>
          <a:xfrm>
            <a:off x="640080" y="1600200"/>
            <a:ext cx="548280" cy="548280"/>
          </a:xfrm>
          <a:prstGeom prst="ellipse">
            <a:avLst/>
          </a:prstGeom>
          <a:solidFill>
            <a:srgbClr val="1C3558"/>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0" name="Text 3"/>
          <p:cNvSpPr/>
          <p:nvPr/>
        </p:nvSpPr>
        <p:spPr>
          <a:xfrm>
            <a:off x="640080" y="160020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000000"/>
                </a:solidFill>
                <a:effectLst/>
                <a:uFillTx/>
                <a:latin typeface="Segoe UI Emoji"/>
                <a:ea typeface="Segoe UI Emoji"/>
              </a:rPr>
              <a:t>📥</a:t>
            </a:r>
            <a:endParaRPr lang="en-US" sz="1600" b="0" u="none" strike="noStrike">
              <a:solidFill>
                <a:srgbClr val="FFFFFF"/>
              </a:solidFill>
              <a:effectLst/>
              <a:uFillTx/>
              <a:latin typeface="Arial"/>
            </a:endParaRPr>
          </a:p>
        </p:txBody>
      </p:sp>
      <p:sp>
        <p:nvSpPr>
          <p:cNvPr id="271" name="Text 4"/>
          <p:cNvSpPr/>
          <p:nvPr/>
        </p:nvSpPr>
        <p:spPr>
          <a:xfrm>
            <a:off x="1371600" y="1581840"/>
            <a:ext cx="3200040" cy="13255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600" b="1" u="none" strike="noStrike">
                <a:solidFill>
                  <a:srgbClr val="FFFFFF"/>
                </a:solidFill>
                <a:effectLst/>
                <a:uFillTx/>
                <a:latin typeface="Arial"/>
                <a:ea typeface="Arial"/>
              </a:rPr>
              <a:t>Nạp tự động</a:t>
            </a:r>
            <a:endParaRPr lang="en-US" sz="1600" b="0" u="none" strike="noStrike">
              <a:solidFill>
                <a:srgbClr val="FFFFFF"/>
              </a:solidFill>
              <a:effectLst/>
              <a:uFillTx/>
              <a:latin typeface="Arial"/>
            </a:endParaRPr>
          </a:p>
          <a:p>
            <a:pPr defTabSz="914400">
              <a:lnSpc>
                <a:spcPts val="1899"/>
              </a:lnSpc>
              <a:tabLst>
                <a:tab pos="0" algn="l"/>
              </a:tabLst>
            </a:pPr>
            <a:r>
              <a:rPr lang="en-US" sz="1350" b="0" u="none" strike="noStrike">
                <a:solidFill>
                  <a:srgbClr val="A9BCD6"/>
                </a:solidFill>
                <a:effectLst/>
                <a:uFillTx/>
                <a:latin typeface="Arial"/>
                <a:ea typeface="Arial"/>
              </a:rPr>
              <a:t>Theo dõi thư mục HIS xuất ra, </a:t>
            </a:r>
            <a:r>
              <a:rPr lang="en-US" sz="1350" b="0" u="none" strike="noStrike">
                <a:solidFill>
                  <a:srgbClr val="A9BCD6"/>
                </a:solidFill>
                <a:effectLst/>
                <a:uFillTx/>
                <a:latin typeface="Arial"/>
                <a:ea typeface="Arial"/>
              </a:rPr>
              <a:t>nhận hồ sơ trong vài giây; </a:t>
            </a:r>
            <a:r>
              <a:rPr lang="en-US" sz="1350" b="0" u="none" strike="noStrike">
                <a:solidFill>
                  <a:srgbClr val="A9BCD6"/>
                </a:solidFill>
                <a:effectLst/>
                <a:uFillTx/>
                <a:latin typeface="Arial"/>
                <a:ea typeface="Arial"/>
              </a:rPr>
              <a:t>hoặc kéo thả tệp.</a:t>
            </a:r>
            <a:endParaRPr lang="en-US" sz="1350" b="0" u="none" strike="noStrike">
              <a:solidFill>
                <a:srgbClr val="FFFFFF"/>
              </a:solidFill>
              <a:effectLst/>
              <a:uFillTx/>
              <a:latin typeface="Arial"/>
            </a:endParaRPr>
          </a:p>
        </p:txBody>
      </p:sp>
      <p:sp>
        <p:nvSpPr>
          <p:cNvPr id="272" name="Shape 5"/>
          <p:cNvSpPr/>
          <p:nvPr/>
        </p:nvSpPr>
        <p:spPr>
          <a:xfrm>
            <a:off x="640080" y="2999160"/>
            <a:ext cx="548280" cy="548280"/>
          </a:xfrm>
          <a:prstGeom prst="ellipse">
            <a:avLst/>
          </a:prstGeom>
          <a:solidFill>
            <a:srgbClr val="1C3558"/>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3" name="Text 6"/>
          <p:cNvSpPr/>
          <p:nvPr/>
        </p:nvSpPr>
        <p:spPr>
          <a:xfrm>
            <a:off x="640080" y="299916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000000"/>
                </a:solidFill>
                <a:effectLst/>
                <a:uFillTx/>
                <a:latin typeface="Segoe UI Emoji"/>
                <a:ea typeface="Segoe UI Emoji"/>
              </a:rPr>
              <a:t>🧪</a:t>
            </a:r>
            <a:endParaRPr lang="en-US" sz="1600" b="0" u="none" strike="noStrike">
              <a:solidFill>
                <a:srgbClr val="FFFFFF"/>
              </a:solidFill>
              <a:effectLst/>
              <a:uFillTx/>
              <a:latin typeface="Arial"/>
            </a:endParaRPr>
          </a:p>
        </p:txBody>
      </p:sp>
      <p:sp>
        <p:nvSpPr>
          <p:cNvPr id="274" name="Text 7"/>
          <p:cNvSpPr/>
          <p:nvPr/>
        </p:nvSpPr>
        <p:spPr>
          <a:xfrm>
            <a:off x="1371600" y="2980800"/>
            <a:ext cx="3200040" cy="13255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600" b="1" u="none" strike="noStrike">
                <a:solidFill>
                  <a:srgbClr val="FFFFFF"/>
                </a:solidFill>
                <a:effectLst/>
                <a:uFillTx/>
                <a:latin typeface="Arial"/>
                <a:ea typeface="Arial"/>
              </a:rPr>
              <a:t>Kiểm từng hồ sơ</a:t>
            </a:r>
            <a:endParaRPr lang="en-US" sz="1600" b="0" u="none" strike="noStrike">
              <a:solidFill>
                <a:srgbClr val="FFFFFF"/>
              </a:solidFill>
              <a:effectLst/>
              <a:uFillTx/>
              <a:latin typeface="Arial"/>
            </a:endParaRPr>
          </a:p>
          <a:p>
            <a:pPr defTabSz="914400">
              <a:lnSpc>
                <a:spcPts val="1899"/>
              </a:lnSpc>
              <a:tabLst>
                <a:tab pos="0" algn="l"/>
              </a:tabLst>
            </a:pPr>
            <a:r>
              <a:rPr lang="en-US" sz="1350" b="0" u="none" strike="noStrike">
                <a:solidFill>
                  <a:srgbClr val="A9BCD6"/>
                </a:solidFill>
                <a:effectLst/>
                <a:uFillTx/>
                <a:latin typeface="Arial"/>
                <a:ea typeface="Arial"/>
              </a:rPr>
              <a:t>12 bảng XML có bộ kiểm riêng, kiểm chéo toàn hồ sơ, tra thẻ BHYT, đối chiếu danh mục.</a:t>
            </a:r>
            <a:endParaRPr lang="en-US" sz="1350" b="0" u="none" strike="noStrike">
              <a:solidFill>
                <a:srgbClr val="FFFFFF"/>
              </a:solidFill>
              <a:effectLst/>
              <a:uFillTx/>
              <a:latin typeface="Arial"/>
            </a:endParaRPr>
          </a:p>
        </p:txBody>
      </p:sp>
      <p:sp>
        <p:nvSpPr>
          <p:cNvPr id="275" name="Shape 8"/>
          <p:cNvSpPr/>
          <p:nvPr/>
        </p:nvSpPr>
        <p:spPr>
          <a:xfrm>
            <a:off x="640080" y="4398120"/>
            <a:ext cx="548280" cy="548280"/>
          </a:xfrm>
          <a:prstGeom prst="ellipse">
            <a:avLst/>
          </a:prstGeom>
          <a:solidFill>
            <a:srgbClr val="1C3558"/>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6" name="Text 9"/>
          <p:cNvSpPr/>
          <p:nvPr/>
        </p:nvSpPr>
        <p:spPr>
          <a:xfrm>
            <a:off x="640080" y="43981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000000"/>
                </a:solidFill>
                <a:effectLst/>
                <a:uFillTx/>
                <a:latin typeface="Segoe UI Emoji"/>
                <a:ea typeface="Segoe UI Emoji"/>
              </a:rPr>
              <a:t>🚦</a:t>
            </a:r>
            <a:endParaRPr lang="en-US" sz="1600" b="0" u="none" strike="noStrike">
              <a:solidFill>
                <a:srgbClr val="FFFFFF"/>
              </a:solidFill>
              <a:effectLst/>
              <a:uFillTx/>
              <a:latin typeface="Arial"/>
            </a:endParaRPr>
          </a:p>
        </p:txBody>
      </p:sp>
      <p:sp>
        <p:nvSpPr>
          <p:cNvPr id="277" name="Text 10"/>
          <p:cNvSpPr/>
          <p:nvPr/>
        </p:nvSpPr>
        <p:spPr>
          <a:xfrm>
            <a:off x="1371600" y="4380120"/>
            <a:ext cx="3200040" cy="13255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600" b="1" u="none" strike="noStrike">
                <a:solidFill>
                  <a:srgbClr val="FFFFFF"/>
                </a:solidFill>
                <a:effectLst/>
                <a:uFillTx/>
                <a:latin typeface="Arial"/>
                <a:ea typeface="Arial"/>
              </a:rPr>
              <a:t>Tự ký, tự gửi</a:t>
            </a:r>
            <a:endParaRPr lang="en-US" sz="1600" b="0" u="none" strike="noStrike">
              <a:solidFill>
                <a:srgbClr val="FFFFFF"/>
              </a:solidFill>
              <a:effectLst/>
              <a:uFillTx/>
              <a:latin typeface="Arial"/>
            </a:endParaRPr>
          </a:p>
          <a:p>
            <a:pPr defTabSz="914400">
              <a:lnSpc>
                <a:spcPts val="1899"/>
              </a:lnSpc>
              <a:tabLst>
                <a:tab pos="0" algn="l"/>
              </a:tabLst>
            </a:pPr>
            <a:r>
              <a:rPr lang="en-US" sz="1350" b="0" u="none" strike="noStrike">
                <a:solidFill>
                  <a:srgbClr val="A9BCD6"/>
                </a:solidFill>
                <a:effectLst/>
                <a:uFillTx/>
                <a:latin typeface="Arial"/>
                <a:ea typeface="Arial"/>
              </a:rPr>
              <a:t>Chỉ hồ sơ hết lỗi nghiêm trọng mới được ký và gửi; trạng thái hiện ngay trên danh sách.</a:t>
            </a:r>
            <a:endParaRPr lang="en-US" sz="1350" b="0" u="none" strike="noStrike">
              <a:solidFill>
                <a:srgbClr val="FFFFFF"/>
              </a:solidFill>
              <a:effectLst/>
              <a:uFillTx/>
              <a:latin typeface="Arial"/>
            </a:endParaRPr>
          </a:p>
        </p:txBody>
      </p:sp>
      <p:sp>
        <p:nvSpPr>
          <p:cNvPr id="278" name="Shape 11"/>
          <p:cNvSpPr/>
          <p:nvPr/>
        </p:nvSpPr>
        <p:spPr>
          <a:xfrm>
            <a:off x="4855320" y="1563480"/>
            <a:ext cx="6732360" cy="4235040"/>
          </a:xfrm>
          <a:prstGeom prst="rect">
            <a:avLst/>
          </a:prstGeom>
          <a:solidFill>
            <a:srgbClr val="2E4B74"/>
          </a:solidFill>
          <a:ln w="9525">
            <a:solidFill>
              <a:srgbClr val="4A689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279" name="Image 0" descr="/Users/tracnn/qlbv/docs/dao-tao/anh/anh-03-danh-sach-ho-so-xml3176.png"/>
          <p:cNvPicPr/>
          <p:nvPr/>
        </p:nvPicPr>
        <p:blipFill>
          <a:blip r:embed="rId2"/>
          <a:stretch/>
        </p:blipFill>
        <p:spPr>
          <a:xfrm>
            <a:off x="4892040" y="1600200"/>
            <a:ext cx="6659280" cy="4161960"/>
          </a:xfrm>
          <a:prstGeom prst="rect">
            <a:avLst/>
          </a:prstGeom>
          <a:noFill/>
          <a:ln w="0">
            <a:noFill/>
          </a:ln>
        </p:spPr>
      </p:pic>
      <p:sp>
        <p:nvSpPr>
          <p:cNvPr id="280" name="Text 12"/>
          <p:cNvSpPr/>
          <p:nvPr/>
        </p:nvSpPr>
        <p:spPr>
          <a:xfrm>
            <a:off x="4892040" y="5872320"/>
            <a:ext cx="665928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50" b="0" i="1" u="none" strike="noStrike">
                <a:solidFill>
                  <a:srgbClr val="7F93B0"/>
                </a:solidFill>
                <a:effectLst/>
                <a:uFillTx/>
                <a:latin typeface="Arial"/>
                <a:ea typeface="Arial"/>
              </a:rPr>
              <a:t>Màn Danh sách hồ sơ XML 3176 — dòng đỏ là hồ sơ còn lỗi</a:t>
            </a:r>
            <a:endParaRPr lang="en-US" sz="1050" b="0" u="none" strike="noStrike">
              <a:solidFill>
                <a:srgbClr val="FFFFFF"/>
              </a:solidFill>
              <a:effectLst/>
              <a:uFillTx/>
              <a:latin typeface="Arial"/>
            </a:endParaRPr>
          </a:p>
        </p:txBody>
      </p:sp>
      <p:sp>
        <p:nvSpPr>
          <p:cNvPr id="281" name="Text 13"/>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10 / 21</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82"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PHẢN HỒI VỀ KHOA</a:t>
            </a:r>
            <a:endParaRPr lang="en-US" sz="1200" b="0" u="none" strike="noStrike">
              <a:solidFill>
                <a:srgbClr val="FFFFFF"/>
              </a:solidFill>
              <a:effectLst/>
              <a:uFillTx/>
              <a:latin typeface="Arial"/>
            </a:endParaRPr>
          </a:p>
        </p:txBody>
      </p:sp>
      <p:sp>
        <p:nvSpPr>
          <p:cNvPr id="283"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Một mã điều trị — thấy mọi lỗi của hồ sơ</a:t>
            </a:r>
            <a:endParaRPr lang="en-US" sz="2800" b="0" u="none" strike="noStrike">
              <a:solidFill>
                <a:srgbClr val="FFFFFF"/>
              </a:solidFill>
              <a:effectLst/>
              <a:uFillTx/>
              <a:latin typeface="Arial"/>
            </a:endParaRPr>
          </a:p>
        </p:txBody>
      </p:sp>
      <p:sp>
        <p:nvSpPr>
          <p:cNvPr id="284" name="Shape 2"/>
          <p:cNvSpPr/>
          <p:nvPr/>
        </p:nvSpPr>
        <p:spPr>
          <a:xfrm>
            <a:off x="640080" y="1600200"/>
            <a:ext cx="548280" cy="548280"/>
          </a:xfrm>
          <a:prstGeom prst="ellipse">
            <a:avLst/>
          </a:prstGeom>
          <a:solidFill>
            <a:srgbClr val="1C3558"/>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5" name="Text 3"/>
          <p:cNvSpPr/>
          <p:nvPr/>
        </p:nvSpPr>
        <p:spPr>
          <a:xfrm>
            <a:off x="640080" y="160020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000000"/>
                </a:solidFill>
                <a:effectLst/>
                <a:uFillTx/>
                <a:latin typeface="Segoe UI Emoji"/>
                <a:ea typeface="Segoe UI Emoji"/>
              </a:rPr>
              <a:t>🧾</a:t>
            </a:r>
            <a:endParaRPr lang="en-US" sz="1600" b="0" u="none" strike="noStrike">
              <a:solidFill>
                <a:srgbClr val="FFFFFF"/>
              </a:solidFill>
              <a:effectLst/>
              <a:uFillTx/>
              <a:latin typeface="Arial"/>
            </a:endParaRPr>
          </a:p>
        </p:txBody>
      </p:sp>
      <p:sp>
        <p:nvSpPr>
          <p:cNvPr id="286" name="Text 4"/>
          <p:cNvSpPr/>
          <p:nvPr/>
        </p:nvSpPr>
        <p:spPr>
          <a:xfrm>
            <a:off x="1371600" y="1581840"/>
            <a:ext cx="3200040" cy="13255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600" b="1" u="none" strike="noStrike">
                <a:solidFill>
                  <a:srgbClr val="FFFFFF"/>
                </a:solidFill>
                <a:effectLst/>
                <a:uFillTx/>
                <a:latin typeface="Arial"/>
                <a:ea typeface="Arial"/>
              </a:rPr>
              <a:t>Gom lỗi một chỗ</a:t>
            </a:r>
            <a:endParaRPr lang="en-US" sz="1600" b="0" u="none" strike="noStrike">
              <a:solidFill>
                <a:srgbClr val="FFFFFF"/>
              </a:solidFill>
              <a:effectLst/>
              <a:uFillTx/>
              <a:latin typeface="Arial"/>
            </a:endParaRPr>
          </a:p>
          <a:p>
            <a:pPr defTabSz="914400">
              <a:lnSpc>
                <a:spcPts val="1899"/>
              </a:lnSpc>
              <a:tabLst>
                <a:tab pos="0" algn="l"/>
              </a:tabLst>
            </a:pPr>
            <a:r>
              <a:rPr lang="en-US" sz="1350" b="0" u="none" strike="noStrike">
                <a:solidFill>
                  <a:srgbClr val="A9BCD6"/>
                </a:solidFill>
                <a:effectLst/>
                <a:uFillTx/>
                <a:latin typeface="Arial"/>
                <a:ea typeface="Arial"/>
              </a:rPr>
              <a:t>Sai sót y lệnh, lỗi tra thẻ BHYT, lỗi XML 3176 của cùng một hồ sơ trên một trang.</a:t>
            </a:r>
            <a:endParaRPr lang="en-US" sz="1350" b="0" u="none" strike="noStrike">
              <a:solidFill>
                <a:srgbClr val="FFFFFF"/>
              </a:solidFill>
              <a:effectLst/>
              <a:uFillTx/>
              <a:latin typeface="Arial"/>
            </a:endParaRPr>
          </a:p>
        </p:txBody>
      </p:sp>
      <p:sp>
        <p:nvSpPr>
          <p:cNvPr id="287" name="Shape 5"/>
          <p:cNvSpPr/>
          <p:nvPr/>
        </p:nvSpPr>
        <p:spPr>
          <a:xfrm>
            <a:off x="640080" y="2999160"/>
            <a:ext cx="548280" cy="548280"/>
          </a:xfrm>
          <a:prstGeom prst="ellipse">
            <a:avLst/>
          </a:prstGeom>
          <a:solidFill>
            <a:srgbClr val="1C3558"/>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8" name="Text 6"/>
          <p:cNvSpPr/>
          <p:nvPr/>
        </p:nvSpPr>
        <p:spPr>
          <a:xfrm>
            <a:off x="640080" y="299916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000000"/>
                </a:solidFill>
                <a:effectLst/>
                <a:uFillTx/>
                <a:latin typeface="Segoe UI Emoji"/>
                <a:ea typeface="Segoe UI Emoji"/>
              </a:rPr>
              <a:t>📷</a:t>
            </a:r>
            <a:endParaRPr lang="en-US" sz="1600" b="0" u="none" strike="noStrike">
              <a:solidFill>
                <a:srgbClr val="FFFFFF"/>
              </a:solidFill>
              <a:effectLst/>
              <a:uFillTx/>
              <a:latin typeface="Arial"/>
            </a:endParaRPr>
          </a:p>
        </p:txBody>
      </p:sp>
      <p:sp>
        <p:nvSpPr>
          <p:cNvPr id="289" name="Text 7"/>
          <p:cNvSpPr/>
          <p:nvPr/>
        </p:nvSpPr>
        <p:spPr>
          <a:xfrm>
            <a:off x="1371600" y="2980800"/>
            <a:ext cx="3200040" cy="13255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600" b="1" u="none" strike="noStrike">
                <a:solidFill>
                  <a:srgbClr val="FFFFFF"/>
                </a:solidFill>
                <a:effectLst/>
                <a:uFillTx/>
                <a:latin typeface="Arial"/>
                <a:ea typeface="Arial"/>
              </a:rPr>
              <a:t>Quét mã vạch</a:t>
            </a:r>
            <a:endParaRPr lang="en-US" sz="1600" b="0" u="none" strike="noStrike">
              <a:solidFill>
                <a:srgbClr val="FFFFFF"/>
              </a:solidFill>
              <a:effectLst/>
              <a:uFillTx/>
              <a:latin typeface="Arial"/>
            </a:endParaRPr>
          </a:p>
          <a:p>
            <a:pPr defTabSz="914400">
              <a:lnSpc>
                <a:spcPts val="1899"/>
              </a:lnSpc>
              <a:tabLst>
                <a:tab pos="0" algn="l"/>
              </a:tabLst>
            </a:pPr>
            <a:r>
              <a:rPr lang="en-US" sz="1350" b="0" u="none" strike="noStrike">
                <a:solidFill>
                  <a:srgbClr val="A9BCD6"/>
                </a:solidFill>
                <a:effectLst/>
                <a:uFillTx/>
                <a:latin typeface="Arial"/>
                <a:ea typeface="Arial"/>
              </a:rPr>
              <a:t>Quét mã trên phiếu, bệnh án để mở ngay hồ sơ, không phải gõ tay.</a:t>
            </a:r>
            <a:endParaRPr lang="en-US" sz="1350" b="0" u="none" strike="noStrike">
              <a:solidFill>
                <a:srgbClr val="FFFFFF"/>
              </a:solidFill>
              <a:effectLst/>
              <a:uFillTx/>
              <a:latin typeface="Arial"/>
            </a:endParaRPr>
          </a:p>
        </p:txBody>
      </p:sp>
      <p:sp>
        <p:nvSpPr>
          <p:cNvPr id="290" name="Shape 8"/>
          <p:cNvSpPr/>
          <p:nvPr/>
        </p:nvSpPr>
        <p:spPr>
          <a:xfrm>
            <a:off x="640080" y="4398120"/>
            <a:ext cx="548280" cy="548280"/>
          </a:xfrm>
          <a:prstGeom prst="ellipse">
            <a:avLst/>
          </a:prstGeom>
          <a:solidFill>
            <a:srgbClr val="1C3558"/>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1" name="Text 9"/>
          <p:cNvSpPr/>
          <p:nvPr/>
        </p:nvSpPr>
        <p:spPr>
          <a:xfrm>
            <a:off x="640080" y="43981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000000"/>
                </a:solidFill>
                <a:effectLst/>
                <a:uFillTx/>
                <a:latin typeface="Segoe UI Emoji"/>
                <a:ea typeface="Segoe UI Emoji"/>
              </a:rPr>
              <a:t>🖨️</a:t>
            </a:r>
            <a:endParaRPr lang="en-US" sz="1600" b="0" u="none" strike="noStrike">
              <a:solidFill>
                <a:srgbClr val="FFFFFF"/>
              </a:solidFill>
              <a:effectLst/>
              <a:uFillTx/>
              <a:latin typeface="Arial"/>
            </a:endParaRPr>
          </a:p>
        </p:txBody>
      </p:sp>
      <p:sp>
        <p:nvSpPr>
          <p:cNvPr id="292" name="Text 10"/>
          <p:cNvSpPr/>
          <p:nvPr/>
        </p:nvSpPr>
        <p:spPr>
          <a:xfrm>
            <a:off x="1371600" y="4380120"/>
            <a:ext cx="3200040" cy="13255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600" b="1" u="none" strike="noStrike">
                <a:solidFill>
                  <a:srgbClr val="FFFFFF"/>
                </a:solidFill>
                <a:effectLst/>
                <a:uFillTx/>
                <a:latin typeface="Arial"/>
                <a:ea typeface="Arial"/>
              </a:rPr>
              <a:t>In phiếu lỗi</a:t>
            </a:r>
            <a:endParaRPr lang="en-US" sz="1600" b="0" u="none" strike="noStrike">
              <a:solidFill>
                <a:srgbClr val="FFFFFF"/>
              </a:solidFill>
              <a:effectLst/>
              <a:uFillTx/>
              <a:latin typeface="Arial"/>
            </a:endParaRPr>
          </a:p>
          <a:p>
            <a:pPr defTabSz="914400">
              <a:lnSpc>
                <a:spcPts val="1899"/>
              </a:lnSpc>
              <a:tabLst>
                <a:tab pos="0" algn="l"/>
              </a:tabLst>
            </a:pPr>
            <a:r>
              <a:rPr lang="en-US" sz="1350" b="0" u="none" strike="noStrike">
                <a:solidFill>
                  <a:srgbClr val="A9BCD6"/>
                </a:solidFill>
                <a:effectLst/>
                <a:uFillTx/>
                <a:latin typeface="Arial"/>
                <a:ea typeface="Arial"/>
              </a:rPr>
              <a:t>In phiếu giao khoa phát sinh sửa trên HIS — có căn cứ, đúng đầu mối.</a:t>
            </a:r>
            <a:endParaRPr lang="en-US" sz="1350" b="0" u="none" strike="noStrike">
              <a:solidFill>
                <a:srgbClr val="FFFFFF"/>
              </a:solidFill>
              <a:effectLst/>
              <a:uFillTx/>
              <a:latin typeface="Arial"/>
            </a:endParaRPr>
          </a:p>
        </p:txBody>
      </p:sp>
      <p:sp>
        <p:nvSpPr>
          <p:cNvPr id="293" name="Shape 11"/>
          <p:cNvSpPr/>
          <p:nvPr/>
        </p:nvSpPr>
        <p:spPr>
          <a:xfrm>
            <a:off x="4855320" y="1563480"/>
            <a:ext cx="6732360" cy="3840120"/>
          </a:xfrm>
          <a:prstGeom prst="rect">
            <a:avLst/>
          </a:prstGeom>
          <a:solidFill>
            <a:srgbClr val="2E4B74"/>
          </a:solidFill>
          <a:ln w="9525">
            <a:solidFill>
              <a:srgbClr val="4A689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294" name="Image 0" descr="/Users/tracnn/qlbv/docs/dao-tao/anh/anh-02-tra-cuu-loi-ho-so.png"/>
          <p:cNvPicPr/>
          <p:nvPr/>
        </p:nvPicPr>
        <p:blipFill>
          <a:blip r:embed="rId2"/>
          <a:stretch/>
        </p:blipFill>
        <p:spPr>
          <a:xfrm>
            <a:off x="4892040" y="1600200"/>
            <a:ext cx="6659280" cy="3767040"/>
          </a:xfrm>
          <a:prstGeom prst="rect">
            <a:avLst/>
          </a:prstGeom>
          <a:noFill/>
          <a:ln w="0">
            <a:noFill/>
          </a:ln>
        </p:spPr>
      </p:pic>
      <p:sp>
        <p:nvSpPr>
          <p:cNvPr id="295" name="Text 12"/>
          <p:cNvSpPr/>
          <p:nvPr/>
        </p:nvSpPr>
        <p:spPr>
          <a:xfrm>
            <a:off x="4892040" y="5477040"/>
            <a:ext cx="665928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50" b="0" i="1" u="none" strike="noStrike">
                <a:solidFill>
                  <a:srgbClr val="7F93B0"/>
                </a:solidFill>
                <a:effectLst/>
                <a:uFillTx/>
                <a:latin typeface="Arial"/>
                <a:ea typeface="Arial"/>
              </a:rPr>
              <a:t>Màn Tra cứu lỗi hồ sơ theo mã điều trị</a:t>
            </a:r>
            <a:endParaRPr lang="en-US" sz="1050" b="0" u="none" strike="noStrike">
              <a:solidFill>
                <a:srgbClr val="FFFFFF"/>
              </a:solidFill>
              <a:effectLst/>
              <a:uFillTx/>
              <a:latin typeface="Arial"/>
            </a:endParaRPr>
          </a:p>
        </p:txBody>
      </p:sp>
      <p:sp>
        <p:nvSpPr>
          <p:cNvPr id="296" name="Text 13"/>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11 / 21</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97"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NHẬN LỖI</a:t>
            </a:r>
            <a:endParaRPr lang="en-US" sz="1200" b="0" u="none" strike="noStrike">
              <a:solidFill>
                <a:srgbClr val="FFFFFF"/>
              </a:solidFill>
              <a:effectLst/>
              <a:uFillTx/>
              <a:latin typeface="Arial"/>
            </a:endParaRPr>
          </a:p>
        </p:txBody>
      </p:sp>
      <p:sp>
        <p:nvSpPr>
          <p:cNvPr id="298"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Danh sách lỗi đến tay người cần biết theo hai cách</a:t>
            </a:r>
            <a:endParaRPr lang="en-US" sz="2800" b="0" u="none" strike="noStrike">
              <a:solidFill>
                <a:srgbClr val="FFFFFF"/>
              </a:solidFill>
              <a:effectLst/>
              <a:uFillTx/>
              <a:latin typeface="Arial"/>
            </a:endParaRPr>
          </a:p>
        </p:txBody>
      </p:sp>
      <p:sp>
        <p:nvSpPr>
          <p:cNvPr id="299" name="Text 2"/>
          <p:cNvSpPr/>
          <p:nvPr/>
        </p:nvSpPr>
        <p:spPr>
          <a:xfrm>
            <a:off x="640080" y="1298520"/>
            <a:ext cx="10911240" cy="328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A9BCD6"/>
                </a:solidFill>
                <a:effectLst/>
                <a:uFillTx/>
                <a:latin typeface="Arial"/>
                <a:ea typeface="Arial"/>
              </a:rPr>
              <a:t>Người cần xem thì tự vào Cổng; người cần được nhắc thì hệ thống tự gửi email — không ai phải đi hỏi.</a:t>
            </a:r>
            <a:endParaRPr lang="en-US" sz="1500" b="0" u="none" strike="noStrike">
              <a:solidFill>
                <a:srgbClr val="FFFFFF"/>
              </a:solidFill>
              <a:effectLst/>
              <a:uFillTx/>
              <a:latin typeface="Arial"/>
            </a:endParaRPr>
          </a:p>
        </p:txBody>
      </p:sp>
      <p:sp>
        <p:nvSpPr>
          <p:cNvPr id="300" name="Shape 3"/>
          <p:cNvSpPr/>
          <p:nvPr/>
        </p:nvSpPr>
        <p:spPr>
          <a:xfrm>
            <a:off x="640080" y="1828800"/>
            <a:ext cx="5295240" cy="3611520"/>
          </a:xfrm>
          <a:prstGeom prst="roundRect">
            <a:avLst>
              <a:gd name="adj" fmla="val 2532"/>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1" name="Shape 4"/>
          <p:cNvSpPr/>
          <p:nvPr/>
        </p:nvSpPr>
        <p:spPr>
          <a:xfrm>
            <a:off x="914400" y="2084760"/>
            <a:ext cx="731160" cy="731160"/>
          </a:xfrm>
          <a:prstGeom prst="ellipse">
            <a:avLst/>
          </a:prstGeom>
          <a:solidFill>
            <a:srgbClr val="25324A"/>
          </a:solidFill>
          <a:ln w="15875">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2" name="Text 5"/>
          <p:cNvSpPr/>
          <p:nvPr/>
        </p:nvSpPr>
        <p:spPr>
          <a:xfrm>
            <a:off x="914400" y="2084760"/>
            <a:ext cx="731160" cy="731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303" name="Text 6"/>
          <p:cNvSpPr/>
          <p:nvPr/>
        </p:nvSpPr>
        <p:spPr>
          <a:xfrm>
            <a:off x="1828800" y="2057400"/>
            <a:ext cx="3877920" cy="785880"/>
          </a:xfrm>
          <a:prstGeom prst="rect">
            <a:avLst/>
          </a:prstGeom>
          <a:noFill/>
          <a:ln w="0">
            <a:noFill/>
          </a:ln>
        </p:spPr>
        <p:style>
          <a:lnRef idx="0"/>
          <a:fillRef idx="0"/>
          <a:effectRef idx="0"/>
          <a:fontRef idx="minor"/>
        </p:style>
        <p:txBody>
          <a:bodyPr lIns="0" tIns="0" rIns="0" bIns="0" anchor="ctr">
            <a:noAutofit/>
          </a:bodyPr>
          <a:p>
            <a:pPr defTabSz="914400">
              <a:lnSpc>
                <a:spcPts val="2401"/>
              </a:lnSpc>
              <a:tabLst>
                <a:tab pos="0" algn="l"/>
              </a:tabLst>
            </a:pPr>
            <a:r>
              <a:rPr lang="en-US" sz="1150" b="1" u="none" spc="201" strike="noStrike">
                <a:solidFill>
                  <a:srgbClr val="38BDF8"/>
                </a:solidFill>
                <a:effectLst/>
                <a:uFillTx/>
                <a:latin typeface="Arial"/>
                <a:ea typeface="Arial"/>
              </a:rPr>
              <a:t>CHỦ ĐỘNG</a:t>
            </a:r>
            <a:endParaRPr lang="en-US" sz="1150" b="0" u="none" strike="noStrike">
              <a:solidFill>
                <a:srgbClr val="FFFFFF"/>
              </a:solidFill>
              <a:effectLst/>
              <a:uFillTx/>
              <a:latin typeface="Arial"/>
            </a:endParaRPr>
          </a:p>
          <a:p>
            <a:pPr defTabSz="914400">
              <a:lnSpc>
                <a:spcPts val="2401"/>
              </a:lnSpc>
              <a:tabLst>
                <a:tab pos="0" algn="l"/>
              </a:tabLst>
            </a:pPr>
            <a:r>
              <a:rPr lang="en-US" sz="1900" b="1" u="none" strike="noStrike">
                <a:solidFill>
                  <a:srgbClr val="FFFFFF"/>
                </a:solidFill>
                <a:effectLst/>
                <a:uFillTx/>
                <a:latin typeface="Arial"/>
                <a:ea typeface="Arial"/>
              </a:rPr>
              <a:t>Vào Cổng Tiền giám định</a:t>
            </a:r>
            <a:endParaRPr lang="en-US" sz="1900" b="0" u="none" strike="noStrike">
              <a:solidFill>
                <a:srgbClr val="FFFFFF"/>
              </a:solidFill>
              <a:effectLst/>
              <a:uFillTx/>
              <a:latin typeface="Arial"/>
            </a:endParaRPr>
          </a:p>
        </p:txBody>
      </p:sp>
      <p:sp>
        <p:nvSpPr>
          <p:cNvPr id="304" name="Text 7"/>
          <p:cNvSpPr/>
          <p:nvPr/>
        </p:nvSpPr>
        <p:spPr>
          <a:xfrm>
            <a:off x="960120" y="3063240"/>
            <a:ext cx="4655160" cy="731160"/>
          </a:xfrm>
          <a:prstGeom prst="rect">
            <a:avLst/>
          </a:prstGeom>
          <a:noFill/>
          <a:ln w="0">
            <a:noFill/>
          </a:ln>
        </p:spPr>
        <p:style>
          <a:lnRef idx="0"/>
          <a:fillRef idx="0"/>
          <a:effectRef idx="0"/>
          <a:fontRef idx="minor"/>
        </p:style>
        <p:txBody>
          <a:bodyPr lIns="0" tIns="0" rIns="0" bIns="0" anchor="t">
            <a:noAutofit/>
          </a:bodyPr>
          <a:p>
            <a:pPr defTabSz="914400">
              <a:lnSpc>
                <a:spcPts val="1800"/>
              </a:lnSpc>
              <a:tabLst>
                <a:tab pos="0" algn="l"/>
              </a:tabLst>
            </a:pPr>
            <a:r>
              <a:rPr lang="en-US" sz="1500" b="1" u="none" strike="noStrike">
                <a:solidFill>
                  <a:srgbClr val="FFFFFF"/>
                </a:solidFill>
                <a:effectLst/>
                <a:uFillTx/>
                <a:latin typeface="Arial"/>
                <a:ea typeface="Arial"/>
              </a:rPr>
              <a:t>Danh sách hồ sơ, danh sách vi phạm</a:t>
            </a:r>
            <a:endParaRPr lang="en-US" sz="1500" b="0" u="none" strike="noStrike">
              <a:solidFill>
                <a:srgbClr val="FFFFFF"/>
              </a:solidFill>
              <a:effectLst/>
              <a:uFillTx/>
              <a:latin typeface="Arial"/>
            </a:endParaRPr>
          </a:p>
          <a:p>
            <a:pPr defTabSz="914400">
              <a:lnSpc>
                <a:spcPts val="1800"/>
              </a:lnSpc>
              <a:tabLst>
                <a:tab pos="0" algn="l"/>
              </a:tabLst>
            </a:pPr>
            <a:r>
              <a:rPr lang="en-US" sz="1300" b="0" u="none" strike="noStrike">
                <a:solidFill>
                  <a:srgbClr val="A9BCD6"/>
                </a:solidFill>
                <a:effectLst/>
                <a:uFillTx/>
                <a:latin typeface="Arial"/>
                <a:ea typeface="Arial"/>
              </a:rPr>
              <a:t>Lọc theo khoa, mức độ, ngày; xuất Excel để giao việc.</a:t>
            </a:r>
            <a:endParaRPr lang="en-US" sz="1300" b="0" u="none" strike="noStrike">
              <a:solidFill>
                <a:srgbClr val="FFFFFF"/>
              </a:solidFill>
              <a:effectLst/>
              <a:uFillTx/>
              <a:latin typeface="Arial"/>
            </a:endParaRPr>
          </a:p>
        </p:txBody>
      </p:sp>
      <p:sp>
        <p:nvSpPr>
          <p:cNvPr id="305" name="Text 8"/>
          <p:cNvSpPr/>
          <p:nvPr/>
        </p:nvSpPr>
        <p:spPr>
          <a:xfrm>
            <a:off x="960120" y="3831480"/>
            <a:ext cx="4655160" cy="731160"/>
          </a:xfrm>
          <a:prstGeom prst="rect">
            <a:avLst/>
          </a:prstGeom>
          <a:noFill/>
          <a:ln w="0">
            <a:noFill/>
          </a:ln>
        </p:spPr>
        <p:style>
          <a:lnRef idx="0"/>
          <a:fillRef idx="0"/>
          <a:effectRef idx="0"/>
          <a:fontRef idx="minor"/>
        </p:style>
        <p:txBody>
          <a:bodyPr lIns="0" tIns="0" rIns="0" bIns="0" anchor="t">
            <a:noAutofit/>
          </a:bodyPr>
          <a:p>
            <a:pPr defTabSz="914400">
              <a:lnSpc>
                <a:spcPts val="1800"/>
              </a:lnSpc>
              <a:tabLst>
                <a:tab pos="0" algn="l"/>
              </a:tabLst>
            </a:pPr>
            <a:r>
              <a:rPr lang="en-US" sz="1500" b="1" u="none" strike="noStrike">
                <a:solidFill>
                  <a:srgbClr val="FFFFFF"/>
                </a:solidFill>
                <a:effectLst/>
                <a:uFillTx/>
                <a:latin typeface="Arial"/>
                <a:ea typeface="Arial"/>
              </a:rPr>
              <a:t>Tra cứu theo mã điều trị</a:t>
            </a:r>
            <a:endParaRPr lang="en-US" sz="1500" b="0" u="none" strike="noStrike">
              <a:solidFill>
                <a:srgbClr val="FFFFFF"/>
              </a:solidFill>
              <a:effectLst/>
              <a:uFillTx/>
              <a:latin typeface="Arial"/>
            </a:endParaRPr>
          </a:p>
          <a:p>
            <a:pPr defTabSz="914400">
              <a:lnSpc>
                <a:spcPts val="1800"/>
              </a:lnSpc>
              <a:tabLst>
                <a:tab pos="0" algn="l"/>
              </a:tabLst>
            </a:pPr>
            <a:r>
              <a:rPr lang="en-US" sz="1300" b="0" u="none" strike="noStrike">
                <a:solidFill>
                  <a:srgbClr val="A9BCD6"/>
                </a:solidFill>
                <a:effectLst/>
                <a:uFillTx/>
                <a:latin typeface="Arial"/>
                <a:ea typeface="Arial"/>
              </a:rPr>
              <a:t>Quét mã vạch, thấy mọi lỗi của một hồ sơ; in phiếu lỗi.</a:t>
            </a:r>
            <a:endParaRPr lang="en-US" sz="1300" b="0" u="none" strike="noStrike">
              <a:solidFill>
                <a:srgbClr val="FFFFFF"/>
              </a:solidFill>
              <a:effectLst/>
              <a:uFillTx/>
              <a:latin typeface="Arial"/>
            </a:endParaRPr>
          </a:p>
        </p:txBody>
      </p:sp>
      <p:sp>
        <p:nvSpPr>
          <p:cNvPr id="306" name="Text 9"/>
          <p:cNvSpPr/>
          <p:nvPr/>
        </p:nvSpPr>
        <p:spPr>
          <a:xfrm>
            <a:off x="960120" y="4599360"/>
            <a:ext cx="4655160" cy="731160"/>
          </a:xfrm>
          <a:prstGeom prst="rect">
            <a:avLst/>
          </a:prstGeom>
          <a:noFill/>
          <a:ln w="0">
            <a:noFill/>
          </a:ln>
        </p:spPr>
        <p:style>
          <a:lnRef idx="0"/>
          <a:fillRef idx="0"/>
          <a:effectRef idx="0"/>
          <a:fontRef idx="minor"/>
        </p:style>
        <p:txBody>
          <a:bodyPr lIns="0" tIns="0" rIns="0" bIns="0" anchor="t">
            <a:noAutofit/>
          </a:bodyPr>
          <a:p>
            <a:pPr defTabSz="914400">
              <a:lnSpc>
                <a:spcPts val="1800"/>
              </a:lnSpc>
              <a:tabLst>
                <a:tab pos="0" algn="l"/>
              </a:tabLst>
            </a:pPr>
            <a:r>
              <a:rPr lang="en-US" sz="1500" b="1" u="none" strike="noStrike">
                <a:solidFill>
                  <a:srgbClr val="FFFFFF"/>
                </a:solidFill>
                <a:effectLst/>
                <a:uFillTx/>
                <a:latin typeface="Arial"/>
                <a:ea typeface="Arial"/>
              </a:rPr>
              <a:t>Dashboard</a:t>
            </a:r>
            <a:endParaRPr lang="en-US" sz="1500" b="0" u="none" strike="noStrike">
              <a:solidFill>
                <a:srgbClr val="FFFFFF"/>
              </a:solidFill>
              <a:effectLst/>
              <a:uFillTx/>
              <a:latin typeface="Arial"/>
            </a:endParaRPr>
          </a:p>
          <a:p>
            <a:pPr defTabSz="914400">
              <a:lnSpc>
                <a:spcPts val="1800"/>
              </a:lnSpc>
              <a:tabLst>
                <a:tab pos="0" algn="l"/>
              </a:tabLst>
            </a:pPr>
            <a:r>
              <a:rPr lang="en-US" sz="1300" b="0" u="none" strike="noStrike">
                <a:solidFill>
                  <a:srgbClr val="A9BCD6"/>
                </a:solidFill>
                <a:effectLst/>
                <a:uFillTx/>
                <a:latin typeface="Arial"/>
                <a:ea typeface="Arial"/>
              </a:rPr>
              <a:t>Lỗi tập trung ở đâu, tồn </a:t>
            </a:r>
            <a:r>
              <a:rPr lang="en-US" sz="1300" b="0" u="none" strike="noStrike">
                <a:solidFill>
                  <a:srgbClr val="A9BCD6"/>
                </a:solidFill>
                <a:effectLst/>
                <a:uFillTx/>
                <a:latin typeface="Arial"/>
                <a:ea typeface="Arial"/>
              </a:rPr>
              <a:t>đọng bao lâu — xem bất </a:t>
            </a:r>
            <a:r>
              <a:rPr lang="en-US" sz="1300" b="0" u="none" strike="noStrike">
                <a:solidFill>
                  <a:srgbClr val="A9BCD6"/>
                </a:solidFill>
                <a:effectLst/>
                <a:uFillTx/>
                <a:latin typeface="Arial"/>
                <a:ea typeface="Arial"/>
              </a:rPr>
              <a:t>cứ lúc nào.</a:t>
            </a:r>
            <a:endParaRPr lang="en-US" sz="1300" b="0" u="none" strike="noStrike">
              <a:solidFill>
                <a:srgbClr val="FFFFFF"/>
              </a:solidFill>
              <a:effectLst/>
              <a:uFillTx/>
              <a:latin typeface="Arial"/>
            </a:endParaRPr>
          </a:p>
        </p:txBody>
      </p:sp>
      <p:sp>
        <p:nvSpPr>
          <p:cNvPr id="307" name="Shape 10"/>
          <p:cNvSpPr/>
          <p:nvPr/>
        </p:nvSpPr>
        <p:spPr>
          <a:xfrm>
            <a:off x="6255720" y="1828800"/>
            <a:ext cx="5295240" cy="3611520"/>
          </a:xfrm>
          <a:prstGeom prst="roundRect">
            <a:avLst>
              <a:gd name="adj" fmla="val 2532"/>
            </a:avLst>
          </a:prstGeom>
          <a:solidFill>
            <a:srgbClr val="25324A">
              <a:alpha val="85000"/>
            </a:srgbClr>
          </a:solidFill>
          <a:ln w="19050">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8" name="Shape 11"/>
          <p:cNvSpPr/>
          <p:nvPr/>
        </p:nvSpPr>
        <p:spPr>
          <a:xfrm>
            <a:off x="6530040" y="2084760"/>
            <a:ext cx="731160" cy="731160"/>
          </a:xfrm>
          <a:prstGeom prst="ellipse">
            <a:avLst/>
          </a:prstGeom>
          <a:solidFill>
            <a:srgbClr val="25324A"/>
          </a:solidFill>
          <a:ln w="15875">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9" name="Text 12"/>
          <p:cNvSpPr/>
          <p:nvPr/>
        </p:nvSpPr>
        <p:spPr>
          <a:xfrm>
            <a:off x="6530040" y="2084760"/>
            <a:ext cx="731160" cy="731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310" name="Text 13"/>
          <p:cNvSpPr/>
          <p:nvPr/>
        </p:nvSpPr>
        <p:spPr>
          <a:xfrm>
            <a:off x="7444440" y="2057400"/>
            <a:ext cx="3877920" cy="785880"/>
          </a:xfrm>
          <a:prstGeom prst="rect">
            <a:avLst/>
          </a:prstGeom>
          <a:noFill/>
          <a:ln w="0">
            <a:noFill/>
          </a:ln>
        </p:spPr>
        <p:style>
          <a:lnRef idx="0"/>
          <a:fillRef idx="0"/>
          <a:effectRef idx="0"/>
          <a:fontRef idx="minor"/>
        </p:style>
        <p:txBody>
          <a:bodyPr lIns="0" tIns="0" rIns="0" bIns="0" anchor="ctr">
            <a:noAutofit/>
          </a:bodyPr>
          <a:p>
            <a:pPr defTabSz="914400">
              <a:lnSpc>
                <a:spcPts val="2401"/>
              </a:lnSpc>
              <a:tabLst>
                <a:tab pos="0" algn="l"/>
              </a:tabLst>
            </a:pPr>
            <a:r>
              <a:rPr lang="en-US" sz="1150" b="1" u="none" spc="201" strike="noStrike">
                <a:solidFill>
                  <a:srgbClr val="FBBF24"/>
                </a:solidFill>
                <a:effectLst/>
                <a:uFillTx/>
                <a:latin typeface="Arial"/>
                <a:ea typeface="Arial"/>
              </a:rPr>
              <a:t>THỤ ĐỘNG</a:t>
            </a:r>
            <a:endParaRPr lang="en-US" sz="1150" b="0" u="none" strike="noStrike">
              <a:solidFill>
                <a:srgbClr val="FFFFFF"/>
              </a:solidFill>
              <a:effectLst/>
              <a:uFillTx/>
              <a:latin typeface="Arial"/>
            </a:endParaRPr>
          </a:p>
          <a:p>
            <a:pPr defTabSz="914400">
              <a:lnSpc>
                <a:spcPts val="2401"/>
              </a:lnSpc>
              <a:tabLst>
                <a:tab pos="0" algn="l"/>
              </a:tabLst>
            </a:pPr>
            <a:r>
              <a:rPr lang="en-US" sz="1900" b="1" u="none" strike="noStrike">
                <a:solidFill>
                  <a:srgbClr val="FFFFFF"/>
                </a:solidFill>
                <a:effectLst/>
                <a:uFillTx/>
                <a:latin typeface="Arial"/>
                <a:ea typeface="Arial"/>
              </a:rPr>
              <a:t>Nhận email do hệ thống tự gửi</a:t>
            </a:r>
            <a:endParaRPr lang="en-US" sz="1900" b="0" u="none" strike="noStrike">
              <a:solidFill>
                <a:srgbClr val="FFFFFF"/>
              </a:solidFill>
              <a:effectLst/>
              <a:uFillTx/>
              <a:latin typeface="Arial"/>
            </a:endParaRPr>
          </a:p>
        </p:txBody>
      </p:sp>
      <p:sp>
        <p:nvSpPr>
          <p:cNvPr id="311" name="Text 14"/>
          <p:cNvSpPr/>
          <p:nvPr/>
        </p:nvSpPr>
        <p:spPr>
          <a:xfrm>
            <a:off x="6575760" y="3063240"/>
            <a:ext cx="4655160" cy="731160"/>
          </a:xfrm>
          <a:prstGeom prst="rect">
            <a:avLst/>
          </a:prstGeom>
          <a:noFill/>
          <a:ln w="0">
            <a:noFill/>
          </a:ln>
        </p:spPr>
        <p:style>
          <a:lnRef idx="0"/>
          <a:fillRef idx="0"/>
          <a:effectRef idx="0"/>
          <a:fontRef idx="minor"/>
        </p:style>
        <p:txBody>
          <a:bodyPr lIns="0" tIns="0" rIns="0" bIns="0" anchor="t">
            <a:noAutofit/>
          </a:bodyPr>
          <a:p>
            <a:pPr defTabSz="914400">
              <a:lnSpc>
                <a:spcPts val="1800"/>
              </a:lnSpc>
              <a:tabLst>
                <a:tab pos="0" algn="l"/>
              </a:tabLst>
            </a:pPr>
            <a:r>
              <a:rPr lang="en-US" sz="1500" b="1" u="none" strike="noStrike">
                <a:solidFill>
                  <a:srgbClr val="FFFFFF"/>
                </a:solidFill>
                <a:effectLst/>
                <a:uFillTx/>
                <a:latin typeface="Arial"/>
                <a:ea typeface="Arial"/>
              </a:rPr>
              <a:t>Báo cáo lỗi hằng ngày</a:t>
            </a:r>
            <a:endParaRPr lang="en-US" sz="1500" b="0" u="none" strike="noStrike">
              <a:solidFill>
                <a:srgbClr val="FFFFFF"/>
              </a:solidFill>
              <a:effectLst/>
              <a:uFillTx/>
              <a:latin typeface="Arial"/>
            </a:endParaRPr>
          </a:p>
          <a:p>
            <a:pPr defTabSz="914400">
              <a:lnSpc>
                <a:spcPts val="1800"/>
              </a:lnSpc>
              <a:tabLst>
                <a:tab pos="0" algn="l"/>
              </a:tabLst>
            </a:pPr>
            <a:r>
              <a:rPr lang="en-US" sz="1300" b="0" u="none" strike="noStrike">
                <a:solidFill>
                  <a:srgbClr val="A9BCD6"/>
                </a:solidFill>
                <a:effectLst/>
                <a:uFillTx/>
                <a:latin typeface="Arial"/>
                <a:ea typeface="Arial"/>
              </a:rPr>
              <a:t>Tổng hợp lỗi thẻ BHYT và lỗi hồ sơ XML 3176 trong ngày.</a:t>
            </a:r>
            <a:endParaRPr lang="en-US" sz="1300" b="0" u="none" strike="noStrike">
              <a:solidFill>
                <a:srgbClr val="FFFFFF"/>
              </a:solidFill>
              <a:effectLst/>
              <a:uFillTx/>
              <a:latin typeface="Arial"/>
            </a:endParaRPr>
          </a:p>
        </p:txBody>
      </p:sp>
      <p:sp>
        <p:nvSpPr>
          <p:cNvPr id="312" name="Text 15"/>
          <p:cNvSpPr/>
          <p:nvPr/>
        </p:nvSpPr>
        <p:spPr>
          <a:xfrm>
            <a:off x="6575760" y="3831480"/>
            <a:ext cx="4655160" cy="731160"/>
          </a:xfrm>
          <a:prstGeom prst="rect">
            <a:avLst/>
          </a:prstGeom>
          <a:noFill/>
          <a:ln w="0">
            <a:noFill/>
          </a:ln>
        </p:spPr>
        <p:style>
          <a:lnRef idx="0"/>
          <a:fillRef idx="0"/>
          <a:effectRef idx="0"/>
          <a:fontRef idx="minor"/>
        </p:style>
        <p:txBody>
          <a:bodyPr lIns="0" tIns="0" rIns="0" bIns="0" anchor="t">
            <a:noAutofit/>
          </a:bodyPr>
          <a:p>
            <a:pPr defTabSz="914400">
              <a:lnSpc>
                <a:spcPts val="1800"/>
              </a:lnSpc>
              <a:tabLst>
                <a:tab pos="0" algn="l"/>
              </a:tabLst>
            </a:pPr>
            <a:r>
              <a:rPr lang="en-US" sz="1500" b="1" u="none" strike="noStrike">
                <a:solidFill>
                  <a:srgbClr val="FFFFFF"/>
                </a:solidFill>
                <a:effectLst/>
                <a:uFillTx/>
                <a:latin typeface="Arial"/>
                <a:ea typeface="Arial"/>
              </a:rPr>
              <a:t>Bản tin sai sót y lệnh</a:t>
            </a:r>
            <a:endParaRPr lang="en-US" sz="1500" b="0" u="none" strike="noStrike">
              <a:solidFill>
                <a:srgbClr val="FFFFFF"/>
              </a:solidFill>
              <a:effectLst/>
              <a:uFillTx/>
              <a:latin typeface="Arial"/>
            </a:endParaRPr>
          </a:p>
          <a:p>
            <a:pPr defTabSz="914400">
              <a:lnSpc>
                <a:spcPts val="1800"/>
              </a:lnSpc>
              <a:tabLst>
                <a:tab pos="0" algn="l"/>
              </a:tabLst>
            </a:pPr>
            <a:r>
              <a:rPr lang="en-US" sz="1300" b="0" u="none" strike="noStrike">
                <a:solidFill>
                  <a:srgbClr val="A9BCD6"/>
                </a:solidFill>
                <a:effectLst/>
                <a:uFillTx/>
                <a:latin typeface="Arial"/>
                <a:ea typeface="Arial"/>
              </a:rPr>
              <a:t>Gửi các vi phạm mới từ mức độ do viện đặt trở lên.</a:t>
            </a:r>
            <a:endParaRPr lang="en-US" sz="1300" b="0" u="none" strike="noStrike">
              <a:solidFill>
                <a:srgbClr val="FFFFFF"/>
              </a:solidFill>
              <a:effectLst/>
              <a:uFillTx/>
              <a:latin typeface="Arial"/>
            </a:endParaRPr>
          </a:p>
        </p:txBody>
      </p:sp>
      <p:sp>
        <p:nvSpPr>
          <p:cNvPr id="313" name="Text 16"/>
          <p:cNvSpPr/>
          <p:nvPr/>
        </p:nvSpPr>
        <p:spPr>
          <a:xfrm>
            <a:off x="6575760" y="4599360"/>
            <a:ext cx="4655160" cy="731160"/>
          </a:xfrm>
          <a:prstGeom prst="rect">
            <a:avLst/>
          </a:prstGeom>
          <a:noFill/>
          <a:ln w="0">
            <a:noFill/>
          </a:ln>
        </p:spPr>
        <p:style>
          <a:lnRef idx="0"/>
          <a:fillRef idx="0"/>
          <a:effectRef idx="0"/>
          <a:fontRef idx="minor"/>
        </p:style>
        <p:txBody>
          <a:bodyPr lIns="0" tIns="0" rIns="0" bIns="0" anchor="t">
            <a:noAutofit/>
          </a:bodyPr>
          <a:p>
            <a:pPr defTabSz="914400">
              <a:lnSpc>
                <a:spcPts val="1800"/>
              </a:lnSpc>
              <a:tabLst>
                <a:tab pos="0" algn="l"/>
              </a:tabLst>
            </a:pPr>
            <a:r>
              <a:rPr lang="en-US" sz="1500" b="1" u="none" strike="noStrike">
                <a:solidFill>
                  <a:srgbClr val="FFFFFF"/>
                </a:solidFill>
                <a:effectLst/>
                <a:uFillTx/>
                <a:latin typeface="Arial"/>
                <a:ea typeface="Arial"/>
              </a:rPr>
              <a:t>Danh sách người nhận do viện quản lý</a:t>
            </a:r>
            <a:endParaRPr lang="en-US" sz="1500" b="0" u="none" strike="noStrike">
              <a:solidFill>
                <a:srgbClr val="FFFFFF"/>
              </a:solidFill>
              <a:effectLst/>
              <a:uFillTx/>
              <a:latin typeface="Arial"/>
            </a:endParaRPr>
          </a:p>
          <a:p>
            <a:pPr defTabSz="914400">
              <a:lnSpc>
                <a:spcPts val="1800"/>
              </a:lnSpc>
              <a:tabLst>
                <a:tab pos="0" algn="l"/>
              </a:tabLst>
            </a:pPr>
            <a:r>
              <a:rPr lang="en-US" sz="1300" b="0" u="none" strike="noStrike">
                <a:solidFill>
                  <a:srgbClr val="A9BCD6"/>
                </a:solidFill>
                <a:effectLst/>
                <a:uFillTx/>
                <a:latin typeface="Arial"/>
                <a:ea typeface="Arial"/>
              </a:rPr>
              <a:t>Thêm, tắt người nhận ngay trên phần mềm.</a:t>
            </a:r>
            <a:endParaRPr lang="en-US" sz="1300" b="0" u="none" strike="noStrike">
              <a:solidFill>
                <a:srgbClr val="FFFFFF"/>
              </a:solidFill>
              <a:effectLst/>
              <a:uFillTx/>
              <a:latin typeface="Arial"/>
            </a:endParaRPr>
          </a:p>
        </p:txBody>
      </p:sp>
      <p:sp>
        <p:nvSpPr>
          <p:cNvPr id="314" name="Text 17"/>
          <p:cNvSpPr/>
          <p:nvPr/>
        </p:nvSpPr>
        <p:spPr>
          <a:xfrm>
            <a:off x="640080" y="5623560"/>
            <a:ext cx="1091124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BBF24"/>
                </a:solidFill>
                <a:effectLst/>
                <a:uFillTx/>
                <a:latin typeface="Arial"/>
                <a:ea typeface="Arial"/>
              </a:rPr>
              <a:t>Lỗi tự tìm đến người phụ trách — không chờ cổng giám định báo về</a:t>
            </a:r>
            <a:endParaRPr lang="en-US" sz="1600" b="0" u="none" strike="noStrike">
              <a:solidFill>
                <a:srgbClr val="FFFFFF"/>
              </a:solidFill>
              <a:effectLst/>
              <a:uFillTx/>
              <a:latin typeface="Arial"/>
            </a:endParaRPr>
          </a:p>
        </p:txBody>
      </p:sp>
      <p:sp>
        <p:nvSpPr>
          <p:cNvPr id="315" name="Text 18"/>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12 / 21</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316"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HỖ TRỢ NGHIỆP VỤ</a:t>
            </a:r>
            <a:endParaRPr lang="en-US" sz="1200" b="0" u="none" strike="noStrike">
              <a:solidFill>
                <a:srgbClr val="FFFFFF"/>
              </a:solidFill>
              <a:effectLst/>
              <a:uFillTx/>
              <a:latin typeface="Arial"/>
            </a:endParaRPr>
          </a:p>
        </p:txBody>
      </p:sp>
      <p:sp>
        <p:nvSpPr>
          <p:cNvPr id="317"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Thẻ BHYT, tiền cùng chi trả, chứng từ và danh mục</a:t>
            </a:r>
            <a:endParaRPr lang="en-US" sz="2800" b="0" u="none" strike="noStrike">
              <a:solidFill>
                <a:srgbClr val="FFFFFF"/>
              </a:solidFill>
              <a:effectLst/>
              <a:uFillTx/>
              <a:latin typeface="Arial"/>
            </a:endParaRPr>
          </a:p>
        </p:txBody>
      </p:sp>
      <p:sp>
        <p:nvSpPr>
          <p:cNvPr id="318" name="Shape 2"/>
          <p:cNvSpPr/>
          <p:nvPr/>
        </p:nvSpPr>
        <p:spPr>
          <a:xfrm>
            <a:off x="640080" y="1600200"/>
            <a:ext cx="548280" cy="548280"/>
          </a:xfrm>
          <a:prstGeom prst="ellipse">
            <a:avLst/>
          </a:prstGeom>
          <a:solidFill>
            <a:srgbClr val="1C3558"/>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9" name="Text 3"/>
          <p:cNvSpPr/>
          <p:nvPr/>
        </p:nvSpPr>
        <p:spPr>
          <a:xfrm>
            <a:off x="640080" y="160020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000000"/>
                </a:solidFill>
                <a:effectLst/>
                <a:uFillTx/>
                <a:latin typeface="Segoe UI Emoji"/>
                <a:ea typeface="Segoe UI Emoji"/>
              </a:rPr>
              <a:t>💳</a:t>
            </a:r>
            <a:endParaRPr lang="en-US" sz="1600" b="0" u="none" strike="noStrike">
              <a:solidFill>
                <a:srgbClr val="FFFFFF"/>
              </a:solidFill>
              <a:effectLst/>
              <a:uFillTx/>
              <a:latin typeface="Arial"/>
            </a:endParaRPr>
          </a:p>
        </p:txBody>
      </p:sp>
      <p:sp>
        <p:nvSpPr>
          <p:cNvPr id="320" name="Text 4"/>
          <p:cNvSpPr/>
          <p:nvPr/>
        </p:nvSpPr>
        <p:spPr>
          <a:xfrm>
            <a:off x="1371600" y="1581840"/>
            <a:ext cx="3200040" cy="102384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600" b="1" u="none" strike="noStrike">
                <a:solidFill>
                  <a:srgbClr val="FFFFFF"/>
                </a:solidFill>
                <a:effectLst/>
                <a:uFillTx/>
                <a:latin typeface="Arial"/>
                <a:ea typeface="Arial"/>
              </a:rPr>
              <a:t>Tra thẻ hàng loạt</a:t>
            </a:r>
            <a:endParaRPr lang="en-US" sz="1600" b="0" u="none" strike="noStrike">
              <a:solidFill>
                <a:srgbClr val="FFFFFF"/>
              </a:solidFill>
              <a:effectLst/>
              <a:uFillTx/>
              <a:latin typeface="Arial"/>
            </a:endParaRPr>
          </a:p>
          <a:p>
            <a:pPr defTabSz="914400">
              <a:lnSpc>
                <a:spcPts val="1701"/>
              </a:lnSpc>
              <a:tabLst>
                <a:tab pos="0" algn="l"/>
              </a:tabLst>
            </a:pPr>
            <a:r>
              <a:rPr lang="en-US" sz="1250" b="0" u="none" strike="noStrike">
                <a:solidFill>
                  <a:srgbClr val="A9BCD6"/>
                </a:solidFill>
                <a:effectLst/>
                <a:uFillTx/>
                <a:latin typeface="Arial"/>
                <a:ea typeface="Arial"/>
              </a:rPr>
              <a:t>Tra trên cổng BHXH, đọc mã kết quả để phát hiện thẻ sai, hết hạn.</a:t>
            </a:r>
            <a:endParaRPr lang="en-US" sz="1250" b="0" u="none" strike="noStrike">
              <a:solidFill>
                <a:srgbClr val="FFFFFF"/>
              </a:solidFill>
              <a:effectLst/>
              <a:uFillTx/>
              <a:latin typeface="Arial"/>
            </a:endParaRPr>
          </a:p>
        </p:txBody>
      </p:sp>
      <p:sp>
        <p:nvSpPr>
          <p:cNvPr id="321" name="Shape 5"/>
          <p:cNvSpPr/>
          <p:nvPr/>
        </p:nvSpPr>
        <p:spPr>
          <a:xfrm>
            <a:off x="640080" y="2697480"/>
            <a:ext cx="548280" cy="548280"/>
          </a:xfrm>
          <a:prstGeom prst="ellipse">
            <a:avLst/>
          </a:prstGeom>
          <a:solidFill>
            <a:srgbClr val="1C3558"/>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2" name="Text 6"/>
          <p:cNvSpPr/>
          <p:nvPr/>
        </p:nvSpPr>
        <p:spPr>
          <a:xfrm>
            <a:off x="640080" y="269748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000000"/>
                </a:solidFill>
                <a:effectLst/>
                <a:uFillTx/>
                <a:latin typeface="Segoe UI Emoji"/>
                <a:ea typeface="Segoe UI Emoji"/>
              </a:rPr>
              <a:t>💰</a:t>
            </a:r>
            <a:endParaRPr lang="en-US" sz="1600" b="0" u="none" strike="noStrike">
              <a:solidFill>
                <a:srgbClr val="FFFFFF"/>
              </a:solidFill>
              <a:effectLst/>
              <a:uFillTx/>
              <a:latin typeface="Arial"/>
            </a:endParaRPr>
          </a:p>
        </p:txBody>
      </p:sp>
      <p:sp>
        <p:nvSpPr>
          <p:cNvPr id="323" name="Text 7"/>
          <p:cNvSpPr/>
          <p:nvPr/>
        </p:nvSpPr>
        <p:spPr>
          <a:xfrm>
            <a:off x="1371600" y="2679120"/>
            <a:ext cx="3200040" cy="102384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600" b="1" u="none" strike="noStrike">
                <a:solidFill>
                  <a:srgbClr val="FFFFFF"/>
                </a:solidFill>
                <a:effectLst/>
                <a:uFillTx/>
                <a:latin typeface="Arial"/>
                <a:ea typeface="Arial"/>
              </a:rPr>
              <a:t>Tiền cùng chi trả</a:t>
            </a:r>
            <a:endParaRPr lang="en-US" sz="1600" b="0" u="none" strike="noStrike">
              <a:solidFill>
                <a:srgbClr val="FFFFFF"/>
              </a:solidFill>
              <a:effectLst/>
              <a:uFillTx/>
              <a:latin typeface="Arial"/>
            </a:endParaRPr>
          </a:p>
          <a:p>
            <a:pPr defTabSz="914400">
              <a:lnSpc>
                <a:spcPts val="1701"/>
              </a:lnSpc>
              <a:tabLst>
                <a:tab pos="0" algn="l"/>
              </a:tabLst>
            </a:pPr>
            <a:r>
              <a:rPr lang="en-US" sz="1250" b="0" u="none" strike="noStrike">
                <a:solidFill>
                  <a:srgbClr val="A9BCD6"/>
                </a:solidFill>
                <a:effectLst/>
                <a:uFillTx/>
                <a:latin typeface="Arial"/>
                <a:ea typeface="Arial"/>
              </a:rPr>
              <a:t>Lũy kế từ dữ liệu các cơ sở KCB trên cổng, so với ngưỡng cả năm.</a:t>
            </a:r>
            <a:endParaRPr lang="en-US" sz="1250" b="0" u="none" strike="noStrike">
              <a:solidFill>
                <a:srgbClr val="FFFFFF"/>
              </a:solidFill>
              <a:effectLst/>
              <a:uFillTx/>
              <a:latin typeface="Arial"/>
            </a:endParaRPr>
          </a:p>
        </p:txBody>
      </p:sp>
      <p:sp>
        <p:nvSpPr>
          <p:cNvPr id="324" name="Shape 8"/>
          <p:cNvSpPr/>
          <p:nvPr/>
        </p:nvSpPr>
        <p:spPr>
          <a:xfrm>
            <a:off x="640080" y="3794760"/>
            <a:ext cx="548280" cy="548280"/>
          </a:xfrm>
          <a:prstGeom prst="ellipse">
            <a:avLst/>
          </a:prstGeom>
          <a:solidFill>
            <a:srgbClr val="1C3558"/>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5" name="Text 9"/>
          <p:cNvSpPr/>
          <p:nvPr/>
        </p:nvSpPr>
        <p:spPr>
          <a:xfrm>
            <a:off x="640080" y="379476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000000"/>
                </a:solidFill>
                <a:effectLst/>
                <a:uFillTx/>
                <a:latin typeface="Segoe UI Emoji"/>
                <a:ea typeface="Segoe UI Emoji"/>
              </a:rPr>
              <a:t>✍️</a:t>
            </a:r>
            <a:endParaRPr lang="en-US" sz="1600" b="0" u="none" strike="noStrike">
              <a:solidFill>
                <a:srgbClr val="FFFFFF"/>
              </a:solidFill>
              <a:effectLst/>
              <a:uFillTx/>
              <a:latin typeface="Arial"/>
            </a:endParaRPr>
          </a:p>
        </p:txBody>
      </p:sp>
      <p:sp>
        <p:nvSpPr>
          <p:cNvPr id="326" name="Text 10"/>
          <p:cNvSpPr/>
          <p:nvPr/>
        </p:nvSpPr>
        <p:spPr>
          <a:xfrm>
            <a:off x="1371600" y="3776400"/>
            <a:ext cx="3200040" cy="102384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600" b="1" u="none" strike="noStrike">
                <a:solidFill>
                  <a:srgbClr val="FFFFFF"/>
                </a:solidFill>
                <a:effectLst/>
                <a:uFillTx/>
                <a:latin typeface="Arial"/>
                <a:ea typeface="Arial"/>
              </a:rPr>
              <a:t>Chứng từ điện tử</a:t>
            </a:r>
            <a:endParaRPr lang="en-US" sz="1600" b="0" u="none" strike="noStrike">
              <a:solidFill>
                <a:srgbClr val="FFFFFF"/>
              </a:solidFill>
              <a:effectLst/>
              <a:uFillTx/>
              <a:latin typeface="Arial"/>
            </a:endParaRPr>
          </a:p>
          <a:p>
            <a:pPr defTabSz="914400">
              <a:lnSpc>
                <a:spcPts val="1701"/>
              </a:lnSpc>
              <a:tabLst>
                <a:tab pos="0" algn="l"/>
              </a:tabLst>
            </a:pPr>
            <a:r>
              <a:rPr lang="en-US" sz="1250" b="0" u="none" strike="noStrike">
                <a:solidFill>
                  <a:srgbClr val="A9BCD6"/>
                </a:solidFill>
                <a:effectLst/>
                <a:uFillTx/>
                <a:latin typeface="Arial"/>
                <a:ea typeface="Arial"/>
              </a:rPr>
              <a:t>Ký số và gửi chứng từ theo Phụ lục 02, theo dõi trạng thái gửi.</a:t>
            </a:r>
            <a:endParaRPr lang="en-US" sz="1250" b="0" u="none" strike="noStrike">
              <a:solidFill>
                <a:srgbClr val="FFFFFF"/>
              </a:solidFill>
              <a:effectLst/>
              <a:uFillTx/>
              <a:latin typeface="Arial"/>
            </a:endParaRPr>
          </a:p>
        </p:txBody>
      </p:sp>
      <p:sp>
        <p:nvSpPr>
          <p:cNvPr id="327" name="Shape 11"/>
          <p:cNvSpPr/>
          <p:nvPr/>
        </p:nvSpPr>
        <p:spPr>
          <a:xfrm>
            <a:off x="640080" y="4892040"/>
            <a:ext cx="548280" cy="548280"/>
          </a:xfrm>
          <a:prstGeom prst="ellipse">
            <a:avLst/>
          </a:prstGeom>
          <a:solidFill>
            <a:srgbClr val="1C3558"/>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8" name="Text 12"/>
          <p:cNvSpPr/>
          <p:nvPr/>
        </p:nvSpPr>
        <p:spPr>
          <a:xfrm>
            <a:off x="640080" y="489204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000000"/>
                </a:solidFill>
                <a:effectLst/>
                <a:uFillTx/>
                <a:latin typeface="Segoe UI Emoji"/>
                <a:ea typeface="Segoe UI Emoji"/>
              </a:rPr>
              <a:t>📚</a:t>
            </a:r>
            <a:endParaRPr lang="en-US" sz="1600" b="0" u="none" strike="noStrike">
              <a:solidFill>
                <a:srgbClr val="FFFFFF"/>
              </a:solidFill>
              <a:effectLst/>
              <a:uFillTx/>
              <a:latin typeface="Arial"/>
            </a:endParaRPr>
          </a:p>
        </p:txBody>
      </p:sp>
      <p:sp>
        <p:nvSpPr>
          <p:cNvPr id="329" name="Text 13"/>
          <p:cNvSpPr/>
          <p:nvPr/>
        </p:nvSpPr>
        <p:spPr>
          <a:xfrm>
            <a:off x="1371600" y="4873680"/>
            <a:ext cx="3200040" cy="102384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600" b="1" u="none" strike="noStrike">
                <a:solidFill>
                  <a:srgbClr val="FFFFFF"/>
                </a:solidFill>
                <a:effectLst/>
                <a:uFillTx/>
                <a:latin typeface="Arial"/>
                <a:ea typeface="Arial"/>
              </a:rPr>
              <a:t>Danh mục TT12/2026</a:t>
            </a:r>
            <a:endParaRPr lang="en-US" sz="1600" b="0" u="none" strike="noStrike">
              <a:solidFill>
                <a:srgbClr val="FFFFFF"/>
              </a:solidFill>
              <a:effectLst/>
              <a:uFillTx/>
              <a:latin typeface="Arial"/>
            </a:endParaRPr>
          </a:p>
          <a:p>
            <a:pPr defTabSz="914400">
              <a:lnSpc>
                <a:spcPts val="1701"/>
              </a:lnSpc>
              <a:tabLst>
                <a:tab pos="0" algn="l"/>
              </a:tabLst>
            </a:pPr>
            <a:r>
              <a:rPr lang="en-US" sz="1250" b="0" u="none" strike="noStrike">
                <a:solidFill>
                  <a:srgbClr val="A9BCD6"/>
                </a:solidFill>
                <a:effectLst/>
                <a:uFillTx/>
                <a:latin typeface="Arial"/>
                <a:ea typeface="Arial"/>
              </a:rPr>
              <a:t>Nạp theo biểu mẫu, kiểm, ký và gửi danh mục lên cổng.</a:t>
            </a:r>
            <a:endParaRPr lang="en-US" sz="1250" b="0" u="none" strike="noStrike">
              <a:solidFill>
                <a:srgbClr val="FFFFFF"/>
              </a:solidFill>
              <a:effectLst/>
              <a:uFillTx/>
              <a:latin typeface="Arial"/>
            </a:endParaRPr>
          </a:p>
        </p:txBody>
      </p:sp>
      <p:sp>
        <p:nvSpPr>
          <p:cNvPr id="330" name="Shape 14"/>
          <p:cNvSpPr/>
          <p:nvPr/>
        </p:nvSpPr>
        <p:spPr>
          <a:xfrm>
            <a:off x="5811840" y="1563480"/>
            <a:ext cx="4820040" cy="4278960"/>
          </a:xfrm>
          <a:prstGeom prst="rect">
            <a:avLst/>
          </a:prstGeom>
          <a:solidFill>
            <a:srgbClr val="2E4B74"/>
          </a:solidFill>
          <a:ln w="9525">
            <a:solidFill>
              <a:srgbClr val="4A689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331" name="Image 0" descr="/Users/tracnn/qlbv/docs/dao-tao/anh/anh-05-ket-qua-mcct.png"/>
          <p:cNvPicPr/>
          <p:nvPr/>
        </p:nvPicPr>
        <p:blipFill>
          <a:blip r:embed="rId2"/>
          <a:stretch/>
        </p:blipFill>
        <p:spPr>
          <a:xfrm>
            <a:off x="5848200" y="1600200"/>
            <a:ext cx="4746600" cy="4205880"/>
          </a:xfrm>
          <a:prstGeom prst="rect">
            <a:avLst/>
          </a:prstGeom>
          <a:noFill/>
          <a:ln w="0">
            <a:noFill/>
          </a:ln>
        </p:spPr>
      </p:pic>
      <p:sp>
        <p:nvSpPr>
          <p:cNvPr id="332" name="Text 15"/>
          <p:cNvSpPr/>
          <p:nvPr/>
        </p:nvSpPr>
        <p:spPr>
          <a:xfrm>
            <a:off x="4892040" y="5916240"/>
            <a:ext cx="665928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50" b="0" i="1" u="none" strike="noStrike">
                <a:solidFill>
                  <a:srgbClr val="7F93B0"/>
                </a:solidFill>
                <a:effectLst/>
                <a:uFillTx/>
                <a:latin typeface="Arial"/>
                <a:ea typeface="Arial"/>
              </a:rPr>
              <a:t>Kết quả tra cứu tiền cùng chi trả — dữ liệu mẫu</a:t>
            </a:r>
            <a:endParaRPr lang="en-US" sz="1050" b="0" u="none" strike="noStrike">
              <a:solidFill>
                <a:srgbClr val="FFFFFF"/>
              </a:solidFill>
              <a:effectLst/>
              <a:uFillTx/>
              <a:latin typeface="Arial"/>
            </a:endParaRPr>
          </a:p>
        </p:txBody>
      </p:sp>
      <p:sp>
        <p:nvSpPr>
          <p:cNvPr id="333" name="Text 16"/>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13 / 21</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334"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QUẢN TRỊ</a:t>
            </a:r>
            <a:endParaRPr lang="en-US" sz="1200" b="0" u="none" strike="noStrike">
              <a:solidFill>
                <a:srgbClr val="FFFFFF"/>
              </a:solidFill>
              <a:effectLst/>
              <a:uFillTx/>
              <a:latin typeface="Arial"/>
            </a:endParaRPr>
          </a:p>
        </p:txBody>
      </p:sp>
      <p:sp>
        <p:nvSpPr>
          <p:cNvPr id="335"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Dashboard trả lời bốn câu hỏi của lãnh đạo</a:t>
            </a:r>
            <a:endParaRPr lang="en-US" sz="2800" b="0" u="none" strike="noStrike">
              <a:solidFill>
                <a:srgbClr val="FFFFFF"/>
              </a:solidFill>
              <a:effectLst/>
              <a:uFillTx/>
              <a:latin typeface="Arial"/>
            </a:endParaRPr>
          </a:p>
        </p:txBody>
      </p:sp>
      <p:sp>
        <p:nvSpPr>
          <p:cNvPr id="336" name="Text 2"/>
          <p:cNvSpPr/>
          <p:nvPr/>
        </p:nvSpPr>
        <p:spPr>
          <a:xfrm>
            <a:off x="640080" y="1298520"/>
            <a:ext cx="10911240" cy="328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A9BCD6"/>
                </a:solidFill>
                <a:effectLst/>
                <a:uFillTx/>
                <a:latin typeface="Arial"/>
                <a:ea typeface="Arial"/>
              </a:rPr>
              <a:t>Dashboard lỗi XML có bốn biểu đồ — mỗi biểu đồ dẫn tới một hành động cụ thể.</a:t>
            </a:r>
            <a:endParaRPr lang="en-US" sz="1500" b="0" u="none" strike="noStrike">
              <a:solidFill>
                <a:srgbClr val="FFFFFF"/>
              </a:solidFill>
              <a:effectLst/>
              <a:uFillTx/>
              <a:latin typeface="Arial"/>
            </a:endParaRPr>
          </a:p>
        </p:txBody>
      </p:sp>
      <p:sp>
        <p:nvSpPr>
          <p:cNvPr id="337" name="Shape 3"/>
          <p:cNvSpPr/>
          <p:nvPr/>
        </p:nvSpPr>
        <p:spPr>
          <a:xfrm>
            <a:off x="640080" y="1783080"/>
            <a:ext cx="5318280" cy="1919880"/>
          </a:xfrm>
          <a:prstGeom prst="roundRect">
            <a:avLst>
              <a:gd name="adj" fmla="val 4762"/>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8" name="Shape 4"/>
          <p:cNvSpPr/>
          <p:nvPr/>
        </p:nvSpPr>
        <p:spPr>
          <a:xfrm>
            <a:off x="868680" y="2057400"/>
            <a:ext cx="1828440" cy="219240"/>
          </a:xfrm>
          <a:prstGeom prst="rect">
            <a:avLst/>
          </a:prstGeom>
          <a:solidFill>
            <a:srgbClr val="38BDF8">
              <a:alpha val="85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39" name="Shape 5"/>
          <p:cNvSpPr/>
          <p:nvPr/>
        </p:nvSpPr>
        <p:spPr>
          <a:xfrm>
            <a:off x="1033200" y="2331720"/>
            <a:ext cx="1499400" cy="219240"/>
          </a:xfrm>
          <a:prstGeom prst="rect">
            <a:avLst/>
          </a:prstGeom>
          <a:solidFill>
            <a:srgbClr val="38BDF8">
              <a:alpha val="77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0" name="Shape 6"/>
          <p:cNvSpPr/>
          <p:nvPr/>
        </p:nvSpPr>
        <p:spPr>
          <a:xfrm>
            <a:off x="1179720" y="2606040"/>
            <a:ext cx="1206720" cy="219240"/>
          </a:xfrm>
          <a:prstGeom prst="rect">
            <a:avLst/>
          </a:prstGeom>
          <a:solidFill>
            <a:srgbClr val="38BDF8">
              <a:alpha val="69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1" name="Shape 7"/>
          <p:cNvSpPr/>
          <p:nvPr/>
        </p:nvSpPr>
        <p:spPr>
          <a:xfrm>
            <a:off x="1307520" y="2880360"/>
            <a:ext cx="950760" cy="219240"/>
          </a:xfrm>
          <a:prstGeom prst="rect">
            <a:avLst/>
          </a:prstGeom>
          <a:solidFill>
            <a:srgbClr val="38BDF8">
              <a:alpha val="61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2" name="Shape 8"/>
          <p:cNvSpPr/>
          <p:nvPr/>
        </p:nvSpPr>
        <p:spPr>
          <a:xfrm>
            <a:off x="1417320" y="3154680"/>
            <a:ext cx="731160" cy="219240"/>
          </a:xfrm>
          <a:prstGeom prst="rect">
            <a:avLst/>
          </a:prstGeom>
          <a:solidFill>
            <a:srgbClr val="4ADE80">
              <a:alpha val="53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3" name="Text 9"/>
          <p:cNvSpPr/>
          <p:nvPr/>
        </p:nvSpPr>
        <p:spPr>
          <a:xfrm>
            <a:off x="2971800" y="1984320"/>
            <a:ext cx="2757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Arial"/>
                <a:ea typeface="Arial"/>
              </a:rPr>
              <a:t>Phễu xử lý hồ sơ</a:t>
            </a:r>
            <a:endParaRPr lang="en-US" sz="1600" b="0" u="none" strike="noStrike">
              <a:solidFill>
                <a:srgbClr val="FFFFFF"/>
              </a:solidFill>
              <a:effectLst/>
              <a:uFillTx/>
              <a:latin typeface="Arial"/>
            </a:endParaRPr>
          </a:p>
        </p:txBody>
      </p:sp>
      <p:sp>
        <p:nvSpPr>
          <p:cNvPr id="344" name="Text 10"/>
          <p:cNvSpPr/>
          <p:nvPr/>
        </p:nvSpPr>
        <p:spPr>
          <a:xfrm>
            <a:off x="2971800" y="2377440"/>
            <a:ext cx="2757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i="1" u="none" strike="noStrike">
                <a:solidFill>
                  <a:srgbClr val="FBBF24"/>
                </a:solidFill>
                <a:effectLst/>
                <a:uFillTx/>
                <a:latin typeface="Arial"/>
                <a:ea typeface="Arial"/>
              </a:rPr>
              <a:t>Hồ sơ đang nghẽn ở bậc nào?</a:t>
            </a:r>
            <a:endParaRPr lang="en-US" sz="1400" b="0" u="none" strike="noStrike">
              <a:solidFill>
                <a:srgbClr val="FFFFFF"/>
              </a:solidFill>
              <a:effectLst/>
              <a:uFillTx/>
              <a:latin typeface="Arial"/>
            </a:endParaRPr>
          </a:p>
        </p:txBody>
      </p:sp>
      <p:sp>
        <p:nvSpPr>
          <p:cNvPr id="345" name="Text 11"/>
          <p:cNvSpPr/>
          <p:nvPr/>
        </p:nvSpPr>
        <p:spPr>
          <a:xfrm>
            <a:off x="2971800" y="2788920"/>
            <a:ext cx="2757960" cy="77688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Đã nạp → Không lỗi nghiêm trọng → Đã xuất → Đã ký → Đã gửi</a:t>
            </a:r>
            <a:endParaRPr lang="en-US" sz="1250" b="0" u="none" strike="noStrike">
              <a:solidFill>
                <a:srgbClr val="FFFFFF"/>
              </a:solidFill>
              <a:effectLst/>
              <a:uFillTx/>
              <a:latin typeface="Arial"/>
            </a:endParaRPr>
          </a:p>
        </p:txBody>
      </p:sp>
      <p:sp>
        <p:nvSpPr>
          <p:cNvPr id="346" name="Shape 12"/>
          <p:cNvSpPr/>
          <p:nvPr/>
        </p:nvSpPr>
        <p:spPr>
          <a:xfrm>
            <a:off x="6233040" y="1783080"/>
            <a:ext cx="5318280" cy="1919880"/>
          </a:xfrm>
          <a:prstGeom prst="roundRect">
            <a:avLst>
              <a:gd name="adj" fmla="val 4762"/>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47" name="Shape 13"/>
          <p:cNvSpPr/>
          <p:nvPr/>
        </p:nvSpPr>
        <p:spPr>
          <a:xfrm>
            <a:off x="6461640" y="2057400"/>
            <a:ext cx="173520" cy="1371240"/>
          </a:xfrm>
          <a:prstGeom prst="rect">
            <a:avLst/>
          </a:prstGeom>
          <a:solidFill>
            <a:srgbClr val="FBBF24"/>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8" name="Shape 14"/>
          <p:cNvSpPr/>
          <p:nvPr/>
        </p:nvSpPr>
        <p:spPr>
          <a:xfrm>
            <a:off x="6690240" y="2441520"/>
            <a:ext cx="173520" cy="987120"/>
          </a:xfrm>
          <a:prstGeom prst="rect">
            <a:avLst/>
          </a:prstGeom>
          <a:solidFill>
            <a:srgbClr val="FBBF24"/>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9" name="Shape 15"/>
          <p:cNvSpPr/>
          <p:nvPr/>
        </p:nvSpPr>
        <p:spPr>
          <a:xfrm>
            <a:off x="6918840" y="2743200"/>
            <a:ext cx="173520" cy="68544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0" name="Shape 16"/>
          <p:cNvSpPr/>
          <p:nvPr/>
        </p:nvSpPr>
        <p:spPr>
          <a:xfrm>
            <a:off x="7147440" y="2935080"/>
            <a:ext cx="173520" cy="49356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1" name="Shape 17"/>
          <p:cNvSpPr/>
          <p:nvPr/>
        </p:nvSpPr>
        <p:spPr>
          <a:xfrm>
            <a:off x="7376040" y="3072240"/>
            <a:ext cx="173520" cy="35640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2" name="Shape 18"/>
          <p:cNvSpPr/>
          <p:nvPr/>
        </p:nvSpPr>
        <p:spPr>
          <a:xfrm>
            <a:off x="7604640" y="3168360"/>
            <a:ext cx="173520" cy="26028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3" name="Shape 19"/>
          <p:cNvSpPr/>
          <p:nvPr/>
        </p:nvSpPr>
        <p:spPr>
          <a:xfrm>
            <a:off x="7833240" y="3237120"/>
            <a:ext cx="173520" cy="19152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4" name="Shape 20"/>
          <p:cNvSpPr/>
          <p:nvPr/>
        </p:nvSpPr>
        <p:spPr>
          <a:xfrm>
            <a:off x="8061840" y="3291840"/>
            <a:ext cx="173520" cy="13680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5" name="Text 21"/>
          <p:cNvSpPr/>
          <p:nvPr/>
        </p:nvSpPr>
        <p:spPr>
          <a:xfrm>
            <a:off x="8564760" y="1984320"/>
            <a:ext cx="2757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Arial"/>
                <a:ea typeface="Arial"/>
              </a:rPr>
              <a:t>Top 15 mã lỗi (Pareto)</a:t>
            </a:r>
            <a:endParaRPr lang="en-US" sz="1600" b="0" u="none" strike="noStrike">
              <a:solidFill>
                <a:srgbClr val="FFFFFF"/>
              </a:solidFill>
              <a:effectLst/>
              <a:uFillTx/>
              <a:latin typeface="Arial"/>
            </a:endParaRPr>
          </a:p>
        </p:txBody>
      </p:sp>
      <p:sp>
        <p:nvSpPr>
          <p:cNvPr id="356" name="Text 22"/>
          <p:cNvSpPr/>
          <p:nvPr/>
        </p:nvSpPr>
        <p:spPr>
          <a:xfrm>
            <a:off x="8564760" y="2377440"/>
            <a:ext cx="2757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i="1" u="none" strike="noStrike">
                <a:solidFill>
                  <a:srgbClr val="FBBF24"/>
                </a:solidFill>
                <a:effectLst/>
                <a:uFillTx/>
                <a:latin typeface="Arial"/>
                <a:ea typeface="Arial"/>
              </a:rPr>
              <a:t>Sửa lỗi nào thì được nhiều nhất?</a:t>
            </a:r>
            <a:endParaRPr lang="en-US" sz="1400" b="0" u="none" strike="noStrike">
              <a:solidFill>
                <a:srgbClr val="FFFFFF"/>
              </a:solidFill>
              <a:effectLst/>
              <a:uFillTx/>
              <a:latin typeface="Arial"/>
            </a:endParaRPr>
          </a:p>
        </p:txBody>
      </p:sp>
      <p:sp>
        <p:nvSpPr>
          <p:cNvPr id="357" name="Text 23"/>
          <p:cNvSpPr/>
          <p:nvPr/>
        </p:nvSpPr>
        <p:spPr>
          <a:xfrm>
            <a:off x="8564760" y="2788920"/>
            <a:ext cx="2757960" cy="77688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Xử lý vài mã đầu bảng giải quyết phần lớn hồ sơ lỗi</a:t>
            </a:r>
            <a:endParaRPr lang="en-US" sz="1250" b="0" u="none" strike="noStrike">
              <a:solidFill>
                <a:srgbClr val="FFFFFF"/>
              </a:solidFill>
              <a:effectLst/>
              <a:uFillTx/>
              <a:latin typeface="Arial"/>
            </a:endParaRPr>
          </a:p>
        </p:txBody>
      </p:sp>
      <p:sp>
        <p:nvSpPr>
          <p:cNvPr id="358" name="Shape 24"/>
          <p:cNvSpPr/>
          <p:nvPr/>
        </p:nvSpPr>
        <p:spPr>
          <a:xfrm>
            <a:off x="640080" y="3904560"/>
            <a:ext cx="5318280" cy="1919880"/>
          </a:xfrm>
          <a:prstGeom prst="roundRect">
            <a:avLst>
              <a:gd name="adj" fmla="val 4762"/>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59" name="Shape 25"/>
          <p:cNvSpPr/>
          <p:nvPr/>
        </p:nvSpPr>
        <p:spPr>
          <a:xfrm>
            <a:off x="868680" y="4933080"/>
            <a:ext cx="328680" cy="61704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60" name="Shape 26"/>
          <p:cNvSpPr/>
          <p:nvPr/>
        </p:nvSpPr>
        <p:spPr>
          <a:xfrm>
            <a:off x="1325880" y="4590360"/>
            <a:ext cx="328680" cy="95976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61" name="Shape 27"/>
          <p:cNvSpPr/>
          <p:nvPr/>
        </p:nvSpPr>
        <p:spPr>
          <a:xfrm>
            <a:off x="1783080" y="4795920"/>
            <a:ext cx="328680" cy="75420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62" name="Shape 28"/>
          <p:cNvSpPr/>
          <p:nvPr/>
        </p:nvSpPr>
        <p:spPr>
          <a:xfrm>
            <a:off x="2240280" y="4178880"/>
            <a:ext cx="328680" cy="1371240"/>
          </a:xfrm>
          <a:prstGeom prst="rect">
            <a:avLst/>
          </a:prstGeom>
          <a:solidFill>
            <a:srgbClr val="F87171"/>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63" name="Text 29"/>
          <p:cNvSpPr/>
          <p:nvPr/>
        </p:nvSpPr>
        <p:spPr>
          <a:xfrm>
            <a:off x="2971800" y="4105800"/>
            <a:ext cx="2757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Arial"/>
                <a:ea typeface="Arial"/>
              </a:rPr>
              <a:t>Tồn đọng theo tuổi hồ sơ</a:t>
            </a:r>
            <a:endParaRPr lang="en-US" sz="1600" b="0" u="none" strike="noStrike">
              <a:solidFill>
                <a:srgbClr val="FFFFFF"/>
              </a:solidFill>
              <a:effectLst/>
              <a:uFillTx/>
              <a:latin typeface="Arial"/>
            </a:endParaRPr>
          </a:p>
        </p:txBody>
      </p:sp>
      <p:sp>
        <p:nvSpPr>
          <p:cNvPr id="364" name="Text 30"/>
          <p:cNvSpPr/>
          <p:nvPr/>
        </p:nvSpPr>
        <p:spPr>
          <a:xfrm>
            <a:off x="2971800" y="4498920"/>
            <a:ext cx="2757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i="1" u="none" strike="noStrike">
                <a:solidFill>
                  <a:srgbClr val="FBBF24"/>
                </a:solidFill>
                <a:effectLst/>
                <a:uFillTx/>
                <a:latin typeface="Arial"/>
                <a:ea typeface="Arial"/>
              </a:rPr>
              <a:t>Hồ sơ nào sắp quá hạn?</a:t>
            </a:r>
            <a:endParaRPr lang="en-US" sz="1400" b="0" u="none" strike="noStrike">
              <a:solidFill>
                <a:srgbClr val="FFFFFF"/>
              </a:solidFill>
              <a:effectLst/>
              <a:uFillTx/>
              <a:latin typeface="Arial"/>
            </a:endParaRPr>
          </a:p>
        </p:txBody>
      </p:sp>
      <p:sp>
        <p:nvSpPr>
          <p:cNvPr id="365" name="Text 31"/>
          <p:cNvSpPr/>
          <p:nvPr/>
        </p:nvSpPr>
        <p:spPr>
          <a:xfrm>
            <a:off x="2971800" y="4910400"/>
            <a:ext cx="2757960" cy="77688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0–7 · 8–15 · 16–30 · trên 30 ngày — nhóm trên 30 ngày xử lý trước</a:t>
            </a:r>
            <a:endParaRPr lang="en-US" sz="1250" b="0" u="none" strike="noStrike">
              <a:solidFill>
                <a:srgbClr val="FFFFFF"/>
              </a:solidFill>
              <a:effectLst/>
              <a:uFillTx/>
              <a:latin typeface="Arial"/>
            </a:endParaRPr>
          </a:p>
        </p:txBody>
      </p:sp>
      <p:sp>
        <p:nvSpPr>
          <p:cNvPr id="366" name="Shape 32"/>
          <p:cNvSpPr/>
          <p:nvPr/>
        </p:nvSpPr>
        <p:spPr>
          <a:xfrm>
            <a:off x="6233040" y="3904560"/>
            <a:ext cx="5318280" cy="1919880"/>
          </a:xfrm>
          <a:prstGeom prst="roundRect">
            <a:avLst>
              <a:gd name="adj" fmla="val 4762"/>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67" name="Shape 33"/>
          <p:cNvSpPr/>
          <p:nvPr/>
        </p:nvSpPr>
        <p:spPr>
          <a:xfrm>
            <a:off x="6461640" y="4178880"/>
            <a:ext cx="1828440" cy="200880"/>
          </a:xfrm>
          <a:prstGeom prst="rect">
            <a:avLst/>
          </a:prstGeom>
          <a:solidFill>
            <a:srgbClr val="FBBF24"/>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68" name="Shape 34"/>
          <p:cNvSpPr/>
          <p:nvPr/>
        </p:nvSpPr>
        <p:spPr>
          <a:xfrm>
            <a:off x="6461640" y="4453200"/>
            <a:ext cx="1425960" cy="20088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69" name="Shape 35"/>
          <p:cNvSpPr/>
          <p:nvPr/>
        </p:nvSpPr>
        <p:spPr>
          <a:xfrm>
            <a:off x="6461640" y="4727520"/>
            <a:ext cx="1096920" cy="20088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0" name="Shape 36"/>
          <p:cNvSpPr/>
          <p:nvPr/>
        </p:nvSpPr>
        <p:spPr>
          <a:xfrm>
            <a:off x="6461640" y="5001840"/>
            <a:ext cx="767880" cy="20088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1" name="Shape 37"/>
          <p:cNvSpPr/>
          <p:nvPr/>
        </p:nvSpPr>
        <p:spPr>
          <a:xfrm>
            <a:off x="6461640" y="5276160"/>
            <a:ext cx="548280" cy="200880"/>
          </a:xfrm>
          <a:prstGeom prst="rect">
            <a:avLst/>
          </a:prstGeom>
          <a:solidFill>
            <a:srgbClr val="38BDF8">
              <a:alpha val="70000"/>
            </a:srgbClr>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2" name="Text 38"/>
          <p:cNvSpPr/>
          <p:nvPr/>
        </p:nvSpPr>
        <p:spPr>
          <a:xfrm>
            <a:off x="8564760" y="4105800"/>
            <a:ext cx="2757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Arial"/>
                <a:ea typeface="Arial"/>
              </a:rPr>
              <a:t>Lỗi nghiêm trọng theo khoa</a:t>
            </a:r>
            <a:endParaRPr lang="en-US" sz="1600" b="0" u="none" strike="noStrike">
              <a:solidFill>
                <a:srgbClr val="FFFFFF"/>
              </a:solidFill>
              <a:effectLst/>
              <a:uFillTx/>
              <a:latin typeface="Arial"/>
            </a:endParaRPr>
          </a:p>
        </p:txBody>
      </p:sp>
      <p:sp>
        <p:nvSpPr>
          <p:cNvPr id="373" name="Text 39"/>
          <p:cNvSpPr/>
          <p:nvPr/>
        </p:nvSpPr>
        <p:spPr>
          <a:xfrm>
            <a:off x="8564760" y="4498920"/>
            <a:ext cx="2757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i="1" u="none" strike="noStrike">
                <a:solidFill>
                  <a:srgbClr val="FBBF24"/>
                </a:solidFill>
                <a:effectLst/>
                <a:uFillTx/>
                <a:latin typeface="Arial"/>
                <a:ea typeface="Arial"/>
              </a:rPr>
              <a:t>Giao việc cho ai?</a:t>
            </a:r>
            <a:endParaRPr lang="en-US" sz="1400" b="0" u="none" strike="noStrike">
              <a:solidFill>
                <a:srgbClr val="FFFFFF"/>
              </a:solidFill>
              <a:effectLst/>
              <a:uFillTx/>
              <a:latin typeface="Arial"/>
            </a:endParaRPr>
          </a:p>
        </p:txBody>
      </p:sp>
      <p:sp>
        <p:nvSpPr>
          <p:cNvPr id="374" name="Text 40"/>
          <p:cNvSpPr/>
          <p:nvPr/>
        </p:nvSpPr>
        <p:spPr>
          <a:xfrm>
            <a:off x="8564760" y="4910400"/>
            <a:ext cx="2757960" cy="77688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Phân </a:t>
            </a:r>
            <a:r>
              <a:rPr lang="en-US" sz="1250" b="0" u="none" strike="noStrike">
                <a:solidFill>
                  <a:srgbClr val="A9BCD6"/>
                </a:solidFill>
                <a:effectLst/>
                <a:uFillTx/>
                <a:latin typeface="Arial"/>
                <a:ea typeface="Arial"/>
              </a:rPr>
              <a:t>bổ lỗi </a:t>
            </a:r>
            <a:r>
              <a:rPr lang="en-US" sz="1250" b="0" u="none" strike="noStrike">
                <a:solidFill>
                  <a:srgbClr val="A9BCD6"/>
                </a:solidFill>
                <a:effectLst/>
                <a:uFillTx/>
                <a:latin typeface="Arial"/>
                <a:ea typeface="Arial"/>
              </a:rPr>
              <a:t>theo </a:t>
            </a:r>
            <a:r>
              <a:rPr lang="en-US" sz="1250" b="0" u="none" strike="noStrike">
                <a:solidFill>
                  <a:srgbClr val="A9BCD6"/>
                </a:solidFill>
                <a:effectLst/>
                <a:uFillTx/>
                <a:latin typeface="Arial"/>
                <a:ea typeface="Arial"/>
              </a:rPr>
              <a:t>khoa </a:t>
            </a:r>
            <a:r>
              <a:rPr lang="en-US" sz="1250" b="0" u="none" strike="noStrike">
                <a:solidFill>
                  <a:srgbClr val="A9BCD6"/>
                </a:solidFill>
                <a:effectLst/>
                <a:uFillTx/>
                <a:latin typeface="Arial"/>
                <a:ea typeface="Arial"/>
              </a:rPr>
              <a:t>thực </a:t>
            </a:r>
            <a:r>
              <a:rPr lang="en-US" sz="1250" b="0" u="none" strike="noStrike">
                <a:solidFill>
                  <a:srgbClr val="A9BCD6"/>
                </a:solidFill>
                <a:effectLst/>
                <a:uFillTx/>
                <a:latin typeface="Arial"/>
                <a:ea typeface="Arial"/>
              </a:rPr>
              <a:t>hiện để </a:t>
            </a:r>
            <a:r>
              <a:rPr lang="en-US" sz="1250" b="0" u="none" strike="noStrike">
                <a:solidFill>
                  <a:srgbClr val="A9BCD6"/>
                </a:solidFill>
                <a:effectLst/>
                <a:uFillTx/>
                <a:latin typeface="Arial"/>
                <a:ea typeface="Arial"/>
              </a:rPr>
              <a:t>giao </a:t>
            </a:r>
            <a:r>
              <a:rPr lang="en-US" sz="1250" b="0" u="none" strike="noStrike">
                <a:solidFill>
                  <a:srgbClr val="A9BCD6"/>
                </a:solidFill>
                <a:effectLst/>
                <a:uFillTx/>
                <a:latin typeface="Arial"/>
                <a:ea typeface="Arial"/>
              </a:rPr>
              <a:t>đúng </a:t>
            </a:r>
            <a:r>
              <a:rPr lang="en-US" sz="1250" b="0" u="none" strike="noStrike">
                <a:solidFill>
                  <a:srgbClr val="A9BCD6"/>
                </a:solidFill>
                <a:effectLst/>
                <a:uFillTx/>
                <a:latin typeface="Arial"/>
                <a:ea typeface="Arial"/>
              </a:rPr>
              <a:t>đầu </a:t>
            </a:r>
            <a:r>
              <a:rPr lang="en-US" sz="1250" b="0" u="none" strike="noStrike">
                <a:solidFill>
                  <a:srgbClr val="A9BCD6"/>
                </a:solidFill>
                <a:effectLst/>
                <a:uFillTx/>
                <a:latin typeface="Arial"/>
                <a:ea typeface="Arial"/>
              </a:rPr>
              <a:t>mối</a:t>
            </a:r>
            <a:endParaRPr lang="en-US" sz="1250" b="0" u="none" strike="noStrike">
              <a:solidFill>
                <a:srgbClr val="FFFFFF"/>
              </a:solidFill>
              <a:effectLst/>
              <a:uFillTx/>
              <a:latin typeface="Arial"/>
            </a:endParaRPr>
          </a:p>
        </p:txBody>
      </p:sp>
      <p:sp>
        <p:nvSpPr>
          <p:cNvPr id="375" name="Text 41"/>
          <p:cNvSpPr/>
          <p:nvPr/>
        </p:nvSpPr>
        <p:spPr>
          <a:xfrm>
            <a:off x="640080" y="6035040"/>
            <a:ext cx="1091124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0" i="1" u="none" strike="noStrike">
                <a:solidFill>
                  <a:srgbClr val="7F93B0"/>
                </a:solidFill>
                <a:effectLst/>
                <a:uFillTx/>
                <a:latin typeface="Arial"/>
                <a:ea typeface="Arial"/>
              </a:rPr>
              <a:t>Hình bên trái mỗi ô là minh hoạ dạng biểu đồ, không phải số liệu thật.</a:t>
            </a:r>
            <a:endParaRPr lang="en-US" sz="1050" b="0" u="none" strike="noStrike">
              <a:solidFill>
                <a:srgbClr val="FFFFFF"/>
              </a:solidFill>
              <a:effectLst/>
              <a:uFillTx/>
              <a:latin typeface="Arial"/>
            </a:endParaRPr>
          </a:p>
        </p:txBody>
      </p:sp>
      <p:sp>
        <p:nvSpPr>
          <p:cNvPr id="376" name="Text 42"/>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14 / 21</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377"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GIÁ TRỊ</a:t>
            </a:r>
            <a:endParaRPr lang="en-US" sz="1200" b="0" u="none" strike="noStrike">
              <a:solidFill>
                <a:srgbClr val="FFFFFF"/>
              </a:solidFill>
              <a:effectLst/>
              <a:uFillTx/>
              <a:latin typeface="Arial"/>
            </a:endParaRPr>
          </a:p>
        </p:txBody>
      </p:sp>
      <p:sp>
        <p:nvSpPr>
          <p:cNvPr id="378"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Mỗi vai trò nhận được gì</a:t>
            </a:r>
            <a:endParaRPr lang="en-US" sz="2800" b="0" u="none" strike="noStrike">
              <a:solidFill>
                <a:srgbClr val="FFFFFF"/>
              </a:solidFill>
              <a:effectLst/>
              <a:uFillTx/>
              <a:latin typeface="Arial"/>
            </a:endParaRPr>
          </a:p>
        </p:txBody>
      </p:sp>
      <p:sp>
        <p:nvSpPr>
          <p:cNvPr id="379" name="Shape 2"/>
          <p:cNvSpPr/>
          <p:nvPr/>
        </p:nvSpPr>
        <p:spPr>
          <a:xfrm>
            <a:off x="640080" y="1600200"/>
            <a:ext cx="3453840" cy="3977280"/>
          </a:xfrm>
          <a:prstGeom prst="roundRect">
            <a:avLst>
              <a:gd name="adj" fmla="val 2647"/>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80" name="Shape 3"/>
          <p:cNvSpPr/>
          <p:nvPr/>
        </p:nvSpPr>
        <p:spPr>
          <a:xfrm>
            <a:off x="1932840" y="1874520"/>
            <a:ext cx="868320" cy="868320"/>
          </a:xfrm>
          <a:prstGeom prst="ellipse">
            <a:avLst/>
          </a:prstGeom>
          <a:solidFill>
            <a:srgbClr val="25324A"/>
          </a:solidFill>
          <a:ln w="15875">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81" name="Text 4"/>
          <p:cNvSpPr/>
          <p:nvPr/>
        </p:nvSpPr>
        <p:spPr>
          <a:xfrm>
            <a:off x="1932840" y="1874520"/>
            <a:ext cx="868320" cy="868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600" b="0" u="none" strike="noStrike">
                <a:solidFill>
                  <a:srgbClr val="000000"/>
                </a:solidFill>
                <a:effectLst/>
                <a:uFillTx/>
                <a:latin typeface="Segoe UI Emoji"/>
                <a:ea typeface="Segoe UI Emoji"/>
              </a:rPr>
              <a:t>👔</a:t>
            </a:r>
            <a:endParaRPr lang="en-US" sz="2600" b="0" u="none" strike="noStrike">
              <a:solidFill>
                <a:srgbClr val="FFFFFF"/>
              </a:solidFill>
              <a:effectLst/>
              <a:uFillTx/>
              <a:latin typeface="Arial"/>
            </a:endParaRPr>
          </a:p>
        </p:txBody>
      </p:sp>
      <p:sp>
        <p:nvSpPr>
          <p:cNvPr id="382" name="Text 5"/>
          <p:cNvSpPr/>
          <p:nvPr/>
        </p:nvSpPr>
        <p:spPr>
          <a:xfrm>
            <a:off x="822960" y="2880360"/>
            <a:ext cx="308808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FFFFFF"/>
                </a:solidFill>
                <a:effectLst/>
                <a:uFillTx/>
                <a:latin typeface="Arial"/>
                <a:ea typeface="Arial"/>
              </a:rPr>
              <a:t>Lãnh đạo bệnh viện</a:t>
            </a:r>
            <a:endParaRPr lang="en-US" sz="1900" b="0" u="none" strike="noStrike">
              <a:solidFill>
                <a:srgbClr val="FFFFFF"/>
              </a:solidFill>
              <a:effectLst/>
              <a:uFillTx/>
              <a:latin typeface="Arial"/>
            </a:endParaRPr>
          </a:p>
        </p:txBody>
      </p:sp>
      <p:sp>
        <p:nvSpPr>
          <p:cNvPr id="383" name="Text 6"/>
          <p:cNvSpPr/>
          <p:nvPr/>
        </p:nvSpPr>
        <p:spPr>
          <a:xfrm>
            <a:off x="914400" y="3520440"/>
            <a:ext cx="2950920" cy="2285640"/>
          </a:xfrm>
          <a:prstGeom prst="rect">
            <a:avLst/>
          </a:prstGeom>
          <a:noFill/>
          <a:ln w="0">
            <a:noFill/>
          </a:ln>
        </p:spPr>
        <p:style>
          <a:lnRef idx="0"/>
          <a:fillRef idx="0"/>
          <a:effectRef idx="0"/>
          <a:fontRef idx="minor"/>
        </p:style>
        <p:txBody>
          <a:bodyPr lIns="0" tIns="0" rIns="0" bIns="0" anchor="t">
            <a:noAutofit/>
          </a:bodyPr>
          <a:p>
            <a:pPr marL="203040" indent="-203040" defTabSz="914400">
              <a:lnSpc>
                <a:spcPts val="1899"/>
              </a:lnSpc>
              <a:spcAft>
                <a:spcPts val="1001"/>
              </a:spcAft>
              <a:buClr>
                <a:srgbClr val="A9BCD6"/>
              </a:buClr>
              <a:buFont typeface="Symbol" charset="2"/>
              <a:buChar char=""/>
            </a:pPr>
            <a:r>
              <a:rPr lang="en-US" sz="1400" b="0" u="none" strike="noStrike">
                <a:solidFill>
                  <a:srgbClr val="A9BCD6"/>
                </a:solidFill>
                <a:effectLst/>
                <a:uFillTx/>
                <a:latin typeface="Arial"/>
                <a:ea typeface="Arial"/>
              </a:rPr>
              <a:t>Giảm rủi ro xuất toán từ gốc — lỗi được chặn trước khi gửi</a:t>
            </a:r>
            <a:endParaRPr lang="en-US" sz="1400" b="0" u="none" strike="noStrike">
              <a:solidFill>
                <a:srgbClr val="FFFFFF"/>
              </a:solidFill>
              <a:effectLst/>
              <a:uFillTx/>
              <a:latin typeface="Arial"/>
            </a:endParaRPr>
          </a:p>
          <a:p>
            <a:pPr marL="203040" indent="-203040" defTabSz="914400">
              <a:lnSpc>
                <a:spcPts val="1899"/>
              </a:lnSpc>
              <a:spcAft>
                <a:spcPts val="1001"/>
              </a:spcAft>
              <a:buClr>
                <a:srgbClr val="A9BCD6"/>
              </a:buClr>
              <a:buFont typeface="Symbol" charset="2"/>
              <a:buChar char=""/>
            </a:pPr>
            <a:r>
              <a:rPr lang="en-US" sz="1400" b="0" u="none" strike="noStrike">
                <a:solidFill>
                  <a:srgbClr val="A9BCD6"/>
                </a:solidFill>
                <a:effectLst/>
                <a:uFillTx/>
                <a:latin typeface="Arial"/>
                <a:ea typeface="Arial"/>
              </a:rPr>
              <a:t>Nắm chất lượng hồ sơ bằng số liệu, không chờ cổng báo về</a:t>
            </a:r>
            <a:endParaRPr lang="en-US" sz="1400" b="0" u="none" strike="noStrike">
              <a:solidFill>
                <a:srgbClr val="FFFFFF"/>
              </a:solidFill>
              <a:effectLst/>
              <a:uFillTx/>
              <a:latin typeface="Arial"/>
            </a:endParaRPr>
          </a:p>
          <a:p>
            <a:pPr marL="203040" indent="-203040" defTabSz="914400">
              <a:lnSpc>
                <a:spcPts val="1899"/>
              </a:lnSpc>
              <a:spcAft>
                <a:spcPts val="1001"/>
              </a:spcAft>
              <a:buClr>
                <a:srgbClr val="A9BCD6"/>
              </a:buClr>
              <a:buFont typeface="Symbol" charset="2"/>
              <a:buChar char=""/>
            </a:pPr>
            <a:r>
              <a:rPr lang="en-US" sz="1400" b="0" u="none" strike="noStrike">
                <a:solidFill>
                  <a:srgbClr val="A9BCD6"/>
                </a:solidFill>
                <a:effectLst/>
                <a:uFillTx/>
                <a:latin typeface="Arial"/>
                <a:ea typeface="Arial"/>
              </a:rPr>
              <a:t>Thấy được chi phí BHYT đang bị treo vì hồ sơ chưa gửi được</a:t>
            </a:r>
            <a:endParaRPr lang="en-US" sz="1400" b="0" u="none" strike="noStrike">
              <a:solidFill>
                <a:srgbClr val="FFFFFF"/>
              </a:solidFill>
              <a:effectLst/>
              <a:uFillTx/>
              <a:latin typeface="Arial"/>
            </a:endParaRPr>
          </a:p>
        </p:txBody>
      </p:sp>
      <p:sp>
        <p:nvSpPr>
          <p:cNvPr id="384" name="Shape 7"/>
          <p:cNvSpPr/>
          <p:nvPr/>
        </p:nvSpPr>
        <p:spPr>
          <a:xfrm>
            <a:off x="4368600" y="1600200"/>
            <a:ext cx="3453840" cy="3977280"/>
          </a:xfrm>
          <a:prstGeom prst="roundRect">
            <a:avLst>
              <a:gd name="adj" fmla="val 2647"/>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85" name="Shape 8"/>
          <p:cNvSpPr/>
          <p:nvPr/>
        </p:nvSpPr>
        <p:spPr>
          <a:xfrm>
            <a:off x="5661360" y="1874520"/>
            <a:ext cx="868320" cy="868320"/>
          </a:xfrm>
          <a:prstGeom prst="ellipse">
            <a:avLst/>
          </a:prstGeom>
          <a:solidFill>
            <a:srgbClr val="25324A"/>
          </a:solidFill>
          <a:ln w="15875">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86" name="Text 9"/>
          <p:cNvSpPr/>
          <p:nvPr/>
        </p:nvSpPr>
        <p:spPr>
          <a:xfrm>
            <a:off x="5661360" y="1874520"/>
            <a:ext cx="868320" cy="868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600" b="0" u="none" strike="noStrike">
                <a:solidFill>
                  <a:srgbClr val="000000"/>
                </a:solidFill>
                <a:effectLst/>
                <a:uFillTx/>
                <a:latin typeface="Segoe UI Emoji"/>
                <a:ea typeface="Segoe UI Emoji"/>
              </a:rPr>
              <a:t>📋</a:t>
            </a:r>
            <a:endParaRPr lang="en-US" sz="2600" b="0" u="none" strike="noStrike">
              <a:solidFill>
                <a:srgbClr val="FFFFFF"/>
              </a:solidFill>
              <a:effectLst/>
              <a:uFillTx/>
              <a:latin typeface="Arial"/>
            </a:endParaRPr>
          </a:p>
        </p:txBody>
      </p:sp>
      <p:sp>
        <p:nvSpPr>
          <p:cNvPr id="387" name="Text 10"/>
          <p:cNvSpPr/>
          <p:nvPr/>
        </p:nvSpPr>
        <p:spPr>
          <a:xfrm>
            <a:off x="4551480" y="2880360"/>
            <a:ext cx="308808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FFFFFF"/>
                </a:solidFill>
                <a:effectLst/>
                <a:uFillTx/>
                <a:latin typeface="Arial"/>
                <a:ea typeface="Arial"/>
              </a:rPr>
              <a:t>Lãnh đạo phòng KHTH</a:t>
            </a:r>
            <a:endParaRPr lang="en-US" sz="1900" b="0" u="none" strike="noStrike">
              <a:solidFill>
                <a:srgbClr val="FFFFFF"/>
              </a:solidFill>
              <a:effectLst/>
              <a:uFillTx/>
              <a:latin typeface="Arial"/>
            </a:endParaRPr>
          </a:p>
        </p:txBody>
      </p:sp>
      <p:sp>
        <p:nvSpPr>
          <p:cNvPr id="388" name="Text 11"/>
          <p:cNvSpPr/>
          <p:nvPr/>
        </p:nvSpPr>
        <p:spPr>
          <a:xfrm>
            <a:off x="4642920" y="3520440"/>
            <a:ext cx="2950920" cy="2285640"/>
          </a:xfrm>
          <a:prstGeom prst="rect">
            <a:avLst/>
          </a:prstGeom>
          <a:noFill/>
          <a:ln w="0">
            <a:noFill/>
          </a:ln>
        </p:spPr>
        <p:style>
          <a:lnRef idx="0"/>
          <a:fillRef idx="0"/>
          <a:effectRef idx="0"/>
          <a:fontRef idx="minor"/>
        </p:style>
        <p:txBody>
          <a:bodyPr lIns="0" tIns="0" rIns="0" bIns="0" anchor="t">
            <a:noAutofit/>
          </a:bodyPr>
          <a:p>
            <a:pPr marL="203040" indent="-203040" defTabSz="914400">
              <a:lnSpc>
                <a:spcPts val="1899"/>
              </a:lnSpc>
              <a:spcAft>
                <a:spcPts val="1001"/>
              </a:spcAft>
              <a:buClr>
                <a:srgbClr val="A9BCD6"/>
              </a:buClr>
              <a:buFont typeface="Symbol" charset="2"/>
              <a:buChar char=""/>
            </a:pPr>
            <a:r>
              <a:rPr lang="en-US" sz="1400" b="0" u="none" strike="noStrike">
                <a:solidFill>
                  <a:srgbClr val="A9BCD6"/>
                </a:solidFill>
                <a:effectLst/>
                <a:uFillTx/>
                <a:latin typeface="Arial"/>
                <a:ea typeface="Arial"/>
              </a:rPr>
              <a:t>Biết lỗi tập trung ở khoa nào, mã lỗi nào để ưu tiên</a:t>
            </a:r>
            <a:endParaRPr lang="en-US" sz="1400" b="0" u="none" strike="noStrike">
              <a:solidFill>
                <a:srgbClr val="FFFFFF"/>
              </a:solidFill>
              <a:effectLst/>
              <a:uFillTx/>
              <a:latin typeface="Arial"/>
            </a:endParaRPr>
          </a:p>
          <a:p>
            <a:pPr marL="203040" indent="-203040" defTabSz="914400">
              <a:lnSpc>
                <a:spcPts val="1899"/>
              </a:lnSpc>
              <a:spcAft>
                <a:spcPts val="1001"/>
              </a:spcAft>
              <a:buClr>
                <a:srgbClr val="A9BCD6"/>
              </a:buClr>
              <a:buFont typeface="Symbol" charset="2"/>
              <a:buChar char=""/>
            </a:pPr>
            <a:r>
              <a:rPr lang="en-US" sz="1400" b="0" u="none" strike="noStrike">
                <a:solidFill>
                  <a:srgbClr val="A9BCD6"/>
                </a:solidFill>
                <a:effectLst/>
                <a:uFillTx/>
                <a:latin typeface="Arial"/>
                <a:ea typeface="Arial"/>
              </a:rPr>
              <a:t>Theo dõi tồn đọng theo tuổi hồ sơ, xử lý nhóm quá hạn trước</a:t>
            </a:r>
            <a:endParaRPr lang="en-US" sz="1400" b="0" u="none" strike="noStrike">
              <a:solidFill>
                <a:srgbClr val="FFFFFF"/>
              </a:solidFill>
              <a:effectLst/>
              <a:uFillTx/>
              <a:latin typeface="Arial"/>
            </a:endParaRPr>
          </a:p>
          <a:p>
            <a:pPr marL="203040" indent="-203040" defTabSz="914400">
              <a:lnSpc>
                <a:spcPts val="1899"/>
              </a:lnSpc>
              <a:spcAft>
                <a:spcPts val="1001"/>
              </a:spcAft>
              <a:buClr>
                <a:srgbClr val="A9BCD6"/>
              </a:buClr>
              <a:buFont typeface="Symbol" charset="2"/>
              <a:buChar char=""/>
            </a:pPr>
            <a:r>
              <a:rPr lang="en-US" sz="1400" b="0" u="none" strike="noStrike">
                <a:solidFill>
                  <a:srgbClr val="A9BCD6"/>
                </a:solidFill>
                <a:effectLst/>
                <a:uFillTx/>
                <a:latin typeface="Arial"/>
                <a:ea typeface="Arial"/>
              </a:rPr>
              <a:t>Giao việc sửa lỗi có căn cứ: phiếu lỗi theo mã điều trị</a:t>
            </a:r>
            <a:endParaRPr lang="en-US" sz="1400" b="0" u="none" strike="noStrike">
              <a:solidFill>
                <a:srgbClr val="FFFFFF"/>
              </a:solidFill>
              <a:effectLst/>
              <a:uFillTx/>
              <a:latin typeface="Arial"/>
            </a:endParaRPr>
          </a:p>
        </p:txBody>
      </p:sp>
      <p:sp>
        <p:nvSpPr>
          <p:cNvPr id="389" name="Shape 12"/>
          <p:cNvSpPr/>
          <p:nvPr/>
        </p:nvSpPr>
        <p:spPr>
          <a:xfrm>
            <a:off x="8097480" y="1600200"/>
            <a:ext cx="3453840" cy="3977280"/>
          </a:xfrm>
          <a:prstGeom prst="roundRect">
            <a:avLst>
              <a:gd name="adj" fmla="val 2647"/>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90" name="Shape 13"/>
          <p:cNvSpPr/>
          <p:nvPr/>
        </p:nvSpPr>
        <p:spPr>
          <a:xfrm>
            <a:off x="9390240" y="1874520"/>
            <a:ext cx="868320" cy="868320"/>
          </a:xfrm>
          <a:prstGeom prst="ellipse">
            <a:avLst/>
          </a:prstGeom>
          <a:solidFill>
            <a:srgbClr val="25324A"/>
          </a:solidFill>
          <a:ln w="15875">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91" name="Text 14"/>
          <p:cNvSpPr/>
          <p:nvPr/>
        </p:nvSpPr>
        <p:spPr>
          <a:xfrm>
            <a:off x="9390240" y="1874520"/>
            <a:ext cx="868320" cy="868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600" b="0" u="none" strike="noStrike">
                <a:solidFill>
                  <a:srgbClr val="000000"/>
                </a:solidFill>
                <a:effectLst/>
                <a:uFillTx/>
                <a:latin typeface="Segoe UI Emoji"/>
                <a:ea typeface="Segoe UI Emoji"/>
              </a:rPr>
              <a:t>🧑‍💻</a:t>
            </a:r>
            <a:endParaRPr lang="en-US" sz="2600" b="0" u="none" strike="noStrike">
              <a:solidFill>
                <a:srgbClr val="FFFFFF"/>
              </a:solidFill>
              <a:effectLst/>
              <a:uFillTx/>
              <a:latin typeface="Arial"/>
            </a:endParaRPr>
          </a:p>
        </p:txBody>
      </p:sp>
      <p:sp>
        <p:nvSpPr>
          <p:cNvPr id="392" name="Text 15"/>
          <p:cNvSpPr/>
          <p:nvPr/>
        </p:nvSpPr>
        <p:spPr>
          <a:xfrm>
            <a:off x="8280360" y="2880360"/>
            <a:ext cx="308808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FFFFFF"/>
                </a:solidFill>
                <a:effectLst/>
                <a:uFillTx/>
                <a:latin typeface="Arial"/>
                <a:ea typeface="Arial"/>
              </a:rPr>
              <a:t>Nhân viên nghiệp vụ</a:t>
            </a:r>
            <a:endParaRPr lang="en-US" sz="1900" b="0" u="none" strike="noStrike">
              <a:solidFill>
                <a:srgbClr val="FFFFFF"/>
              </a:solidFill>
              <a:effectLst/>
              <a:uFillTx/>
              <a:latin typeface="Arial"/>
            </a:endParaRPr>
          </a:p>
        </p:txBody>
      </p:sp>
      <p:sp>
        <p:nvSpPr>
          <p:cNvPr id="393" name="Text 16"/>
          <p:cNvSpPr/>
          <p:nvPr/>
        </p:nvSpPr>
        <p:spPr>
          <a:xfrm>
            <a:off x="8371800" y="3520440"/>
            <a:ext cx="2950920" cy="2285640"/>
          </a:xfrm>
          <a:prstGeom prst="rect">
            <a:avLst/>
          </a:prstGeom>
          <a:noFill/>
          <a:ln w="0">
            <a:noFill/>
          </a:ln>
        </p:spPr>
        <p:style>
          <a:lnRef idx="0"/>
          <a:fillRef idx="0"/>
          <a:effectRef idx="0"/>
          <a:fontRef idx="minor"/>
        </p:style>
        <p:txBody>
          <a:bodyPr lIns="0" tIns="0" rIns="0" bIns="0" anchor="t">
            <a:noAutofit/>
          </a:bodyPr>
          <a:p>
            <a:pPr marL="203040" indent="-203040" defTabSz="914400">
              <a:lnSpc>
                <a:spcPts val="1899"/>
              </a:lnSpc>
              <a:spcAft>
                <a:spcPts val="1001"/>
              </a:spcAft>
              <a:buClr>
                <a:srgbClr val="A9BCD6"/>
              </a:buClr>
              <a:buFont typeface="Symbol" charset="2"/>
              <a:buChar char=""/>
            </a:pPr>
            <a:r>
              <a:rPr lang="en-US" sz="1400" b="0" u="none" strike="noStrike">
                <a:solidFill>
                  <a:srgbClr val="A9BCD6"/>
                </a:solidFill>
                <a:effectLst/>
                <a:uFillTx/>
                <a:latin typeface="Arial"/>
                <a:ea typeface="Arial"/>
              </a:rPr>
              <a:t>Không dò hồ sơ thủ công — lỗi chỉ ra tận bảng, tận trường</a:t>
            </a:r>
            <a:endParaRPr lang="en-US" sz="1400" b="0" u="none" strike="noStrike">
              <a:solidFill>
                <a:srgbClr val="FFFFFF"/>
              </a:solidFill>
              <a:effectLst/>
              <a:uFillTx/>
              <a:latin typeface="Arial"/>
            </a:endParaRPr>
          </a:p>
          <a:p>
            <a:pPr marL="203040" indent="-203040" defTabSz="914400">
              <a:lnSpc>
                <a:spcPts val="1899"/>
              </a:lnSpc>
              <a:spcAft>
                <a:spcPts val="1001"/>
              </a:spcAft>
              <a:buClr>
                <a:srgbClr val="A9BCD6"/>
              </a:buClr>
              <a:buFont typeface="Symbol" charset="2"/>
              <a:buChar char=""/>
            </a:pPr>
            <a:r>
              <a:rPr lang="en-US" sz="1400" b="0" u="none" strike="noStrike">
                <a:solidFill>
                  <a:srgbClr val="A9BCD6"/>
                </a:solidFill>
                <a:effectLst/>
                <a:uFillTx/>
                <a:latin typeface="Arial"/>
                <a:ea typeface="Arial"/>
              </a:rPr>
              <a:t>Ký số và gửi cổng tự động khi hồ sơ đạt yêu cầu</a:t>
            </a:r>
            <a:endParaRPr lang="en-US" sz="1400" b="0" u="none" strike="noStrike">
              <a:solidFill>
                <a:srgbClr val="FFFFFF"/>
              </a:solidFill>
              <a:effectLst/>
              <a:uFillTx/>
              <a:latin typeface="Arial"/>
            </a:endParaRPr>
          </a:p>
          <a:p>
            <a:pPr marL="203040" indent="-203040" defTabSz="914400">
              <a:lnSpc>
                <a:spcPts val="1899"/>
              </a:lnSpc>
              <a:spcAft>
                <a:spcPts val="1001"/>
              </a:spcAft>
              <a:buClr>
                <a:srgbClr val="A9BCD6"/>
              </a:buClr>
              <a:buFont typeface="Symbol" charset="2"/>
              <a:buChar char=""/>
            </a:pPr>
            <a:r>
              <a:rPr lang="en-US" sz="1400" b="0" u="none" strike="noStrike">
                <a:solidFill>
                  <a:srgbClr val="A9BCD6"/>
                </a:solidFill>
                <a:effectLst/>
                <a:uFillTx/>
                <a:latin typeface="Arial"/>
                <a:ea typeface="Arial"/>
              </a:rPr>
              <a:t>Tra thẻ hàng loạt, tra tiền cùng chi trả ngay trên một màn hình</a:t>
            </a:r>
            <a:endParaRPr lang="en-US" sz="1400" b="0" u="none" strike="noStrike">
              <a:solidFill>
                <a:srgbClr val="FFFFFF"/>
              </a:solidFill>
              <a:effectLst/>
              <a:uFillTx/>
              <a:latin typeface="Arial"/>
            </a:endParaRPr>
          </a:p>
        </p:txBody>
      </p:sp>
      <p:sp>
        <p:nvSpPr>
          <p:cNvPr id="394" name="Text 17"/>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15 / 21</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395"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NÓI RÕ TRƯỚC</a:t>
            </a:r>
            <a:endParaRPr lang="en-US" sz="1200" b="0" u="none" strike="noStrike">
              <a:solidFill>
                <a:srgbClr val="FFFFFF"/>
              </a:solidFill>
              <a:effectLst/>
              <a:uFillTx/>
              <a:latin typeface="Arial"/>
            </a:endParaRPr>
          </a:p>
        </p:txBody>
      </p:sp>
      <p:sp>
        <p:nvSpPr>
          <p:cNvPr id="396"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Nguyên tắc vận hành và giới hạn cần biết</a:t>
            </a:r>
            <a:endParaRPr lang="en-US" sz="2800" b="0" u="none" strike="noStrike">
              <a:solidFill>
                <a:srgbClr val="FFFFFF"/>
              </a:solidFill>
              <a:effectLst/>
              <a:uFillTx/>
              <a:latin typeface="Arial"/>
            </a:endParaRPr>
          </a:p>
        </p:txBody>
      </p:sp>
      <p:sp>
        <p:nvSpPr>
          <p:cNvPr id="397" name="Shape 2"/>
          <p:cNvSpPr/>
          <p:nvPr/>
        </p:nvSpPr>
        <p:spPr>
          <a:xfrm>
            <a:off x="640080" y="1508760"/>
            <a:ext cx="5295240" cy="3657240"/>
          </a:xfrm>
          <a:prstGeom prst="roundRect">
            <a:avLst>
              <a:gd name="adj" fmla="val 2500"/>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98" name="Text 3"/>
          <p:cNvSpPr/>
          <p:nvPr/>
        </p:nvSpPr>
        <p:spPr>
          <a:xfrm>
            <a:off x="868680" y="1710000"/>
            <a:ext cx="4568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000000"/>
                </a:solidFill>
                <a:effectLst/>
                <a:uFillTx/>
                <a:latin typeface="Segoe UI Emoji"/>
                <a:ea typeface="Segoe UI Emoji"/>
              </a:rPr>
              <a:t>✅</a:t>
            </a:r>
            <a:endParaRPr lang="en-US" sz="2000" b="0" u="none" strike="noStrike">
              <a:solidFill>
                <a:srgbClr val="FFFFFF"/>
              </a:solidFill>
              <a:effectLst/>
              <a:uFillTx/>
              <a:latin typeface="Arial"/>
            </a:endParaRPr>
          </a:p>
        </p:txBody>
      </p:sp>
      <p:sp>
        <p:nvSpPr>
          <p:cNvPr id="399" name="Text 4"/>
          <p:cNvSpPr/>
          <p:nvPr/>
        </p:nvSpPr>
        <p:spPr>
          <a:xfrm>
            <a:off x="1417320" y="1710000"/>
            <a:ext cx="428940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4ADE80"/>
                </a:solidFill>
                <a:effectLst/>
                <a:uFillTx/>
                <a:latin typeface="Arial"/>
                <a:ea typeface="Arial"/>
              </a:rPr>
              <a:t>Nguyên tắc</a:t>
            </a:r>
            <a:endParaRPr lang="en-US" sz="1900" b="0" u="none" strike="noStrike">
              <a:solidFill>
                <a:srgbClr val="FFFFFF"/>
              </a:solidFill>
              <a:effectLst/>
              <a:uFillTx/>
              <a:latin typeface="Arial"/>
            </a:endParaRPr>
          </a:p>
        </p:txBody>
      </p:sp>
      <p:sp>
        <p:nvSpPr>
          <p:cNvPr id="400" name="Text 5"/>
          <p:cNvSpPr/>
          <p:nvPr/>
        </p:nvSpPr>
        <p:spPr>
          <a:xfrm>
            <a:off x="914400" y="2377440"/>
            <a:ext cx="4746600" cy="91404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550" b="1" u="none" strike="noStrike">
                <a:solidFill>
                  <a:srgbClr val="FFFFFF"/>
                </a:solidFill>
                <a:effectLst/>
                <a:uFillTx/>
                <a:latin typeface="Arial"/>
                <a:ea typeface="Arial"/>
              </a:rPr>
              <a:t>Chỉ đọc HIS</a:t>
            </a:r>
            <a:endParaRPr lang="en-US" sz="1550" b="0" u="none" strike="noStrike">
              <a:solidFill>
                <a:srgbClr val="FFFFFF"/>
              </a:solidFill>
              <a:effectLst/>
              <a:uFillTx/>
              <a:latin typeface="Arial"/>
            </a:endParaRPr>
          </a:p>
          <a:p>
            <a:pPr defTabSz="914400">
              <a:lnSpc>
                <a:spcPts val="1899"/>
              </a:lnSpc>
              <a:tabLst>
                <a:tab pos="0" algn="l"/>
              </a:tabLst>
            </a:pPr>
            <a:r>
              <a:rPr lang="en-US" sz="1350" b="0" u="none" strike="noStrike">
                <a:solidFill>
                  <a:srgbClr val="A9BCD6"/>
                </a:solidFill>
                <a:effectLst/>
                <a:uFillTx/>
                <a:latin typeface="Arial"/>
                <a:ea typeface="Arial"/>
              </a:rPr>
              <a:t>Không ghi, không sửa dữ liệu, không đổi cấu trúc HIS</a:t>
            </a:r>
            <a:endParaRPr lang="en-US" sz="1350" b="0" u="none" strike="noStrike">
              <a:solidFill>
                <a:srgbClr val="FFFFFF"/>
              </a:solidFill>
              <a:effectLst/>
              <a:uFillTx/>
              <a:latin typeface="Arial"/>
            </a:endParaRPr>
          </a:p>
        </p:txBody>
      </p:sp>
      <p:sp>
        <p:nvSpPr>
          <p:cNvPr id="401" name="Text 6"/>
          <p:cNvSpPr/>
          <p:nvPr/>
        </p:nvSpPr>
        <p:spPr>
          <a:xfrm>
            <a:off x="914400" y="3273480"/>
            <a:ext cx="4746600" cy="91404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550" b="1" u="none" strike="noStrike">
                <a:solidFill>
                  <a:srgbClr val="FFFFFF"/>
                </a:solidFill>
                <a:effectLst/>
                <a:uFillTx/>
                <a:latin typeface="Arial"/>
                <a:ea typeface="Arial"/>
              </a:rPr>
              <a:t>Sửa tại nơi phát sinh</a:t>
            </a:r>
            <a:endParaRPr lang="en-US" sz="1550" b="0" u="none" strike="noStrike">
              <a:solidFill>
                <a:srgbClr val="FFFFFF"/>
              </a:solidFill>
              <a:effectLst/>
              <a:uFillTx/>
              <a:latin typeface="Arial"/>
            </a:endParaRPr>
          </a:p>
          <a:p>
            <a:pPr defTabSz="914400">
              <a:lnSpc>
                <a:spcPts val="1899"/>
              </a:lnSpc>
              <a:tabLst>
                <a:tab pos="0" algn="l"/>
              </a:tabLst>
            </a:pPr>
            <a:r>
              <a:rPr lang="en-US" sz="1350" b="0" u="none" strike="noStrike">
                <a:solidFill>
                  <a:srgbClr val="A9BCD6"/>
                </a:solidFill>
                <a:effectLst/>
                <a:uFillTx/>
                <a:latin typeface="Arial"/>
                <a:ea typeface="Arial"/>
              </a:rPr>
              <a:t>Lỗi sửa trên HIS rồi nạp lại — phần mềm không sửa hộ</a:t>
            </a:r>
            <a:endParaRPr lang="en-US" sz="1350" b="0" u="none" strike="noStrike">
              <a:solidFill>
                <a:srgbClr val="FFFFFF"/>
              </a:solidFill>
              <a:effectLst/>
              <a:uFillTx/>
              <a:latin typeface="Arial"/>
            </a:endParaRPr>
          </a:p>
        </p:txBody>
      </p:sp>
      <p:sp>
        <p:nvSpPr>
          <p:cNvPr id="402" name="Text 7"/>
          <p:cNvSpPr/>
          <p:nvPr/>
        </p:nvSpPr>
        <p:spPr>
          <a:xfrm>
            <a:off x="914400" y="4169520"/>
            <a:ext cx="4746600" cy="91404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550" b="1" u="none" strike="noStrike">
                <a:solidFill>
                  <a:srgbClr val="FFFFFF"/>
                </a:solidFill>
                <a:effectLst/>
                <a:uFillTx/>
                <a:latin typeface="Arial"/>
                <a:ea typeface="Arial"/>
              </a:rPr>
              <a:t>Không đánh giá cá nhân</a:t>
            </a:r>
            <a:endParaRPr lang="en-US" sz="1550" b="0" u="none" strike="noStrike">
              <a:solidFill>
                <a:srgbClr val="FFFFFF"/>
              </a:solidFill>
              <a:effectLst/>
              <a:uFillTx/>
              <a:latin typeface="Arial"/>
            </a:endParaRPr>
          </a:p>
          <a:p>
            <a:pPr defTabSz="914400">
              <a:lnSpc>
                <a:spcPts val="1899"/>
              </a:lnSpc>
              <a:tabLst>
                <a:tab pos="0" algn="l"/>
              </a:tabLst>
            </a:pPr>
            <a:r>
              <a:rPr lang="en-US" sz="1350" b="0" u="none" strike="noStrike">
                <a:solidFill>
                  <a:srgbClr val="A9BCD6"/>
                </a:solidFill>
                <a:effectLst/>
                <a:uFillTx/>
                <a:latin typeface="Arial"/>
                <a:ea typeface="Arial"/>
              </a:rPr>
              <a:t>Công cụ giảm sai sót, bảo vệ bác sĩ và người bệnh (no-blame)</a:t>
            </a:r>
            <a:endParaRPr lang="en-US" sz="1350" b="0" u="none" strike="noStrike">
              <a:solidFill>
                <a:srgbClr val="FFFFFF"/>
              </a:solidFill>
              <a:effectLst/>
              <a:uFillTx/>
              <a:latin typeface="Arial"/>
            </a:endParaRPr>
          </a:p>
        </p:txBody>
      </p:sp>
      <p:sp>
        <p:nvSpPr>
          <p:cNvPr id="403" name="Shape 8"/>
          <p:cNvSpPr/>
          <p:nvPr/>
        </p:nvSpPr>
        <p:spPr>
          <a:xfrm>
            <a:off x="6255720" y="1508760"/>
            <a:ext cx="5295240" cy="3657240"/>
          </a:xfrm>
          <a:prstGeom prst="roundRect">
            <a:avLst>
              <a:gd name="adj" fmla="val 2500"/>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04" name="Text 9"/>
          <p:cNvSpPr/>
          <p:nvPr/>
        </p:nvSpPr>
        <p:spPr>
          <a:xfrm>
            <a:off x="6484320" y="1710000"/>
            <a:ext cx="4568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000000"/>
                </a:solidFill>
                <a:effectLst/>
                <a:uFillTx/>
                <a:latin typeface="Segoe UI Emoji"/>
                <a:ea typeface="Segoe UI Emoji"/>
              </a:rPr>
              <a:t>⚠️</a:t>
            </a:r>
            <a:endParaRPr lang="en-US" sz="2000" b="0" u="none" strike="noStrike">
              <a:solidFill>
                <a:srgbClr val="FFFFFF"/>
              </a:solidFill>
              <a:effectLst/>
              <a:uFillTx/>
              <a:latin typeface="Arial"/>
            </a:endParaRPr>
          </a:p>
        </p:txBody>
      </p:sp>
      <p:sp>
        <p:nvSpPr>
          <p:cNvPr id="405" name="Text 10"/>
          <p:cNvSpPr/>
          <p:nvPr/>
        </p:nvSpPr>
        <p:spPr>
          <a:xfrm>
            <a:off x="7032960" y="1710000"/>
            <a:ext cx="428940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FBBF24"/>
                </a:solidFill>
                <a:effectLst/>
                <a:uFillTx/>
                <a:latin typeface="Arial"/>
                <a:ea typeface="Arial"/>
              </a:rPr>
              <a:t>Giới hạn</a:t>
            </a:r>
            <a:endParaRPr lang="en-US" sz="1900" b="0" u="none" strike="noStrike">
              <a:solidFill>
                <a:srgbClr val="FFFFFF"/>
              </a:solidFill>
              <a:effectLst/>
              <a:uFillTx/>
              <a:latin typeface="Arial"/>
            </a:endParaRPr>
          </a:p>
        </p:txBody>
      </p:sp>
      <p:sp>
        <p:nvSpPr>
          <p:cNvPr id="406" name="Text 11"/>
          <p:cNvSpPr/>
          <p:nvPr/>
        </p:nvSpPr>
        <p:spPr>
          <a:xfrm>
            <a:off x="6530040" y="2377440"/>
            <a:ext cx="4746600" cy="91404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550" b="1" u="none" strike="noStrike">
                <a:solidFill>
                  <a:srgbClr val="FFFFFF"/>
                </a:solidFill>
                <a:effectLst/>
                <a:uFillTx/>
                <a:latin typeface="Arial"/>
                <a:ea typeface="Arial"/>
              </a:rPr>
              <a:t>Chưa trùng toàn bộ quy tắc BHXH</a:t>
            </a:r>
            <a:endParaRPr lang="en-US" sz="1550" b="0" u="none" strike="noStrike">
              <a:solidFill>
                <a:srgbClr val="FFFFFF"/>
              </a:solidFill>
              <a:effectLst/>
              <a:uFillTx/>
              <a:latin typeface="Arial"/>
            </a:endParaRPr>
          </a:p>
          <a:p>
            <a:pPr defTabSz="914400">
              <a:lnSpc>
                <a:spcPts val="1899"/>
              </a:lnSpc>
              <a:tabLst>
                <a:tab pos="0" algn="l"/>
              </a:tabLst>
            </a:pPr>
            <a:r>
              <a:rPr lang="en-US" sz="1350" b="0" u="none" strike="noStrike">
                <a:solidFill>
                  <a:srgbClr val="A9BCD6"/>
                </a:solidFill>
                <a:effectLst/>
                <a:uFillTx/>
                <a:latin typeface="Arial"/>
                <a:ea typeface="Arial"/>
              </a:rPr>
              <a:t>Hồ sơ qua Tiền giám định vẫn có thể bị cổng trả về</a:t>
            </a:r>
            <a:endParaRPr lang="en-US" sz="1350" b="0" u="none" strike="noStrike">
              <a:solidFill>
                <a:srgbClr val="FFFFFF"/>
              </a:solidFill>
              <a:effectLst/>
              <a:uFillTx/>
              <a:latin typeface="Arial"/>
            </a:endParaRPr>
          </a:p>
        </p:txBody>
      </p:sp>
      <p:sp>
        <p:nvSpPr>
          <p:cNvPr id="407" name="Text 12"/>
          <p:cNvSpPr/>
          <p:nvPr/>
        </p:nvSpPr>
        <p:spPr>
          <a:xfrm>
            <a:off x="6530040" y="3273480"/>
            <a:ext cx="4746600" cy="91404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550" b="1" u="none" strike="noStrike">
                <a:solidFill>
                  <a:srgbClr val="FFFFFF"/>
                </a:solidFill>
                <a:effectLst/>
                <a:uFillTx/>
                <a:latin typeface="Arial"/>
                <a:ea typeface="Arial"/>
              </a:rPr>
              <a:t>Chỉ bắt lỗi có trong bộ quy tắc</a:t>
            </a:r>
            <a:endParaRPr lang="en-US" sz="1550" b="0" u="none" strike="noStrike">
              <a:solidFill>
                <a:srgbClr val="FFFFFF"/>
              </a:solidFill>
              <a:effectLst/>
              <a:uFillTx/>
              <a:latin typeface="Arial"/>
            </a:endParaRPr>
          </a:p>
          <a:p>
            <a:pPr defTabSz="914400">
              <a:lnSpc>
                <a:spcPts val="1899"/>
              </a:lnSpc>
              <a:tabLst>
                <a:tab pos="0" algn="l"/>
              </a:tabLst>
            </a:pPr>
            <a:r>
              <a:rPr lang="en-US" sz="1350" b="0" u="none" strike="noStrike">
                <a:solidFill>
                  <a:srgbClr val="A9BCD6"/>
                </a:solidFill>
                <a:effectLst/>
                <a:uFillTx/>
                <a:latin typeface="Arial"/>
                <a:ea typeface="Arial"/>
              </a:rPr>
              <a:t>Quy định mới cần thời gian cập nhật quy tắc</a:t>
            </a:r>
            <a:endParaRPr lang="en-US" sz="1350" b="0" u="none" strike="noStrike">
              <a:solidFill>
                <a:srgbClr val="FFFFFF"/>
              </a:solidFill>
              <a:effectLst/>
              <a:uFillTx/>
              <a:latin typeface="Arial"/>
            </a:endParaRPr>
          </a:p>
        </p:txBody>
      </p:sp>
      <p:sp>
        <p:nvSpPr>
          <p:cNvPr id="408" name="Text 13"/>
          <p:cNvSpPr/>
          <p:nvPr/>
        </p:nvSpPr>
        <p:spPr>
          <a:xfrm>
            <a:off x="6530040" y="4169520"/>
            <a:ext cx="4746600" cy="91404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550" b="1" u="none" strike="noStrike">
                <a:solidFill>
                  <a:srgbClr val="FFFFFF"/>
                </a:solidFill>
                <a:effectLst/>
                <a:uFillTx/>
                <a:latin typeface="Arial"/>
                <a:ea typeface="Arial"/>
              </a:rPr>
              <a:t>Phụ thuộc chất lượng danh mục</a:t>
            </a:r>
            <a:endParaRPr lang="en-US" sz="1550" b="0" u="none" strike="noStrike">
              <a:solidFill>
                <a:srgbClr val="FFFFFF"/>
              </a:solidFill>
              <a:effectLst/>
              <a:uFillTx/>
              <a:latin typeface="Arial"/>
            </a:endParaRPr>
          </a:p>
          <a:p>
            <a:pPr defTabSz="914400">
              <a:lnSpc>
                <a:spcPts val="1899"/>
              </a:lnSpc>
              <a:tabLst>
                <a:tab pos="0" algn="l"/>
              </a:tabLst>
            </a:pPr>
            <a:r>
              <a:rPr lang="en-US" sz="1350" b="0" u="none" strike="noStrike">
                <a:solidFill>
                  <a:srgbClr val="A9BCD6"/>
                </a:solidFill>
                <a:effectLst/>
                <a:uFillTx/>
                <a:latin typeface="Arial"/>
                <a:ea typeface="Arial"/>
              </a:rPr>
              <a:t>Danh mục thiếu hoặc sai hiệu lực sinh ra lỗi giả hàng loạt</a:t>
            </a:r>
            <a:endParaRPr lang="en-US" sz="1350" b="0" u="none" strike="noStrike">
              <a:solidFill>
                <a:srgbClr val="FFFFFF"/>
              </a:solidFill>
              <a:effectLst/>
              <a:uFillTx/>
              <a:latin typeface="Arial"/>
            </a:endParaRPr>
          </a:p>
        </p:txBody>
      </p:sp>
      <p:sp>
        <p:nvSpPr>
          <p:cNvPr id="409" name="Text 14"/>
          <p:cNvSpPr/>
          <p:nvPr/>
        </p:nvSpPr>
        <p:spPr>
          <a:xfrm>
            <a:off x="640080" y="5440680"/>
            <a:ext cx="1091124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BBF24"/>
                </a:solidFill>
                <a:effectLst/>
                <a:uFillTx/>
                <a:latin typeface="Arial"/>
                <a:ea typeface="Arial"/>
              </a:rPr>
              <a:t>Tiền giám định là công cụ hỗ trợ — không thay thế quyết định chuyên môn</a:t>
            </a:r>
            <a:endParaRPr lang="en-US" sz="1600" b="0" u="none" strike="noStrike">
              <a:solidFill>
                <a:srgbClr val="FFFFFF"/>
              </a:solidFill>
              <a:effectLst/>
              <a:uFillTx/>
              <a:latin typeface="Arial"/>
            </a:endParaRPr>
          </a:p>
        </p:txBody>
      </p:sp>
      <p:sp>
        <p:nvSpPr>
          <p:cNvPr id="410" name="Text 15"/>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16 / 21</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411"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AN TOÀN</a:t>
            </a:r>
            <a:endParaRPr lang="en-US" sz="1200" b="0" u="none" strike="noStrike">
              <a:solidFill>
                <a:srgbClr val="FFFFFF"/>
              </a:solidFill>
              <a:effectLst/>
              <a:uFillTx/>
              <a:latin typeface="Arial"/>
            </a:endParaRPr>
          </a:p>
        </p:txBody>
      </p:sp>
      <p:sp>
        <p:nvSpPr>
          <p:cNvPr id="412"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Dữ liệu người bệnh và hệ thống HIS được bảo vệ thế nào</a:t>
            </a:r>
            <a:endParaRPr lang="en-US" sz="2800" b="0" u="none" strike="noStrike">
              <a:solidFill>
                <a:srgbClr val="FFFFFF"/>
              </a:solidFill>
              <a:effectLst/>
              <a:uFillTx/>
              <a:latin typeface="Arial"/>
            </a:endParaRPr>
          </a:p>
        </p:txBody>
      </p:sp>
      <p:sp>
        <p:nvSpPr>
          <p:cNvPr id="413" name="Shape 2"/>
          <p:cNvSpPr/>
          <p:nvPr/>
        </p:nvSpPr>
        <p:spPr>
          <a:xfrm>
            <a:off x="640080" y="1508760"/>
            <a:ext cx="5318280" cy="1782720"/>
          </a:xfrm>
          <a:prstGeom prst="roundRect">
            <a:avLst>
              <a:gd name="adj" fmla="val 512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14" name="Shape 3"/>
          <p:cNvSpPr/>
          <p:nvPr/>
        </p:nvSpPr>
        <p:spPr>
          <a:xfrm>
            <a:off x="914400" y="1783080"/>
            <a:ext cx="731160" cy="731160"/>
          </a:xfrm>
          <a:prstGeom prst="ellipse">
            <a:avLst/>
          </a:prstGeom>
          <a:solidFill>
            <a:srgbClr val="25324A"/>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15" name="Text 4"/>
          <p:cNvSpPr/>
          <p:nvPr/>
        </p:nvSpPr>
        <p:spPr>
          <a:xfrm>
            <a:off x="914400" y="1783080"/>
            <a:ext cx="731160" cy="731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416" name="Text 5"/>
          <p:cNvSpPr/>
          <p:nvPr/>
        </p:nvSpPr>
        <p:spPr>
          <a:xfrm>
            <a:off x="1874520" y="1783080"/>
            <a:ext cx="38552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FFFFFF"/>
                </a:solidFill>
                <a:effectLst/>
                <a:uFillTx/>
                <a:latin typeface="Arial"/>
                <a:ea typeface="Arial"/>
              </a:rPr>
              <a:t>Đặt tại bệnh viện</a:t>
            </a:r>
            <a:endParaRPr lang="en-US" sz="1800" b="0" u="none" strike="noStrike">
              <a:solidFill>
                <a:srgbClr val="FFFFFF"/>
              </a:solidFill>
              <a:effectLst/>
              <a:uFillTx/>
              <a:latin typeface="Arial"/>
            </a:endParaRPr>
          </a:p>
        </p:txBody>
      </p:sp>
      <p:sp>
        <p:nvSpPr>
          <p:cNvPr id="417" name="Text 6"/>
          <p:cNvSpPr/>
          <p:nvPr/>
        </p:nvSpPr>
        <p:spPr>
          <a:xfrm>
            <a:off x="1874520" y="2286000"/>
            <a:ext cx="3855240" cy="8683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350" b="0" u="none" strike="noStrike">
                <a:solidFill>
                  <a:srgbClr val="A9BCD6"/>
                </a:solidFill>
                <a:effectLst/>
                <a:uFillTx/>
                <a:latin typeface="Arial"/>
                <a:ea typeface="Arial"/>
              </a:rPr>
              <a:t>Máy chủ đặt trong mạng nội </a:t>
            </a:r>
            <a:r>
              <a:rPr lang="en-US" sz="1350" b="0" u="none" strike="noStrike">
                <a:solidFill>
                  <a:srgbClr val="A9BCD6"/>
                </a:solidFill>
                <a:effectLst/>
                <a:uFillTx/>
                <a:latin typeface="Arial"/>
                <a:ea typeface="Arial"/>
              </a:rPr>
              <a:t>bộ của viện. Dữ liệu chỉ gửi </a:t>
            </a:r>
            <a:r>
              <a:rPr lang="en-US" sz="1350" b="0" u="none" strike="noStrike">
                <a:solidFill>
                  <a:srgbClr val="A9BCD6"/>
                </a:solidFill>
                <a:effectLst/>
                <a:uFillTx/>
                <a:latin typeface="Arial"/>
                <a:ea typeface="Arial"/>
              </a:rPr>
              <a:t>lên Cổng giám định BHXH </a:t>
            </a:r>
            <a:r>
              <a:rPr lang="en-US" sz="1350" b="0" u="none" strike="noStrike">
                <a:solidFill>
                  <a:srgbClr val="A9BCD6"/>
                </a:solidFill>
                <a:effectLst/>
                <a:uFillTx/>
                <a:latin typeface="Arial"/>
                <a:ea typeface="Arial"/>
              </a:rPr>
              <a:t>— như quy trình hiện nay.</a:t>
            </a:r>
            <a:endParaRPr lang="en-US" sz="1350" b="0" u="none" strike="noStrike">
              <a:solidFill>
                <a:srgbClr val="FFFFFF"/>
              </a:solidFill>
              <a:effectLst/>
              <a:uFillTx/>
              <a:latin typeface="Arial"/>
            </a:endParaRPr>
          </a:p>
        </p:txBody>
      </p:sp>
      <p:sp>
        <p:nvSpPr>
          <p:cNvPr id="418" name="Shape 7"/>
          <p:cNvSpPr/>
          <p:nvPr/>
        </p:nvSpPr>
        <p:spPr>
          <a:xfrm>
            <a:off x="6233040" y="1508760"/>
            <a:ext cx="5318280" cy="1782720"/>
          </a:xfrm>
          <a:prstGeom prst="roundRect">
            <a:avLst>
              <a:gd name="adj" fmla="val 512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19" name="Shape 8"/>
          <p:cNvSpPr/>
          <p:nvPr/>
        </p:nvSpPr>
        <p:spPr>
          <a:xfrm>
            <a:off x="6507360" y="1783080"/>
            <a:ext cx="731160" cy="731160"/>
          </a:xfrm>
          <a:prstGeom prst="ellipse">
            <a:avLst/>
          </a:prstGeom>
          <a:solidFill>
            <a:srgbClr val="25324A"/>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0" name="Text 9"/>
          <p:cNvSpPr/>
          <p:nvPr/>
        </p:nvSpPr>
        <p:spPr>
          <a:xfrm>
            <a:off x="6507360" y="1783080"/>
            <a:ext cx="731160" cy="731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421" name="Text 10"/>
          <p:cNvSpPr/>
          <p:nvPr/>
        </p:nvSpPr>
        <p:spPr>
          <a:xfrm>
            <a:off x="7467480" y="1783080"/>
            <a:ext cx="38552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FFFFFF"/>
                </a:solidFill>
                <a:effectLst/>
                <a:uFillTx/>
                <a:latin typeface="Arial"/>
                <a:ea typeface="Arial"/>
              </a:rPr>
              <a:t>Chỉ đọc HIS</a:t>
            </a:r>
            <a:endParaRPr lang="en-US" sz="1800" b="0" u="none" strike="noStrike">
              <a:solidFill>
                <a:srgbClr val="FFFFFF"/>
              </a:solidFill>
              <a:effectLst/>
              <a:uFillTx/>
              <a:latin typeface="Arial"/>
            </a:endParaRPr>
          </a:p>
        </p:txBody>
      </p:sp>
      <p:sp>
        <p:nvSpPr>
          <p:cNvPr id="422" name="Text 11"/>
          <p:cNvSpPr/>
          <p:nvPr/>
        </p:nvSpPr>
        <p:spPr>
          <a:xfrm>
            <a:off x="7467480" y="2286000"/>
            <a:ext cx="3855240" cy="8683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350" b="0" u="none" strike="noStrike">
                <a:solidFill>
                  <a:srgbClr val="A9BCD6"/>
                </a:solidFill>
                <a:effectLst/>
                <a:uFillTx/>
                <a:latin typeface="Arial"/>
                <a:ea typeface="Arial"/>
              </a:rPr>
              <a:t>Tài khoản chỉ có quyền đọc: không ghi, không cài trigger, không đổi cấu trúc cơ sở dữ liệu HIS.</a:t>
            </a:r>
            <a:endParaRPr lang="en-US" sz="1350" b="0" u="none" strike="noStrike">
              <a:solidFill>
                <a:srgbClr val="FFFFFF"/>
              </a:solidFill>
              <a:effectLst/>
              <a:uFillTx/>
              <a:latin typeface="Arial"/>
            </a:endParaRPr>
          </a:p>
        </p:txBody>
      </p:sp>
      <p:sp>
        <p:nvSpPr>
          <p:cNvPr id="423" name="Shape 12"/>
          <p:cNvSpPr/>
          <p:nvPr/>
        </p:nvSpPr>
        <p:spPr>
          <a:xfrm>
            <a:off x="640080" y="3520440"/>
            <a:ext cx="5318280" cy="1782720"/>
          </a:xfrm>
          <a:prstGeom prst="roundRect">
            <a:avLst>
              <a:gd name="adj" fmla="val 512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4" name="Shape 13"/>
          <p:cNvSpPr/>
          <p:nvPr/>
        </p:nvSpPr>
        <p:spPr>
          <a:xfrm>
            <a:off x="914400" y="3794760"/>
            <a:ext cx="731160" cy="731160"/>
          </a:xfrm>
          <a:prstGeom prst="ellipse">
            <a:avLst/>
          </a:prstGeom>
          <a:solidFill>
            <a:srgbClr val="25324A"/>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5" name="Text 14"/>
          <p:cNvSpPr/>
          <p:nvPr/>
        </p:nvSpPr>
        <p:spPr>
          <a:xfrm>
            <a:off x="914400" y="3794760"/>
            <a:ext cx="731160" cy="731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426" name="Text 15"/>
          <p:cNvSpPr/>
          <p:nvPr/>
        </p:nvSpPr>
        <p:spPr>
          <a:xfrm>
            <a:off x="1874520" y="3794760"/>
            <a:ext cx="38552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FFFFFF"/>
                </a:solidFill>
                <a:effectLst/>
                <a:uFillTx/>
                <a:latin typeface="Arial"/>
                <a:ea typeface="Arial"/>
              </a:rPr>
              <a:t>Không làm nặng HIS</a:t>
            </a:r>
            <a:endParaRPr lang="en-US" sz="1800" b="0" u="none" strike="noStrike">
              <a:solidFill>
                <a:srgbClr val="FFFFFF"/>
              </a:solidFill>
              <a:effectLst/>
              <a:uFillTx/>
              <a:latin typeface="Arial"/>
            </a:endParaRPr>
          </a:p>
        </p:txBody>
      </p:sp>
      <p:sp>
        <p:nvSpPr>
          <p:cNvPr id="427" name="Text 16"/>
          <p:cNvSpPr/>
          <p:nvPr/>
        </p:nvSpPr>
        <p:spPr>
          <a:xfrm>
            <a:off x="1874520" y="4297680"/>
            <a:ext cx="3855240" cy="8683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350" b="0" u="none" strike="noStrike">
                <a:solidFill>
                  <a:srgbClr val="A9BCD6"/>
                </a:solidFill>
                <a:effectLst/>
                <a:uFillTx/>
                <a:latin typeface="Arial"/>
                <a:ea typeface="Arial"/>
              </a:rPr>
              <a:t>Truy vấn chạy nền theo lô; khảo sát chỉ mục các bảng HIS lớn trước khi bật.</a:t>
            </a:r>
            <a:endParaRPr lang="en-US" sz="1350" b="0" u="none" strike="noStrike">
              <a:solidFill>
                <a:srgbClr val="FFFFFF"/>
              </a:solidFill>
              <a:effectLst/>
              <a:uFillTx/>
              <a:latin typeface="Arial"/>
            </a:endParaRPr>
          </a:p>
        </p:txBody>
      </p:sp>
      <p:sp>
        <p:nvSpPr>
          <p:cNvPr id="428" name="Shape 17"/>
          <p:cNvSpPr/>
          <p:nvPr/>
        </p:nvSpPr>
        <p:spPr>
          <a:xfrm>
            <a:off x="6233040" y="3520440"/>
            <a:ext cx="5318280" cy="1782720"/>
          </a:xfrm>
          <a:prstGeom prst="roundRect">
            <a:avLst>
              <a:gd name="adj" fmla="val 512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9" name="Shape 18"/>
          <p:cNvSpPr/>
          <p:nvPr/>
        </p:nvSpPr>
        <p:spPr>
          <a:xfrm>
            <a:off x="6507360" y="3794760"/>
            <a:ext cx="731160" cy="731160"/>
          </a:xfrm>
          <a:prstGeom prst="ellipse">
            <a:avLst/>
          </a:prstGeom>
          <a:solidFill>
            <a:srgbClr val="25324A"/>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30" name="Text 19"/>
          <p:cNvSpPr/>
          <p:nvPr/>
        </p:nvSpPr>
        <p:spPr>
          <a:xfrm>
            <a:off x="6507360" y="3794760"/>
            <a:ext cx="731160" cy="731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431" name="Text 20"/>
          <p:cNvSpPr/>
          <p:nvPr/>
        </p:nvSpPr>
        <p:spPr>
          <a:xfrm>
            <a:off x="7467480" y="3794760"/>
            <a:ext cx="38552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FFFFFF"/>
                </a:solidFill>
                <a:effectLst/>
                <a:uFillTx/>
                <a:latin typeface="Arial"/>
                <a:ea typeface="Arial"/>
              </a:rPr>
              <a:t>Phân quyền và ghi vết</a:t>
            </a:r>
            <a:endParaRPr lang="en-US" sz="1800" b="0" u="none" strike="noStrike">
              <a:solidFill>
                <a:srgbClr val="FFFFFF"/>
              </a:solidFill>
              <a:effectLst/>
              <a:uFillTx/>
              <a:latin typeface="Arial"/>
            </a:endParaRPr>
          </a:p>
        </p:txBody>
      </p:sp>
      <p:sp>
        <p:nvSpPr>
          <p:cNvPr id="432" name="Text 21"/>
          <p:cNvSpPr/>
          <p:nvPr/>
        </p:nvSpPr>
        <p:spPr>
          <a:xfrm>
            <a:off x="7467480" y="4297680"/>
            <a:ext cx="3855240" cy="8683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350" b="0" u="none" strike="noStrike">
                <a:solidFill>
                  <a:srgbClr val="A9BCD6"/>
                </a:solidFill>
                <a:effectLst/>
                <a:uFillTx/>
                <a:latin typeface="Arial"/>
                <a:ea typeface="Arial"/>
              </a:rPr>
              <a:t>Mỗi người chỉ thấy chức năng được cấp; ghi lại ai nạp, ai gửi hồ sơ, ai tra cứu thẻ.</a:t>
            </a:r>
            <a:endParaRPr lang="en-US" sz="1350" b="0" u="none" strike="noStrike">
              <a:solidFill>
                <a:srgbClr val="FFFFFF"/>
              </a:solidFill>
              <a:effectLst/>
              <a:uFillTx/>
              <a:latin typeface="Arial"/>
            </a:endParaRPr>
          </a:p>
        </p:txBody>
      </p:sp>
      <p:sp>
        <p:nvSpPr>
          <p:cNvPr id="433" name="Text 22"/>
          <p:cNvSpPr/>
          <p:nvPr/>
        </p:nvSpPr>
        <p:spPr>
          <a:xfrm>
            <a:off x="640080" y="5623560"/>
            <a:ext cx="1091124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BBF24"/>
                </a:solidFill>
                <a:effectLst/>
                <a:uFillTx/>
                <a:latin typeface="Arial"/>
                <a:ea typeface="Arial"/>
              </a:rPr>
              <a:t>Dữ liệu </a:t>
            </a:r>
            <a:r>
              <a:rPr lang="en-US" sz="1600" b="0" u="none" strike="noStrike">
                <a:solidFill>
                  <a:srgbClr val="FBBF24"/>
                </a:solidFill>
                <a:effectLst/>
                <a:uFillTx/>
                <a:latin typeface="Arial"/>
                <a:ea typeface="Arial"/>
              </a:rPr>
              <a:t>người </a:t>
            </a:r>
            <a:r>
              <a:rPr lang="en-US" sz="1600" b="0" u="none" strike="noStrike">
                <a:solidFill>
                  <a:srgbClr val="FBBF24"/>
                </a:solidFill>
                <a:effectLst/>
                <a:uFillTx/>
                <a:latin typeface="Arial"/>
                <a:ea typeface="Arial"/>
              </a:rPr>
              <a:t>bệnh ở lại </a:t>
            </a:r>
            <a:r>
              <a:rPr lang="en-US" sz="1600" b="0" u="none" strike="noStrike">
                <a:solidFill>
                  <a:srgbClr val="FBBF24"/>
                </a:solidFill>
                <a:effectLst/>
                <a:uFillTx/>
                <a:latin typeface="Arial"/>
                <a:ea typeface="Arial"/>
              </a:rPr>
              <a:t>trong bệnh </a:t>
            </a:r>
            <a:r>
              <a:rPr lang="en-US" sz="1600" b="0" u="none" strike="noStrike">
                <a:solidFill>
                  <a:srgbClr val="FBBF24"/>
                </a:solidFill>
                <a:effectLst/>
                <a:uFillTx/>
                <a:latin typeface="Arial"/>
                <a:ea typeface="Arial"/>
              </a:rPr>
              <a:t>viện</a:t>
            </a:r>
            <a:endParaRPr lang="en-US" sz="1600" b="0" u="none" strike="noStrike">
              <a:solidFill>
                <a:srgbClr val="FFFFFF"/>
              </a:solidFill>
              <a:effectLst/>
              <a:uFillTx/>
              <a:latin typeface="Arial"/>
            </a:endParaRPr>
          </a:p>
        </p:txBody>
      </p:sp>
      <p:sp>
        <p:nvSpPr>
          <p:cNvPr id="434" name="Text 23"/>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17 / 21</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435"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TRIỂN KHAI</a:t>
            </a:r>
            <a:endParaRPr lang="en-US" sz="1200" b="0" u="none" strike="noStrike">
              <a:solidFill>
                <a:srgbClr val="FFFFFF"/>
              </a:solidFill>
              <a:effectLst/>
              <a:uFillTx/>
              <a:latin typeface="Arial"/>
            </a:endParaRPr>
          </a:p>
        </p:txBody>
      </p:sp>
      <p:sp>
        <p:nvSpPr>
          <p:cNvPr id="436"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Điều kiện và lộ trình triển khai tại bệnh viện</a:t>
            </a:r>
            <a:endParaRPr lang="en-US" sz="2800" b="0" u="none" strike="noStrike">
              <a:solidFill>
                <a:srgbClr val="FFFFFF"/>
              </a:solidFill>
              <a:effectLst/>
              <a:uFillTx/>
              <a:latin typeface="Arial"/>
            </a:endParaRPr>
          </a:p>
        </p:txBody>
      </p:sp>
      <p:sp>
        <p:nvSpPr>
          <p:cNvPr id="437" name="Shape 2"/>
          <p:cNvSpPr/>
          <p:nvPr/>
        </p:nvSpPr>
        <p:spPr>
          <a:xfrm>
            <a:off x="640080" y="1508760"/>
            <a:ext cx="4845960" cy="1325520"/>
          </a:xfrm>
          <a:prstGeom prst="roundRect">
            <a:avLst>
              <a:gd name="adj" fmla="val 6897"/>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38" name="Text 3"/>
          <p:cNvSpPr/>
          <p:nvPr/>
        </p:nvSpPr>
        <p:spPr>
          <a:xfrm>
            <a:off x="822960" y="1691640"/>
            <a:ext cx="4568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000000"/>
                </a:solidFill>
                <a:effectLst/>
                <a:uFillTx/>
                <a:latin typeface="Segoe UI Emoji"/>
                <a:ea typeface="Segoe UI Emoji"/>
              </a:rPr>
              <a:t>🔌</a:t>
            </a:r>
            <a:endParaRPr lang="en-US" sz="2000" b="0" u="none" strike="noStrike">
              <a:solidFill>
                <a:srgbClr val="FFFFFF"/>
              </a:solidFill>
              <a:effectLst/>
              <a:uFillTx/>
              <a:latin typeface="Arial"/>
            </a:endParaRPr>
          </a:p>
        </p:txBody>
      </p:sp>
      <p:sp>
        <p:nvSpPr>
          <p:cNvPr id="439" name="Text 4"/>
          <p:cNvSpPr/>
          <p:nvPr/>
        </p:nvSpPr>
        <p:spPr>
          <a:xfrm>
            <a:off x="1417320" y="1691640"/>
            <a:ext cx="38858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Arial"/>
                <a:ea typeface="Arial"/>
              </a:rPr>
              <a:t>Dùng được với mọi HIS</a:t>
            </a:r>
            <a:endParaRPr lang="en-US" sz="1600" b="0" u="none" strike="noStrike">
              <a:solidFill>
                <a:srgbClr val="FFFFFF"/>
              </a:solidFill>
              <a:effectLst/>
              <a:uFillTx/>
              <a:latin typeface="Arial"/>
            </a:endParaRPr>
          </a:p>
        </p:txBody>
      </p:sp>
      <p:sp>
        <p:nvSpPr>
          <p:cNvPr id="440" name="Text 5"/>
          <p:cNvSpPr/>
          <p:nvPr/>
        </p:nvSpPr>
        <p:spPr>
          <a:xfrm>
            <a:off x="914400" y="2194560"/>
            <a:ext cx="4343040" cy="59400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Hồ sơ XML 3176 — nhận tệp XML chuẩn theo Quyết định 3176, không phụ thuộc phần mềm HIS</a:t>
            </a:r>
            <a:endParaRPr lang="en-US" sz="1250" b="0" u="none" strike="noStrike">
              <a:solidFill>
                <a:srgbClr val="FFFFFF"/>
              </a:solidFill>
              <a:effectLst/>
              <a:uFillTx/>
              <a:latin typeface="Arial"/>
            </a:endParaRPr>
          </a:p>
        </p:txBody>
      </p:sp>
      <p:sp>
        <p:nvSpPr>
          <p:cNvPr id="441" name="Shape 6"/>
          <p:cNvSpPr/>
          <p:nvPr/>
        </p:nvSpPr>
        <p:spPr>
          <a:xfrm>
            <a:off x="640080" y="2990160"/>
            <a:ext cx="4845960" cy="1325520"/>
          </a:xfrm>
          <a:prstGeom prst="roundRect">
            <a:avLst>
              <a:gd name="adj" fmla="val 6897"/>
            </a:avLst>
          </a:prstGeom>
          <a:solidFill>
            <a:srgbClr val="25324A">
              <a:alpha val="85000"/>
            </a:srgbClr>
          </a:solidFill>
          <a:ln w="19050">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42" name="Text 7"/>
          <p:cNvSpPr/>
          <p:nvPr/>
        </p:nvSpPr>
        <p:spPr>
          <a:xfrm>
            <a:off x="822960" y="3173040"/>
            <a:ext cx="4568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000000"/>
                </a:solidFill>
                <a:effectLst/>
                <a:uFillTx/>
                <a:latin typeface="Segoe UI Emoji"/>
                <a:ea typeface="Segoe UI Emoji"/>
              </a:rPr>
              <a:t>🧩</a:t>
            </a:r>
            <a:endParaRPr lang="en-US" sz="2000" b="0" u="none" strike="noStrike">
              <a:solidFill>
                <a:srgbClr val="FFFFFF"/>
              </a:solidFill>
              <a:effectLst/>
              <a:uFillTx/>
              <a:latin typeface="Arial"/>
            </a:endParaRPr>
          </a:p>
        </p:txBody>
      </p:sp>
      <p:sp>
        <p:nvSpPr>
          <p:cNvPr id="443" name="Text 8"/>
          <p:cNvSpPr/>
          <p:nvPr/>
        </p:nvSpPr>
        <p:spPr>
          <a:xfrm>
            <a:off x="1417320" y="3173040"/>
            <a:ext cx="38858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BBF24"/>
                </a:solidFill>
                <a:effectLst/>
                <a:uFillTx/>
                <a:latin typeface="Arial"/>
                <a:ea typeface="Arial"/>
              </a:rPr>
              <a:t>Cần kết nối riêng với HIS của viện</a:t>
            </a:r>
            <a:endParaRPr lang="en-US" sz="1600" b="0" u="none" strike="noStrike">
              <a:solidFill>
                <a:srgbClr val="FFFFFF"/>
              </a:solidFill>
              <a:effectLst/>
              <a:uFillTx/>
              <a:latin typeface="Arial"/>
            </a:endParaRPr>
          </a:p>
        </p:txBody>
      </p:sp>
      <p:sp>
        <p:nvSpPr>
          <p:cNvPr id="444" name="Text 9"/>
          <p:cNvSpPr/>
          <p:nvPr/>
        </p:nvSpPr>
        <p:spPr>
          <a:xfrm>
            <a:off x="914400" y="3675960"/>
            <a:ext cx="4343040" cy="59400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Kiểm sai sót y lệnh — đọc trực tiếp CSDL HIS (chỉ đọc); viện dùng HIS khác cần làm lớp kết nối riêng</a:t>
            </a:r>
            <a:endParaRPr lang="en-US" sz="1250" b="0" u="none" strike="noStrike">
              <a:solidFill>
                <a:srgbClr val="FFFFFF"/>
              </a:solidFill>
              <a:effectLst/>
              <a:uFillTx/>
              <a:latin typeface="Arial"/>
            </a:endParaRPr>
          </a:p>
        </p:txBody>
      </p:sp>
      <p:sp>
        <p:nvSpPr>
          <p:cNvPr id="445" name="Shape 10"/>
          <p:cNvSpPr/>
          <p:nvPr/>
        </p:nvSpPr>
        <p:spPr>
          <a:xfrm>
            <a:off x="5806440" y="1508760"/>
            <a:ext cx="5744880" cy="2806920"/>
          </a:xfrm>
          <a:prstGeom prst="roundRect">
            <a:avLst>
              <a:gd name="adj" fmla="val 3257"/>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46" name="Text 11"/>
          <p:cNvSpPr/>
          <p:nvPr/>
        </p:nvSpPr>
        <p:spPr>
          <a:xfrm>
            <a:off x="6080760" y="1691640"/>
            <a:ext cx="5196240" cy="29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VIỆN CẦN CHUẨN BỊ</a:t>
            </a:r>
            <a:endParaRPr lang="en-US" sz="1200" b="0" u="none" strike="noStrike">
              <a:solidFill>
                <a:srgbClr val="FFFFFF"/>
              </a:solidFill>
              <a:effectLst/>
              <a:uFillTx/>
              <a:latin typeface="Arial"/>
            </a:endParaRPr>
          </a:p>
        </p:txBody>
      </p:sp>
      <p:sp>
        <p:nvSpPr>
          <p:cNvPr id="447" name="Text 12"/>
          <p:cNvSpPr/>
          <p:nvPr/>
        </p:nvSpPr>
        <p:spPr>
          <a:xfrm>
            <a:off x="6080760" y="2075760"/>
            <a:ext cx="5196240" cy="2148480"/>
          </a:xfrm>
          <a:prstGeom prst="rect">
            <a:avLst/>
          </a:prstGeom>
          <a:noFill/>
          <a:ln w="0">
            <a:noFill/>
          </a:ln>
        </p:spPr>
        <p:style>
          <a:lnRef idx="0"/>
          <a:fillRef idx="0"/>
          <a:effectRef idx="0"/>
          <a:fontRef idx="minor"/>
        </p:style>
        <p:txBody>
          <a:bodyPr lIns="0" tIns="0" rIns="0" bIns="0" anchor="t">
            <a:noAutofit/>
          </a:bodyPr>
          <a:p>
            <a:pPr marL="203040" indent="-203040" defTabSz="914400">
              <a:lnSpc>
                <a:spcPts val="1800"/>
              </a:lnSpc>
              <a:spcAft>
                <a:spcPts val="499"/>
              </a:spcAft>
              <a:buClr>
                <a:srgbClr val="FFFFFF"/>
              </a:buClr>
              <a:buFont typeface="Symbol" charset="2"/>
              <a:buChar char=""/>
            </a:pPr>
            <a:r>
              <a:rPr lang="en-US" sz="1350" b="0" u="none" strike="noStrike">
                <a:solidFill>
                  <a:srgbClr val="FFFFFF"/>
                </a:solidFill>
                <a:effectLst/>
                <a:uFillTx/>
                <a:latin typeface="Arial"/>
                <a:ea typeface="Arial"/>
              </a:rPr>
              <a:t>Máy chủ: Windows Server, hoặc Linux / Docker</a:t>
            </a:r>
            <a:endParaRPr lang="en-US" sz="1350" b="0" u="none" strike="noStrike">
              <a:solidFill>
                <a:srgbClr val="FFFFFF"/>
              </a:solidFill>
              <a:effectLst/>
              <a:uFillTx/>
              <a:latin typeface="Arial"/>
            </a:endParaRPr>
          </a:p>
          <a:p>
            <a:pPr marL="203040" indent="-203040" defTabSz="914400">
              <a:lnSpc>
                <a:spcPts val="1800"/>
              </a:lnSpc>
              <a:spcAft>
                <a:spcPts val="499"/>
              </a:spcAft>
              <a:buClr>
                <a:srgbClr val="FFFFFF"/>
              </a:buClr>
              <a:buFont typeface="Symbol" charset="2"/>
              <a:buChar char=""/>
            </a:pPr>
            <a:r>
              <a:rPr lang="en-US" sz="1350" b="0" u="none" strike="noStrike">
                <a:solidFill>
                  <a:srgbClr val="FFFFFF"/>
                </a:solidFill>
                <a:effectLst/>
                <a:uFillTx/>
                <a:latin typeface="Arial"/>
                <a:ea typeface="Arial"/>
              </a:rPr>
              <a:t>Tài khoản chỉ đọc vào cơ sở dữ liệu HIS</a:t>
            </a:r>
            <a:endParaRPr lang="en-US" sz="1350" b="0" u="none" strike="noStrike">
              <a:solidFill>
                <a:srgbClr val="FFFFFF"/>
              </a:solidFill>
              <a:effectLst/>
              <a:uFillTx/>
              <a:latin typeface="Arial"/>
            </a:endParaRPr>
          </a:p>
          <a:p>
            <a:pPr marL="203040" indent="-203040" defTabSz="914400">
              <a:lnSpc>
                <a:spcPts val="1800"/>
              </a:lnSpc>
              <a:spcAft>
                <a:spcPts val="499"/>
              </a:spcAft>
              <a:buClr>
                <a:srgbClr val="FFFFFF"/>
              </a:buClr>
              <a:buFont typeface="Symbol" charset="2"/>
              <a:buChar char=""/>
            </a:pPr>
            <a:r>
              <a:rPr lang="en-US" sz="1350" b="0" u="none" strike="noStrike">
                <a:solidFill>
                  <a:srgbClr val="FFFFFF"/>
                </a:solidFill>
                <a:effectLst/>
                <a:uFillTx/>
                <a:latin typeface="Arial"/>
                <a:ea typeface="Arial"/>
              </a:rPr>
              <a:t>Thư mục nhận tệp XML do HIS xuất ra</a:t>
            </a:r>
            <a:endParaRPr lang="en-US" sz="1350" b="0" u="none" strike="noStrike">
              <a:solidFill>
                <a:srgbClr val="FFFFFF"/>
              </a:solidFill>
              <a:effectLst/>
              <a:uFillTx/>
              <a:latin typeface="Arial"/>
            </a:endParaRPr>
          </a:p>
          <a:p>
            <a:pPr marL="203040" indent="-203040" defTabSz="914400">
              <a:lnSpc>
                <a:spcPts val="1800"/>
              </a:lnSpc>
              <a:spcAft>
                <a:spcPts val="499"/>
              </a:spcAft>
              <a:buClr>
                <a:srgbClr val="FFFFFF"/>
              </a:buClr>
              <a:buFont typeface="Symbol" charset="2"/>
              <a:buChar char=""/>
            </a:pPr>
            <a:r>
              <a:rPr lang="en-US" sz="1350" b="0" u="none" strike="noStrike">
                <a:solidFill>
                  <a:srgbClr val="FFFFFF"/>
                </a:solidFill>
                <a:effectLst/>
                <a:uFillTx/>
                <a:latin typeface="Arial"/>
                <a:ea typeface="Arial"/>
              </a:rPr>
              <a:t>HSM hoặc USB Token để ký số</a:t>
            </a:r>
            <a:endParaRPr lang="en-US" sz="1350" b="0" u="none" strike="noStrike">
              <a:solidFill>
                <a:srgbClr val="FFFFFF"/>
              </a:solidFill>
              <a:effectLst/>
              <a:uFillTx/>
              <a:latin typeface="Arial"/>
            </a:endParaRPr>
          </a:p>
          <a:p>
            <a:pPr marL="203040" indent="-203040" defTabSz="914400">
              <a:lnSpc>
                <a:spcPts val="1800"/>
              </a:lnSpc>
              <a:spcAft>
                <a:spcPts val="499"/>
              </a:spcAft>
              <a:buClr>
                <a:srgbClr val="FFFFFF"/>
              </a:buClr>
              <a:buFont typeface="Symbol" charset="2"/>
              <a:buChar char=""/>
            </a:pPr>
            <a:r>
              <a:rPr lang="en-US" sz="1350" b="0" u="none" strike="noStrike">
                <a:solidFill>
                  <a:srgbClr val="FFFFFF"/>
                </a:solidFill>
                <a:effectLst/>
                <a:uFillTx/>
                <a:latin typeface="Arial"/>
                <a:ea typeface="Arial"/>
              </a:rPr>
              <a:t>Tài khoản Cổng giám định BHXH và mã cơ sở KCB</a:t>
            </a:r>
            <a:endParaRPr lang="en-US" sz="1350" b="0" u="none" strike="noStrike">
              <a:solidFill>
                <a:srgbClr val="FFFFFF"/>
              </a:solidFill>
              <a:effectLst/>
              <a:uFillTx/>
              <a:latin typeface="Arial"/>
            </a:endParaRPr>
          </a:p>
          <a:p>
            <a:pPr marL="203040" indent="-203040" defTabSz="914400">
              <a:lnSpc>
                <a:spcPts val="1800"/>
              </a:lnSpc>
              <a:spcAft>
                <a:spcPts val="499"/>
              </a:spcAft>
              <a:buClr>
                <a:srgbClr val="FFFFFF"/>
              </a:buClr>
              <a:buFont typeface="Symbol" charset="2"/>
              <a:buChar char=""/>
            </a:pPr>
            <a:r>
              <a:rPr lang="en-US" sz="1350" b="0" u="none" strike="noStrike">
                <a:solidFill>
                  <a:srgbClr val="FFFFFF"/>
                </a:solidFill>
                <a:effectLst/>
                <a:uFillTx/>
                <a:latin typeface="Arial"/>
                <a:ea typeface="Arial"/>
              </a:rPr>
              <a:t>Người phụ trách danh mục BHYT của viện</a:t>
            </a:r>
            <a:endParaRPr lang="en-US" sz="1350" b="0" u="none" strike="noStrike">
              <a:solidFill>
                <a:srgbClr val="FFFFFF"/>
              </a:solidFill>
              <a:effectLst/>
              <a:uFillTx/>
              <a:latin typeface="Arial"/>
            </a:endParaRPr>
          </a:p>
        </p:txBody>
      </p:sp>
      <p:sp>
        <p:nvSpPr>
          <p:cNvPr id="448" name="Shape 13"/>
          <p:cNvSpPr/>
          <p:nvPr/>
        </p:nvSpPr>
        <p:spPr>
          <a:xfrm>
            <a:off x="640080" y="4572000"/>
            <a:ext cx="2768760" cy="548280"/>
          </a:xfrm>
          <a:prstGeom prst="homePlate">
            <a:avLst>
              <a:gd name="adj" fmla="val 50000"/>
            </a:avLst>
          </a:prstGeom>
          <a:solidFill>
            <a:srgbClr val="1E4E86"/>
          </a:solidFill>
          <a:ln w="12700">
            <a:solidFill>
              <a:srgbClr val="0B1A3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49" name="Text 14"/>
          <p:cNvSpPr/>
          <p:nvPr/>
        </p:nvSpPr>
        <p:spPr>
          <a:xfrm>
            <a:off x="841320" y="4572000"/>
            <a:ext cx="22017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Chuẩ</a:t>
            </a:r>
            <a:r>
              <a:rPr lang="en-US" sz="1500" b="1" u="none" strike="noStrike">
                <a:solidFill>
                  <a:srgbClr val="FFFFFF"/>
                </a:solidFill>
                <a:effectLst/>
                <a:uFillTx/>
                <a:latin typeface="Arial"/>
                <a:ea typeface="Arial"/>
              </a:rPr>
              <a:t>n bị  </a:t>
            </a:r>
            <a:r>
              <a:rPr lang="en-US" sz="1250" b="0" u="none" strike="noStrike">
                <a:solidFill>
                  <a:srgbClr val="38BDF8"/>
                </a:solidFill>
                <a:effectLst/>
                <a:uFillTx/>
                <a:latin typeface="Arial"/>
                <a:ea typeface="Arial"/>
              </a:rPr>
              <a:t>2</a:t>
            </a:r>
            <a:r>
              <a:rPr lang="en-US" sz="1250" b="0" u="none" strike="noStrike">
                <a:solidFill>
                  <a:srgbClr val="38BDF8"/>
                </a:solidFill>
                <a:effectLst/>
                <a:uFillTx/>
                <a:latin typeface="Arial"/>
                <a:ea typeface="Arial"/>
              </a:rPr>
              <a:t>–4 tuần</a:t>
            </a:r>
            <a:endParaRPr lang="en-US" sz="1250" b="0" u="none" strike="noStrike">
              <a:solidFill>
                <a:srgbClr val="FFFFFF"/>
              </a:solidFill>
              <a:effectLst/>
              <a:uFillTx/>
              <a:latin typeface="Arial"/>
            </a:endParaRPr>
          </a:p>
        </p:txBody>
      </p:sp>
      <p:sp>
        <p:nvSpPr>
          <p:cNvPr id="450" name="Text 15"/>
          <p:cNvSpPr/>
          <p:nvPr/>
        </p:nvSpPr>
        <p:spPr>
          <a:xfrm>
            <a:off x="841320" y="5212080"/>
            <a:ext cx="2156040" cy="63972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Lập tổ, chốt chủ sở hữu danh mục, ban hành no-blame</a:t>
            </a:r>
            <a:endParaRPr lang="en-US" sz="1250" b="0" u="none" strike="noStrike">
              <a:solidFill>
                <a:srgbClr val="FFFFFF"/>
              </a:solidFill>
              <a:effectLst/>
              <a:uFillTx/>
              <a:latin typeface="Arial"/>
            </a:endParaRPr>
          </a:p>
        </p:txBody>
      </p:sp>
      <p:sp>
        <p:nvSpPr>
          <p:cNvPr id="451" name="Shape 16"/>
          <p:cNvSpPr/>
          <p:nvPr/>
        </p:nvSpPr>
        <p:spPr>
          <a:xfrm>
            <a:off x="3390840" y="4572000"/>
            <a:ext cx="2768760" cy="548280"/>
          </a:xfrm>
          <a:prstGeom prst="chevron">
            <a:avLst>
              <a:gd name="adj" fmla="val 50000"/>
            </a:avLst>
          </a:prstGeom>
          <a:solidFill>
            <a:srgbClr val="1E4E86"/>
          </a:solidFill>
          <a:ln w="12700">
            <a:solidFill>
              <a:srgbClr val="0B1A3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52" name="Text 17"/>
          <p:cNvSpPr/>
          <p:nvPr/>
        </p:nvSpPr>
        <p:spPr>
          <a:xfrm>
            <a:off x="3756600" y="4572000"/>
            <a:ext cx="22017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Chạy thử  </a:t>
            </a:r>
            <a:r>
              <a:rPr lang="en-US" sz="1250" b="0" u="none" strike="noStrike">
                <a:solidFill>
                  <a:srgbClr val="38BDF8"/>
                </a:solidFill>
                <a:effectLst/>
                <a:uFillTx/>
                <a:latin typeface="Arial"/>
                <a:ea typeface="Arial"/>
              </a:rPr>
              <a:t>4–8 tuần</a:t>
            </a:r>
            <a:endParaRPr lang="en-US" sz="1250" b="0" u="none" strike="noStrike">
              <a:solidFill>
                <a:srgbClr val="FFFFFF"/>
              </a:solidFill>
              <a:effectLst/>
              <a:uFillTx/>
              <a:latin typeface="Arial"/>
            </a:endParaRPr>
          </a:p>
        </p:txBody>
      </p:sp>
      <p:sp>
        <p:nvSpPr>
          <p:cNvPr id="453" name="Text 18"/>
          <p:cNvSpPr/>
          <p:nvPr/>
        </p:nvSpPr>
        <p:spPr>
          <a:xfrm>
            <a:off x="3756600" y="5212080"/>
            <a:ext cx="2156040" cy="63972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1–2 khoa, chạy song song quy trình cũ</a:t>
            </a:r>
            <a:endParaRPr lang="en-US" sz="1250" b="0" u="none" strike="noStrike">
              <a:solidFill>
                <a:srgbClr val="FFFFFF"/>
              </a:solidFill>
              <a:effectLst/>
              <a:uFillTx/>
              <a:latin typeface="Arial"/>
            </a:endParaRPr>
          </a:p>
        </p:txBody>
      </p:sp>
      <p:sp>
        <p:nvSpPr>
          <p:cNvPr id="454" name="Shape 19"/>
          <p:cNvSpPr/>
          <p:nvPr/>
        </p:nvSpPr>
        <p:spPr>
          <a:xfrm>
            <a:off x="6141600" y="4572000"/>
            <a:ext cx="2768760" cy="548280"/>
          </a:xfrm>
          <a:prstGeom prst="chevron">
            <a:avLst>
              <a:gd name="adj" fmla="val 50000"/>
            </a:avLst>
          </a:prstGeom>
          <a:solidFill>
            <a:srgbClr val="1E4E86"/>
          </a:solidFill>
          <a:ln w="12700">
            <a:solidFill>
              <a:srgbClr val="0B1A3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55" name="Text 20"/>
          <p:cNvSpPr/>
          <p:nvPr/>
        </p:nvSpPr>
        <p:spPr>
          <a:xfrm>
            <a:off x="6507360" y="4572000"/>
            <a:ext cx="22017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Nhân rộng  </a:t>
            </a:r>
            <a:r>
              <a:rPr lang="en-US" sz="1250" b="0" u="none" strike="noStrike">
                <a:solidFill>
                  <a:srgbClr val="38BDF8"/>
                </a:solidFill>
                <a:effectLst/>
                <a:uFillTx/>
                <a:latin typeface="Arial"/>
                <a:ea typeface="Arial"/>
              </a:rPr>
              <a:t>2–4 tháng</a:t>
            </a:r>
            <a:endParaRPr lang="en-US" sz="1250" b="0" u="none" strike="noStrike">
              <a:solidFill>
                <a:srgbClr val="FFFFFF"/>
              </a:solidFill>
              <a:effectLst/>
              <a:uFillTx/>
              <a:latin typeface="Arial"/>
            </a:endParaRPr>
          </a:p>
        </p:txBody>
      </p:sp>
      <p:sp>
        <p:nvSpPr>
          <p:cNvPr id="456" name="Text 21"/>
          <p:cNvSpPr/>
          <p:nvPr/>
        </p:nvSpPr>
        <p:spPr>
          <a:xfrm>
            <a:off x="6507360" y="5212080"/>
            <a:ext cx="2156040" cy="63972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Mở rộng theo khoa, đào tạo người dùng nòng cốt</a:t>
            </a:r>
            <a:endParaRPr lang="en-US" sz="1250" b="0" u="none" strike="noStrike">
              <a:solidFill>
                <a:srgbClr val="FFFFFF"/>
              </a:solidFill>
              <a:effectLst/>
              <a:uFillTx/>
              <a:latin typeface="Arial"/>
            </a:endParaRPr>
          </a:p>
        </p:txBody>
      </p:sp>
      <p:sp>
        <p:nvSpPr>
          <p:cNvPr id="457" name="Shape 22"/>
          <p:cNvSpPr/>
          <p:nvPr/>
        </p:nvSpPr>
        <p:spPr>
          <a:xfrm>
            <a:off x="8892360" y="4572000"/>
            <a:ext cx="2658960" cy="548280"/>
          </a:xfrm>
          <a:prstGeom prst="chevron">
            <a:avLst>
              <a:gd name="adj" fmla="val 50000"/>
            </a:avLst>
          </a:prstGeom>
          <a:solidFill>
            <a:srgbClr val="1F6B45"/>
          </a:solidFill>
          <a:ln w="12700">
            <a:solidFill>
              <a:srgbClr val="0B1A3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58" name="Text 23"/>
          <p:cNvSpPr/>
          <p:nvPr/>
        </p:nvSpPr>
        <p:spPr>
          <a:xfrm>
            <a:off x="9258120" y="4572000"/>
            <a:ext cx="22017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Thường quy  </a:t>
            </a:r>
            <a:r>
              <a:rPr lang="en-US" sz="1250" b="0" u="none" strike="noStrike">
                <a:solidFill>
                  <a:srgbClr val="4ADE80"/>
                </a:solidFill>
                <a:effectLst/>
                <a:uFillTx/>
                <a:latin typeface="Arial"/>
                <a:ea typeface="Arial"/>
              </a:rPr>
              <a:t>sau ổn định</a:t>
            </a:r>
            <a:endParaRPr lang="en-US" sz="1250" b="0" u="none" strike="noStrike">
              <a:solidFill>
                <a:srgbClr val="FFFFFF"/>
              </a:solidFill>
              <a:effectLst/>
              <a:uFillTx/>
              <a:latin typeface="Arial"/>
            </a:endParaRPr>
          </a:p>
        </p:txBody>
      </p:sp>
      <p:sp>
        <p:nvSpPr>
          <p:cNvPr id="459" name="Text 24"/>
          <p:cNvSpPr/>
          <p:nvPr/>
        </p:nvSpPr>
        <p:spPr>
          <a:xfrm>
            <a:off x="9258120" y="5212080"/>
            <a:ext cx="2156040" cy="639720"/>
          </a:xfrm>
          <a:prstGeom prst="rect">
            <a:avLst/>
          </a:prstGeom>
          <a:noFill/>
          <a:ln w="0">
            <a:noFill/>
          </a:ln>
        </p:spPr>
        <p:style>
          <a:lnRef idx="0"/>
          <a:fillRef idx="0"/>
          <a:effectRef idx="0"/>
          <a:fontRef idx="minor"/>
        </p:style>
        <p:txBody>
          <a:bodyPr lIns="0" tIns="0" rIns="0" bIns="0" anchor="t">
            <a:noAutofit/>
          </a:bodyPr>
          <a:p>
            <a:pPr defTabSz="914400">
              <a:lnSpc>
                <a:spcPts val="1701"/>
              </a:lnSpc>
              <a:tabLst>
                <a:tab pos="0" algn="l"/>
              </a:tabLst>
            </a:pPr>
            <a:r>
              <a:rPr lang="en-US" sz="1250" b="0" u="none" strike="noStrike">
                <a:solidFill>
                  <a:srgbClr val="A9BCD6"/>
                </a:solidFill>
                <a:effectLst/>
                <a:uFillTx/>
                <a:latin typeface="Arial"/>
                <a:ea typeface="Arial"/>
              </a:rPr>
              <a:t>Bật tự gửi cổng, đưa vào quy chế</a:t>
            </a:r>
            <a:endParaRPr lang="en-US" sz="1250" b="0" u="none" strike="noStrike">
              <a:solidFill>
                <a:srgbClr val="FFFFFF"/>
              </a:solidFill>
              <a:effectLst/>
              <a:uFillTx/>
              <a:latin typeface="Arial"/>
            </a:endParaRPr>
          </a:p>
        </p:txBody>
      </p:sp>
      <p:sp>
        <p:nvSpPr>
          <p:cNvPr id="460" name="Text 25"/>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18 / 21</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461"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CAM KẾT</a:t>
            </a:r>
            <a:endParaRPr lang="en-US" sz="1200" b="0" u="none" strike="noStrike">
              <a:solidFill>
                <a:srgbClr val="FFFFFF"/>
              </a:solidFill>
              <a:effectLst/>
              <a:uFillTx/>
              <a:latin typeface="Arial"/>
            </a:endParaRPr>
          </a:p>
        </p:txBody>
      </p:sp>
      <p:sp>
        <p:nvSpPr>
          <p:cNvPr id="462"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Đồng hành lâu dài cùng bệnh viện</a:t>
            </a:r>
            <a:endParaRPr lang="en-US" sz="2800" b="0" u="none" strike="noStrike">
              <a:solidFill>
                <a:srgbClr val="FFFFFF"/>
              </a:solidFill>
              <a:effectLst/>
              <a:uFillTx/>
              <a:latin typeface="Arial"/>
            </a:endParaRPr>
          </a:p>
        </p:txBody>
      </p:sp>
      <p:sp>
        <p:nvSpPr>
          <p:cNvPr id="463" name="Text 2"/>
          <p:cNvSpPr/>
          <p:nvPr/>
        </p:nvSpPr>
        <p:spPr>
          <a:xfrm>
            <a:off x="640080" y="1298520"/>
            <a:ext cx="10911240" cy="328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A9BCD6"/>
                </a:solidFill>
                <a:effectLst/>
                <a:uFillTx/>
                <a:latin typeface="Arial"/>
                <a:ea typeface="Arial"/>
              </a:rPr>
              <a:t>Quy định BHYT thay đổi liên tục — phần mềm phải thay đổi theo mà viện không phải lo.</a:t>
            </a:r>
            <a:endParaRPr lang="en-US" sz="1500" b="0" u="none" strike="noStrike">
              <a:solidFill>
                <a:srgbClr val="FFFFFF"/>
              </a:solidFill>
              <a:effectLst/>
              <a:uFillTx/>
              <a:latin typeface="Arial"/>
            </a:endParaRPr>
          </a:p>
        </p:txBody>
      </p:sp>
      <p:sp>
        <p:nvSpPr>
          <p:cNvPr id="464" name="Shape 3"/>
          <p:cNvSpPr/>
          <p:nvPr/>
        </p:nvSpPr>
        <p:spPr>
          <a:xfrm>
            <a:off x="640080" y="1783080"/>
            <a:ext cx="5318280" cy="1782720"/>
          </a:xfrm>
          <a:prstGeom prst="roundRect">
            <a:avLst>
              <a:gd name="adj" fmla="val 512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65" name="Shape 4"/>
          <p:cNvSpPr/>
          <p:nvPr/>
        </p:nvSpPr>
        <p:spPr>
          <a:xfrm>
            <a:off x="914400" y="2057400"/>
            <a:ext cx="731160" cy="731160"/>
          </a:xfrm>
          <a:prstGeom prst="ellipse">
            <a:avLst/>
          </a:prstGeom>
          <a:solidFill>
            <a:srgbClr val="25324A"/>
          </a:solidFill>
          <a:ln w="12700">
            <a:solidFill>
              <a:srgbClr val="4ADE8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66" name="Text 5"/>
          <p:cNvSpPr/>
          <p:nvPr/>
        </p:nvSpPr>
        <p:spPr>
          <a:xfrm>
            <a:off x="914400" y="2057400"/>
            <a:ext cx="731160" cy="731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467" name="Text 6"/>
          <p:cNvSpPr/>
          <p:nvPr/>
        </p:nvSpPr>
        <p:spPr>
          <a:xfrm>
            <a:off x="4587120" y="1947600"/>
            <a:ext cx="1142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1" u="none" spc="99" strike="noStrike">
                <a:solidFill>
                  <a:srgbClr val="4ADE80"/>
                </a:solidFill>
                <a:effectLst/>
                <a:uFillTx/>
                <a:latin typeface="Arial"/>
                <a:ea typeface="Arial"/>
              </a:rPr>
              <a:t>CAM KẾT</a:t>
            </a:r>
            <a:endParaRPr lang="en-US" sz="950" b="0" u="none" strike="noStrike">
              <a:solidFill>
                <a:srgbClr val="FFFFFF"/>
              </a:solidFill>
              <a:effectLst/>
              <a:uFillTx/>
              <a:latin typeface="Arial"/>
            </a:endParaRPr>
          </a:p>
        </p:txBody>
      </p:sp>
      <p:sp>
        <p:nvSpPr>
          <p:cNvPr id="468" name="Text 7"/>
          <p:cNvSpPr/>
          <p:nvPr/>
        </p:nvSpPr>
        <p:spPr>
          <a:xfrm>
            <a:off x="1874520" y="2130480"/>
            <a:ext cx="38552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FFFFFF"/>
                </a:solidFill>
                <a:effectLst/>
                <a:uFillTx/>
                <a:latin typeface="Arial"/>
                <a:ea typeface="Arial"/>
              </a:rPr>
              <a:t>Cập nhật quy tắc thường xuyên</a:t>
            </a:r>
            <a:endParaRPr lang="en-US" sz="1800" b="0" u="none" strike="noStrike">
              <a:solidFill>
                <a:srgbClr val="FFFFFF"/>
              </a:solidFill>
              <a:effectLst/>
              <a:uFillTx/>
              <a:latin typeface="Arial"/>
            </a:endParaRPr>
          </a:p>
        </p:txBody>
      </p:sp>
      <p:sp>
        <p:nvSpPr>
          <p:cNvPr id="469" name="Text 8"/>
          <p:cNvSpPr/>
          <p:nvPr/>
        </p:nvSpPr>
        <p:spPr>
          <a:xfrm>
            <a:off x="1874520" y="2587680"/>
            <a:ext cx="3855240" cy="8683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350" b="0" u="none" strike="noStrike">
                <a:solidFill>
                  <a:srgbClr val="A9BCD6"/>
                </a:solidFill>
                <a:effectLst/>
                <a:uFillTx/>
                <a:latin typeface="Arial"/>
                <a:ea typeface="Arial"/>
              </a:rPr>
              <a:t>Bám sát quy định mới của BHXH và Bộ Y tế. Cổng tự động cập nhật quy tắc, danh mục mã lỗi — không cần người can thiệp.</a:t>
            </a:r>
            <a:endParaRPr lang="en-US" sz="1350" b="0" u="none" strike="noStrike">
              <a:solidFill>
                <a:srgbClr val="FFFFFF"/>
              </a:solidFill>
              <a:effectLst/>
              <a:uFillTx/>
              <a:latin typeface="Arial"/>
            </a:endParaRPr>
          </a:p>
        </p:txBody>
      </p:sp>
      <p:sp>
        <p:nvSpPr>
          <p:cNvPr id="470" name="Shape 9"/>
          <p:cNvSpPr/>
          <p:nvPr/>
        </p:nvSpPr>
        <p:spPr>
          <a:xfrm>
            <a:off x="6233040" y="1783080"/>
            <a:ext cx="5318280" cy="1782720"/>
          </a:xfrm>
          <a:prstGeom prst="roundRect">
            <a:avLst>
              <a:gd name="adj" fmla="val 5128"/>
            </a:avLst>
          </a:prstGeom>
          <a:solidFill>
            <a:srgbClr val="25324A">
              <a:alpha val="85000"/>
            </a:srgbClr>
          </a:solidFill>
          <a:ln w="19050">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71" name="Shape 10"/>
          <p:cNvSpPr/>
          <p:nvPr/>
        </p:nvSpPr>
        <p:spPr>
          <a:xfrm>
            <a:off x="6507360" y="2057400"/>
            <a:ext cx="731160" cy="731160"/>
          </a:xfrm>
          <a:prstGeom prst="ellipse">
            <a:avLst/>
          </a:prstGeom>
          <a:solidFill>
            <a:srgbClr val="25324A"/>
          </a:solidFill>
          <a:ln w="12700">
            <a:solidFill>
              <a:srgbClr val="4ADE8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72" name="Text 11"/>
          <p:cNvSpPr/>
          <p:nvPr/>
        </p:nvSpPr>
        <p:spPr>
          <a:xfrm>
            <a:off x="6507360" y="2057400"/>
            <a:ext cx="731160" cy="731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473" name="Text 12"/>
          <p:cNvSpPr/>
          <p:nvPr/>
        </p:nvSpPr>
        <p:spPr>
          <a:xfrm>
            <a:off x="10180080" y="1947600"/>
            <a:ext cx="1142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1" u="none" spc="99" strike="noStrike">
                <a:solidFill>
                  <a:srgbClr val="FBBF24"/>
                </a:solidFill>
                <a:effectLst/>
                <a:uFillTx/>
                <a:latin typeface="Arial"/>
                <a:ea typeface="Arial"/>
              </a:rPr>
              <a:t>CAM KẾT</a:t>
            </a:r>
            <a:endParaRPr lang="en-US" sz="950" b="0" u="none" strike="noStrike">
              <a:solidFill>
                <a:srgbClr val="FFFFFF"/>
              </a:solidFill>
              <a:effectLst/>
              <a:uFillTx/>
              <a:latin typeface="Arial"/>
            </a:endParaRPr>
          </a:p>
        </p:txBody>
      </p:sp>
      <p:sp>
        <p:nvSpPr>
          <p:cNvPr id="474" name="Text 13"/>
          <p:cNvSpPr/>
          <p:nvPr/>
        </p:nvSpPr>
        <p:spPr>
          <a:xfrm>
            <a:off x="7467480" y="2130480"/>
            <a:ext cx="38552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FFFFFF"/>
                </a:solidFill>
                <a:effectLst/>
                <a:uFillTx/>
                <a:latin typeface="Arial"/>
                <a:ea typeface="Arial"/>
              </a:rPr>
              <a:t>Nâng cấp nền tảng miễn phí</a:t>
            </a:r>
            <a:endParaRPr lang="en-US" sz="1800" b="0" u="none" strike="noStrike">
              <a:solidFill>
                <a:srgbClr val="FFFFFF"/>
              </a:solidFill>
              <a:effectLst/>
              <a:uFillTx/>
              <a:latin typeface="Arial"/>
            </a:endParaRPr>
          </a:p>
        </p:txBody>
      </p:sp>
      <p:sp>
        <p:nvSpPr>
          <p:cNvPr id="475" name="Text 14"/>
          <p:cNvSpPr/>
          <p:nvPr/>
        </p:nvSpPr>
        <p:spPr>
          <a:xfrm>
            <a:off x="7467480" y="2587680"/>
            <a:ext cx="3855240" cy="8683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350" b="0" u="none" strike="noStrike">
                <a:solidFill>
                  <a:srgbClr val="A9BCD6"/>
                </a:solidFill>
                <a:effectLst/>
                <a:uFillTx/>
                <a:latin typeface="Arial"/>
                <a:ea typeface="Arial"/>
              </a:rPr>
              <a:t>Đã có kế hoạch nâng cấp để đáp ứng yêu cầu tốc độ ngày một cao khi số hồ sơ tăng.</a:t>
            </a:r>
            <a:endParaRPr lang="en-US" sz="1350" b="0" u="none" strike="noStrike">
              <a:solidFill>
                <a:srgbClr val="FFFFFF"/>
              </a:solidFill>
              <a:effectLst/>
              <a:uFillTx/>
              <a:latin typeface="Arial"/>
            </a:endParaRPr>
          </a:p>
        </p:txBody>
      </p:sp>
      <p:sp>
        <p:nvSpPr>
          <p:cNvPr id="476" name="Shape 15"/>
          <p:cNvSpPr/>
          <p:nvPr/>
        </p:nvSpPr>
        <p:spPr>
          <a:xfrm>
            <a:off x="640080" y="3767400"/>
            <a:ext cx="5318280" cy="1782720"/>
          </a:xfrm>
          <a:prstGeom prst="roundRect">
            <a:avLst>
              <a:gd name="adj" fmla="val 512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77" name="Shape 16"/>
          <p:cNvSpPr/>
          <p:nvPr/>
        </p:nvSpPr>
        <p:spPr>
          <a:xfrm>
            <a:off x="914400" y="4041720"/>
            <a:ext cx="731160" cy="731160"/>
          </a:xfrm>
          <a:prstGeom prst="ellipse">
            <a:avLst/>
          </a:prstGeom>
          <a:solidFill>
            <a:srgbClr val="25324A"/>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78" name="Text 17"/>
          <p:cNvSpPr/>
          <p:nvPr/>
        </p:nvSpPr>
        <p:spPr>
          <a:xfrm>
            <a:off x="914400" y="4041720"/>
            <a:ext cx="731160" cy="731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479" name="Text 18"/>
          <p:cNvSpPr/>
          <p:nvPr/>
        </p:nvSpPr>
        <p:spPr>
          <a:xfrm>
            <a:off x="4587120" y="3931920"/>
            <a:ext cx="1142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1" u="none" spc="99" strike="noStrike">
                <a:solidFill>
                  <a:srgbClr val="38BDF8"/>
                </a:solidFill>
                <a:effectLst/>
                <a:uFillTx/>
                <a:latin typeface="Arial"/>
                <a:ea typeface="Arial"/>
              </a:rPr>
              <a:t>LỘ TRÌNH</a:t>
            </a:r>
            <a:endParaRPr lang="en-US" sz="950" b="0" u="none" strike="noStrike">
              <a:solidFill>
                <a:srgbClr val="FFFFFF"/>
              </a:solidFill>
              <a:effectLst/>
              <a:uFillTx/>
              <a:latin typeface="Arial"/>
            </a:endParaRPr>
          </a:p>
        </p:txBody>
      </p:sp>
      <p:sp>
        <p:nvSpPr>
          <p:cNvPr id="480" name="Text 19"/>
          <p:cNvSpPr/>
          <p:nvPr/>
        </p:nvSpPr>
        <p:spPr>
          <a:xfrm>
            <a:off x="1874520" y="4114800"/>
            <a:ext cx="38552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FFFFFF"/>
                </a:solidFill>
                <a:effectLst/>
                <a:uFillTx/>
                <a:latin typeface="Arial"/>
                <a:ea typeface="Arial"/>
              </a:rPr>
              <a:t>Ứng dụng AI tra soát lỗi</a:t>
            </a:r>
            <a:endParaRPr lang="en-US" sz="1800" b="0" u="none" strike="noStrike">
              <a:solidFill>
                <a:srgbClr val="FFFFFF"/>
              </a:solidFill>
              <a:effectLst/>
              <a:uFillTx/>
              <a:latin typeface="Arial"/>
            </a:endParaRPr>
          </a:p>
        </p:txBody>
      </p:sp>
      <p:sp>
        <p:nvSpPr>
          <p:cNvPr id="481" name="Text 20"/>
          <p:cNvSpPr/>
          <p:nvPr/>
        </p:nvSpPr>
        <p:spPr>
          <a:xfrm>
            <a:off x="1874520" y="4572000"/>
            <a:ext cx="3855240" cy="8683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350" b="0" u="none" strike="noStrike">
                <a:solidFill>
                  <a:srgbClr val="A9BCD6"/>
                </a:solidFill>
                <a:effectLst/>
                <a:uFillTx/>
                <a:latin typeface="Arial"/>
                <a:ea typeface="Arial"/>
              </a:rPr>
              <a:t>Tra soát lỗi thông minh: gợi ý nguyên nhân, cách sửa, phát hiện bất thường mà quy tắc cứng chưa bắt được.</a:t>
            </a:r>
            <a:endParaRPr lang="en-US" sz="1350" b="0" u="none" strike="noStrike">
              <a:solidFill>
                <a:srgbClr val="FFFFFF"/>
              </a:solidFill>
              <a:effectLst/>
              <a:uFillTx/>
              <a:latin typeface="Arial"/>
            </a:endParaRPr>
          </a:p>
        </p:txBody>
      </p:sp>
      <p:sp>
        <p:nvSpPr>
          <p:cNvPr id="482" name="Shape 21"/>
          <p:cNvSpPr/>
          <p:nvPr/>
        </p:nvSpPr>
        <p:spPr>
          <a:xfrm>
            <a:off x="6233040" y="3767400"/>
            <a:ext cx="5318280" cy="1782720"/>
          </a:xfrm>
          <a:prstGeom prst="roundRect">
            <a:avLst>
              <a:gd name="adj" fmla="val 5128"/>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83" name="Shape 22"/>
          <p:cNvSpPr/>
          <p:nvPr/>
        </p:nvSpPr>
        <p:spPr>
          <a:xfrm>
            <a:off x="6507360" y="4041720"/>
            <a:ext cx="731160" cy="731160"/>
          </a:xfrm>
          <a:prstGeom prst="ellipse">
            <a:avLst/>
          </a:prstGeom>
          <a:solidFill>
            <a:srgbClr val="25324A"/>
          </a:solidFill>
          <a:ln w="12700">
            <a:solidFill>
              <a:srgbClr val="38BDF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84" name="Text 23"/>
          <p:cNvSpPr/>
          <p:nvPr/>
        </p:nvSpPr>
        <p:spPr>
          <a:xfrm>
            <a:off x="6507360" y="4041720"/>
            <a:ext cx="731160" cy="731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000000"/>
                </a:solidFill>
                <a:effectLst/>
                <a:uFillTx/>
                <a:latin typeface="Segoe UI Emoji"/>
                <a:ea typeface="Segoe UI Emoji"/>
              </a:rPr>
              <a:t>🔗</a:t>
            </a:r>
            <a:endParaRPr lang="en-US" sz="2200" b="0" u="none" strike="noStrike">
              <a:solidFill>
                <a:srgbClr val="FFFFFF"/>
              </a:solidFill>
              <a:effectLst/>
              <a:uFillTx/>
              <a:latin typeface="Arial"/>
            </a:endParaRPr>
          </a:p>
        </p:txBody>
      </p:sp>
      <p:sp>
        <p:nvSpPr>
          <p:cNvPr id="485" name="Text 24"/>
          <p:cNvSpPr/>
          <p:nvPr/>
        </p:nvSpPr>
        <p:spPr>
          <a:xfrm>
            <a:off x="10180080" y="3931920"/>
            <a:ext cx="1142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1" u="none" spc="99" strike="noStrike">
                <a:solidFill>
                  <a:srgbClr val="38BDF8"/>
                </a:solidFill>
                <a:effectLst/>
                <a:uFillTx/>
                <a:latin typeface="Arial"/>
                <a:ea typeface="Arial"/>
              </a:rPr>
              <a:t>LỘ TRÌNH</a:t>
            </a:r>
            <a:endParaRPr lang="en-US" sz="950" b="0" u="none" strike="noStrike">
              <a:solidFill>
                <a:srgbClr val="FFFFFF"/>
              </a:solidFill>
              <a:effectLst/>
              <a:uFillTx/>
              <a:latin typeface="Arial"/>
            </a:endParaRPr>
          </a:p>
        </p:txBody>
      </p:sp>
      <p:sp>
        <p:nvSpPr>
          <p:cNvPr id="486" name="Text 25"/>
          <p:cNvSpPr/>
          <p:nvPr/>
        </p:nvSpPr>
        <p:spPr>
          <a:xfrm>
            <a:off x="7467480" y="4114800"/>
            <a:ext cx="38552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FFFFFF"/>
                </a:solidFill>
                <a:effectLst/>
                <a:uFillTx/>
                <a:latin typeface="Arial"/>
                <a:ea typeface="Arial"/>
              </a:rPr>
              <a:t>Tích hợp HIS sâu hơn</a:t>
            </a:r>
            <a:endParaRPr lang="en-US" sz="1800" b="0" u="none" strike="noStrike">
              <a:solidFill>
                <a:srgbClr val="FFFFFF"/>
              </a:solidFill>
              <a:effectLst/>
              <a:uFillTx/>
              <a:latin typeface="Arial"/>
            </a:endParaRPr>
          </a:p>
        </p:txBody>
      </p:sp>
      <p:sp>
        <p:nvSpPr>
          <p:cNvPr id="487" name="Text 26"/>
          <p:cNvSpPr/>
          <p:nvPr/>
        </p:nvSpPr>
        <p:spPr>
          <a:xfrm>
            <a:off x="7467480" y="4572000"/>
            <a:ext cx="3855240" cy="868320"/>
          </a:xfrm>
          <a:prstGeom prst="rect">
            <a:avLst/>
          </a:prstGeom>
          <a:noFill/>
          <a:ln w="0">
            <a:noFill/>
          </a:ln>
        </p:spPr>
        <p:style>
          <a:lnRef idx="0"/>
          <a:fillRef idx="0"/>
          <a:effectRef idx="0"/>
          <a:fontRef idx="minor"/>
        </p:style>
        <p:txBody>
          <a:bodyPr lIns="0" tIns="0" rIns="0" bIns="0" anchor="t">
            <a:noAutofit/>
          </a:bodyPr>
          <a:p>
            <a:pPr defTabSz="914400">
              <a:lnSpc>
                <a:spcPts val="1899"/>
              </a:lnSpc>
              <a:tabLst>
                <a:tab pos="0" algn="l"/>
              </a:tabLst>
            </a:pPr>
            <a:r>
              <a:rPr lang="en-US" sz="1350" b="0" u="none" strike="noStrike">
                <a:solidFill>
                  <a:srgbClr val="A9BCD6"/>
                </a:solidFill>
                <a:effectLst/>
                <a:uFillTx/>
                <a:latin typeface="Arial"/>
                <a:ea typeface="Arial"/>
              </a:rPr>
              <a:t>Chủ động phát hiện lỗi logic ngay trên HIS — ví dụ sai thời gian, sai mã đối tượng — trước khi lập hồ sơ.</a:t>
            </a:r>
            <a:endParaRPr lang="en-US" sz="1350" b="0" u="none" strike="noStrike">
              <a:solidFill>
                <a:srgbClr val="FFFFFF"/>
              </a:solidFill>
              <a:effectLst/>
              <a:uFillTx/>
              <a:latin typeface="Arial"/>
            </a:endParaRPr>
          </a:p>
        </p:txBody>
      </p:sp>
      <p:sp>
        <p:nvSpPr>
          <p:cNvPr id="488" name="Text 27"/>
          <p:cNvSpPr/>
          <p:nvPr/>
        </p:nvSpPr>
        <p:spPr>
          <a:xfrm>
            <a:off x="640080" y="5852160"/>
            <a:ext cx="1091124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BBF24"/>
                </a:solidFill>
                <a:effectLst/>
                <a:uFillTx/>
                <a:latin typeface="Arial"/>
                <a:ea typeface="Arial"/>
              </a:rPr>
              <a:t>Viện tập trung vào chuyên môn — phần mềm theo kịp quy định là việc của chúng tôi</a:t>
            </a:r>
            <a:endParaRPr lang="en-US" sz="1600" b="0" u="none" strike="noStrike">
              <a:solidFill>
                <a:srgbClr val="FFFFFF"/>
              </a:solidFill>
              <a:effectLst/>
              <a:uFillTx/>
              <a:latin typeface="Arial"/>
            </a:endParaRPr>
          </a:p>
        </p:txBody>
      </p:sp>
      <p:sp>
        <p:nvSpPr>
          <p:cNvPr id="489" name="Text 28"/>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19 / 21</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490" name="Text 0"/>
          <p:cNvSpPr/>
          <p:nvPr/>
        </p:nvSpPr>
        <p:spPr>
          <a:xfrm>
            <a:off x="640080" y="411480"/>
            <a:ext cx="109112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38BDF8"/>
                </a:solidFill>
                <a:effectLst/>
                <a:uFillTx/>
                <a:latin typeface="Arial"/>
                <a:ea typeface="Arial"/>
              </a:rPr>
              <a:t>ĐỀ XUẤT</a:t>
            </a:r>
            <a:endParaRPr lang="en-US" sz="1200" b="0" u="none" strike="noStrike">
              <a:solidFill>
                <a:srgbClr val="FFFFFF"/>
              </a:solidFill>
              <a:effectLst/>
              <a:uFillTx/>
              <a:latin typeface="Arial"/>
            </a:endParaRPr>
          </a:p>
        </p:txBody>
      </p:sp>
      <p:sp>
        <p:nvSpPr>
          <p:cNvPr id="491" name="Text 1"/>
          <p:cNvSpPr/>
          <p:nvPr/>
        </p:nvSpPr>
        <p:spPr>
          <a:xfrm>
            <a:off x="640080" y="713160"/>
            <a:ext cx="1091124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FFFF"/>
                </a:solidFill>
                <a:effectLst/>
                <a:uFillTx/>
                <a:latin typeface="Arial"/>
                <a:ea typeface="Arial"/>
              </a:rPr>
              <a:t>Thí điểm 4–8 tuần, đo bằng số liệu của chính viện</a:t>
            </a:r>
            <a:endParaRPr lang="en-US" sz="2800" b="0" u="none" strike="noStrike">
              <a:solidFill>
                <a:srgbClr val="FFFFFF"/>
              </a:solidFill>
              <a:effectLst/>
              <a:uFillTx/>
              <a:latin typeface="Arial"/>
            </a:endParaRPr>
          </a:p>
        </p:txBody>
      </p:sp>
      <p:sp>
        <p:nvSpPr>
          <p:cNvPr id="492" name="Shape 2"/>
          <p:cNvSpPr/>
          <p:nvPr/>
        </p:nvSpPr>
        <p:spPr>
          <a:xfrm>
            <a:off x="640080" y="1508760"/>
            <a:ext cx="6309000" cy="840960"/>
          </a:xfrm>
          <a:prstGeom prst="roundRect">
            <a:avLst>
              <a:gd name="adj" fmla="val 10870"/>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93" name="Text 3"/>
          <p:cNvSpPr/>
          <p:nvPr/>
        </p:nvSpPr>
        <p:spPr>
          <a:xfrm>
            <a:off x="914400" y="1508760"/>
            <a:ext cx="1737000" cy="840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pc="99" strike="noStrike">
                <a:solidFill>
                  <a:srgbClr val="38BDF8"/>
                </a:solidFill>
                <a:effectLst/>
                <a:uFillTx/>
                <a:latin typeface="Arial"/>
                <a:ea typeface="Arial"/>
              </a:rPr>
              <a:t>PHẠM VI</a:t>
            </a:r>
            <a:endParaRPr lang="en-US" sz="1100" b="0" u="none" strike="noStrike">
              <a:solidFill>
                <a:srgbClr val="FFFFFF"/>
              </a:solidFill>
              <a:effectLst/>
              <a:uFillTx/>
              <a:latin typeface="Arial"/>
            </a:endParaRPr>
          </a:p>
        </p:txBody>
      </p:sp>
      <p:sp>
        <p:nvSpPr>
          <p:cNvPr id="494" name="Text 4"/>
          <p:cNvSpPr/>
          <p:nvPr/>
        </p:nvSpPr>
        <p:spPr>
          <a:xfrm>
            <a:off x="2697480" y="1508760"/>
            <a:ext cx="4023000" cy="840960"/>
          </a:xfrm>
          <a:prstGeom prst="rect">
            <a:avLst/>
          </a:prstGeom>
          <a:noFill/>
          <a:ln w="0">
            <a:noFill/>
          </a:ln>
        </p:spPr>
        <p:style>
          <a:lnRef idx="0"/>
          <a:fillRef idx="0"/>
          <a:effectRef idx="0"/>
          <a:fontRef idx="minor"/>
        </p:style>
        <p:txBody>
          <a:bodyPr lIns="0" tIns="0" rIns="0" bIns="0" anchor="ctr">
            <a:noAutofit/>
          </a:bodyPr>
          <a:p>
            <a:pPr defTabSz="914400">
              <a:lnSpc>
                <a:spcPts val="1899"/>
              </a:lnSpc>
              <a:tabLst>
                <a:tab pos="0" algn="l"/>
              </a:tabLst>
            </a:pPr>
            <a:r>
              <a:rPr lang="en-US" sz="1400" b="0" u="none" strike="noStrike">
                <a:solidFill>
                  <a:srgbClr val="FFFFFF"/>
                </a:solidFill>
                <a:effectLst/>
                <a:uFillTx/>
                <a:latin typeface="Arial"/>
                <a:ea typeface="Arial"/>
              </a:rPr>
              <a:t>Kiểm hồ sơ XML 3176 chạy song song quy trình hiện tại; chưa bật tự gửi cổng.</a:t>
            </a:r>
            <a:endParaRPr lang="en-US" sz="1400" b="0" u="none" strike="noStrike">
              <a:solidFill>
                <a:srgbClr val="FFFFFF"/>
              </a:solidFill>
              <a:effectLst/>
              <a:uFillTx/>
              <a:latin typeface="Arial"/>
            </a:endParaRPr>
          </a:p>
        </p:txBody>
      </p:sp>
      <p:sp>
        <p:nvSpPr>
          <p:cNvPr id="495" name="Shape 5"/>
          <p:cNvSpPr/>
          <p:nvPr/>
        </p:nvSpPr>
        <p:spPr>
          <a:xfrm>
            <a:off x="640080" y="2477880"/>
            <a:ext cx="6309000" cy="840960"/>
          </a:xfrm>
          <a:prstGeom prst="roundRect">
            <a:avLst>
              <a:gd name="adj" fmla="val 10870"/>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96" name="Text 6"/>
          <p:cNvSpPr/>
          <p:nvPr/>
        </p:nvSpPr>
        <p:spPr>
          <a:xfrm>
            <a:off x="914400" y="2477880"/>
            <a:ext cx="1737000" cy="840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pc="99" strike="noStrike">
                <a:solidFill>
                  <a:srgbClr val="38BDF8"/>
                </a:solidFill>
                <a:effectLst/>
                <a:uFillTx/>
                <a:latin typeface="Arial"/>
                <a:ea typeface="Arial"/>
              </a:rPr>
              <a:t>VIỆN CỬ</a:t>
            </a:r>
            <a:endParaRPr lang="en-US" sz="1100" b="0" u="none" strike="noStrike">
              <a:solidFill>
                <a:srgbClr val="FFFFFF"/>
              </a:solidFill>
              <a:effectLst/>
              <a:uFillTx/>
              <a:latin typeface="Arial"/>
            </a:endParaRPr>
          </a:p>
        </p:txBody>
      </p:sp>
      <p:sp>
        <p:nvSpPr>
          <p:cNvPr id="497" name="Text 7"/>
          <p:cNvSpPr/>
          <p:nvPr/>
        </p:nvSpPr>
        <p:spPr>
          <a:xfrm>
            <a:off x="2697480" y="2477880"/>
            <a:ext cx="4023000" cy="840960"/>
          </a:xfrm>
          <a:prstGeom prst="rect">
            <a:avLst/>
          </a:prstGeom>
          <a:noFill/>
          <a:ln w="0">
            <a:noFill/>
          </a:ln>
        </p:spPr>
        <p:style>
          <a:lnRef idx="0"/>
          <a:fillRef idx="0"/>
          <a:effectRef idx="0"/>
          <a:fontRef idx="minor"/>
        </p:style>
        <p:txBody>
          <a:bodyPr lIns="0" tIns="0" rIns="0" bIns="0" anchor="ctr">
            <a:noAutofit/>
          </a:bodyPr>
          <a:p>
            <a:pPr defTabSz="914400">
              <a:lnSpc>
                <a:spcPts val="1899"/>
              </a:lnSpc>
              <a:tabLst>
                <a:tab pos="0" algn="l"/>
              </a:tabLst>
            </a:pPr>
            <a:r>
              <a:rPr lang="en-US" sz="1400" b="0" u="none" strike="noStrike">
                <a:solidFill>
                  <a:srgbClr val="FFFFFF"/>
                </a:solidFill>
                <a:effectLst/>
                <a:uFillTx/>
                <a:latin typeface="Arial"/>
                <a:ea typeface="Arial"/>
              </a:rPr>
              <a:t>1 đầu mối phòng KHTH  ·  1 người phụ trách danh mục BHYT  ·  1 cán bộ CNTT</a:t>
            </a:r>
            <a:endParaRPr lang="en-US" sz="1400" b="0" u="none" strike="noStrike">
              <a:solidFill>
                <a:srgbClr val="FFFFFF"/>
              </a:solidFill>
              <a:effectLst/>
              <a:uFillTx/>
              <a:latin typeface="Arial"/>
            </a:endParaRPr>
          </a:p>
        </p:txBody>
      </p:sp>
      <p:sp>
        <p:nvSpPr>
          <p:cNvPr id="498" name="Shape 8"/>
          <p:cNvSpPr/>
          <p:nvPr/>
        </p:nvSpPr>
        <p:spPr>
          <a:xfrm>
            <a:off x="640080" y="3447360"/>
            <a:ext cx="6309000" cy="840960"/>
          </a:xfrm>
          <a:prstGeom prst="roundRect">
            <a:avLst>
              <a:gd name="adj" fmla="val 10870"/>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99" name="Text 9"/>
          <p:cNvSpPr/>
          <p:nvPr/>
        </p:nvSpPr>
        <p:spPr>
          <a:xfrm>
            <a:off x="914400" y="3447360"/>
            <a:ext cx="1737000" cy="840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pc="99" strike="noStrike">
                <a:solidFill>
                  <a:srgbClr val="38BDF8"/>
                </a:solidFill>
                <a:effectLst/>
                <a:uFillTx/>
                <a:latin typeface="Arial"/>
                <a:ea typeface="Arial"/>
              </a:rPr>
              <a:t>CHÚNG TÔI LÀM</a:t>
            </a:r>
            <a:endParaRPr lang="en-US" sz="1100" b="0" u="none" strike="noStrike">
              <a:solidFill>
                <a:srgbClr val="FFFFFF"/>
              </a:solidFill>
              <a:effectLst/>
              <a:uFillTx/>
              <a:latin typeface="Arial"/>
            </a:endParaRPr>
          </a:p>
        </p:txBody>
      </p:sp>
      <p:sp>
        <p:nvSpPr>
          <p:cNvPr id="500" name="Text 10"/>
          <p:cNvSpPr/>
          <p:nvPr/>
        </p:nvSpPr>
        <p:spPr>
          <a:xfrm>
            <a:off x="2697480" y="3447360"/>
            <a:ext cx="4023000" cy="840960"/>
          </a:xfrm>
          <a:prstGeom prst="rect">
            <a:avLst/>
          </a:prstGeom>
          <a:noFill/>
          <a:ln w="0">
            <a:noFill/>
          </a:ln>
        </p:spPr>
        <p:style>
          <a:lnRef idx="0"/>
          <a:fillRef idx="0"/>
          <a:effectRef idx="0"/>
          <a:fontRef idx="minor"/>
        </p:style>
        <p:txBody>
          <a:bodyPr lIns="0" tIns="0" rIns="0" bIns="0" anchor="ctr">
            <a:noAutofit/>
          </a:bodyPr>
          <a:p>
            <a:pPr defTabSz="914400">
              <a:lnSpc>
                <a:spcPts val="1899"/>
              </a:lnSpc>
              <a:tabLst>
                <a:tab pos="0" algn="l"/>
              </a:tabLst>
            </a:pPr>
            <a:r>
              <a:rPr lang="en-US" sz="1400" b="0" u="none" strike="noStrike">
                <a:solidFill>
                  <a:srgbClr val="FFFFFF"/>
                </a:solidFill>
                <a:effectLst/>
                <a:uFillTx/>
                <a:latin typeface="Arial"/>
                <a:ea typeface="Arial"/>
              </a:rPr>
              <a:t>Cài đặt tại viện, nạp danh mục, đào tạo người dùng, theo dõi kết quả cùng viện.</a:t>
            </a:r>
            <a:endParaRPr lang="en-US" sz="1400" b="0" u="none" strike="noStrike">
              <a:solidFill>
                <a:srgbClr val="FFFFFF"/>
              </a:solidFill>
              <a:effectLst/>
              <a:uFillTx/>
              <a:latin typeface="Arial"/>
            </a:endParaRPr>
          </a:p>
        </p:txBody>
      </p:sp>
      <p:sp>
        <p:nvSpPr>
          <p:cNvPr id="501" name="Shape 11"/>
          <p:cNvSpPr/>
          <p:nvPr/>
        </p:nvSpPr>
        <p:spPr>
          <a:xfrm>
            <a:off x="640080" y="4416480"/>
            <a:ext cx="6309000" cy="840960"/>
          </a:xfrm>
          <a:prstGeom prst="roundRect">
            <a:avLst>
              <a:gd name="adj" fmla="val 10870"/>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02" name="Text 12"/>
          <p:cNvSpPr/>
          <p:nvPr/>
        </p:nvSpPr>
        <p:spPr>
          <a:xfrm>
            <a:off x="914400" y="4416480"/>
            <a:ext cx="1737000" cy="840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pc="99" strike="noStrike">
                <a:solidFill>
                  <a:srgbClr val="38BDF8"/>
                </a:solidFill>
                <a:effectLst/>
                <a:uFillTx/>
                <a:latin typeface="Arial"/>
                <a:ea typeface="Arial"/>
              </a:rPr>
              <a:t>CHI PHÍ</a:t>
            </a:r>
            <a:endParaRPr lang="en-US" sz="1100" b="0" u="none" strike="noStrike">
              <a:solidFill>
                <a:srgbClr val="FFFFFF"/>
              </a:solidFill>
              <a:effectLst/>
              <a:uFillTx/>
              <a:latin typeface="Arial"/>
            </a:endParaRPr>
          </a:p>
        </p:txBody>
      </p:sp>
      <p:sp>
        <p:nvSpPr>
          <p:cNvPr id="503" name="Text 13"/>
          <p:cNvSpPr/>
          <p:nvPr/>
        </p:nvSpPr>
        <p:spPr>
          <a:xfrm>
            <a:off x="2697480" y="4416480"/>
            <a:ext cx="4023000" cy="840960"/>
          </a:xfrm>
          <a:prstGeom prst="rect">
            <a:avLst/>
          </a:prstGeom>
          <a:noFill/>
          <a:ln w="0">
            <a:noFill/>
          </a:ln>
        </p:spPr>
        <p:style>
          <a:lnRef idx="0"/>
          <a:fillRef idx="0"/>
          <a:effectRef idx="0"/>
          <a:fontRef idx="minor"/>
        </p:style>
        <p:txBody>
          <a:bodyPr lIns="0" tIns="0" rIns="0" bIns="0" anchor="ctr">
            <a:noAutofit/>
          </a:bodyPr>
          <a:p>
            <a:pPr defTabSz="914400">
              <a:lnSpc>
                <a:spcPts val="1899"/>
              </a:lnSpc>
              <a:tabLst>
                <a:tab pos="0" algn="l"/>
              </a:tabLst>
            </a:pPr>
            <a:r>
              <a:rPr lang="en-US" sz="1400" b="0" u="none" strike="noStrike">
                <a:solidFill>
                  <a:srgbClr val="FFFFFF"/>
                </a:solidFill>
                <a:effectLst/>
                <a:uFillTx/>
                <a:latin typeface="Arial"/>
                <a:ea typeface="Arial"/>
              </a:rPr>
              <a:t>………………………………</a:t>
            </a:r>
            <a:endParaRPr lang="en-US" sz="1400" b="0" u="none" strike="noStrike">
              <a:solidFill>
                <a:srgbClr val="FFFFFF"/>
              </a:solidFill>
              <a:effectLst/>
              <a:uFillTx/>
              <a:latin typeface="Arial"/>
            </a:endParaRPr>
          </a:p>
        </p:txBody>
      </p:sp>
      <p:sp>
        <p:nvSpPr>
          <p:cNvPr id="504" name="Shape 14"/>
          <p:cNvSpPr/>
          <p:nvPr/>
        </p:nvSpPr>
        <p:spPr>
          <a:xfrm>
            <a:off x="7223760" y="1508760"/>
            <a:ext cx="4327560" cy="3748680"/>
          </a:xfrm>
          <a:prstGeom prst="roundRect">
            <a:avLst>
              <a:gd name="adj" fmla="val 2439"/>
            </a:avLst>
          </a:prstGeom>
          <a:solidFill>
            <a:srgbClr val="25324A">
              <a:alpha val="85000"/>
            </a:srgbClr>
          </a:solidFill>
          <a:ln w="19050">
            <a:solidFill>
              <a:srgbClr val="FBBF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05" name="Text 15"/>
          <p:cNvSpPr/>
          <p:nvPr/>
        </p:nvSpPr>
        <p:spPr>
          <a:xfrm>
            <a:off x="7498080" y="1691640"/>
            <a:ext cx="3778920" cy="310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pc="201" strike="noStrike">
                <a:solidFill>
                  <a:srgbClr val="FBBF24"/>
                </a:solidFill>
                <a:effectLst/>
                <a:uFillTx/>
                <a:latin typeface="Arial"/>
                <a:ea typeface="Arial"/>
              </a:rPr>
              <a:t>ĐO GÌ ĐỂ QUYẾT ĐỊNH</a:t>
            </a:r>
            <a:endParaRPr lang="en-US" sz="1200" b="0" u="none" strike="noStrike">
              <a:solidFill>
                <a:srgbClr val="FFFFFF"/>
              </a:solidFill>
              <a:effectLst/>
              <a:uFillTx/>
              <a:latin typeface="Arial"/>
            </a:endParaRPr>
          </a:p>
        </p:txBody>
      </p:sp>
      <p:sp>
        <p:nvSpPr>
          <p:cNvPr id="506" name="Text 16"/>
          <p:cNvSpPr/>
          <p:nvPr/>
        </p:nvSpPr>
        <p:spPr>
          <a:xfrm>
            <a:off x="7498080" y="2148840"/>
            <a:ext cx="3778920" cy="2011320"/>
          </a:xfrm>
          <a:prstGeom prst="rect">
            <a:avLst/>
          </a:prstGeom>
          <a:noFill/>
          <a:ln w="0">
            <a:noFill/>
          </a:ln>
        </p:spPr>
        <p:style>
          <a:lnRef idx="0"/>
          <a:fillRef idx="0"/>
          <a:effectRef idx="0"/>
          <a:fontRef idx="minor"/>
        </p:style>
        <p:txBody>
          <a:bodyPr lIns="0" tIns="0" rIns="0" bIns="0" anchor="t">
            <a:noAutofit/>
          </a:bodyPr>
          <a:p>
            <a:pPr marL="203040" indent="-203040" defTabSz="914400">
              <a:lnSpc>
                <a:spcPts val="2001"/>
              </a:lnSpc>
              <a:spcAft>
                <a:spcPts val="1001"/>
              </a:spcAft>
              <a:buClr>
                <a:srgbClr val="FFFFFF"/>
              </a:buClr>
              <a:buFont typeface="Symbol" charset="2"/>
              <a:buChar char=""/>
            </a:pPr>
            <a:r>
              <a:rPr lang="en-US" sz="1500" b="0" u="none" strike="noStrike">
                <a:solidFill>
                  <a:srgbClr val="FFFFFF"/>
                </a:solidFill>
                <a:effectLst/>
                <a:uFillTx/>
                <a:latin typeface="Arial"/>
                <a:ea typeface="Arial"/>
              </a:rPr>
              <a:t>Tỷ lệ hồ sơ còn lỗi nghiêm trọng trước khi gửi</a:t>
            </a:r>
            <a:endParaRPr lang="en-US" sz="1500" b="0" u="none" strike="noStrike">
              <a:solidFill>
                <a:srgbClr val="FFFFFF"/>
              </a:solidFill>
              <a:effectLst/>
              <a:uFillTx/>
              <a:latin typeface="Arial"/>
            </a:endParaRPr>
          </a:p>
          <a:p>
            <a:pPr marL="203040" indent="-203040" defTabSz="914400">
              <a:lnSpc>
                <a:spcPts val="2001"/>
              </a:lnSpc>
              <a:spcAft>
                <a:spcPts val="1001"/>
              </a:spcAft>
              <a:buClr>
                <a:srgbClr val="FFFFFF"/>
              </a:buClr>
              <a:buFont typeface="Symbol" charset="2"/>
              <a:buChar char=""/>
            </a:pPr>
            <a:r>
              <a:rPr lang="en-US" sz="1500" b="0" u="none" strike="noStrike">
                <a:solidFill>
                  <a:srgbClr val="FFFFFF"/>
                </a:solidFill>
                <a:effectLst/>
                <a:uFillTx/>
                <a:latin typeface="Arial"/>
                <a:ea typeface="Arial"/>
              </a:rPr>
              <a:t>Số hồ sơ bị cổng giám định trả về</a:t>
            </a:r>
            <a:endParaRPr lang="en-US" sz="1500" b="0" u="none" strike="noStrike">
              <a:solidFill>
                <a:srgbClr val="FFFFFF"/>
              </a:solidFill>
              <a:effectLst/>
              <a:uFillTx/>
              <a:latin typeface="Arial"/>
            </a:endParaRPr>
          </a:p>
          <a:p>
            <a:pPr marL="203040" indent="-203040" defTabSz="914400">
              <a:lnSpc>
                <a:spcPts val="2001"/>
              </a:lnSpc>
              <a:spcAft>
                <a:spcPts val="1001"/>
              </a:spcAft>
              <a:buClr>
                <a:srgbClr val="FFFFFF"/>
              </a:buClr>
              <a:buFont typeface="Symbol" charset="2"/>
              <a:buChar char=""/>
            </a:pPr>
            <a:r>
              <a:rPr lang="en-US" sz="1500" b="0" u="none" strike="noStrike">
                <a:solidFill>
                  <a:srgbClr val="FFFFFF"/>
                </a:solidFill>
                <a:effectLst/>
                <a:uFillTx/>
                <a:latin typeface="Arial"/>
                <a:ea typeface="Arial"/>
              </a:rPr>
              <a:t>Thời gian sửa một hồ sơ lỗi</a:t>
            </a:r>
            <a:endParaRPr lang="en-US" sz="1500" b="0" u="none" strike="noStrike">
              <a:solidFill>
                <a:srgbClr val="FFFFFF"/>
              </a:solidFill>
              <a:effectLst/>
              <a:uFillTx/>
              <a:latin typeface="Arial"/>
            </a:endParaRPr>
          </a:p>
          <a:p>
            <a:pPr marL="203040" indent="-203040" defTabSz="914400">
              <a:lnSpc>
                <a:spcPts val="2001"/>
              </a:lnSpc>
              <a:spcAft>
                <a:spcPts val="1001"/>
              </a:spcAft>
              <a:buClr>
                <a:srgbClr val="FFFFFF"/>
              </a:buClr>
              <a:buFont typeface="Symbol" charset="2"/>
              <a:buChar char=""/>
            </a:pPr>
            <a:r>
              <a:rPr lang="en-US" sz="1500" b="0" u="none" strike="noStrike">
                <a:solidFill>
                  <a:srgbClr val="FFFFFF"/>
                </a:solidFill>
                <a:effectLst/>
                <a:uFillTx/>
                <a:latin typeface="Arial"/>
                <a:ea typeface="Arial"/>
              </a:rPr>
              <a:t>Số hồ sơ tồn đọng theo tuổi</a:t>
            </a:r>
            <a:endParaRPr lang="en-US" sz="1500" b="0" u="none" strike="noStrike">
              <a:solidFill>
                <a:srgbClr val="FFFFFF"/>
              </a:solidFill>
              <a:effectLst/>
              <a:uFillTx/>
              <a:latin typeface="Arial"/>
            </a:endParaRPr>
          </a:p>
        </p:txBody>
      </p:sp>
      <p:sp>
        <p:nvSpPr>
          <p:cNvPr id="507" name="Text 17"/>
          <p:cNvSpPr/>
          <p:nvPr/>
        </p:nvSpPr>
        <p:spPr>
          <a:xfrm>
            <a:off x="7498080" y="4343400"/>
            <a:ext cx="3778920" cy="731160"/>
          </a:xfrm>
          <a:prstGeom prst="rect">
            <a:avLst/>
          </a:prstGeom>
          <a:noFill/>
          <a:ln w="0">
            <a:noFill/>
          </a:ln>
        </p:spPr>
        <p:style>
          <a:lnRef idx="0"/>
          <a:fillRef idx="0"/>
          <a:effectRef idx="0"/>
          <a:fontRef idx="minor"/>
        </p:style>
        <p:txBody>
          <a:bodyPr lIns="0" tIns="0" rIns="0" bIns="0" anchor="t">
            <a:noAutofit/>
          </a:bodyPr>
          <a:p>
            <a:pPr defTabSz="914400">
              <a:lnSpc>
                <a:spcPts val="1800"/>
              </a:lnSpc>
              <a:tabLst>
                <a:tab pos="0" algn="l"/>
              </a:tabLst>
            </a:pPr>
            <a:r>
              <a:rPr lang="en-US" sz="1300" b="0" i="1" u="none" strike="noStrike">
                <a:solidFill>
                  <a:srgbClr val="A9BCD6"/>
                </a:solidFill>
                <a:effectLst/>
                <a:uFillTx/>
                <a:latin typeface="Arial"/>
                <a:ea typeface="Arial"/>
              </a:rPr>
              <a:t>Kết thúc thí điểm: báo cáo số liệu để lãnh đạo quyết định nhân rộng.</a:t>
            </a:r>
            <a:endParaRPr lang="en-US" sz="1300" b="0" u="none" strike="noStrike">
              <a:solidFill>
                <a:srgbClr val="FFFFFF"/>
              </a:solidFill>
              <a:effectLst/>
              <a:uFillTx/>
              <a:latin typeface="Arial"/>
            </a:endParaRPr>
          </a:p>
        </p:txBody>
      </p:sp>
      <p:sp>
        <p:nvSpPr>
          <p:cNvPr id="508" name="Text 18"/>
          <p:cNvSpPr/>
          <p:nvPr/>
        </p:nvSpPr>
        <p:spPr>
          <a:xfrm>
            <a:off x="640080" y="5623560"/>
            <a:ext cx="1091124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BBF24"/>
                </a:solidFill>
                <a:effectLst/>
                <a:uFillTx/>
                <a:latin typeface="Arial"/>
                <a:ea typeface="Arial"/>
              </a:rPr>
              <a:t>Hôm nay chỉ cần một quyết định: cho phép thí điểm</a:t>
            </a:r>
            <a:endParaRPr lang="en-US" sz="1600" b="0" u="none" strike="noStrike">
              <a:solidFill>
                <a:srgbClr val="FFFFFF"/>
              </a:solidFill>
              <a:effectLst/>
              <a:uFillTx/>
              <a:latin typeface="Arial"/>
            </a:endParaRPr>
          </a:p>
        </p:txBody>
      </p:sp>
      <p:sp>
        <p:nvSpPr>
          <p:cNvPr id="509" name="Text 19"/>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20 / 21</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510" name="Text 0"/>
          <p:cNvSpPr/>
          <p:nvPr/>
        </p:nvSpPr>
        <p:spPr>
          <a:xfrm>
            <a:off x="457200" y="1417320"/>
            <a:ext cx="11277000" cy="914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3600" b="1" u="none" strike="noStrike">
                <a:solidFill>
                  <a:srgbClr val="FFFFFF"/>
                </a:solidFill>
                <a:effectLst/>
                <a:uFillTx/>
                <a:latin typeface="Arial"/>
                <a:ea typeface="Arial"/>
              </a:rPr>
              <a:t>Phát hiện sớm</a:t>
            </a:r>
            <a:r>
              <a:rPr lang="en-US" sz="3600" b="1" u="none" strike="noStrike">
                <a:solidFill>
                  <a:srgbClr val="7F93B0"/>
                </a:solidFill>
                <a:effectLst/>
                <a:uFillTx/>
                <a:latin typeface="Arial"/>
                <a:ea typeface="Arial"/>
              </a:rPr>
              <a:t>  ·  </a:t>
            </a:r>
            <a:r>
              <a:rPr lang="en-US" sz="3600" b="1" u="none" strike="noStrike">
                <a:solidFill>
                  <a:srgbClr val="38BDF8"/>
                </a:solidFill>
                <a:effectLst/>
                <a:uFillTx/>
                <a:latin typeface="Arial"/>
                <a:ea typeface="Arial"/>
              </a:rPr>
              <a:t>Sửa tại nguồn</a:t>
            </a:r>
            <a:r>
              <a:rPr lang="en-US" sz="3600" b="1" u="none" strike="noStrike">
                <a:solidFill>
                  <a:srgbClr val="7F93B0"/>
                </a:solidFill>
                <a:effectLst/>
                <a:uFillTx/>
                <a:latin typeface="Arial"/>
                <a:ea typeface="Arial"/>
              </a:rPr>
              <a:t>  ·  </a:t>
            </a:r>
            <a:r>
              <a:rPr lang="en-US" sz="3600" b="1" u="none" strike="noStrike">
                <a:solidFill>
                  <a:srgbClr val="FBBF24"/>
                </a:solidFill>
                <a:effectLst/>
                <a:uFillTx/>
                <a:latin typeface="Arial"/>
                <a:ea typeface="Arial"/>
              </a:rPr>
              <a:t>Gửi hồ sơ sạch</a:t>
            </a:r>
            <a:endParaRPr lang="en-US" sz="3600" b="0" u="none" strike="noStrike">
              <a:solidFill>
                <a:srgbClr val="FFFFFF"/>
              </a:solidFill>
              <a:effectLst/>
              <a:uFillTx/>
              <a:latin typeface="Arial"/>
            </a:endParaRPr>
          </a:p>
        </p:txBody>
      </p:sp>
      <p:sp>
        <p:nvSpPr>
          <p:cNvPr id="511" name="Text 1"/>
          <p:cNvSpPr/>
          <p:nvPr/>
        </p:nvSpPr>
        <p:spPr>
          <a:xfrm>
            <a:off x="914400" y="2560320"/>
            <a:ext cx="10362600" cy="868320"/>
          </a:xfrm>
          <a:prstGeom prst="rect">
            <a:avLst/>
          </a:prstGeom>
          <a:noFill/>
          <a:ln w="0">
            <a:noFill/>
          </a:ln>
        </p:spPr>
        <p:style>
          <a:lnRef idx="0"/>
          <a:fillRef idx="0"/>
          <a:effectRef idx="0"/>
          <a:fontRef idx="minor"/>
        </p:style>
        <p:txBody>
          <a:bodyPr lIns="0" tIns="0" rIns="0" bIns="0" anchor="t">
            <a:noAutofit/>
          </a:bodyPr>
          <a:p>
            <a:pPr algn="ctr" defTabSz="914400">
              <a:lnSpc>
                <a:spcPts val="2801"/>
              </a:lnSpc>
              <a:tabLst>
                <a:tab pos="0" algn="l"/>
              </a:tabLst>
            </a:pPr>
            <a:r>
              <a:rPr lang="en-US" sz="1900" b="0" u="none" strike="noStrike">
                <a:solidFill>
                  <a:srgbClr val="A9BCD6"/>
                </a:solidFill>
                <a:effectLst/>
                <a:uFillTx/>
                <a:latin typeface="Arial"/>
                <a:ea typeface="Arial"/>
              </a:rPr>
              <a:t>Tiền giám định đưa việc kiểm tra hồ sơ BHYT về bên trong bệnh viện —</a:t>
            </a:r>
            <a:endParaRPr lang="en-US" sz="1900" b="0" u="none" strike="noStrike">
              <a:solidFill>
                <a:srgbClr val="FFFFFF"/>
              </a:solidFill>
              <a:effectLst/>
              <a:uFillTx/>
              <a:latin typeface="Arial"/>
            </a:endParaRPr>
          </a:p>
          <a:p>
            <a:pPr algn="ctr" defTabSz="914400">
              <a:lnSpc>
                <a:spcPts val="2801"/>
              </a:lnSpc>
              <a:tabLst>
                <a:tab pos="0" algn="l"/>
              </a:tabLst>
            </a:pPr>
            <a:r>
              <a:rPr lang="en-US" sz="1900" b="0" u="none" strike="noStrike">
                <a:solidFill>
                  <a:srgbClr val="A9BCD6"/>
                </a:solidFill>
                <a:effectLst/>
                <a:uFillTx/>
                <a:latin typeface="Arial"/>
                <a:ea typeface="Arial"/>
              </a:rPr>
              <a:t>khi người làm sai còn ở đó, và hồ sơ còn chưa rời bệnh viện.</a:t>
            </a:r>
            <a:endParaRPr lang="en-US" sz="1900" b="0" u="none" strike="noStrike">
              <a:solidFill>
                <a:srgbClr val="FFFFFF"/>
              </a:solidFill>
              <a:effectLst/>
              <a:uFillTx/>
              <a:latin typeface="Arial"/>
            </a:endParaRPr>
          </a:p>
        </p:txBody>
      </p:sp>
      <p:sp>
        <p:nvSpPr>
          <p:cNvPr id="512" name="Shape 2"/>
          <p:cNvSpPr/>
          <p:nvPr/>
        </p:nvSpPr>
        <p:spPr>
          <a:xfrm>
            <a:off x="2804040" y="3931920"/>
            <a:ext cx="6583320" cy="1279800"/>
          </a:xfrm>
          <a:prstGeom prst="roundRect">
            <a:avLst>
              <a:gd name="adj" fmla="val 7143"/>
            </a:avLst>
          </a:prstGeom>
          <a:solidFill>
            <a:srgbClr val="1C3558">
              <a:alpha val="85000"/>
            </a:srgbClr>
          </a:solidFill>
          <a:ln w="9525">
            <a:solidFill>
              <a:srgbClr val="2E4B7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13" name="Text 3"/>
          <p:cNvSpPr/>
          <p:nvPr/>
        </p:nvSpPr>
        <p:spPr>
          <a:xfrm>
            <a:off x="2804040" y="3931920"/>
            <a:ext cx="6583320" cy="1279800"/>
          </a:xfrm>
          <a:prstGeom prst="rect">
            <a:avLst/>
          </a:prstGeom>
          <a:noFill/>
          <a:ln w="0">
            <a:noFill/>
          </a:ln>
        </p:spPr>
        <p:style>
          <a:lnRef idx="0"/>
          <a:fillRef idx="0"/>
          <a:effectRef idx="0"/>
          <a:fontRef idx="minor"/>
        </p:style>
        <p:txBody>
          <a:bodyPr lIns="0" tIns="0" rIns="0" bIns="0" anchor="ctr">
            <a:noAutofit/>
          </a:bodyPr>
          <a:p>
            <a:pPr algn="ctr" defTabSz="914400">
              <a:lnSpc>
                <a:spcPts val="2401"/>
              </a:lnSpc>
              <a:tabLst>
                <a:tab pos="0" algn="l"/>
              </a:tabLst>
            </a:pPr>
            <a:r>
              <a:rPr lang="en-US" sz="1200" b="1" u="none" spc="201" strike="noStrike">
                <a:solidFill>
                  <a:srgbClr val="38BDF8"/>
                </a:solidFill>
                <a:effectLst/>
                <a:uFillTx/>
                <a:latin typeface="Arial"/>
                <a:ea typeface="Arial"/>
              </a:rPr>
              <a:t>HỎI </a:t>
            </a:r>
            <a:r>
              <a:rPr lang="en-US" sz="1200" b="1" u="none" spc="201" strike="noStrike">
                <a:solidFill>
                  <a:srgbClr val="38BDF8"/>
                </a:solidFill>
                <a:effectLst/>
                <a:uFillTx/>
                <a:latin typeface="Arial"/>
                <a:ea typeface="Arial"/>
              </a:rPr>
              <a:t>ĐÁP  </a:t>
            </a:r>
            <a:r>
              <a:rPr lang="en-US" sz="1200" b="1" u="none" spc="201" strike="noStrike">
                <a:solidFill>
                  <a:srgbClr val="38BDF8"/>
                </a:solidFill>
                <a:effectLst/>
                <a:uFillTx/>
                <a:latin typeface="Arial"/>
                <a:ea typeface="Arial"/>
              </a:rPr>
              <a:t>·  </a:t>
            </a:r>
            <a:r>
              <a:rPr lang="en-US" sz="1200" b="1" u="none" spc="201" strike="noStrike">
                <a:solidFill>
                  <a:srgbClr val="38BDF8"/>
                </a:solidFill>
                <a:effectLst/>
                <a:uFillTx/>
                <a:latin typeface="Arial"/>
                <a:ea typeface="Arial"/>
              </a:rPr>
              <a:t>LIÊN </a:t>
            </a:r>
            <a:r>
              <a:rPr lang="en-US" sz="1200" b="1" u="none" spc="201" strike="noStrike">
                <a:solidFill>
                  <a:srgbClr val="38BDF8"/>
                </a:solidFill>
                <a:effectLst/>
                <a:uFillTx/>
                <a:latin typeface="Arial"/>
                <a:ea typeface="Arial"/>
              </a:rPr>
              <a:t>HỆ</a:t>
            </a:r>
            <a:endParaRPr lang="en-US" sz="1200" b="0" u="none" strike="noStrike">
              <a:solidFill>
                <a:srgbClr val="FFFFFF"/>
              </a:solidFill>
              <a:effectLst/>
              <a:uFillTx/>
              <a:latin typeface="Arial"/>
            </a:endParaRPr>
          </a:p>
          <a:p>
            <a:pPr algn="ctr" defTabSz="914400">
              <a:lnSpc>
                <a:spcPts val="2401"/>
              </a:lnSpc>
              <a:tabLst>
                <a:tab pos="0" algn="l"/>
              </a:tabLst>
            </a:pPr>
            <a:r>
              <a:rPr lang="en-US" sz="1700" b="1" u="none" strike="noStrike">
                <a:solidFill>
                  <a:srgbClr val="FFFFFF"/>
                </a:solidFill>
                <a:effectLst/>
                <a:uFillTx/>
                <a:latin typeface="Arial"/>
                <a:ea typeface="Arial"/>
              </a:rPr>
              <a:t>Nhó</a:t>
            </a:r>
            <a:r>
              <a:rPr lang="en-US" sz="1700" b="1" u="none" strike="noStrike">
                <a:solidFill>
                  <a:srgbClr val="FFFFFF"/>
                </a:solidFill>
                <a:effectLst/>
                <a:uFillTx/>
                <a:latin typeface="Arial"/>
                <a:ea typeface="Arial"/>
              </a:rPr>
              <a:t>m </a:t>
            </a:r>
            <a:r>
              <a:rPr lang="en-US" sz="1700" b="1" u="none" strike="noStrike">
                <a:solidFill>
                  <a:srgbClr val="FFFFFF"/>
                </a:solidFill>
                <a:effectLst/>
                <a:uFillTx/>
                <a:latin typeface="Arial"/>
                <a:ea typeface="Arial"/>
              </a:rPr>
              <a:t>phát </a:t>
            </a:r>
            <a:r>
              <a:rPr lang="en-US" sz="1700" b="1" u="none" strike="noStrike">
                <a:solidFill>
                  <a:srgbClr val="FFFFFF"/>
                </a:solidFill>
                <a:effectLst/>
                <a:uFillTx/>
                <a:latin typeface="Arial"/>
                <a:ea typeface="Arial"/>
              </a:rPr>
              <a:t>triển </a:t>
            </a:r>
            <a:r>
              <a:rPr lang="en-US" sz="1700" b="1" u="none" strike="noStrike">
                <a:solidFill>
                  <a:srgbClr val="FFFFFF"/>
                </a:solidFill>
                <a:effectLst/>
                <a:uFillTx/>
                <a:latin typeface="Arial"/>
                <a:ea typeface="Arial"/>
              </a:rPr>
              <a:t>sản </a:t>
            </a:r>
            <a:r>
              <a:rPr lang="en-US" sz="1700" b="1" u="none" strike="noStrike">
                <a:solidFill>
                  <a:srgbClr val="FFFFFF"/>
                </a:solidFill>
                <a:effectLst/>
                <a:uFillTx/>
                <a:latin typeface="Arial"/>
                <a:ea typeface="Arial"/>
              </a:rPr>
              <a:t>phẩ</a:t>
            </a:r>
            <a:r>
              <a:rPr lang="en-US" sz="1700" b="1" u="none" strike="noStrike">
                <a:solidFill>
                  <a:srgbClr val="FFFFFF"/>
                </a:solidFill>
                <a:effectLst/>
                <a:uFillTx/>
                <a:latin typeface="Arial"/>
                <a:ea typeface="Arial"/>
              </a:rPr>
              <a:t>m</a:t>
            </a:r>
            <a:endParaRPr lang="en-US" sz="1700" b="0" u="none" strike="noStrike">
              <a:solidFill>
                <a:srgbClr val="FFFFFF"/>
              </a:solidFill>
              <a:effectLst/>
              <a:uFillTx/>
              <a:latin typeface="Arial"/>
            </a:endParaRPr>
          </a:p>
          <a:p>
            <a:pPr algn="ctr" defTabSz="914400">
              <a:lnSpc>
                <a:spcPts val="2401"/>
              </a:lnSpc>
              <a:tabLst>
                <a:tab pos="0" algn="l"/>
              </a:tabLst>
            </a:pPr>
            <a:r>
              <a:rPr lang="en-US" sz="1400" b="0" u="none" strike="noStrike">
                <a:solidFill>
                  <a:srgbClr val="A9BCD6"/>
                </a:solidFill>
                <a:effectLst/>
                <a:uFillTx/>
                <a:latin typeface="Arial"/>
                <a:ea typeface="Arial"/>
              </a:rPr>
              <a:t>Điện </a:t>
            </a:r>
            <a:r>
              <a:rPr lang="en-US" sz="1400" b="0" u="none" strike="noStrike">
                <a:solidFill>
                  <a:srgbClr val="A9BCD6"/>
                </a:solidFill>
                <a:effectLst/>
                <a:uFillTx/>
                <a:latin typeface="Arial"/>
                <a:ea typeface="Arial"/>
              </a:rPr>
              <a:t>thoại: </a:t>
            </a:r>
            <a:r>
              <a:rPr lang="en-US" sz="1400" b="0" u="none" strike="noStrike">
                <a:solidFill>
                  <a:srgbClr val="A9BCD6"/>
                </a:solidFill>
                <a:effectLst/>
                <a:uFillTx/>
                <a:latin typeface="Arial"/>
                <a:ea typeface="Arial"/>
              </a:rPr>
              <a:t>………</a:t>
            </a:r>
            <a:r>
              <a:rPr lang="en-US" sz="1400" b="0" u="none" strike="noStrike">
                <a:solidFill>
                  <a:srgbClr val="A9BCD6"/>
                </a:solidFill>
                <a:effectLst/>
                <a:uFillTx/>
                <a:latin typeface="Arial"/>
                <a:ea typeface="Arial"/>
              </a:rPr>
              <a:t>……… </a:t>
            </a:r>
            <a:r>
              <a:rPr lang="en-US" sz="1400" b="0" u="none" strike="noStrike">
                <a:solidFill>
                  <a:srgbClr val="A9BCD6"/>
                </a:solidFill>
                <a:effectLst/>
                <a:uFillTx/>
                <a:latin typeface="Arial"/>
                <a:ea typeface="Arial"/>
              </a:rPr>
              <a:t>  ·   </a:t>
            </a:r>
            <a:r>
              <a:rPr lang="en-US" sz="1400" b="0" u="none" strike="noStrike">
                <a:solidFill>
                  <a:srgbClr val="A9BCD6"/>
                </a:solidFill>
                <a:effectLst/>
                <a:uFillTx/>
                <a:latin typeface="Arial"/>
                <a:ea typeface="Arial"/>
              </a:rPr>
              <a:t>Email: </a:t>
            </a:r>
            <a:r>
              <a:rPr lang="en-US" sz="1400" b="0" u="none" strike="noStrike">
                <a:solidFill>
                  <a:srgbClr val="A9BCD6"/>
                </a:solidFill>
                <a:effectLst/>
                <a:uFillTx/>
                <a:latin typeface="Arial"/>
                <a:ea typeface="Arial"/>
              </a:rPr>
              <a:t>………</a:t>
            </a:r>
            <a:r>
              <a:rPr lang="en-US" sz="1400" b="0" u="none" strike="noStrike">
                <a:solidFill>
                  <a:srgbClr val="A9BCD6"/>
                </a:solidFill>
                <a:effectLst/>
                <a:uFillTx/>
                <a:latin typeface="Arial"/>
                <a:ea typeface="Arial"/>
              </a:rPr>
              <a:t>………</a:t>
            </a:r>
            <a:endParaRPr lang="en-US" sz="1400" b="0" u="none" strike="noStrike">
              <a:solidFill>
                <a:srgbClr val="FFFFFF"/>
              </a:solidFill>
              <a:effectLst/>
              <a:uFillTx/>
              <a:latin typeface="Arial"/>
            </a:endParaRPr>
          </a:p>
        </p:txBody>
      </p:sp>
      <p:sp>
        <p:nvSpPr>
          <p:cNvPr id="514" name="Text 4"/>
          <p:cNvSpPr/>
          <p:nvPr/>
        </p:nvSpPr>
        <p:spPr>
          <a:xfrm>
            <a:off x="6979680" y="6419160"/>
            <a:ext cx="45716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50" b="0" u="none" spc="99" strike="noStrike">
                <a:solidFill>
                  <a:srgbClr val="7F93B0"/>
                </a:solidFill>
                <a:effectLst/>
                <a:uFillTx/>
                <a:latin typeface="Arial"/>
                <a:ea typeface="Arial"/>
              </a:rPr>
              <a:t>GIẢI PHÁP TIỀN GIÁM ĐỊNH  ·  21 / 21</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TotalTime>
  <Application>LibreOffice/26.2.6.3$Windows_X86_64 LibreOffice_project/8221e31b3ac356a1623c672912a3d2b492f7e3d1</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2026-10-10T00:47:03Z</dcterms:created>
  <dc:creator>PptxGenJS</dc:creator>
  <dc:description/>
  <dc:language>en-US</dc:language>
  <cp:lastModifiedBy/>
  <dcterms:modified xsi:type="dcterms:W3CDTF">2026-10-16T13:08:00Z</dcterms:modified>
  <cp:revision>4</cp:revision>
  <dc:subject>Giới thiệu hệ thống Tiền giám định hồ sơ BHYT cho các bệnh viện</dc:subject>
  <dc:title>Giải pháp Tiền giám định — Giới thiệu hệ thống</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21</vt:i4>
  </property>
  <property fmtid="{D5CDD505-2E9C-101B-9397-08002B2CF9AE}" pid="3" name="PresentationFormat">
    <vt:lpwstr>On-screen Show (16:9)</vt:lpwstr>
  </property>
  <property fmtid="{D5CDD505-2E9C-101B-9397-08002B2CF9AE}" pid="4" name="Slides">
    <vt:i4>21</vt:i4>
  </property>
</Properties>
</file>