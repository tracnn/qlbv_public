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lớp chỉ có cán bộ khoa thì dạy phần 1, 2 và phần 6 (tình huống). Phần 3 dành cho phòng KHTH; phần 4 (phân quyền) và 5 (cấu hình) dành cho người quản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dòng 2: khoa chỉ được tạo số liệu một lần mỗi ngày. Lấy lại lần hai phải nhờ KHTH, để không ai vô tình ghi đè số liệu đã rà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slide này làm bản đồ cho cả buổi. Mỗi phần sau tương ứng với một ô trên sơ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tự mở màn hình trên máy mình và đọc to dòng Chế độ để chắc chắn đã được gán đúng khoa trước khi học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chụp bằng tài khoản quản trị trên cấu hình mẫu của môi trường huấn luyện. Tài khoản khoa chỉ thấy khung của khoa mình và ít nút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hay gặp nhất: bấm Làm mới rồi tưởng số liệu đã cập nhật từ HIS. Nhấn mạnh sự khác nhau giữa hai nút.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có nút Lưu chung. Mỗi ô tự lưu khi rời ô (bấm Tab hoặc bấm chỗ khác). Nhắc học viên đừng đóng trình duyệt khi con trỏ còn đang ở trong ô vừa gõ.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 xám nghiêng là bẫy hay gặp: nhìn có số nên tưởng đã điền. Phải gõ lại để xác nhận, nếu không khoa vẫn bị báo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Rê chuột vào ⚠ để thấy "Lệch cân đối: 1", rê vào ô BN ra viện để thấy "Số HIS: 2.00". Đây là tình huống cố ý dựng để minh hoạ.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sửa tay khi chắc chắn HIS sai (ví dụ nhập nhầm khoa trên HIS). Tốt nhất vẫn là sửa gốc trên HIS để các báo cáo khác cũng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làm một ví dụ: cũ 30, vào 5, chuyển đến 2, ra viện 6, chuyển khoa 1, hiện có phải là 30. Nếu HIS ghi 31 thì lệch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Kíp trực hiện trên slide Tổng quan và dòng "KÍP TRỰC LÃNH ĐẠO" trong tệp PPTX, nên cần nhập trước khi trình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Tên và số điện thoại trong ảnh là dữ liệu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khoa thắc mắc số không khớp, hỏi ngay: khung giờ nào? người bệnh đó được chuyển lúc mấy giờ trên HIS? Hầu hết chênh lệch nằm ở giờ ghi nhận trên 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chốt trước khi xuất PPTX / Excel để tệp lưu trữ mang nhãn ĐÃ CHỐT và tên tệp Excel không có đuôi -nhap.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chỉ cần nhớ thứ tự này để điều hành buổi giao ban, dùng menu "☰ Khoa" để nhảy tới khoa cần bàn.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đầu tiên lãnh đạo nhìn thấy. KHTH nên xử lý hết thanh đỏ trước giờ giao 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slide này chiếm phần lớn thời gian buổi giao 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giường lấy từ danh mục giường trên HIS tại thời điểm kết thúc. Khoa hiện 0% dù đang có người bệnh thì báo KHTH kiểm tra lại buồng giường của khoa trên 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buổi giao ban, mở thử trên máy chiếu thật, chỉnh cỡ chữ cho người ngồi cuối phòng đọc được. Máy nhớ cỡ chữ cho lần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tệp phục vụ hai mục đích khác nhau: PPTX để trình bày, Excel để tính toán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điểm này học viên hay phát hiện sau khi đã gửi tệp đi. Dặn thói quen: xuất xong mở tệp lướt một lượt.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tên dễ nhầm: vai trò ghi "Giao ban - …", còn quyền ghi "Báo cáo giao ban - …". Cấp một trong hai đều mở được màn hình, nhưng cấp theo vai trò thì sau này thu hồi gọn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bước 4: chỉ tích thêm, không bỏ các ô đang có — bỏ nhầm là người dùng mất quyền ở module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đã được che tên và email thật của nhân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Thường chỉ dùng cửa sổ bên trái. Cửa sổ bên phải dành cho trường hợp đặc biệt cần cấp lẻ một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Khoa mới tạo nằm ở khối Điều trị với một tiêu chí "BN cũ". Phải vào "Tiêu chí" để khai đủ trước khi cho khoa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chụp trên cấu hình mẫu của môi trường huấn luyện: 5 khoa điều trị, 1 khoa khám, 1 đơn vị chẩn đoán hình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Luôn bấm Tính thử trước khi Lưu. "Đếm dịch vụ" chưa chọn Phạm vi khoa sẽ ra 0 — Tính thử báo ngay "Chưa có phạm vi khoa".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dạng chữ không đưa lên Tổng quan được — phần mềm báo lỗi khi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thời gian, làm mẫu trực tiếp: nạp mẫu Điều trị, Tính thử cho hôm qua, so số với 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từng dòng, hỏi học viên sẽ làm gì trước khi lật cột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số 1 gặp nhiều nhất ở những ngày đầu dùng tiêu chí có kế thừa.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nên in ra dán ở phòng hành chính khoa.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6355080"/>
            <a:ext cx="12191695" cy="502920"/>
          </a:xfrm>
          <a:prstGeom prst="rect">
            <a:avLst/>
          </a:prstGeom>
          <a:solidFill>
            <a:srgbClr val="0E7C7B"/>
          </a:solidFill>
          <a:ln/>
        </p:spPr>
      </p:sp>
      <p:sp>
        <p:nvSpPr>
          <p:cNvPr id="3" name="Text 1"/>
          <p:cNvSpPr/>
          <p:nvPr/>
        </p:nvSpPr>
        <p:spPr>
          <a:xfrm>
            <a:off x="822960" y="1828800"/>
            <a:ext cx="10545775" cy="1371600"/>
          </a:xfrm>
          <a:prstGeom prst="rect">
            <a:avLst/>
          </a:prstGeom>
          <a:noFill/>
          <a:ln/>
        </p:spPr>
        <p:txBody>
          <a:bodyPr wrap="square" rtlCol="0" anchor="b"/>
          <a:lstStyle/>
          <a:p>
            <a:pPr indent="0" marL="0">
              <a:buNone/>
            </a:pPr>
            <a:r>
              <a:rPr lang="en-US" sz="4000" b="1" dirty="0">
                <a:solidFill>
                  <a:srgbClr val="FFFFFF"/>
                </a:solidFill>
                <a:latin typeface="Arial" pitchFamily="34" charset="0"/>
                <a:ea typeface="Arial" pitchFamily="34" charset="-122"/>
                <a:cs typeface="Arial" pitchFamily="34" charset="-120"/>
              </a:rPr>
              <a:t>Báo cáo giao ban</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trên phần mềm qlbv</a:t>
            </a:r>
            <a:endParaRPr lang="en-US" sz="4000" dirty="0"/>
          </a:p>
        </p:txBody>
      </p:sp>
      <p:sp>
        <p:nvSpPr>
          <p:cNvPr id="4" name="Text 2"/>
          <p:cNvSpPr/>
          <p:nvPr/>
        </p:nvSpPr>
        <p:spPr>
          <a:xfrm>
            <a:off x="822960" y="3246120"/>
            <a:ext cx="10545775" cy="548640"/>
          </a:xfrm>
          <a:prstGeom prst="rect">
            <a:avLst/>
          </a:prstGeom>
          <a:noFill/>
          <a:ln/>
        </p:spPr>
        <p:txBody>
          <a:bodyPr wrap="square" rtlCol="0" anchor="ctr"/>
          <a:lstStyle/>
          <a:p>
            <a:pPr indent="0" marL="0">
              <a:buNone/>
            </a:pPr>
            <a:r>
              <a:rPr lang="en-US" sz="2000" dirty="0">
                <a:solidFill>
                  <a:srgbClr val="C9DDF0"/>
                </a:solidFill>
                <a:latin typeface="Arial" pitchFamily="34" charset="0"/>
                <a:ea typeface="Arial" pitchFamily="34" charset="-122"/>
                <a:cs typeface="Arial" pitchFamily="34" charset="-120"/>
              </a:rPr>
              <a:t>Nhập số liệu khoa · Chốt báo cáo · Trình chiếu · Xuất PPTX</a:t>
            </a:r>
            <a:endParaRPr lang="en-US" sz="2000" dirty="0"/>
          </a:p>
        </p:txBody>
      </p:sp>
      <p:sp>
        <p:nvSpPr>
          <p:cNvPr id="5" name="Shape 3"/>
          <p:cNvSpPr/>
          <p:nvPr/>
        </p:nvSpPr>
        <p:spPr>
          <a:xfrm>
            <a:off x="822960" y="3977640"/>
            <a:ext cx="2926080" cy="0"/>
          </a:xfrm>
          <a:prstGeom prst="line">
            <a:avLst/>
          </a:prstGeom>
          <a:noFill/>
          <a:ln w="38100">
            <a:solidFill>
              <a:srgbClr val="0E7C7B"/>
            </a:solidFill>
            <a:prstDash val="solid"/>
          </a:ln>
        </p:spPr>
      </p:sp>
      <p:sp>
        <p:nvSpPr>
          <p:cNvPr id="6" name="Text 4"/>
          <p:cNvSpPr/>
          <p:nvPr/>
        </p:nvSpPr>
        <p:spPr>
          <a:xfrm>
            <a:off x="822960" y="4206240"/>
            <a:ext cx="10545775"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Dành cho cán bộ nhập liệu các khoa và phòng Kế hoạch tổng hợp (KHTH)</a:t>
            </a:r>
            <a:endParaRPr lang="en-US" sz="1600" dirty="0"/>
          </a:p>
        </p:txBody>
      </p:sp>
      <p:sp>
        <p:nvSpPr>
          <p:cNvPr id="7" name="Text 5"/>
          <p:cNvSpPr/>
          <p:nvPr/>
        </p:nvSpPr>
        <p:spPr>
          <a:xfrm>
            <a:off x="822960" y="4800600"/>
            <a:ext cx="10545775" cy="822960"/>
          </a:xfrm>
          <a:prstGeom prst="rect">
            <a:avLst/>
          </a:prstGeom>
          <a:noFill/>
          <a:ln/>
        </p:spPr>
        <p:txBody>
          <a:bodyPr wrap="square" rtlCol="0" anchor="ctr"/>
          <a:lstStyle/>
          <a:p>
            <a:pPr indent="0" marL="0">
              <a:lnSpc>
                <a:spcPts val="1800"/>
              </a:lnSpc>
              <a:buNone/>
            </a:pPr>
            <a:r>
              <a:rPr lang="en-US" sz="1200" dirty="0">
                <a:solidFill>
                  <a:srgbClr val="A9C4DC"/>
                </a:solidFill>
                <a:latin typeface="Arial" pitchFamily="34" charset="0"/>
                <a:ea typeface="Arial" pitchFamily="34" charset="-122"/>
                <a:cs typeface="Arial" pitchFamily="34" charset="-120"/>
              </a:rPr>
              <a:t>Thời lượng: 60–90 phút (khoa: phần 1–2 · KHTH: toàn bộ)</a:t>
            </a:r>
            <a:endParaRPr lang="en-US" sz="1200" dirty="0"/>
          </a:p>
          <a:p>
            <a:pPr indent="0" marL="0">
              <a:lnSpc>
                <a:spcPts val="1800"/>
              </a:lnSpc>
              <a:buNone/>
            </a:pPr>
            <a:r>
              <a:rPr lang="en-US" sz="1200" dirty="0">
                <a:solidFill>
                  <a:srgbClr val="A9C4DC"/>
                </a:solidFill>
                <a:latin typeface="Arial" pitchFamily="34" charset="0"/>
                <a:ea typeface="Arial" pitchFamily="34" charset="-122"/>
                <a:cs typeface="Arial" pitchFamily="34" charset="-120"/>
              </a:rPr>
              <a:t>Menu: Báo cáo giao ban → Báo cáo giao ban / Cấu hình giao ban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TIÊU</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Sau buổi này, anh/chị làm được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Mở đúng màn hình, chọn đúng ngày và hiểu khung giờ 07:00 → 07:00 của số liệu</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Khoa: lấy số liệu từ HIS, kiểm tra, sửa khi cần và điền đủ các ô bắt buộc</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   Đọc được trạng thái từng ô: nút ↺ = đã sửa tay, xám nghiêng = kế thừa chưa xác nhận, viền đỏ = còn thiếu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Hiểu cảnh báo "Lệch cân đối" và tự tìm ra ô sai</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KHTH: rà soát, chốt báo cáo, trình chiếu tại buổi giao ban và xuất tệp PPTX / Excel</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Quản trị: cấp vai trò giao ban, gán khoa cho tài khoản, cấu hình tiêu chí, chức danh trực</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Tự xử lý các thông báo hay gặp trước khi gọi điện hỗ trợ</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VAI TRÒ</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Ai được làm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Vai trò do quản trị hệ thống cấp (Phần 4). Dòng "Chế độ" ngay dưới thanh nút cho biết tài khoản đang ở vai trò nào.</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402412"/>
                <a:gridCol w="3827714"/>
                <a:gridCol w="3827714"/>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Việc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Cán bộ khoa (quyền giaoban)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Quản trị KHTH (quyền giaoban-admin)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Khoa nhìn thấy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các khoa được gán cho mình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Toàn viện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Tạo số liệu từ HIS</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Một lần, khi ngày đó CHƯA có số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Bất cứ lúc nào, bao nhiêu lần cũng được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Sửa số, Ghi chú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Các khoa được gán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Mọi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Kíp trực lãnh đạo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khi có tên trong danh sách "Người được cập nhật kíp trực"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Ghi chú chung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Chốt / Mở khóa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Trình chiếu, Xuất PPTX, Xuất Excel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(nút bị ẩn)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Cấu hình giao ban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9"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Hai nhóm quyền có sẵn: </a:t>
            </a:r>
            <a:pPr indent="0" marL="0">
              <a:lnSpc>
                <a:spcPts val="1900"/>
              </a:lnSpc>
              <a:buNone/>
            </a:pPr>
            <a:r>
              <a:rPr lang="en-US" sz="1300" dirty="0">
                <a:solidFill>
                  <a:srgbClr val="1A1A1A"/>
                </a:solidFill>
                <a:latin typeface="Arial" pitchFamily="34" charset="0"/>
                <a:ea typeface="Arial" pitchFamily="34" charset="-122"/>
                <a:cs typeface="Arial" pitchFamily="34" charset="-120"/>
              </a:rPr>
              <a:t>"Giao ban - Nhập liệu khoa" (giaoban_khoa) và "Giao ban - Quản trị" (giaoban_admin). Tài khoản administrator có sẵn cả hai quyền.</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TOÀN CẢNH</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Một ngày giao ban đi qua bốn bước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Mỗi ngày có đúng MỘT báo cáo. Số liệu mặc định tính từ 07:00 hôm trước đến 07:00 ngày giao ban.</a:t>
            </a:r>
            <a:endParaRPr lang="en-US" sz="1300" dirty="0"/>
          </a:p>
        </p:txBody>
      </p:sp>
      <p:sp>
        <p:nvSpPr>
          <p:cNvPr id="7" name="Shape 5"/>
          <p:cNvSpPr/>
          <p:nvPr/>
        </p:nvSpPr>
        <p:spPr>
          <a:xfrm>
            <a:off x="566928" y="1783080"/>
            <a:ext cx="2558720" cy="1417320"/>
          </a:xfrm>
          <a:prstGeom prst="roundRect">
            <a:avLst>
              <a:gd name="adj" fmla="val 5161"/>
            </a:avLst>
          </a:prstGeom>
          <a:solidFill>
            <a:srgbClr val="0E7C7B"/>
          </a:solidFill>
          <a:ln w="12700">
            <a:solidFill>
              <a:srgbClr val="0E7C7B"/>
            </a:solidFill>
            <a:prstDash val="solid"/>
          </a:ln>
        </p:spPr>
      </p:sp>
      <p:sp>
        <p:nvSpPr>
          <p:cNvPr id="8" name="Text 6"/>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1. Tạo số liệu</a:t>
            </a:r>
            <a:endParaRPr lang="en-US" sz="1400" dirty="0"/>
          </a:p>
        </p:txBody>
      </p:sp>
      <p:sp>
        <p:nvSpPr>
          <p:cNvPr id="9" name="Text 7"/>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Khoa (hoặc KHTH) bấm "Tạo số liệu" — phần mềm đếm tự động từ HIS</a:t>
            </a:r>
            <a:endParaRPr lang="en-US" sz="1100" dirty="0"/>
          </a:p>
        </p:txBody>
      </p:sp>
      <p:sp>
        <p:nvSpPr>
          <p:cNvPr id="10" name="Text 8"/>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3399968" y="1783080"/>
            <a:ext cx="2558720" cy="1417320"/>
          </a:xfrm>
          <a:prstGeom prst="roundRect">
            <a:avLst>
              <a:gd name="adj" fmla="val 5161"/>
            </a:avLst>
          </a:prstGeom>
          <a:solidFill>
            <a:srgbClr val="F2F6FA"/>
          </a:solidFill>
          <a:ln w="12700">
            <a:solidFill>
              <a:srgbClr val="D3DAE3"/>
            </a:solidFill>
            <a:prstDash val="solid"/>
          </a:ln>
        </p:spPr>
      </p:sp>
      <p:sp>
        <p:nvSpPr>
          <p:cNvPr id="12" name="Text 10"/>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2. Khoa rà soát</a:t>
            </a:r>
            <a:endParaRPr lang="en-US" sz="1400" dirty="0"/>
          </a:p>
        </p:txBody>
      </p:sp>
      <p:sp>
        <p:nvSpPr>
          <p:cNvPr id="13" name="Text 11"/>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Kiểm tra số tự động, sửa khi cần, điền ô bắt buộc, ghi chú khoa</a:t>
            </a:r>
            <a:endParaRPr lang="en-US" sz="1100" dirty="0"/>
          </a:p>
        </p:txBody>
      </p:sp>
      <p:sp>
        <p:nvSpPr>
          <p:cNvPr id="14" name="Text 12"/>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6233008" y="1783080"/>
            <a:ext cx="2558720" cy="1417320"/>
          </a:xfrm>
          <a:prstGeom prst="roundRect">
            <a:avLst>
              <a:gd name="adj" fmla="val 5161"/>
            </a:avLst>
          </a:prstGeom>
          <a:solidFill>
            <a:srgbClr val="1F4E79"/>
          </a:solidFill>
          <a:ln w="12700">
            <a:solidFill>
              <a:srgbClr val="1F4E79"/>
            </a:solidFill>
            <a:prstDash val="solid"/>
          </a:ln>
        </p:spPr>
      </p:sp>
      <p:sp>
        <p:nvSpPr>
          <p:cNvPr id="16" name="Text 14"/>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3. KHTH chốt</a:t>
            </a:r>
            <a:endParaRPr lang="en-US" sz="1400" dirty="0"/>
          </a:p>
        </p:txBody>
      </p:sp>
      <p:sp>
        <p:nvSpPr>
          <p:cNvPr id="17" name="Text 15"/>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Xem ô trống, lệch cân đối, viết ghi chú chung, bấm "Chốt báo cáo"</a:t>
            </a:r>
            <a:endParaRPr lang="en-US" sz="1100" dirty="0"/>
          </a:p>
        </p:txBody>
      </p:sp>
      <p:sp>
        <p:nvSpPr>
          <p:cNvPr id="18" name="Text 16"/>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9066047" y="1783080"/>
            <a:ext cx="2558720" cy="1417320"/>
          </a:xfrm>
          <a:prstGeom prst="roundRect">
            <a:avLst>
              <a:gd name="adj" fmla="val 5161"/>
            </a:avLst>
          </a:prstGeom>
          <a:solidFill>
            <a:srgbClr val="F2F6FA"/>
          </a:solidFill>
          <a:ln w="12700">
            <a:solidFill>
              <a:srgbClr val="D3DAE3"/>
            </a:solidFill>
            <a:prstDash val="solid"/>
          </a:ln>
        </p:spPr>
      </p:sp>
      <p:sp>
        <p:nvSpPr>
          <p:cNvPr id="20" name="Text 18"/>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4. Giao ban</a:t>
            </a:r>
            <a:endParaRPr lang="en-US" sz="1400" dirty="0"/>
          </a:p>
        </p:txBody>
      </p:sp>
      <p:sp>
        <p:nvSpPr>
          <p:cNvPr id="21" name="Text 19"/>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Trình chiếu trên màn hình lớn, xuất PPTX / Excel để lưu và gửi</a:t>
            </a:r>
            <a:endParaRPr lang="en-US" sz="1100" dirty="0"/>
          </a:p>
        </p:txBody>
      </p:sp>
      <p:sp>
        <p:nvSpPr>
          <p:cNvPr id="22" name="Text 20"/>
          <p:cNvSpPr/>
          <p:nvPr/>
        </p:nvSpPr>
        <p:spPr>
          <a:xfrm>
            <a:off x="566928" y="3474720"/>
            <a:ext cx="11057839" cy="27706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Số tự động lấy trực tiếp từ HIS: người bệnh cũ, vào, chuyển đến, chuyển khoa, ra viện, hiện có, lượt khám, dịch vụ, công suất giường…</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Số nhập tay chỉ khoa mới biết (ví dụ: số ca nặng, sự cố) — điền trực tiếp trên màn hình.</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Sau khi chốt, KHÔNG ai sửa được nữa cho tới khi KHTH bấm "Mở khóa".</a:t>
            </a:r>
            <a:endParaRPr lang="en-US" sz="1300" dirty="0"/>
          </a:p>
        </p:txBody>
      </p:sp>
      <p:sp>
        <p:nvSpPr>
          <p:cNvPr id="23" name="Text 21"/>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24" name="Text 22"/>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1</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Vào màn hình Báo cáo giao ban</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Menu, chọn ngày, đọc trạng thái báo cáo và các nút chức năng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Mở màn hình và chọn ngày</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643738"/>
          </a:xfrm>
          <a:prstGeom prst="rect">
            <a:avLst/>
          </a:prstGeom>
          <a:solidFill>
            <a:srgbClr val="F2F6FA"/>
          </a:solidFill>
          <a:ln w="12700">
            <a:solidFill>
              <a:srgbClr val="D3DAE3"/>
            </a:solidFill>
            <a:prstDash val="solid"/>
          </a:ln>
        </p:spPr>
      </p:sp>
      <p:sp>
        <p:nvSpPr>
          <p:cNvPr id="7" name="Shape 5"/>
          <p:cNvSpPr/>
          <p:nvPr/>
        </p:nvSpPr>
        <p:spPr>
          <a:xfrm>
            <a:off x="713232" y="1455725"/>
            <a:ext cx="384048" cy="384048"/>
          </a:xfrm>
          <a:prstGeom prst="ellipse">
            <a:avLst/>
          </a:prstGeom>
          <a:solidFill>
            <a:srgbClr val="1F4E79"/>
          </a:solidFill>
          <a:ln/>
        </p:spPr>
      </p:sp>
      <p:sp>
        <p:nvSpPr>
          <p:cNvPr id="8" name="Text 6"/>
          <p:cNvSpPr/>
          <p:nvPr/>
        </p:nvSpPr>
        <p:spPr>
          <a:xfrm>
            <a:off x="713232" y="1455725"/>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Vào menu Báo cáo giao ban → Báo cáo giao ban</a:t>
            </a:r>
            <a:endParaRPr lang="en-US" sz="1400" dirty="0"/>
          </a:p>
        </p:txBody>
      </p:sp>
      <p:sp>
        <p:nvSpPr>
          <p:cNvPr id="10" name="Text 8"/>
          <p:cNvSpPr/>
          <p:nvPr/>
        </p:nvSpPr>
        <p:spPr>
          <a:xfrm>
            <a:off x="7085951" y="1325880"/>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Màn hình mở sẵn ngày hôm nay</a:t>
            </a:r>
            <a:endParaRPr lang="en-US" sz="1200" dirty="0"/>
          </a:p>
        </p:txBody>
      </p:sp>
      <p:sp>
        <p:nvSpPr>
          <p:cNvPr id="11" name="Shape 9"/>
          <p:cNvSpPr/>
          <p:nvPr/>
        </p:nvSpPr>
        <p:spPr>
          <a:xfrm>
            <a:off x="566928" y="2079346"/>
            <a:ext cx="11057839" cy="643738"/>
          </a:xfrm>
          <a:prstGeom prst="rect">
            <a:avLst/>
          </a:prstGeom>
          <a:solidFill>
            <a:srgbClr val="FFFFFF"/>
          </a:solidFill>
          <a:ln w="12700">
            <a:solidFill>
              <a:srgbClr val="D3DAE3"/>
            </a:solidFill>
            <a:prstDash val="solid"/>
          </a:ln>
        </p:spPr>
      </p:sp>
      <p:sp>
        <p:nvSpPr>
          <p:cNvPr id="12" name="Shape 10"/>
          <p:cNvSpPr/>
          <p:nvPr/>
        </p:nvSpPr>
        <p:spPr>
          <a:xfrm>
            <a:off x="713232" y="2209190"/>
            <a:ext cx="384048" cy="384048"/>
          </a:xfrm>
          <a:prstGeom prst="ellipse">
            <a:avLst/>
          </a:prstGeom>
          <a:solidFill>
            <a:srgbClr val="1F4E79"/>
          </a:solidFill>
          <a:ln/>
        </p:spPr>
      </p:sp>
      <p:sp>
        <p:nvSpPr>
          <p:cNvPr id="13" name="Text 11"/>
          <p:cNvSpPr/>
          <p:nvPr/>
        </p:nvSpPr>
        <p:spPr>
          <a:xfrm>
            <a:off x="713232" y="22091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2079346"/>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Chọn "Ngày giao ban" nếu cần xem ngày khác</a:t>
            </a:r>
            <a:endParaRPr lang="en-US" sz="1400" dirty="0"/>
          </a:p>
        </p:txBody>
      </p:sp>
      <p:sp>
        <p:nvSpPr>
          <p:cNvPr id="15" name="Text 13"/>
          <p:cNvSpPr/>
          <p:nvPr/>
        </p:nvSpPr>
        <p:spPr>
          <a:xfrm>
            <a:off x="7085951" y="2079346"/>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Báo cáo tự tải lại theo ngày vừa chọn</a:t>
            </a:r>
            <a:endParaRPr lang="en-US" sz="1200" dirty="0"/>
          </a:p>
        </p:txBody>
      </p:sp>
      <p:sp>
        <p:nvSpPr>
          <p:cNvPr id="16" name="Shape 14"/>
          <p:cNvSpPr/>
          <p:nvPr/>
        </p:nvSpPr>
        <p:spPr>
          <a:xfrm>
            <a:off x="566928" y="2832811"/>
            <a:ext cx="11057839" cy="643738"/>
          </a:xfrm>
          <a:prstGeom prst="rect">
            <a:avLst/>
          </a:prstGeom>
          <a:solidFill>
            <a:srgbClr val="F2F6FA"/>
          </a:solidFill>
          <a:ln w="12700">
            <a:solidFill>
              <a:srgbClr val="D3DAE3"/>
            </a:solidFill>
            <a:prstDash val="solid"/>
          </a:ln>
        </p:spPr>
      </p:sp>
      <p:sp>
        <p:nvSpPr>
          <p:cNvPr id="17" name="Shape 15"/>
          <p:cNvSpPr/>
          <p:nvPr/>
        </p:nvSpPr>
        <p:spPr>
          <a:xfrm>
            <a:off x="713232" y="2962656"/>
            <a:ext cx="384048" cy="384048"/>
          </a:xfrm>
          <a:prstGeom prst="ellipse">
            <a:avLst/>
          </a:prstGeom>
          <a:solidFill>
            <a:srgbClr val="1F4E79"/>
          </a:solidFill>
          <a:ln/>
        </p:spPr>
      </p:sp>
      <p:sp>
        <p:nvSpPr>
          <p:cNvPr id="18" name="Text 16"/>
          <p:cNvSpPr/>
          <p:nvPr/>
        </p:nvSpPr>
        <p:spPr>
          <a:xfrm>
            <a:off x="713232" y="296265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2832811"/>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Đọc chữ nhỏ cạnh tiêu đề</a:t>
            </a:r>
            <a:endParaRPr lang="en-US" sz="1400" dirty="0"/>
          </a:p>
        </p:txBody>
      </p:sp>
      <p:sp>
        <p:nvSpPr>
          <p:cNvPr id="20" name="Text 18"/>
          <p:cNvSpPr/>
          <p:nvPr/>
        </p:nvSpPr>
        <p:spPr>
          <a:xfrm>
            <a:off x="7085951" y="2832811"/>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"(nháp, số liệu … → …)", "(ĐÃ CHỐT)" hoặc "(chưa có dữ liệu — bấm Lấy số liệu)"</a:t>
            </a:r>
            <a:endParaRPr lang="en-US" sz="1200" dirty="0"/>
          </a:p>
        </p:txBody>
      </p:sp>
      <p:sp>
        <p:nvSpPr>
          <p:cNvPr id="21" name="Shape 19"/>
          <p:cNvSpPr/>
          <p:nvPr/>
        </p:nvSpPr>
        <p:spPr>
          <a:xfrm>
            <a:off x="566928" y="3586277"/>
            <a:ext cx="11057839" cy="643738"/>
          </a:xfrm>
          <a:prstGeom prst="rect">
            <a:avLst/>
          </a:prstGeom>
          <a:solidFill>
            <a:srgbClr val="FFFFFF"/>
          </a:solidFill>
          <a:ln w="12700">
            <a:solidFill>
              <a:srgbClr val="D3DAE3"/>
            </a:solidFill>
            <a:prstDash val="solid"/>
          </a:ln>
        </p:spPr>
      </p:sp>
      <p:sp>
        <p:nvSpPr>
          <p:cNvPr id="22" name="Shape 20"/>
          <p:cNvSpPr/>
          <p:nvPr/>
        </p:nvSpPr>
        <p:spPr>
          <a:xfrm>
            <a:off x="713232" y="3716122"/>
            <a:ext cx="384048" cy="384048"/>
          </a:xfrm>
          <a:prstGeom prst="ellipse">
            <a:avLst/>
          </a:prstGeom>
          <a:solidFill>
            <a:srgbClr val="1F4E79"/>
          </a:solidFill>
          <a:ln/>
        </p:spPr>
      </p:sp>
      <p:sp>
        <p:nvSpPr>
          <p:cNvPr id="23" name="Text 21"/>
          <p:cNvSpPr/>
          <p:nvPr/>
        </p:nvSpPr>
        <p:spPr>
          <a:xfrm>
            <a:off x="713232" y="371612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3586277"/>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Đọc dòng "Chế độ" dưới thanh nút</a:t>
            </a:r>
            <a:endParaRPr lang="en-US" sz="1400" dirty="0"/>
          </a:p>
        </p:txBody>
      </p:sp>
      <p:sp>
        <p:nvSpPr>
          <p:cNvPr id="25" name="Text 23"/>
          <p:cNvSpPr/>
          <p:nvPr/>
        </p:nvSpPr>
        <p:spPr>
          <a:xfrm>
            <a:off x="7085951" y="3586277"/>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"Quản trị — xem toàn viện" hoặc "Khoa — phân công N khoa, đang hiện M: …"</a:t>
            </a:r>
            <a:endParaRPr lang="en-US" sz="1200" dirty="0"/>
          </a:p>
        </p:txBody>
      </p:sp>
      <p:sp>
        <p:nvSpPr>
          <p:cNvPr id="26" name="Shape 24"/>
          <p:cNvSpPr/>
          <p:nvPr/>
        </p:nvSpPr>
        <p:spPr>
          <a:xfrm>
            <a:off x="566928" y="4339742"/>
            <a:ext cx="11057839" cy="643738"/>
          </a:xfrm>
          <a:prstGeom prst="rect">
            <a:avLst/>
          </a:prstGeom>
          <a:solidFill>
            <a:srgbClr val="F2F6FA"/>
          </a:solidFill>
          <a:ln w="12700">
            <a:solidFill>
              <a:srgbClr val="D3DAE3"/>
            </a:solidFill>
            <a:prstDash val="solid"/>
          </a:ln>
        </p:spPr>
      </p:sp>
      <p:sp>
        <p:nvSpPr>
          <p:cNvPr id="27" name="Shape 25"/>
          <p:cNvSpPr/>
          <p:nvPr/>
        </p:nvSpPr>
        <p:spPr>
          <a:xfrm>
            <a:off x="713232" y="4469587"/>
            <a:ext cx="384048" cy="384048"/>
          </a:xfrm>
          <a:prstGeom prst="ellipse">
            <a:avLst/>
          </a:prstGeom>
          <a:solidFill>
            <a:srgbClr val="1F4E79"/>
          </a:solidFill>
          <a:ln/>
        </p:spPr>
      </p:sp>
      <p:sp>
        <p:nvSpPr>
          <p:cNvPr id="28" name="Text 26"/>
          <p:cNvSpPr/>
          <p:nvPr/>
        </p:nvSpPr>
        <p:spPr>
          <a:xfrm>
            <a:off x="713232" y="4469587"/>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1225296" y="4339742"/>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Nếu thấy "Bạn chưa được phân công khoa nào"</a:t>
            </a:r>
            <a:endParaRPr lang="en-US" sz="1400" dirty="0"/>
          </a:p>
        </p:txBody>
      </p:sp>
      <p:sp>
        <p:nvSpPr>
          <p:cNvPr id="30" name="Text 28"/>
          <p:cNvSpPr/>
          <p:nvPr/>
        </p:nvSpPr>
        <p:spPr>
          <a:xfrm>
            <a:off x="7085951" y="4339742"/>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Tài khoản chưa được gán khoa — liên hệ phòng KHTH</a:t>
            </a:r>
            <a:endParaRPr lang="en-US" sz="1200" dirty="0"/>
          </a:p>
        </p:txBody>
      </p:sp>
      <p:sp>
        <p:nvSpPr>
          <p:cNvPr id="31" name="Shape 29"/>
          <p:cNvSpPr/>
          <p:nvPr/>
        </p:nvSpPr>
        <p:spPr>
          <a:xfrm>
            <a:off x="566928" y="5074920"/>
            <a:ext cx="11057839" cy="1051560"/>
          </a:xfrm>
          <a:prstGeom prst="rect">
            <a:avLst/>
          </a:prstGeom>
          <a:solidFill>
            <a:srgbClr val="FFF6E5"/>
          </a:solidFill>
          <a:ln w="12700">
            <a:solidFill>
              <a:srgbClr val="FFF6E5"/>
            </a:solidFill>
            <a:prstDash val="solid"/>
          </a:ln>
        </p:spPr>
      </p:sp>
      <p:sp>
        <p:nvSpPr>
          <p:cNvPr id="32" name="Shape 30"/>
          <p:cNvSpPr/>
          <p:nvPr/>
        </p:nvSpPr>
        <p:spPr>
          <a:xfrm>
            <a:off x="566928" y="5074920"/>
            <a:ext cx="64008" cy="1051560"/>
          </a:xfrm>
          <a:prstGeom prst="rect">
            <a:avLst/>
          </a:prstGeom>
          <a:solidFill>
            <a:srgbClr val="B26A00"/>
          </a:solidFill>
          <a:ln w="12700">
            <a:solidFill>
              <a:srgbClr val="B26A00"/>
            </a:solidFill>
            <a:prstDash val="solid"/>
          </a:ln>
        </p:spPr>
      </p:sp>
      <p:sp>
        <p:nvSpPr>
          <p:cNvPr id="33" name="Text 31"/>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Mẹo: </a:t>
            </a:r>
            <a:pPr indent="0" marL="0">
              <a:lnSpc>
                <a:spcPts val="1900"/>
              </a:lnSpc>
              <a:buNone/>
            </a:pPr>
            <a:r>
              <a:rPr lang="en-US" sz="1300" dirty="0">
                <a:solidFill>
                  <a:srgbClr val="1A1A1A"/>
                </a:solidFill>
                <a:latin typeface="Arial" pitchFamily="34" charset="0"/>
                <a:ea typeface="Arial" pitchFamily="34" charset="-122"/>
                <a:cs typeface="Arial" pitchFamily="34" charset="-120"/>
              </a:rPr>
              <a:t>Nếu dòng Chế độ ghi "phân công 3 khoa, đang hiện 2" thì một khoa đã bị tắt trong cấu hình. Báo KHTH, không phải lỗi máy của anh/chị.</a:t>
            </a:r>
            <a:endParaRPr lang="en-US" sz="1300" dirty="0"/>
          </a:p>
        </p:txBody>
      </p:sp>
      <p:sp>
        <p:nvSpPr>
          <p:cNvPr id="34" name="Text 3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5" name="Text 3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Bố cục màn hình Báo cáo giao ban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7a-bao-cao-giao-ban.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Tiêu đề kèm trạng thái: "(nháp, số liệu … → …)"</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Hàng trên: Ngày giao ban · Từ thời điểm · Đến thời điểm</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Thanh nút: Làm mới · Trình chiếu · Tạo số liệu · Chốt báo cáo · Xuất Excel (tài khoản khoa chỉ thấy Làm mới, Tạo số liệu)</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Dòng "Số liệu đã lấy lúc …" và dòng "Chế độ"</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Mỗi khoa một khung: ô số, ô chữ, Ghi chú khoa</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nút trên màn hình</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2126508"/>
                <a:gridCol w="2126508"/>
                <a:gridCol w="6804824"/>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Nút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Ai thấy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Tác dụng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Làm 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Mọi người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Tải lại số liệu đang lưu (hiện "Đang tải..."). KHÔNG lấy lại từ HIS</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Tạo số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Người đang được phép lấy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Đếm lại số tự động từ HIS theo khung giờ. Số nhập tay được giữ nguyên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Trình chiếu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KHTH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Mở màn trình chiếu của ngày đang chọn trong một tab 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Chốt báo cáo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KHTH, khi còn nháp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Hỏi xác nhận rồi khoá báo cáo — không ai sửa được nữa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Mở khóa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KHTH, khi đã chốt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Mở lại để sửa. Bấm là mở ngay, không hỏi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Xuất Excel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KHTH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Tải tệp bao-cao-giao-ban-YYYY-MM-DD.xlsx (thêm "-nhap" nếu chưa chốt)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Phân biệt: </a:t>
            </a:r>
            <a:pPr indent="0" marL="0">
              <a:lnSpc>
                <a:spcPts val="1900"/>
              </a:lnSpc>
              <a:buNone/>
            </a:pPr>
            <a:r>
              <a:rPr lang="en-US" sz="1300" dirty="0">
                <a:solidFill>
                  <a:srgbClr val="1A1A1A"/>
                </a:solidFill>
                <a:latin typeface="Arial" pitchFamily="34" charset="0"/>
                <a:ea typeface="Arial" pitchFamily="34" charset="-122"/>
                <a:cs typeface="Arial" pitchFamily="34" charset="-120"/>
              </a:rPr>
              <a:t>"Làm mới" chỉ đọc lại những gì đã lưu. Muốn đếm lại từ HIS phải bấm "Tạo số liệu" — với tài khoản khoa, nút này tự ẩn khi ngày đó đã có số liệu.</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2</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Khoa nhập và kiểm tra số liệu</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Tạo số liệu, đọc màu ô, sửa số, ghi chú khoa, cân đối người bệnh, kíp trực</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Tạo số liệu lần đầu trong ngày</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Làm sau 07:00 sáng ngày giao ban, khi ca trực đã kết thúc.</a:t>
            </a:r>
            <a:endParaRPr lang="en-US" sz="1300" dirty="0"/>
          </a:p>
        </p:txBody>
      </p:sp>
      <p:sp>
        <p:nvSpPr>
          <p:cNvPr id="7" name="Shape 5"/>
          <p:cNvSpPr/>
          <p:nvPr/>
        </p:nvSpPr>
        <p:spPr>
          <a:xfrm>
            <a:off x="566928" y="1709928"/>
            <a:ext cx="11057839" cy="566928"/>
          </a:xfrm>
          <a:prstGeom prst="rect">
            <a:avLst/>
          </a:prstGeom>
          <a:solidFill>
            <a:srgbClr val="F2F6FA"/>
          </a:solidFill>
          <a:ln w="12700">
            <a:solidFill>
              <a:srgbClr val="D3DAE3"/>
            </a:solidFill>
            <a:prstDash val="solid"/>
          </a:ln>
        </p:spPr>
      </p:sp>
      <p:sp>
        <p:nvSpPr>
          <p:cNvPr id="8" name="Shape 6"/>
          <p:cNvSpPr/>
          <p:nvPr/>
        </p:nvSpPr>
        <p:spPr>
          <a:xfrm>
            <a:off x="713232" y="1801368"/>
            <a:ext cx="384048" cy="384048"/>
          </a:xfrm>
          <a:prstGeom prst="ellipse">
            <a:avLst/>
          </a:prstGeom>
          <a:solidFill>
            <a:srgbClr val="1F4E79"/>
          </a:solidFill>
          <a:ln/>
        </p:spPr>
      </p:sp>
      <p:sp>
        <p:nvSpPr>
          <p:cNvPr id="9" name="Text 7"/>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Chọn đúng "Ngày giao ban"</a:t>
            </a:r>
            <a:endParaRPr lang="en-US" sz="1400" dirty="0"/>
          </a:p>
        </p:txBody>
      </p:sp>
      <p:sp>
        <p:nvSpPr>
          <p:cNvPr id="11" name="Text 9"/>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Tiêu đề ghi "(chưa có dữ liệu — bấm Lấy số liệu)"</a:t>
            </a:r>
            <a:endParaRPr lang="en-US" sz="1200" dirty="0"/>
          </a:p>
        </p:txBody>
      </p:sp>
      <p:sp>
        <p:nvSpPr>
          <p:cNvPr id="12" name="Shape 10"/>
          <p:cNvSpPr/>
          <p:nvPr/>
        </p:nvSpPr>
        <p:spPr>
          <a:xfrm>
            <a:off x="566928" y="2386584"/>
            <a:ext cx="11057839" cy="566928"/>
          </a:xfrm>
          <a:prstGeom prst="rect">
            <a:avLst/>
          </a:prstGeom>
          <a:solidFill>
            <a:srgbClr val="FFFFFF"/>
          </a:solidFill>
          <a:ln w="12700">
            <a:solidFill>
              <a:srgbClr val="D3DAE3"/>
            </a:solidFill>
            <a:prstDash val="solid"/>
          </a:ln>
        </p:spPr>
      </p:sp>
      <p:sp>
        <p:nvSpPr>
          <p:cNvPr id="13" name="Shape 11"/>
          <p:cNvSpPr/>
          <p:nvPr/>
        </p:nvSpPr>
        <p:spPr>
          <a:xfrm>
            <a:off x="713232" y="2478024"/>
            <a:ext cx="384048" cy="384048"/>
          </a:xfrm>
          <a:prstGeom prst="ellipse">
            <a:avLst/>
          </a:prstGeom>
          <a:solidFill>
            <a:srgbClr val="1F4E79"/>
          </a:solidFill>
          <a:ln/>
        </p:spPr>
      </p:sp>
      <p:sp>
        <p:nvSpPr>
          <p:cNvPr id="14" name="Text 12"/>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Kiểm tra "Từ thời điểm" / "Đến thời điểm"</a:t>
            </a:r>
            <a:endParaRPr lang="en-US" sz="1400" dirty="0"/>
          </a:p>
        </p:txBody>
      </p:sp>
      <p:sp>
        <p:nvSpPr>
          <p:cNvPr id="16" name="Text 14"/>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Mặc định 07:00 hôm trước → 07:00 hôm nay. Chỉ đổi khi có chỉ đạo</a:t>
            </a:r>
            <a:endParaRPr lang="en-US" sz="1200" dirty="0"/>
          </a:p>
        </p:txBody>
      </p:sp>
      <p:sp>
        <p:nvSpPr>
          <p:cNvPr id="17" name="Shape 15"/>
          <p:cNvSpPr/>
          <p:nvPr/>
        </p:nvSpPr>
        <p:spPr>
          <a:xfrm>
            <a:off x="566928" y="3063240"/>
            <a:ext cx="11057839" cy="566928"/>
          </a:xfrm>
          <a:prstGeom prst="rect">
            <a:avLst/>
          </a:prstGeom>
          <a:solidFill>
            <a:srgbClr val="F2F6FA"/>
          </a:solidFill>
          <a:ln w="12700">
            <a:solidFill>
              <a:srgbClr val="D3DAE3"/>
            </a:solidFill>
            <a:prstDash val="solid"/>
          </a:ln>
        </p:spPr>
      </p:sp>
      <p:sp>
        <p:nvSpPr>
          <p:cNvPr id="18" name="Shape 16"/>
          <p:cNvSpPr/>
          <p:nvPr/>
        </p:nvSpPr>
        <p:spPr>
          <a:xfrm>
            <a:off x="713232" y="3154680"/>
            <a:ext cx="384048" cy="384048"/>
          </a:xfrm>
          <a:prstGeom prst="ellipse">
            <a:avLst/>
          </a:prstGeom>
          <a:solidFill>
            <a:srgbClr val="1F4E79"/>
          </a:solidFill>
          <a:ln/>
        </p:spPr>
      </p:sp>
      <p:sp>
        <p:nvSpPr>
          <p:cNvPr id="19" name="Text 17"/>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"Tạo số liệu"</a:t>
            </a:r>
            <a:endParaRPr lang="en-US" sz="1400" dirty="0"/>
          </a:p>
        </p:txBody>
      </p:sp>
      <p:sp>
        <p:nvSpPr>
          <p:cNvPr id="21" name="Text 19"/>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Hiện "Đang lấy số liệu...", chờ tới khi các khung khoa hiện số</a:t>
            </a:r>
            <a:endParaRPr lang="en-US" sz="1200" dirty="0"/>
          </a:p>
        </p:txBody>
      </p:sp>
      <p:sp>
        <p:nvSpPr>
          <p:cNvPr id="22" name="Shape 20"/>
          <p:cNvSpPr/>
          <p:nvPr/>
        </p:nvSpPr>
        <p:spPr>
          <a:xfrm>
            <a:off x="566928" y="3739896"/>
            <a:ext cx="11057839" cy="566928"/>
          </a:xfrm>
          <a:prstGeom prst="rect">
            <a:avLst/>
          </a:prstGeom>
          <a:solidFill>
            <a:srgbClr val="FFFFFF"/>
          </a:solidFill>
          <a:ln w="12700">
            <a:solidFill>
              <a:srgbClr val="D3DAE3"/>
            </a:solidFill>
            <a:prstDash val="solid"/>
          </a:ln>
        </p:spPr>
      </p:sp>
      <p:sp>
        <p:nvSpPr>
          <p:cNvPr id="23" name="Shape 21"/>
          <p:cNvSpPr/>
          <p:nvPr/>
        </p:nvSpPr>
        <p:spPr>
          <a:xfrm>
            <a:off x="713232" y="3831336"/>
            <a:ext cx="384048" cy="384048"/>
          </a:xfrm>
          <a:prstGeom prst="ellipse">
            <a:avLst/>
          </a:prstGeom>
          <a:solidFill>
            <a:srgbClr val="1F4E79"/>
          </a:solidFill>
          <a:ln/>
        </p:spPr>
      </p:sp>
      <p:sp>
        <p:nvSpPr>
          <p:cNvPr id="24" name="Text 22"/>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Đọc dòng "Số liệu đã lấy lúc …"</a:t>
            </a:r>
            <a:endParaRPr lang="en-US" sz="1400" dirty="0"/>
          </a:p>
        </p:txBody>
      </p:sp>
      <p:sp>
        <p:nvSpPr>
          <p:cNvPr id="26" name="Text 24"/>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Từ giờ nút Tạo số liệu biến mất với tài khoản khoa</a:t>
            </a:r>
            <a:endParaRPr lang="en-US" sz="1200" dirty="0"/>
          </a:p>
        </p:txBody>
      </p:sp>
      <p:sp>
        <p:nvSpPr>
          <p:cNvPr id="27" name="Shape 25"/>
          <p:cNvSpPr/>
          <p:nvPr/>
        </p:nvSpPr>
        <p:spPr>
          <a:xfrm>
            <a:off x="566928" y="4416552"/>
            <a:ext cx="11057839" cy="566928"/>
          </a:xfrm>
          <a:prstGeom prst="rect">
            <a:avLst/>
          </a:prstGeom>
          <a:solidFill>
            <a:srgbClr val="F2F6FA"/>
          </a:solidFill>
          <a:ln w="12700">
            <a:solidFill>
              <a:srgbClr val="D3DAE3"/>
            </a:solidFill>
            <a:prstDash val="solid"/>
          </a:ln>
        </p:spPr>
      </p:sp>
      <p:sp>
        <p:nvSpPr>
          <p:cNvPr id="28" name="Shape 26"/>
          <p:cNvSpPr/>
          <p:nvPr/>
        </p:nvSpPr>
        <p:spPr>
          <a:xfrm>
            <a:off x="713232" y="4507992"/>
            <a:ext cx="384048" cy="384048"/>
          </a:xfrm>
          <a:prstGeom prst="ellipse">
            <a:avLst/>
          </a:prstGeom>
          <a:solidFill>
            <a:srgbClr val="1F4E79"/>
          </a:solidFill>
          <a:ln/>
        </p:spPr>
      </p:sp>
      <p:sp>
        <p:nvSpPr>
          <p:cNvPr id="29" name="Text 27"/>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Rà từng khung khoa, sửa và bổ sung (các slide sau)</a:t>
            </a:r>
            <a:endParaRPr lang="en-US" sz="1400" dirty="0"/>
          </a:p>
        </p:txBody>
      </p:sp>
      <p:sp>
        <p:nvSpPr>
          <p:cNvPr id="31" name="Text 29"/>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Mỗi ô tự lưu ngay khi rời khỏi ô</a:t>
            </a:r>
            <a:endParaRPr lang="en-US" sz="1200" dirty="0"/>
          </a:p>
        </p:txBody>
      </p:sp>
      <p:sp>
        <p:nvSpPr>
          <p:cNvPr id="32" name="Shape 30"/>
          <p:cNvSpPr/>
          <p:nvPr/>
        </p:nvSpPr>
        <p:spPr>
          <a:xfrm>
            <a:off x="566928" y="5074920"/>
            <a:ext cx="11057839" cy="1051560"/>
          </a:xfrm>
          <a:prstGeom prst="rect">
            <a:avLst/>
          </a:prstGeom>
          <a:solidFill>
            <a:srgbClr val="FDECEC"/>
          </a:solidFill>
          <a:ln w="12700">
            <a:solidFill>
              <a:srgbClr val="FDECEC"/>
            </a:solidFill>
            <a:prstDash val="solid"/>
          </a:ln>
        </p:spPr>
      </p:sp>
      <p:sp>
        <p:nvSpPr>
          <p:cNvPr id="33" name="Shape 31"/>
          <p:cNvSpPr/>
          <p:nvPr/>
        </p:nvSpPr>
        <p:spPr>
          <a:xfrm>
            <a:off x="566928" y="5074920"/>
            <a:ext cx="64008" cy="1051560"/>
          </a:xfrm>
          <a:prstGeom prst="rect">
            <a:avLst/>
          </a:prstGeom>
          <a:solidFill>
            <a:srgbClr val="C62828"/>
          </a:solidFill>
          <a:ln w="12700">
            <a:solidFill>
              <a:srgbClr val="C62828"/>
            </a:solidFill>
            <a:prstDash val="solid"/>
          </a:ln>
        </p:spPr>
      </p:sp>
      <p:sp>
        <p:nvSpPr>
          <p:cNvPr id="34" name="Text 3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Chỉ được một lần: </a:t>
            </a:r>
            <a:pPr indent="0" marL="0">
              <a:lnSpc>
                <a:spcPts val="1900"/>
              </a:lnSpc>
              <a:buNone/>
            </a:pPr>
            <a:r>
              <a:rPr lang="en-US" sz="1300" dirty="0">
                <a:solidFill>
                  <a:srgbClr val="1A1A1A"/>
                </a:solidFill>
                <a:latin typeface="Arial" pitchFamily="34" charset="0"/>
                <a:ea typeface="Arial" pitchFamily="34" charset="-122"/>
                <a:cs typeface="Arial" pitchFamily="34" charset="-120"/>
              </a:rPr>
              <a:t>Tài khoản khoa chỉ tạo số liệu được khi ngày đó chưa từng có số liệu. Cần lấy lại thì phần mềm báo "Báo cáo ngày này đã có số liệu. Cần lấy lại thì liên hệ phòng KHTH."</a:t>
            </a:r>
            <a:endParaRPr lang="en-US" sz="1300" dirty="0"/>
          </a:p>
        </p:txBody>
      </p:sp>
      <p:sp>
        <p:nvSpPr>
          <p:cNvPr id="35" name="Text 3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6" name="Text 3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Đọc trạng thái của ô số liệu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68680"/>
          </a:xfrm>
          <a:prstGeom prst="rect">
            <a:avLst/>
          </a:prstGeom>
          <a:solidFill>
            <a:srgbClr val="F2F6FA"/>
          </a:solidFill>
          <a:ln w="12700">
            <a:solidFill>
              <a:srgbClr val="D3DAE3"/>
            </a:solidFill>
            <a:prstDash val="solid"/>
          </a:ln>
        </p:spPr>
      </p:sp>
      <p:sp>
        <p:nvSpPr>
          <p:cNvPr id="7" name="Shape 5"/>
          <p:cNvSpPr/>
          <p:nvPr/>
        </p:nvSpPr>
        <p:spPr>
          <a:xfrm>
            <a:off x="795528" y="1531620"/>
            <a:ext cx="1371600" cy="457200"/>
          </a:xfrm>
          <a:prstGeom prst="rect">
            <a:avLst/>
          </a:prstGeom>
          <a:solidFill>
            <a:srgbClr val="FFFFFF"/>
          </a:solidFill>
          <a:ln w="12700">
            <a:solidFill>
              <a:srgbClr val="D3DAE3"/>
            </a:solidFill>
            <a:prstDash val="solid"/>
          </a:ln>
        </p:spPr>
      </p:sp>
      <p:sp>
        <p:nvSpPr>
          <p:cNvPr id="8" name="Text 6"/>
          <p:cNvSpPr/>
          <p:nvPr/>
        </p:nvSpPr>
        <p:spPr>
          <a:xfrm>
            <a:off x="795528" y="1531620"/>
            <a:ext cx="1371600" cy="45720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12</a:t>
            </a:r>
            <a:endParaRPr lang="en-US" sz="1600" dirty="0"/>
          </a:p>
        </p:txBody>
      </p:sp>
      <p:sp>
        <p:nvSpPr>
          <p:cNvPr id="9" name="Text 7"/>
          <p:cNvSpPr/>
          <p:nvPr/>
        </p:nvSpPr>
        <p:spPr>
          <a:xfrm>
            <a:off x="2441448" y="1325880"/>
            <a:ext cx="3108960" cy="868680"/>
          </a:xfrm>
          <a:prstGeom prst="rect">
            <a:avLst/>
          </a:prstGeom>
          <a:noFill/>
          <a:ln/>
        </p:spPr>
        <p:txBody>
          <a:bodyPr wrap="square" rtlCol="0" anchor="ctr"/>
          <a:lstStyle/>
          <a:p>
            <a:pPr indent="0" marL="0">
              <a:lnSpc>
                <a:spcPts val="1800"/>
              </a:lnSpc>
              <a:buNone/>
            </a:pPr>
            <a:r>
              <a:rPr lang="en-US" sz="1400" b="1" dirty="0">
                <a:solidFill>
                  <a:srgbClr val="1F4E79"/>
                </a:solidFill>
                <a:latin typeface="Arial" pitchFamily="34" charset="0"/>
                <a:ea typeface="Arial" pitchFamily="34" charset="-122"/>
                <a:cs typeface="Arial" pitchFamily="34" charset="-120"/>
              </a:rPr>
              <a:t>Nền trắng</a:t>
            </a:r>
            <a:endParaRPr lang="en-US" sz="1400" dirty="0"/>
          </a:p>
        </p:txBody>
      </p:sp>
      <p:sp>
        <p:nvSpPr>
          <p:cNvPr id="10" name="Text 8"/>
          <p:cNvSpPr/>
          <p:nvPr/>
        </p:nvSpPr>
        <p:spPr>
          <a:xfrm>
            <a:off x="5641848" y="1325880"/>
            <a:ext cx="5800039" cy="868680"/>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Số tự động lấy từ HIS, chưa ai sửa. Hoặc số nhập tay khoa đã điền.</a:t>
            </a:r>
            <a:endParaRPr lang="en-US" sz="1250" dirty="0"/>
          </a:p>
        </p:txBody>
      </p:sp>
      <p:sp>
        <p:nvSpPr>
          <p:cNvPr id="11" name="Shape 9"/>
          <p:cNvSpPr/>
          <p:nvPr/>
        </p:nvSpPr>
        <p:spPr>
          <a:xfrm>
            <a:off x="566928" y="2322576"/>
            <a:ext cx="11057839" cy="868680"/>
          </a:xfrm>
          <a:prstGeom prst="rect">
            <a:avLst/>
          </a:prstGeom>
          <a:solidFill>
            <a:srgbClr val="FFFFFF"/>
          </a:solidFill>
          <a:ln w="12700">
            <a:solidFill>
              <a:srgbClr val="D3DAE3"/>
            </a:solidFill>
            <a:prstDash val="solid"/>
          </a:ln>
        </p:spPr>
      </p:sp>
      <p:sp>
        <p:nvSpPr>
          <p:cNvPr id="12" name="Shape 10"/>
          <p:cNvSpPr/>
          <p:nvPr/>
        </p:nvSpPr>
        <p:spPr>
          <a:xfrm>
            <a:off x="795528" y="2528316"/>
            <a:ext cx="1371600" cy="457200"/>
          </a:xfrm>
          <a:prstGeom prst="rect">
            <a:avLst/>
          </a:prstGeom>
          <a:solidFill>
            <a:srgbClr val="FFFFFF"/>
          </a:solidFill>
          <a:ln w="12700">
            <a:solidFill>
              <a:srgbClr val="D3DAE3"/>
            </a:solidFill>
            <a:prstDash val="solid"/>
          </a:ln>
        </p:spPr>
      </p:sp>
      <p:sp>
        <p:nvSpPr>
          <p:cNvPr id="13" name="Shape 11"/>
          <p:cNvSpPr/>
          <p:nvPr/>
        </p:nvSpPr>
        <p:spPr>
          <a:xfrm>
            <a:off x="1755648" y="2528316"/>
            <a:ext cx="411480" cy="457200"/>
          </a:xfrm>
          <a:prstGeom prst="rect">
            <a:avLst/>
          </a:prstGeom>
          <a:solidFill>
            <a:srgbClr val="F4F4F4"/>
          </a:solidFill>
          <a:ln w="12700">
            <a:solidFill>
              <a:srgbClr val="D3DAE3"/>
            </a:solidFill>
            <a:prstDash val="solid"/>
          </a:ln>
        </p:spPr>
      </p:sp>
      <p:sp>
        <p:nvSpPr>
          <p:cNvPr id="14" name="Text 12"/>
          <p:cNvSpPr/>
          <p:nvPr/>
        </p:nvSpPr>
        <p:spPr>
          <a:xfrm>
            <a:off x="1755648" y="2528316"/>
            <a:ext cx="41148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a:t>
            </a:r>
            <a:endParaRPr lang="en-US" sz="1600" dirty="0"/>
          </a:p>
        </p:txBody>
      </p:sp>
      <p:sp>
        <p:nvSpPr>
          <p:cNvPr id="15" name="Text 13"/>
          <p:cNvSpPr/>
          <p:nvPr/>
        </p:nvSpPr>
        <p:spPr>
          <a:xfrm>
            <a:off x="795528" y="2528316"/>
            <a:ext cx="960120" cy="45720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14</a:t>
            </a:r>
            <a:endParaRPr lang="en-US" sz="1600" dirty="0"/>
          </a:p>
        </p:txBody>
      </p:sp>
      <p:sp>
        <p:nvSpPr>
          <p:cNvPr id="16" name="Text 14"/>
          <p:cNvSpPr/>
          <p:nvPr/>
        </p:nvSpPr>
        <p:spPr>
          <a:xfrm>
            <a:off x="2441448" y="2322576"/>
            <a:ext cx="3108960" cy="868680"/>
          </a:xfrm>
          <a:prstGeom prst="rect">
            <a:avLst/>
          </a:prstGeom>
          <a:noFill/>
          <a:ln/>
        </p:spPr>
        <p:txBody>
          <a:bodyPr wrap="square" rtlCol="0" anchor="ctr"/>
          <a:lstStyle/>
          <a:p>
            <a:pPr indent="0" marL="0">
              <a:lnSpc>
                <a:spcPts val="1800"/>
              </a:lnSpc>
              <a:buNone/>
            </a:pPr>
            <a:r>
              <a:rPr lang="en-US" sz="1400" b="1" dirty="0">
                <a:solidFill>
                  <a:srgbClr val="1F4E79"/>
                </a:solidFill>
                <a:latin typeface="Arial" pitchFamily="34" charset="0"/>
                <a:ea typeface="Arial" pitchFamily="34" charset="-122"/>
                <a:cs typeface="Arial" pitchFamily="34" charset="-120"/>
              </a:rPr>
              <a:t>Có nút ↺ bên phải — đã sửa tay</a:t>
            </a:r>
            <a:endParaRPr lang="en-US" sz="1400" dirty="0"/>
          </a:p>
        </p:txBody>
      </p:sp>
      <p:sp>
        <p:nvSpPr>
          <p:cNvPr id="17" name="Text 15"/>
          <p:cNvSpPr/>
          <p:nvPr/>
        </p:nvSpPr>
        <p:spPr>
          <a:xfrm>
            <a:off x="5641848" y="2322576"/>
            <a:ext cx="5800039" cy="868680"/>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Rê chuột vào ô thấy "Số HIS: x". Bấm ↺ ("Trả về số tự động") để quay lại số của HIS.</a:t>
            </a:r>
            <a:endParaRPr lang="en-US" sz="1250" dirty="0"/>
          </a:p>
        </p:txBody>
      </p:sp>
      <p:sp>
        <p:nvSpPr>
          <p:cNvPr id="18" name="Shape 16"/>
          <p:cNvSpPr/>
          <p:nvPr/>
        </p:nvSpPr>
        <p:spPr>
          <a:xfrm>
            <a:off x="566928" y="3319272"/>
            <a:ext cx="11057839" cy="868680"/>
          </a:xfrm>
          <a:prstGeom prst="rect">
            <a:avLst/>
          </a:prstGeom>
          <a:solidFill>
            <a:srgbClr val="F2F6FA"/>
          </a:solidFill>
          <a:ln w="12700">
            <a:solidFill>
              <a:srgbClr val="D3DAE3"/>
            </a:solidFill>
            <a:prstDash val="solid"/>
          </a:ln>
        </p:spPr>
      </p:sp>
      <p:sp>
        <p:nvSpPr>
          <p:cNvPr id="19" name="Shape 17"/>
          <p:cNvSpPr/>
          <p:nvPr/>
        </p:nvSpPr>
        <p:spPr>
          <a:xfrm>
            <a:off x="795528" y="3525012"/>
            <a:ext cx="1371600" cy="457200"/>
          </a:xfrm>
          <a:prstGeom prst="rect">
            <a:avLst/>
          </a:prstGeom>
          <a:solidFill>
            <a:srgbClr val="F1F1F1"/>
          </a:solidFill>
          <a:ln w="12700">
            <a:solidFill>
              <a:srgbClr val="D3DAE3"/>
            </a:solidFill>
            <a:prstDash val="solid"/>
          </a:ln>
        </p:spPr>
      </p:sp>
      <p:sp>
        <p:nvSpPr>
          <p:cNvPr id="20" name="Text 18"/>
          <p:cNvSpPr/>
          <p:nvPr/>
        </p:nvSpPr>
        <p:spPr>
          <a:xfrm>
            <a:off x="795528" y="3525012"/>
            <a:ext cx="1371600" cy="457200"/>
          </a:xfrm>
          <a:prstGeom prst="rect">
            <a:avLst/>
          </a:prstGeom>
          <a:noFill/>
          <a:ln/>
        </p:spPr>
        <p:txBody>
          <a:bodyPr wrap="square" lIns="0" tIns="0" rIns="0" bIns="0" rtlCol="0" anchor="ctr"/>
          <a:lstStyle/>
          <a:p>
            <a:pPr algn="ctr" indent="0" marL="0">
              <a:buNone/>
            </a:pPr>
            <a:r>
              <a:rPr lang="en-US" sz="1600" i="1" dirty="0">
                <a:solidFill>
                  <a:srgbClr val="888888"/>
                </a:solidFill>
                <a:latin typeface="Arial" pitchFamily="34" charset="0"/>
                <a:ea typeface="Arial" pitchFamily="34" charset="-122"/>
                <a:cs typeface="Arial" pitchFamily="34" charset="-120"/>
              </a:rPr>
              <a:t>3</a:t>
            </a:r>
            <a:endParaRPr lang="en-US" sz="1600" dirty="0"/>
          </a:p>
        </p:txBody>
      </p:sp>
      <p:sp>
        <p:nvSpPr>
          <p:cNvPr id="21" name="Text 19"/>
          <p:cNvSpPr/>
          <p:nvPr/>
        </p:nvSpPr>
        <p:spPr>
          <a:xfrm>
            <a:off x="2441448" y="3319272"/>
            <a:ext cx="3108960" cy="868680"/>
          </a:xfrm>
          <a:prstGeom prst="rect">
            <a:avLst/>
          </a:prstGeom>
          <a:noFill/>
          <a:ln/>
        </p:spPr>
        <p:txBody>
          <a:bodyPr wrap="square" rtlCol="0" anchor="ctr"/>
          <a:lstStyle/>
          <a:p>
            <a:pPr indent="0" marL="0">
              <a:lnSpc>
                <a:spcPts val="1800"/>
              </a:lnSpc>
              <a:buNone/>
            </a:pPr>
            <a:r>
              <a:rPr lang="en-US" sz="1400" b="1" dirty="0">
                <a:solidFill>
                  <a:srgbClr val="1F4E79"/>
                </a:solidFill>
                <a:latin typeface="Arial" pitchFamily="34" charset="0"/>
                <a:ea typeface="Arial" pitchFamily="34" charset="-122"/>
                <a:cs typeface="Arial" pitchFamily="34" charset="-120"/>
              </a:rPr>
              <a:t>Xám nghiêng — kế thừa</a:t>
            </a:r>
            <a:endParaRPr lang="en-US" sz="1400" dirty="0"/>
          </a:p>
        </p:txBody>
      </p:sp>
      <p:sp>
        <p:nvSpPr>
          <p:cNvPr id="22" name="Text 20"/>
          <p:cNvSpPr/>
          <p:nvPr/>
        </p:nvSpPr>
        <p:spPr>
          <a:xfrm>
            <a:off x="5641848" y="3319272"/>
            <a:ext cx="5800039" cy="868680"/>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Lấy từ báo cáo hôm trước, "chưa xác nhận". Vẫn tính là CHƯA điền — gõ lại (dù cùng số) để xác nhận.</a:t>
            </a:r>
            <a:endParaRPr lang="en-US" sz="1250" dirty="0"/>
          </a:p>
        </p:txBody>
      </p:sp>
      <p:sp>
        <p:nvSpPr>
          <p:cNvPr id="23" name="Shape 21"/>
          <p:cNvSpPr/>
          <p:nvPr/>
        </p:nvSpPr>
        <p:spPr>
          <a:xfrm>
            <a:off x="566928" y="4315968"/>
            <a:ext cx="11057839" cy="868680"/>
          </a:xfrm>
          <a:prstGeom prst="rect">
            <a:avLst/>
          </a:prstGeom>
          <a:solidFill>
            <a:srgbClr val="FFFFFF"/>
          </a:solidFill>
          <a:ln w="12700">
            <a:solidFill>
              <a:srgbClr val="D3DAE3"/>
            </a:solidFill>
            <a:prstDash val="solid"/>
          </a:ln>
        </p:spPr>
      </p:sp>
      <p:sp>
        <p:nvSpPr>
          <p:cNvPr id="24" name="Shape 22"/>
          <p:cNvSpPr/>
          <p:nvPr/>
        </p:nvSpPr>
        <p:spPr>
          <a:xfrm>
            <a:off x="795528" y="4521708"/>
            <a:ext cx="1371600" cy="457200"/>
          </a:xfrm>
          <a:prstGeom prst="rect">
            <a:avLst/>
          </a:prstGeom>
          <a:solidFill>
            <a:srgbClr val="FFFFFF"/>
          </a:solidFill>
          <a:ln w="28575">
            <a:solidFill>
              <a:srgbClr val="C62828"/>
            </a:solidFill>
            <a:prstDash val="solid"/>
          </a:ln>
        </p:spPr>
      </p:sp>
      <p:sp>
        <p:nvSpPr>
          <p:cNvPr id="25" name="Text 23"/>
          <p:cNvSpPr/>
          <p:nvPr/>
        </p:nvSpPr>
        <p:spPr>
          <a:xfrm>
            <a:off x="795528" y="4521708"/>
            <a:ext cx="1371600" cy="457200"/>
          </a:xfrm>
          <a:prstGeom prst="rect">
            <a:avLst/>
          </a:prstGeom>
          <a:noFill/>
          <a:ln/>
        </p:spPr>
        <p:txBody>
          <a:bodyPr wrap="square" lIns="0" tIns="0" rIns="0" bIns="0" rtlCol="0" anchor="ctr"/>
          <a:lstStyle/>
          <a:p>
            <a:pPr algn="ctr" indent="0" marL="0">
              <a:buNone/>
            </a:pPr>
            <a:endParaRPr lang="en-US" sz="1600" dirty="0"/>
          </a:p>
        </p:txBody>
      </p:sp>
      <p:sp>
        <p:nvSpPr>
          <p:cNvPr id="26" name="Text 24"/>
          <p:cNvSpPr/>
          <p:nvPr/>
        </p:nvSpPr>
        <p:spPr>
          <a:xfrm>
            <a:off x="2441448" y="4315968"/>
            <a:ext cx="3108960" cy="868680"/>
          </a:xfrm>
          <a:prstGeom prst="rect">
            <a:avLst/>
          </a:prstGeom>
          <a:noFill/>
          <a:ln/>
        </p:spPr>
        <p:txBody>
          <a:bodyPr wrap="square" rtlCol="0" anchor="ctr"/>
          <a:lstStyle/>
          <a:p>
            <a:pPr indent="0" marL="0">
              <a:lnSpc>
                <a:spcPts val="1800"/>
              </a:lnSpc>
              <a:buNone/>
            </a:pPr>
            <a:r>
              <a:rPr lang="en-US" sz="1400" b="1" dirty="0">
                <a:solidFill>
                  <a:srgbClr val="1F4E79"/>
                </a:solidFill>
                <a:latin typeface="Arial" pitchFamily="34" charset="0"/>
                <a:ea typeface="Arial" pitchFamily="34" charset="-122"/>
                <a:cs typeface="Arial" pitchFamily="34" charset="-120"/>
              </a:rPr>
              <a:t>Viền đỏ — bắt buộc còn trống</a:t>
            </a:r>
            <a:endParaRPr lang="en-US" sz="1400" dirty="0"/>
          </a:p>
        </p:txBody>
      </p:sp>
      <p:sp>
        <p:nvSpPr>
          <p:cNvPr id="27" name="Text 25"/>
          <p:cNvSpPr/>
          <p:nvPr/>
        </p:nvSpPr>
        <p:spPr>
          <a:xfrm>
            <a:off x="5641848" y="4315968"/>
            <a:ext cx="5800039" cy="868680"/>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Ô có dấu * đỏ. Khoa sẽ bị nêu tên ở dòng "Ô BẮT BUỘC CÒN TRỐNG" trên slide Tổng quan.</a:t>
            </a:r>
            <a:endParaRPr lang="en-US" sz="1250" dirty="0"/>
          </a:p>
        </p:txBody>
      </p:sp>
      <p:sp>
        <p:nvSpPr>
          <p:cNvPr id="28" name="Shape 26"/>
          <p:cNvSpPr/>
          <p:nvPr/>
        </p:nvSpPr>
        <p:spPr>
          <a:xfrm>
            <a:off x="566928" y="5312664"/>
            <a:ext cx="11057839" cy="868680"/>
          </a:xfrm>
          <a:prstGeom prst="rect">
            <a:avLst/>
          </a:prstGeom>
          <a:solidFill>
            <a:srgbClr val="F2F6FA"/>
          </a:solidFill>
          <a:ln w="12700">
            <a:solidFill>
              <a:srgbClr val="D3DAE3"/>
            </a:solidFill>
            <a:prstDash val="solid"/>
          </a:ln>
        </p:spPr>
      </p:sp>
      <p:sp>
        <p:nvSpPr>
          <p:cNvPr id="29" name="Shape 27"/>
          <p:cNvSpPr/>
          <p:nvPr/>
        </p:nvSpPr>
        <p:spPr>
          <a:xfrm>
            <a:off x="795528" y="5518404"/>
            <a:ext cx="1371600" cy="457200"/>
          </a:xfrm>
          <a:prstGeom prst="rect">
            <a:avLst/>
          </a:prstGeom>
          <a:solidFill>
            <a:srgbClr val="F2F6FA"/>
          </a:solidFill>
          <a:ln w="12700">
            <a:solidFill>
              <a:srgbClr val="D3DAE3"/>
            </a:solidFill>
            <a:prstDash val="solid"/>
          </a:ln>
        </p:spPr>
      </p:sp>
      <p:sp>
        <p:nvSpPr>
          <p:cNvPr id="30" name="Text 28"/>
          <p:cNvSpPr/>
          <p:nvPr/>
        </p:nvSpPr>
        <p:spPr>
          <a:xfrm>
            <a:off x="795528" y="5518404"/>
            <a:ext cx="1371600" cy="457200"/>
          </a:xfrm>
          <a:prstGeom prst="rect">
            <a:avLst/>
          </a:prstGeom>
          <a:noFill/>
          <a:ln/>
        </p:spPr>
        <p:txBody>
          <a:bodyPr wrap="square" lIns="0" tIns="0" rIns="0" bIns="0" rtlCol="0" anchor="ctr"/>
          <a:lstStyle/>
          <a:p>
            <a:pPr algn="ctr" indent="0" marL="0">
              <a:buNone/>
            </a:pPr>
            <a:r>
              <a:rPr lang="en-US" sz="1600" dirty="0">
                <a:solidFill>
                  <a:srgbClr val="0E7C7B"/>
                </a:solidFill>
                <a:latin typeface="Arial" pitchFamily="34" charset="0"/>
                <a:ea typeface="Arial" pitchFamily="34" charset="-122"/>
                <a:cs typeface="Arial" pitchFamily="34" charset="-120"/>
              </a:rPr>
              <a:t>?</a:t>
            </a:r>
            <a:endParaRPr lang="en-US" sz="1600" dirty="0"/>
          </a:p>
        </p:txBody>
      </p:sp>
      <p:sp>
        <p:nvSpPr>
          <p:cNvPr id="31" name="Text 29"/>
          <p:cNvSpPr/>
          <p:nvPr/>
        </p:nvSpPr>
        <p:spPr>
          <a:xfrm>
            <a:off x="2441448" y="5312664"/>
            <a:ext cx="3108960" cy="868680"/>
          </a:xfrm>
          <a:prstGeom prst="rect">
            <a:avLst/>
          </a:prstGeom>
          <a:noFill/>
          <a:ln/>
        </p:spPr>
        <p:txBody>
          <a:bodyPr wrap="square" rtlCol="0" anchor="ctr"/>
          <a:lstStyle/>
          <a:p>
            <a:pPr indent="0" marL="0">
              <a:lnSpc>
                <a:spcPts val="1800"/>
              </a:lnSpc>
              <a:buNone/>
            </a:pPr>
            <a:r>
              <a:rPr lang="en-US" sz="1400" b="1" dirty="0">
                <a:solidFill>
                  <a:srgbClr val="1F4E79"/>
                </a:solidFill>
                <a:latin typeface="Arial" pitchFamily="34" charset="0"/>
                <a:ea typeface="Arial" pitchFamily="34" charset="-122"/>
                <a:cs typeface="Arial" pitchFamily="34" charset="-120"/>
              </a:rPr>
              <a:t>Dấu ? cạnh tên tiêu chí</a:t>
            </a:r>
            <a:endParaRPr lang="en-US" sz="1400" dirty="0"/>
          </a:p>
        </p:txBody>
      </p:sp>
      <p:sp>
        <p:nvSpPr>
          <p:cNvPr id="32" name="Text 30"/>
          <p:cNvSpPr/>
          <p:nvPr/>
        </p:nvSpPr>
        <p:spPr>
          <a:xfrm>
            <a:off x="5641848" y="5312664"/>
            <a:ext cx="5800039" cy="868680"/>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Rê chuột để đọc giải thích cách tính hoặc cách điền của tiêu chí đó.</a:t>
            </a:r>
            <a:endParaRPr lang="en-US" sz="1250" dirty="0"/>
          </a:p>
        </p:txBody>
      </p:sp>
      <p:sp>
        <p:nvSpPr>
          <p:cNvPr id="33" name="Text 31"/>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4" name="Text 32"/>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Trên màn hình thật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7b-o-thieu-lech-can-doi.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Khoa Mắt: ô "BN nặng *" viền đỏ nền hồng — ô bắt buộc còn trống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Khoa Tai Mũi Họng: ô "BN ra viện" có nút ↺ — đã sửa tay từ 2 thành 3</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Vì sửa ô đó mà khoa lệch cân đối 1 → biểu tượng ⚠ cạnh tên khoa</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Ô nhập tay đã điền ("BN nặng", "Giường kê thêm") cũng có nút ↺</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Sửa số, điền ô chữ và ghi chú khoa</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643738"/>
          </a:xfrm>
          <a:prstGeom prst="rect">
            <a:avLst/>
          </a:prstGeom>
          <a:solidFill>
            <a:srgbClr val="F2F6FA"/>
          </a:solidFill>
          <a:ln w="12700">
            <a:solidFill>
              <a:srgbClr val="D3DAE3"/>
            </a:solidFill>
            <a:prstDash val="solid"/>
          </a:ln>
        </p:spPr>
      </p:sp>
      <p:sp>
        <p:nvSpPr>
          <p:cNvPr id="7" name="Shape 5"/>
          <p:cNvSpPr/>
          <p:nvPr/>
        </p:nvSpPr>
        <p:spPr>
          <a:xfrm>
            <a:off x="713232" y="1455725"/>
            <a:ext cx="384048" cy="384048"/>
          </a:xfrm>
          <a:prstGeom prst="ellipse">
            <a:avLst/>
          </a:prstGeom>
          <a:solidFill>
            <a:srgbClr val="1F4E79"/>
          </a:solidFill>
          <a:ln/>
        </p:spPr>
      </p:sp>
      <p:sp>
        <p:nvSpPr>
          <p:cNvPr id="8" name="Text 6"/>
          <p:cNvSpPr/>
          <p:nvPr/>
        </p:nvSpPr>
        <p:spPr>
          <a:xfrm>
            <a:off x="713232" y="1455725"/>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vào ô, gõ số mới, bấm Tab hoặc bấm ra ngoài</a:t>
            </a:r>
            <a:endParaRPr lang="en-US" sz="1400" dirty="0"/>
          </a:p>
        </p:txBody>
      </p:sp>
      <p:sp>
        <p:nvSpPr>
          <p:cNvPr id="10" name="Text 8"/>
          <p:cNvSpPr/>
          <p:nvPr/>
        </p:nvSpPr>
        <p:spPr>
          <a:xfrm>
            <a:off x="7085951" y="1325880"/>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Bên phải ô hiện nút ↺. Số HIS vẫn được giữ để đối chiếu</a:t>
            </a:r>
            <a:endParaRPr lang="en-US" sz="1200" dirty="0"/>
          </a:p>
        </p:txBody>
      </p:sp>
      <p:sp>
        <p:nvSpPr>
          <p:cNvPr id="11" name="Shape 9"/>
          <p:cNvSpPr/>
          <p:nvPr/>
        </p:nvSpPr>
        <p:spPr>
          <a:xfrm>
            <a:off x="566928" y="2079346"/>
            <a:ext cx="11057839" cy="643738"/>
          </a:xfrm>
          <a:prstGeom prst="rect">
            <a:avLst/>
          </a:prstGeom>
          <a:solidFill>
            <a:srgbClr val="FFFFFF"/>
          </a:solidFill>
          <a:ln w="12700">
            <a:solidFill>
              <a:srgbClr val="D3DAE3"/>
            </a:solidFill>
            <a:prstDash val="solid"/>
          </a:ln>
        </p:spPr>
      </p:sp>
      <p:sp>
        <p:nvSpPr>
          <p:cNvPr id="12" name="Shape 10"/>
          <p:cNvSpPr/>
          <p:nvPr/>
        </p:nvSpPr>
        <p:spPr>
          <a:xfrm>
            <a:off x="713232" y="2209190"/>
            <a:ext cx="384048" cy="384048"/>
          </a:xfrm>
          <a:prstGeom prst="ellipse">
            <a:avLst/>
          </a:prstGeom>
          <a:solidFill>
            <a:srgbClr val="1F4E79"/>
          </a:solidFill>
          <a:ln/>
        </p:spPr>
      </p:sp>
      <p:sp>
        <p:nvSpPr>
          <p:cNvPr id="13" name="Text 11"/>
          <p:cNvSpPr/>
          <p:nvPr/>
        </p:nvSpPr>
        <p:spPr>
          <a:xfrm>
            <a:off x="713232" y="22091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2079346"/>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Sửa nhầm? Bấm nút ↺ ("Trả về số tự động")</a:t>
            </a:r>
            <a:endParaRPr lang="en-US" sz="1400" dirty="0"/>
          </a:p>
        </p:txBody>
      </p:sp>
      <p:sp>
        <p:nvSpPr>
          <p:cNvPr id="15" name="Text 13"/>
          <p:cNvSpPr/>
          <p:nvPr/>
        </p:nvSpPr>
        <p:spPr>
          <a:xfrm>
            <a:off x="7085951" y="2079346"/>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Ô quay về số HIS, nút ↺ biến mất</a:t>
            </a:r>
            <a:endParaRPr lang="en-US" sz="1200" dirty="0"/>
          </a:p>
        </p:txBody>
      </p:sp>
      <p:sp>
        <p:nvSpPr>
          <p:cNvPr id="16" name="Shape 14"/>
          <p:cNvSpPr/>
          <p:nvPr/>
        </p:nvSpPr>
        <p:spPr>
          <a:xfrm>
            <a:off x="566928" y="2832811"/>
            <a:ext cx="11057839" cy="643738"/>
          </a:xfrm>
          <a:prstGeom prst="rect">
            <a:avLst/>
          </a:prstGeom>
          <a:solidFill>
            <a:srgbClr val="F2F6FA"/>
          </a:solidFill>
          <a:ln w="12700">
            <a:solidFill>
              <a:srgbClr val="D3DAE3"/>
            </a:solidFill>
            <a:prstDash val="solid"/>
          </a:ln>
        </p:spPr>
      </p:sp>
      <p:sp>
        <p:nvSpPr>
          <p:cNvPr id="17" name="Shape 15"/>
          <p:cNvSpPr/>
          <p:nvPr/>
        </p:nvSpPr>
        <p:spPr>
          <a:xfrm>
            <a:off x="713232" y="2962656"/>
            <a:ext cx="384048" cy="384048"/>
          </a:xfrm>
          <a:prstGeom prst="ellipse">
            <a:avLst/>
          </a:prstGeom>
          <a:solidFill>
            <a:srgbClr val="1F4E79"/>
          </a:solidFill>
          <a:ln/>
        </p:spPr>
      </p:sp>
      <p:sp>
        <p:nvSpPr>
          <p:cNvPr id="18" name="Text 16"/>
          <p:cNvSpPr/>
          <p:nvPr/>
        </p:nvSpPr>
        <p:spPr>
          <a:xfrm>
            <a:off x="713232" y="296265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2832811"/>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Tiêu chí dạng chữ: gõ vào ô văn bản rộng bên dưới</a:t>
            </a:r>
            <a:endParaRPr lang="en-US" sz="1400" dirty="0"/>
          </a:p>
        </p:txBody>
      </p:sp>
      <p:sp>
        <p:nvSpPr>
          <p:cNvPr id="20" name="Text 18"/>
          <p:cNvSpPr/>
          <p:nvPr/>
        </p:nvSpPr>
        <p:spPr>
          <a:xfrm>
            <a:off x="7085951" y="2832811"/>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Tối đa 5000 ký tự</a:t>
            </a:r>
            <a:endParaRPr lang="en-US" sz="1200" dirty="0"/>
          </a:p>
        </p:txBody>
      </p:sp>
      <p:sp>
        <p:nvSpPr>
          <p:cNvPr id="21" name="Shape 19"/>
          <p:cNvSpPr/>
          <p:nvPr/>
        </p:nvSpPr>
        <p:spPr>
          <a:xfrm>
            <a:off x="566928" y="3586277"/>
            <a:ext cx="11057839" cy="643738"/>
          </a:xfrm>
          <a:prstGeom prst="rect">
            <a:avLst/>
          </a:prstGeom>
          <a:solidFill>
            <a:srgbClr val="FFFFFF"/>
          </a:solidFill>
          <a:ln w="12700">
            <a:solidFill>
              <a:srgbClr val="D3DAE3"/>
            </a:solidFill>
            <a:prstDash val="solid"/>
          </a:ln>
        </p:spPr>
      </p:sp>
      <p:sp>
        <p:nvSpPr>
          <p:cNvPr id="22" name="Shape 20"/>
          <p:cNvSpPr/>
          <p:nvPr/>
        </p:nvSpPr>
        <p:spPr>
          <a:xfrm>
            <a:off x="713232" y="3716122"/>
            <a:ext cx="384048" cy="384048"/>
          </a:xfrm>
          <a:prstGeom prst="ellipse">
            <a:avLst/>
          </a:prstGeom>
          <a:solidFill>
            <a:srgbClr val="1F4E79"/>
          </a:solidFill>
          <a:ln/>
        </p:spPr>
      </p:sp>
      <p:sp>
        <p:nvSpPr>
          <p:cNvPr id="23" name="Text 21"/>
          <p:cNvSpPr/>
          <p:nvPr/>
        </p:nvSpPr>
        <p:spPr>
          <a:xfrm>
            <a:off x="713232" y="371612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3586277"/>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Ghi chú khoa: bấm "Sửa" → soạn → "Lưu"</a:t>
            </a:r>
            <a:endParaRPr lang="en-US" sz="1400" dirty="0"/>
          </a:p>
        </p:txBody>
      </p:sp>
      <p:sp>
        <p:nvSpPr>
          <p:cNvPr id="25" name="Text 23"/>
          <p:cNvSpPr/>
          <p:nvPr/>
        </p:nvSpPr>
        <p:spPr>
          <a:xfrm>
            <a:off x="7085951" y="3586277"/>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Có in đậm, nghiêng, gạch chân, màu, danh sách, căn lề</a:t>
            </a:r>
            <a:endParaRPr lang="en-US" sz="1200" dirty="0"/>
          </a:p>
        </p:txBody>
      </p:sp>
      <p:sp>
        <p:nvSpPr>
          <p:cNvPr id="26" name="Shape 24"/>
          <p:cNvSpPr/>
          <p:nvPr/>
        </p:nvSpPr>
        <p:spPr>
          <a:xfrm>
            <a:off x="566928" y="4339742"/>
            <a:ext cx="11057839" cy="643738"/>
          </a:xfrm>
          <a:prstGeom prst="rect">
            <a:avLst/>
          </a:prstGeom>
          <a:solidFill>
            <a:srgbClr val="F2F6FA"/>
          </a:solidFill>
          <a:ln w="12700">
            <a:solidFill>
              <a:srgbClr val="D3DAE3"/>
            </a:solidFill>
            <a:prstDash val="solid"/>
          </a:ln>
        </p:spPr>
      </p:sp>
      <p:sp>
        <p:nvSpPr>
          <p:cNvPr id="27" name="Shape 25"/>
          <p:cNvSpPr/>
          <p:nvPr/>
        </p:nvSpPr>
        <p:spPr>
          <a:xfrm>
            <a:off x="713232" y="4469587"/>
            <a:ext cx="384048" cy="384048"/>
          </a:xfrm>
          <a:prstGeom prst="ellipse">
            <a:avLst/>
          </a:prstGeom>
          <a:solidFill>
            <a:srgbClr val="1F4E79"/>
          </a:solidFill>
          <a:ln/>
        </p:spPr>
      </p:sp>
      <p:sp>
        <p:nvSpPr>
          <p:cNvPr id="28" name="Text 26"/>
          <p:cNvSpPr/>
          <p:nvPr/>
        </p:nvSpPr>
        <p:spPr>
          <a:xfrm>
            <a:off x="713232" y="4469587"/>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1225296" y="4339742"/>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Nhập sai kiểu, phần mềm báo ngay</a:t>
            </a:r>
            <a:endParaRPr lang="en-US" sz="1400" dirty="0"/>
          </a:p>
        </p:txBody>
      </p:sp>
      <p:sp>
        <p:nvSpPr>
          <p:cNvPr id="30" name="Text 28"/>
          <p:cNvSpPr/>
          <p:nvPr/>
        </p:nvSpPr>
        <p:spPr>
          <a:xfrm>
            <a:off x="7085951" y="4339742"/>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"Tiêu chí này chỉ nhận số nguyên." · "Giá trị phần trăm phải trong khoảng 0–100."</a:t>
            </a:r>
            <a:endParaRPr lang="en-US" sz="1200" dirty="0"/>
          </a:p>
        </p:txBody>
      </p:sp>
      <p:sp>
        <p:nvSpPr>
          <p:cNvPr id="31" name="Shape 29"/>
          <p:cNvSpPr/>
          <p:nvPr/>
        </p:nvSpPr>
        <p:spPr>
          <a:xfrm>
            <a:off x="566928" y="5074920"/>
            <a:ext cx="11057839" cy="1051560"/>
          </a:xfrm>
          <a:prstGeom prst="rect">
            <a:avLst/>
          </a:prstGeom>
          <a:solidFill>
            <a:srgbClr val="EAF5EC"/>
          </a:solidFill>
          <a:ln w="12700">
            <a:solidFill>
              <a:srgbClr val="EAF5EC"/>
            </a:solidFill>
            <a:prstDash val="solid"/>
          </a:ln>
        </p:spPr>
      </p:sp>
      <p:sp>
        <p:nvSpPr>
          <p:cNvPr id="32" name="Shape 30"/>
          <p:cNvSpPr/>
          <p:nvPr/>
        </p:nvSpPr>
        <p:spPr>
          <a:xfrm>
            <a:off x="566928" y="5074920"/>
            <a:ext cx="64008" cy="1051560"/>
          </a:xfrm>
          <a:prstGeom prst="rect">
            <a:avLst/>
          </a:prstGeom>
          <a:solidFill>
            <a:srgbClr val="2E7D32"/>
          </a:solidFill>
          <a:ln w="12700">
            <a:solidFill>
              <a:srgbClr val="2E7D32"/>
            </a:solidFill>
            <a:prstDash val="solid"/>
          </a:ln>
        </p:spPr>
      </p:sp>
      <p:sp>
        <p:nvSpPr>
          <p:cNvPr id="33" name="Text 31"/>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Yên tâm: </a:t>
            </a:r>
            <a:pPr indent="0" marL="0">
              <a:lnSpc>
                <a:spcPts val="1900"/>
              </a:lnSpc>
              <a:buNone/>
            </a:pPr>
            <a:r>
              <a:rPr lang="en-US" sz="1300" dirty="0">
                <a:solidFill>
                  <a:srgbClr val="1A1A1A"/>
                </a:solidFill>
                <a:latin typeface="Arial" pitchFamily="34" charset="0"/>
                <a:ea typeface="Arial" pitchFamily="34" charset="-122"/>
                <a:cs typeface="Arial" pitchFamily="34" charset="-120"/>
              </a:rPr>
              <a:t>Nếu KHTH bấm "Tạo số liệu" lại sau khi khoa đã sửa, số khoa sửa tay VẪN được giữ. Tạo số liệu chỉ cập nhật phần số HIS.</a:t>
            </a:r>
            <a:endParaRPr lang="en-US" sz="1300" dirty="0"/>
          </a:p>
        </p:txBody>
      </p:sp>
      <p:sp>
        <p:nvSpPr>
          <p:cNvPr id="34" name="Text 3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5" name="Text 3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Cảnh báo "Lệch cân đối" — tự kiểm tra trước khi KHTH hỏi</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Với khoa điều trị nội trú, số người bệnh phải cân: đầu kỳ + vào − ra = cuối kỳ.</a:t>
            </a:r>
            <a:endParaRPr lang="en-US" sz="1300" dirty="0"/>
          </a:p>
        </p:txBody>
      </p:sp>
      <p:sp>
        <p:nvSpPr>
          <p:cNvPr id="7" name="Shape 5"/>
          <p:cNvSpPr/>
          <p:nvPr/>
        </p:nvSpPr>
        <p:spPr>
          <a:xfrm>
            <a:off x="566928" y="1828800"/>
            <a:ext cx="1126198" cy="1097280"/>
          </a:xfrm>
          <a:prstGeom prst="roundRect">
            <a:avLst>
              <a:gd name="adj" fmla="val 6667"/>
            </a:avLst>
          </a:prstGeom>
          <a:solidFill>
            <a:srgbClr val="EAF5EC"/>
          </a:solidFill>
          <a:ln w="12700">
            <a:solidFill>
              <a:srgbClr val="D3DAE3"/>
            </a:solidFill>
            <a:prstDash val="solid"/>
          </a:ln>
        </p:spPr>
      </p:sp>
      <p:sp>
        <p:nvSpPr>
          <p:cNvPr id="8" name="Text 6"/>
          <p:cNvSpPr/>
          <p:nvPr/>
        </p:nvSpPr>
        <p:spPr>
          <a:xfrm>
            <a:off x="612648"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BN cũ</a:t>
            </a:r>
            <a:endParaRPr lang="en-US" sz="1250" dirty="0"/>
          </a:p>
        </p:txBody>
      </p:sp>
      <p:sp>
        <p:nvSpPr>
          <p:cNvPr id="9" name="Text 7"/>
          <p:cNvSpPr/>
          <p:nvPr/>
        </p:nvSpPr>
        <p:spPr>
          <a:xfrm>
            <a:off x="612648"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bn_cu</a:t>
            </a:r>
            <a:endParaRPr lang="en-US" sz="950" dirty="0"/>
          </a:p>
        </p:txBody>
      </p:sp>
      <p:sp>
        <p:nvSpPr>
          <p:cNvPr id="10" name="Shape 8"/>
          <p:cNvSpPr/>
          <p:nvPr/>
        </p:nvSpPr>
        <p:spPr>
          <a:xfrm>
            <a:off x="1985734" y="1828800"/>
            <a:ext cx="1126198" cy="1097280"/>
          </a:xfrm>
          <a:prstGeom prst="roundRect">
            <a:avLst>
              <a:gd name="adj" fmla="val 6667"/>
            </a:avLst>
          </a:prstGeom>
          <a:solidFill>
            <a:srgbClr val="EAF5EC"/>
          </a:solidFill>
          <a:ln w="12700">
            <a:solidFill>
              <a:srgbClr val="D3DAE3"/>
            </a:solidFill>
            <a:prstDash val="solid"/>
          </a:ln>
        </p:spPr>
      </p:sp>
      <p:sp>
        <p:nvSpPr>
          <p:cNvPr id="11" name="Text 9"/>
          <p:cNvSpPr/>
          <p:nvPr/>
        </p:nvSpPr>
        <p:spPr>
          <a:xfrm>
            <a:off x="2031454"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BN vào</a:t>
            </a:r>
            <a:endParaRPr lang="en-US" sz="1250" dirty="0"/>
          </a:p>
        </p:txBody>
      </p:sp>
      <p:sp>
        <p:nvSpPr>
          <p:cNvPr id="12" name="Text 10"/>
          <p:cNvSpPr/>
          <p:nvPr/>
        </p:nvSpPr>
        <p:spPr>
          <a:xfrm>
            <a:off x="2031454"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bn_vao</a:t>
            </a:r>
            <a:endParaRPr lang="en-US" sz="950" dirty="0"/>
          </a:p>
        </p:txBody>
      </p:sp>
      <p:sp>
        <p:nvSpPr>
          <p:cNvPr id="13" name="Text 11"/>
          <p:cNvSpPr/>
          <p:nvPr/>
        </p:nvSpPr>
        <p:spPr>
          <a:xfrm>
            <a:off x="1693126" y="2176272"/>
            <a:ext cx="292608" cy="402336"/>
          </a:xfrm>
          <a:prstGeom prst="rect">
            <a:avLst/>
          </a:prstGeom>
          <a:noFill/>
          <a:ln/>
        </p:spPr>
        <p:txBody>
          <a:bodyPr wrap="square" lIns="0" tIns="0" rIns="0" bIns="0" rtlCol="0" anchor="ctr"/>
          <a:lstStyle/>
          <a:p>
            <a:pPr algn="ctr" indent="0" marL="0">
              <a:buNone/>
            </a:pPr>
            <a:r>
              <a:rPr lang="en-US" sz="2000" b="1" dirty="0">
                <a:solidFill>
                  <a:srgbClr val="2E7D32"/>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3404540" y="1828800"/>
            <a:ext cx="1126198" cy="1097280"/>
          </a:xfrm>
          <a:prstGeom prst="roundRect">
            <a:avLst>
              <a:gd name="adj" fmla="val 6667"/>
            </a:avLst>
          </a:prstGeom>
          <a:solidFill>
            <a:srgbClr val="EAF5EC"/>
          </a:solidFill>
          <a:ln w="12700">
            <a:solidFill>
              <a:srgbClr val="D3DAE3"/>
            </a:solidFill>
            <a:prstDash val="solid"/>
          </a:ln>
        </p:spPr>
      </p:sp>
      <p:sp>
        <p:nvSpPr>
          <p:cNvPr id="15" name="Text 13"/>
          <p:cNvSpPr/>
          <p:nvPr/>
        </p:nvSpPr>
        <p:spPr>
          <a:xfrm>
            <a:off x="3450260"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Chuyển đến</a:t>
            </a:r>
            <a:endParaRPr lang="en-US" sz="1250" dirty="0"/>
          </a:p>
        </p:txBody>
      </p:sp>
      <p:sp>
        <p:nvSpPr>
          <p:cNvPr id="16" name="Text 14"/>
          <p:cNvSpPr/>
          <p:nvPr/>
        </p:nvSpPr>
        <p:spPr>
          <a:xfrm>
            <a:off x="3450260"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bn_chuyen_den</a:t>
            </a:r>
            <a:endParaRPr lang="en-US" sz="950" dirty="0"/>
          </a:p>
        </p:txBody>
      </p:sp>
      <p:sp>
        <p:nvSpPr>
          <p:cNvPr id="17" name="Text 15"/>
          <p:cNvSpPr/>
          <p:nvPr/>
        </p:nvSpPr>
        <p:spPr>
          <a:xfrm>
            <a:off x="3111932" y="2176272"/>
            <a:ext cx="292608" cy="402336"/>
          </a:xfrm>
          <a:prstGeom prst="rect">
            <a:avLst/>
          </a:prstGeom>
          <a:noFill/>
          <a:ln/>
        </p:spPr>
        <p:txBody>
          <a:bodyPr wrap="square" lIns="0" tIns="0" rIns="0" bIns="0" rtlCol="0" anchor="ctr"/>
          <a:lstStyle/>
          <a:p>
            <a:pPr algn="ctr" indent="0" marL="0">
              <a:buNone/>
            </a:pPr>
            <a:r>
              <a:rPr lang="en-US" sz="2000" b="1" dirty="0">
                <a:solidFill>
                  <a:srgbClr val="2E7D32"/>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4823346" y="1828800"/>
            <a:ext cx="1126198" cy="1097280"/>
          </a:xfrm>
          <a:prstGeom prst="roundRect">
            <a:avLst>
              <a:gd name="adj" fmla="val 6667"/>
            </a:avLst>
          </a:prstGeom>
          <a:solidFill>
            <a:srgbClr val="FFF6E5"/>
          </a:solidFill>
          <a:ln w="12700">
            <a:solidFill>
              <a:srgbClr val="D3DAE3"/>
            </a:solidFill>
            <a:prstDash val="solid"/>
          </a:ln>
        </p:spPr>
      </p:sp>
      <p:sp>
        <p:nvSpPr>
          <p:cNvPr id="19" name="Text 17"/>
          <p:cNvSpPr/>
          <p:nvPr/>
        </p:nvSpPr>
        <p:spPr>
          <a:xfrm>
            <a:off x="4869066"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Ra viện</a:t>
            </a:r>
            <a:endParaRPr lang="en-US" sz="1250" dirty="0"/>
          </a:p>
        </p:txBody>
      </p:sp>
      <p:sp>
        <p:nvSpPr>
          <p:cNvPr id="20" name="Text 18"/>
          <p:cNvSpPr/>
          <p:nvPr/>
        </p:nvSpPr>
        <p:spPr>
          <a:xfrm>
            <a:off x="4869066"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bn_ra_vien</a:t>
            </a:r>
            <a:endParaRPr lang="en-US" sz="950" dirty="0"/>
          </a:p>
        </p:txBody>
      </p:sp>
      <p:sp>
        <p:nvSpPr>
          <p:cNvPr id="21" name="Text 19"/>
          <p:cNvSpPr/>
          <p:nvPr/>
        </p:nvSpPr>
        <p:spPr>
          <a:xfrm>
            <a:off x="4530738" y="2176272"/>
            <a:ext cx="292608" cy="402336"/>
          </a:xfrm>
          <a:prstGeom prst="rect">
            <a:avLst/>
          </a:prstGeom>
          <a:noFill/>
          <a:ln/>
        </p:spPr>
        <p:txBody>
          <a:bodyPr wrap="square" lIns="0" tIns="0" rIns="0" bIns="0" rtlCol="0" anchor="ctr"/>
          <a:lstStyle/>
          <a:p>
            <a:pPr algn="ctr" indent="0" marL="0">
              <a:buNone/>
            </a:pPr>
            <a:r>
              <a:rPr lang="en-US" sz="2000" b="1" dirty="0">
                <a:solidFill>
                  <a:srgbClr val="B26A00"/>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6242152" y="1828800"/>
            <a:ext cx="1126198" cy="1097280"/>
          </a:xfrm>
          <a:prstGeom prst="roundRect">
            <a:avLst>
              <a:gd name="adj" fmla="val 6667"/>
            </a:avLst>
          </a:prstGeom>
          <a:solidFill>
            <a:srgbClr val="FFF6E5"/>
          </a:solidFill>
          <a:ln w="12700">
            <a:solidFill>
              <a:srgbClr val="D3DAE3"/>
            </a:solidFill>
            <a:prstDash val="solid"/>
          </a:ln>
        </p:spPr>
      </p:sp>
      <p:sp>
        <p:nvSpPr>
          <p:cNvPr id="23" name="Text 21"/>
          <p:cNvSpPr/>
          <p:nvPr/>
        </p:nvSpPr>
        <p:spPr>
          <a:xfrm>
            <a:off x="6287872"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Chuyển viện</a:t>
            </a:r>
            <a:endParaRPr lang="en-US" sz="1250" dirty="0"/>
          </a:p>
        </p:txBody>
      </p:sp>
      <p:sp>
        <p:nvSpPr>
          <p:cNvPr id="24" name="Text 22"/>
          <p:cNvSpPr/>
          <p:nvPr/>
        </p:nvSpPr>
        <p:spPr>
          <a:xfrm>
            <a:off x="6287872"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bn_chuyen_vien</a:t>
            </a:r>
            <a:endParaRPr lang="en-US" sz="950" dirty="0"/>
          </a:p>
        </p:txBody>
      </p:sp>
      <p:sp>
        <p:nvSpPr>
          <p:cNvPr id="25" name="Text 23"/>
          <p:cNvSpPr/>
          <p:nvPr/>
        </p:nvSpPr>
        <p:spPr>
          <a:xfrm>
            <a:off x="5949544" y="2176272"/>
            <a:ext cx="292608" cy="402336"/>
          </a:xfrm>
          <a:prstGeom prst="rect">
            <a:avLst/>
          </a:prstGeom>
          <a:noFill/>
          <a:ln/>
        </p:spPr>
        <p:txBody>
          <a:bodyPr wrap="square" lIns="0" tIns="0" rIns="0" bIns="0" rtlCol="0" anchor="ctr"/>
          <a:lstStyle/>
          <a:p>
            <a:pPr algn="ctr" indent="0" marL="0">
              <a:buNone/>
            </a:pPr>
            <a:r>
              <a:rPr lang="en-US" sz="2000" b="1" dirty="0">
                <a:solidFill>
                  <a:srgbClr val="B26A00"/>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7660957" y="1828800"/>
            <a:ext cx="1126198" cy="1097280"/>
          </a:xfrm>
          <a:prstGeom prst="roundRect">
            <a:avLst>
              <a:gd name="adj" fmla="val 6667"/>
            </a:avLst>
          </a:prstGeom>
          <a:solidFill>
            <a:srgbClr val="FFF6E5"/>
          </a:solidFill>
          <a:ln w="12700">
            <a:solidFill>
              <a:srgbClr val="D3DAE3"/>
            </a:solidFill>
            <a:prstDash val="solid"/>
          </a:ln>
        </p:spPr>
      </p:sp>
      <p:sp>
        <p:nvSpPr>
          <p:cNvPr id="27" name="Text 25"/>
          <p:cNvSpPr/>
          <p:nvPr/>
        </p:nvSpPr>
        <p:spPr>
          <a:xfrm>
            <a:off x="7706678"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Tử vong</a:t>
            </a:r>
            <a:endParaRPr lang="en-US" sz="1250" dirty="0"/>
          </a:p>
        </p:txBody>
      </p:sp>
      <p:sp>
        <p:nvSpPr>
          <p:cNvPr id="28" name="Text 26"/>
          <p:cNvSpPr/>
          <p:nvPr/>
        </p:nvSpPr>
        <p:spPr>
          <a:xfrm>
            <a:off x="7706678"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bn_tu_vong</a:t>
            </a:r>
            <a:endParaRPr lang="en-US" sz="950" dirty="0"/>
          </a:p>
        </p:txBody>
      </p:sp>
      <p:sp>
        <p:nvSpPr>
          <p:cNvPr id="29" name="Text 27"/>
          <p:cNvSpPr/>
          <p:nvPr/>
        </p:nvSpPr>
        <p:spPr>
          <a:xfrm>
            <a:off x="7368349" y="2176272"/>
            <a:ext cx="292608" cy="402336"/>
          </a:xfrm>
          <a:prstGeom prst="rect">
            <a:avLst/>
          </a:prstGeom>
          <a:noFill/>
          <a:ln/>
        </p:spPr>
        <p:txBody>
          <a:bodyPr wrap="square" lIns="0" tIns="0" rIns="0" bIns="0" rtlCol="0" anchor="ctr"/>
          <a:lstStyle/>
          <a:p>
            <a:pPr algn="ctr" indent="0" marL="0">
              <a:buNone/>
            </a:pPr>
            <a:r>
              <a:rPr lang="en-US" sz="2000" b="1" dirty="0">
                <a:solidFill>
                  <a:srgbClr val="B26A00"/>
                </a:solidFill>
                <a:latin typeface="Arial" pitchFamily="34" charset="0"/>
                <a:ea typeface="Arial" pitchFamily="34" charset="-122"/>
                <a:cs typeface="Arial" pitchFamily="34" charset="-120"/>
              </a:rPr>
              <a:t>−</a:t>
            </a:r>
            <a:endParaRPr lang="en-US" sz="2000" dirty="0"/>
          </a:p>
        </p:txBody>
      </p:sp>
      <p:sp>
        <p:nvSpPr>
          <p:cNvPr id="30" name="Shape 28"/>
          <p:cNvSpPr/>
          <p:nvPr/>
        </p:nvSpPr>
        <p:spPr>
          <a:xfrm>
            <a:off x="9079763" y="1828800"/>
            <a:ext cx="1126198" cy="1097280"/>
          </a:xfrm>
          <a:prstGeom prst="roundRect">
            <a:avLst>
              <a:gd name="adj" fmla="val 6667"/>
            </a:avLst>
          </a:prstGeom>
          <a:solidFill>
            <a:srgbClr val="FFF6E5"/>
          </a:solidFill>
          <a:ln w="12700">
            <a:solidFill>
              <a:srgbClr val="D3DAE3"/>
            </a:solidFill>
            <a:prstDash val="solid"/>
          </a:ln>
        </p:spPr>
      </p:sp>
      <p:sp>
        <p:nvSpPr>
          <p:cNvPr id="31" name="Text 29"/>
          <p:cNvSpPr/>
          <p:nvPr/>
        </p:nvSpPr>
        <p:spPr>
          <a:xfrm>
            <a:off x="9125483" y="1920240"/>
            <a:ext cx="1034758" cy="640080"/>
          </a:xfrm>
          <a:prstGeom prst="rect">
            <a:avLst/>
          </a:prstGeom>
          <a:noFill/>
          <a:ln/>
        </p:spPr>
        <p:txBody>
          <a:bodyPr wrap="square" rtlCol="0" anchor="ctr"/>
          <a:lstStyle/>
          <a:p>
            <a:pPr algn="ctr" indent="0" marL="0">
              <a:lnSpc>
                <a:spcPts val="1600"/>
              </a:lnSpc>
              <a:buNone/>
            </a:pPr>
            <a:r>
              <a:rPr lang="en-US" sz="1250" b="1" dirty="0">
                <a:solidFill>
                  <a:srgbClr val="1F4E79"/>
                </a:solidFill>
                <a:latin typeface="Arial" pitchFamily="34" charset="0"/>
                <a:ea typeface="Arial" pitchFamily="34" charset="-122"/>
                <a:cs typeface="Arial" pitchFamily="34" charset="-120"/>
              </a:rPr>
              <a:t>Chuyển khoa</a:t>
            </a:r>
            <a:endParaRPr lang="en-US" sz="1250" dirty="0"/>
          </a:p>
        </p:txBody>
      </p:sp>
      <p:sp>
        <p:nvSpPr>
          <p:cNvPr id="32" name="Text 30"/>
          <p:cNvSpPr/>
          <p:nvPr/>
        </p:nvSpPr>
        <p:spPr>
          <a:xfrm>
            <a:off x="9125483" y="2560320"/>
            <a:ext cx="1034758" cy="274320"/>
          </a:xfrm>
          <a:prstGeom prst="rect">
            <a:avLst/>
          </a:prstGeom>
          <a:noFill/>
          <a:ln/>
        </p:spPr>
        <p:txBody>
          <a:bodyPr wrap="square" rtlCol="0" anchor="ctr"/>
          <a:lstStyle/>
          <a:p>
            <a:pPr algn="ctr" indent="0" marL="0">
              <a:buNone/>
            </a:pPr>
            <a:r>
              <a:rPr lang="en-US" sz="950" dirty="0">
                <a:solidFill>
                  <a:srgbClr val="5A6472"/>
                </a:solidFill>
                <a:latin typeface="Courier New" pitchFamily="34" charset="0"/>
                <a:ea typeface="Courier New" pitchFamily="34" charset="-122"/>
                <a:cs typeface="Courier New" pitchFamily="34" charset="-120"/>
              </a:rPr>
              <a:t>bn_chuyen_khoa</a:t>
            </a:r>
            <a:endParaRPr lang="en-US" sz="950" dirty="0"/>
          </a:p>
        </p:txBody>
      </p:sp>
      <p:sp>
        <p:nvSpPr>
          <p:cNvPr id="33" name="Text 31"/>
          <p:cNvSpPr/>
          <p:nvPr/>
        </p:nvSpPr>
        <p:spPr>
          <a:xfrm>
            <a:off x="8787155" y="2176272"/>
            <a:ext cx="292608" cy="402336"/>
          </a:xfrm>
          <a:prstGeom prst="rect">
            <a:avLst/>
          </a:prstGeom>
          <a:noFill/>
          <a:ln/>
        </p:spPr>
        <p:txBody>
          <a:bodyPr wrap="square" lIns="0" tIns="0" rIns="0" bIns="0" rtlCol="0" anchor="ctr"/>
          <a:lstStyle/>
          <a:p>
            <a:pPr algn="ctr" indent="0" marL="0">
              <a:buNone/>
            </a:pPr>
            <a:r>
              <a:rPr lang="en-US" sz="2000" b="1" dirty="0">
                <a:solidFill>
                  <a:srgbClr val="B26A00"/>
                </a:solidFill>
                <a:latin typeface="Arial" pitchFamily="34" charset="0"/>
                <a:ea typeface="Arial" pitchFamily="34" charset="-122"/>
                <a:cs typeface="Arial" pitchFamily="34" charset="-120"/>
              </a:rPr>
              <a:t>−</a:t>
            </a:r>
            <a:endParaRPr lang="en-US" sz="2000" dirty="0"/>
          </a:p>
        </p:txBody>
      </p:sp>
      <p:sp>
        <p:nvSpPr>
          <p:cNvPr id="34" name="Shape 32"/>
          <p:cNvSpPr/>
          <p:nvPr/>
        </p:nvSpPr>
        <p:spPr>
          <a:xfrm>
            <a:off x="10498569" y="1828800"/>
            <a:ext cx="1126198" cy="1097280"/>
          </a:xfrm>
          <a:prstGeom prst="roundRect">
            <a:avLst>
              <a:gd name="adj" fmla="val 6667"/>
            </a:avLst>
          </a:prstGeom>
          <a:solidFill>
            <a:srgbClr val="1F4E79"/>
          </a:solidFill>
          <a:ln w="12700">
            <a:solidFill>
              <a:srgbClr val="1F4E79"/>
            </a:solidFill>
            <a:prstDash val="solid"/>
          </a:ln>
        </p:spPr>
      </p:sp>
      <p:sp>
        <p:nvSpPr>
          <p:cNvPr id="35" name="Text 33"/>
          <p:cNvSpPr/>
          <p:nvPr/>
        </p:nvSpPr>
        <p:spPr>
          <a:xfrm>
            <a:off x="10544289" y="1920240"/>
            <a:ext cx="1034758" cy="640080"/>
          </a:xfrm>
          <a:prstGeom prst="rect">
            <a:avLst/>
          </a:prstGeom>
          <a:noFill/>
          <a:ln/>
        </p:spPr>
        <p:txBody>
          <a:bodyPr wrap="square" rtlCol="0" anchor="ctr"/>
          <a:lstStyle/>
          <a:p>
            <a:pPr algn="ctr" indent="0" marL="0">
              <a:lnSpc>
                <a:spcPts val="1600"/>
              </a:lnSpc>
              <a:buNone/>
            </a:pPr>
            <a:r>
              <a:rPr lang="en-US" sz="1250" b="1" dirty="0">
                <a:solidFill>
                  <a:srgbClr val="FFFFFF"/>
                </a:solidFill>
                <a:latin typeface="Arial" pitchFamily="34" charset="0"/>
                <a:ea typeface="Arial" pitchFamily="34" charset="-122"/>
                <a:cs typeface="Arial" pitchFamily="34" charset="-120"/>
              </a:rPr>
              <a:t>Hiện có</a:t>
            </a:r>
            <a:endParaRPr lang="en-US" sz="1250" dirty="0"/>
          </a:p>
        </p:txBody>
      </p:sp>
      <p:sp>
        <p:nvSpPr>
          <p:cNvPr id="36" name="Text 34"/>
          <p:cNvSpPr/>
          <p:nvPr/>
        </p:nvSpPr>
        <p:spPr>
          <a:xfrm>
            <a:off x="10544289" y="2560320"/>
            <a:ext cx="1034758" cy="274320"/>
          </a:xfrm>
          <a:prstGeom prst="rect">
            <a:avLst/>
          </a:prstGeom>
          <a:noFill/>
          <a:ln/>
        </p:spPr>
        <p:txBody>
          <a:bodyPr wrap="square" rtlCol="0" anchor="ctr"/>
          <a:lstStyle/>
          <a:p>
            <a:pPr algn="ctr" indent="0" marL="0">
              <a:buNone/>
            </a:pPr>
            <a:r>
              <a:rPr lang="en-US" sz="950" dirty="0">
                <a:solidFill>
                  <a:srgbClr val="DCE9F5"/>
                </a:solidFill>
                <a:latin typeface="Courier New" pitchFamily="34" charset="0"/>
                <a:ea typeface="Courier New" pitchFamily="34" charset="-122"/>
                <a:cs typeface="Courier New" pitchFamily="34" charset="-120"/>
              </a:rPr>
              <a:t>hien_co</a:t>
            </a:r>
            <a:endParaRPr lang="en-US" sz="950" dirty="0"/>
          </a:p>
        </p:txBody>
      </p:sp>
      <p:sp>
        <p:nvSpPr>
          <p:cNvPr id="37" name="Text 35"/>
          <p:cNvSpPr/>
          <p:nvPr/>
        </p:nvSpPr>
        <p:spPr>
          <a:xfrm>
            <a:off x="10205961" y="2176272"/>
            <a:ext cx="292608" cy="402336"/>
          </a:xfrm>
          <a:prstGeom prst="rect">
            <a:avLst/>
          </a:prstGeom>
          <a:noFill/>
          <a:ln/>
        </p:spPr>
        <p:txBody>
          <a:bodyPr wrap="square" lIns="0" tIns="0" rIns="0" bIns="0" rtlCol="0" anchor="ctr"/>
          <a:lstStyle/>
          <a:p>
            <a:pPr algn="ctr" indent="0" marL="0">
              <a:buNone/>
            </a:pPr>
            <a:r>
              <a:rPr lang="en-US" sz="2000" b="1" dirty="0">
                <a:solidFill>
                  <a:srgbClr val="1F4E79"/>
                </a:solidFill>
                <a:latin typeface="Arial" pitchFamily="34" charset="0"/>
                <a:ea typeface="Arial" pitchFamily="34" charset="-122"/>
                <a:cs typeface="Arial" pitchFamily="34" charset="-120"/>
              </a:rPr>
              <a:t>=</a:t>
            </a:r>
            <a:endParaRPr lang="en-US" sz="2000" dirty="0"/>
          </a:p>
        </p:txBody>
      </p:sp>
      <p:sp>
        <p:nvSpPr>
          <p:cNvPr id="38" name="Text 36"/>
          <p:cNvSpPr/>
          <p:nvPr/>
        </p:nvSpPr>
        <p:spPr>
          <a:xfrm>
            <a:off x="566928" y="3246120"/>
            <a:ext cx="11057839" cy="1783080"/>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Không cân → cạnh tên khoa hiện biểu tượng ⚠ vàng; rê chuột vào thấy "Lệch cân đối: X" (X là số chênh). Trên slide trình chiếu có dấu "▲ X" cạnh tên khoa.</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Nguyên nhân hay gặp: sửa tay một ô mà quên sửa ô liên quan; người bệnh ra viện nhưng HIS chưa kết thúc điều trị.</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Phép tính dùng số đang hiển thị — ô đã sửa tay (có nút ↺) được tính theo số sửa tay.</a:t>
            </a:r>
            <a:endParaRPr lang="en-US" sz="1300" dirty="0"/>
          </a:p>
        </p:txBody>
      </p:sp>
      <p:sp>
        <p:nvSpPr>
          <p:cNvPr id="39" name="Shape 37"/>
          <p:cNvSpPr/>
          <p:nvPr/>
        </p:nvSpPr>
        <p:spPr>
          <a:xfrm>
            <a:off x="566928" y="5074920"/>
            <a:ext cx="11057839" cy="1051560"/>
          </a:xfrm>
          <a:prstGeom prst="rect">
            <a:avLst/>
          </a:prstGeom>
          <a:solidFill>
            <a:srgbClr val="FFF6E5"/>
          </a:solidFill>
          <a:ln w="12700">
            <a:solidFill>
              <a:srgbClr val="FFF6E5"/>
            </a:solidFill>
            <a:prstDash val="solid"/>
          </a:ln>
        </p:spPr>
      </p:sp>
      <p:sp>
        <p:nvSpPr>
          <p:cNvPr id="40" name="Shape 38"/>
          <p:cNvSpPr/>
          <p:nvPr/>
        </p:nvSpPr>
        <p:spPr>
          <a:xfrm>
            <a:off x="566928" y="5074920"/>
            <a:ext cx="64008" cy="1051560"/>
          </a:xfrm>
          <a:prstGeom prst="rect">
            <a:avLst/>
          </a:prstGeom>
          <a:solidFill>
            <a:srgbClr val="B26A00"/>
          </a:solidFill>
          <a:ln w="12700">
            <a:solidFill>
              <a:srgbClr val="B26A00"/>
            </a:solidFill>
            <a:prstDash val="solid"/>
          </a:ln>
        </p:spPr>
      </p:sp>
      <p:sp>
        <p:nvSpPr>
          <p:cNvPr id="41" name="Text 3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Chỉ áp dụng khi </a:t>
            </a:r>
            <a:pPr indent="0" marL="0">
              <a:lnSpc>
                <a:spcPts val="1900"/>
              </a:lnSpc>
              <a:buNone/>
            </a:pPr>
            <a:r>
              <a:rPr lang="en-US" sz="1300" dirty="0">
                <a:solidFill>
                  <a:srgbClr val="1A1A1A"/>
                </a:solidFill>
                <a:latin typeface="Arial" pitchFamily="34" charset="0"/>
                <a:ea typeface="Arial" pitchFamily="34" charset="-122"/>
                <a:cs typeface="Arial" pitchFamily="34" charset="-120"/>
              </a:rPr>
              <a:t>khoa dùng đúng tám mã tiêu chí ghi dưới mỗi ô (do quản trị đặt). Khoa đặt mã khác thì không bao giờ có cảnh báo này — không có nghĩa là số đã cân.</a:t>
            </a:r>
            <a:endParaRPr lang="en-US" sz="1300" dirty="0"/>
          </a:p>
        </p:txBody>
      </p:sp>
      <p:sp>
        <p:nvSpPr>
          <p:cNvPr id="42" name="Text 40"/>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43" name="Text 41"/>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Kíp trực lãnh đạo</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Do KHTH hoặc người có tên trong danh sách "Người được cập nhật kíp trực" nhập.</a:t>
            </a:r>
            <a:endParaRPr lang="en-US" sz="1300" dirty="0"/>
          </a:p>
        </p:txBody>
      </p:sp>
      <p:sp>
        <p:nvSpPr>
          <p:cNvPr id="7" name="Shape 5"/>
          <p:cNvSpPr/>
          <p:nvPr/>
        </p:nvSpPr>
        <p:spPr>
          <a:xfrm>
            <a:off x="566928" y="1709928"/>
            <a:ext cx="11057839" cy="566928"/>
          </a:xfrm>
          <a:prstGeom prst="rect">
            <a:avLst/>
          </a:prstGeom>
          <a:solidFill>
            <a:srgbClr val="F2F6FA"/>
          </a:solidFill>
          <a:ln w="12700">
            <a:solidFill>
              <a:srgbClr val="D3DAE3"/>
            </a:solidFill>
            <a:prstDash val="solid"/>
          </a:ln>
        </p:spPr>
      </p:sp>
      <p:sp>
        <p:nvSpPr>
          <p:cNvPr id="8" name="Shape 6"/>
          <p:cNvSpPr/>
          <p:nvPr/>
        </p:nvSpPr>
        <p:spPr>
          <a:xfrm>
            <a:off x="713232" y="1801368"/>
            <a:ext cx="384048" cy="384048"/>
          </a:xfrm>
          <a:prstGeom prst="ellipse">
            <a:avLst/>
          </a:prstGeom>
          <a:solidFill>
            <a:srgbClr val="1F4E79"/>
          </a:solidFill>
          <a:ln/>
        </p:spPr>
      </p:sp>
      <p:sp>
        <p:nvSpPr>
          <p:cNvPr id="9" name="Text 7"/>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Nhanh nhất: bấm "Sao chép kíp ngày trước"</a:t>
            </a:r>
            <a:endParaRPr lang="en-US" sz="1400" dirty="0"/>
          </a:p>
        </p:txBody>
      </p:sp>
      <p:sp>
        <p:nvSpPr>
          <p:cNvPr id="11" name="Text 9"/>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Chép kíp của ngày gần nhất có dữ liệu. Nếu không có: "Không có kíp trực ngày trước để sao chép."</a:t>
            </a:r>
            <a:endParaRPr lang="en-US" sz="1200" dirty="0"/>
          </a:p>
        </p:txBody>
      </p:sp>
      <p:sp>
        <p:nvSpPr>
          <p:cNvPr id="12" name="Shape 10"/>
          <p:cNvSpPr/>
          <p:nvPr/>
        </p:nvSpPr>
        <p:spPr>
          <a:xfrm>
            <a:off x="566928" y="2386584"/>
            <a:ext cx="11057839" cy="566928"/>
          </a:xfrm>
          <a:prstGeom prst="rect">
            <a:avLst/>
          </a:prstGeom>
          <a:solidFill>
            <a:srgbClr val="FFFFFF"/>
          </a:solidFill>
          <a:ln w="12700">
            <a:solidFill>
              <a:srgbClr val="D3DAE3"/>
            </a:solidFill>
            <a:prstDash val="solid"/>
          </a:ln>
        </p:spPr>
      </p:sp>
      <p:sp>
        <p:nvSpPr>
          <p:cNvPr id="13" name="Shape 11"/>
          <p:cNvSpPr/>
          <p:nvPr/>
        </p:nvSpPr>
        <p:spPr>
          <a:xfrm>
            <a:off x="713232" y="2478024"/>
            <a:ext cx="384048" cy="384048"/>
          </a:xfrm>
          <a:prstGeom prst="ellipse">
            <a:avLst/>
          </a:prstGeom>
          <a:solidFill>
            <a:srgbClr val="1F4E79"/>
          </a:solidFill>
          <a:ln/>
        </p:spPr>
      </p:sp>
      <p:sp>
        <p:nvSpPr>
          <p:cNvPr id="14" name="Text 12"/>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Thêm người: trên đúng dòng chức danh, gõ ít nhất 2 ký tự tên / mã nhân viên vào ô "+ thêm người…"</a:t>
            </a:r>
            <a:endParaRPr lang="en-US" sz="1400" dirty="0"/>
          </a:p>
        </p:txBody>
      </p:sp>
      <p:sp>
        <p:nvSpPr>
          <p:cNvPr id="16" name="Text 14"/>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Tìm trong danh sách nhân viên HIS, gõ không dấu cũng được</a:t>
            </a:r>
            <a:endParaRPr lang="en-US" sz="1200" dirty="0"/>
          </a:p>
        </p:txBody>
      </p:sp>
      <p:sp>
        <p:nvSpPr>
          <p:cNvPr id="17" name="Shape 15"/>
          <p:cNvSpPr/>
          <p:nvPr/>
        </p:nvSpPr>
        <p:spPr>
          <a:xfrm>
            <a:off x="566928" y="3063240"/>
            <a:ext cx="11057839" cy="566928"/>
          </a:xfrm>
          <a:prstGeom prst="rect">
            <a:avLst/>
          </a:prstGeom>
          <a:solidFill>
            <a:srgbClr val="F2F6FA"/>
          </a:solidFill>
          <a:ln w="12700">
            <a:solidFill>
              <a:srgbClr val="D3DAE3"/>
            </a:solidFill>
            <a:prstDash val="solid"/>
          </a:ln>
        </p:spPr>
      </p:sp>
      <p:sp>
        <p:nvSpPr>
          <p:cNvPr id="18" name="Shape 16"/>
          <p:cNvSpPr/>
          <p:nvPr/>
        </p:nvSpPr>
        <p:spPr>
          <a:xfrm>
            <a:off x="713232" y="3154680"/>
            <a:ext cx="384048" cy="384048"/>
          </a:xfrm>
          <a:prstGeom prst="ellipse">
            <a:avLst/>
          </a:prstGeom>
          <a:solidFill>
            <a:srgbClr val="1F4E79"/>
          </a:solidFill>
          <a:ln/>
        </p:spPr>
      </p:sp>
      <p:sp>
        <p:nvSpPr>
          <p:cNvPr id="19" name="Text 17"/>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chọn người trong danh sách hiện ra</a:t>
            </a:r>
            <a:endParaRPr lang="en-US" sz="1400" dirty="0"/>
          </a:p>
        </p:txBody>
      </p:sp>
      <p:sp>
        <p:nvSpPr>
          <p:cNvPr id="21" name="Text 19"/>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Người đó vào cột "Người trực"; số điện thoại tự điền nếu HIS có</a:t>
            </a:r>
            <a:endParaRPr lang="en-US" sz="1200" dirty="0"/>
          </a:p>
        </p:txBody>
      </p:sp>
      <p:sp>
        <p:nvSpPr>
          <p:cNvPr id="22" name="Shape 20"/>
          <p:cNvSpPr/>
          <p:nvPr/>
        </p:nvSpPr>
        <p:spPr>
          <a:xfrm>
            <a:off x="566928" y="3739896"/>
            <a:ext cx="11057839" cy="566928"/>
          </a:xfrm>
          <a:prstGeom prst="rect">
            <a:avLst/>
          </a:prstGeom>
          <a:solidFill>
            <a:srgbClr val="FFFFFF"/>
          </a:solidFill>
          <a:ln w="12700">
            <a:solidFill>
              <a:srgbClr val="D3DAE3"/>
            </a:solidFill>
            <a:prstDash val="solid"/>
          </a:ln>
        </p:spPr>
      </p:sp>
      <p:sp>
        <p:nvSpPr>
          <p:cNvPr id="23" name="Shape 21"/>
          <p:cNvSpPr/>
          <p:nvPr/>
        </p:nvSpPr>
        <p:spPr>
          <a:xfrm>
            <a:off x="713232" y="3831336"/>
            <a:ext cx="384048" cy="384048"/>
          </a:xfrm>
          <a:prstGeom prst="ellipse">
            <a:avLst/>
          </a:prstGeom>
          <a:solidFill>
            <a:srgbClr val="1F4E79"/>
          </a:solidFill>
          <a:ln/>
        </p:spPr>
      </p:sp>
      <p:sp>
        <p:nvSpPr>
          <p:cNvPr id="24" name="Text 22"/>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Sửa số điện thoại trực tiếp trong cột SĐT nếu cần</a:t>
            </a:r>
            <a:endParaRPr lang="en-US" sz="1400" dirty="0"/>
          </a:p>
        </p:txBody>
      </p:sp>
      <p:sp>
        <p:nvSpPr>
          <p:cNvPr id="26" name="Text 24"/>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Tự lưu khi rời ô</a:t>
            </a:r>
            <a:endParaRPr lang="en-US" sz="1200" dirty="0"/>
          </a:p>
        </p:txBody>
      </p:sp>
      <p:sp>
        <p:nvSpPr>
          <p:cNvPr id="27" name="Shape 25"/>
          <p:cNvSpPr/>
          <p:nvPr/>
        </p:nvSpPr>
        <p:spPr>
          <a:xfrm>
            <a:off x="566928" y="4416552"/>
            <a:ext cx="11057839" cy="566928"/>
          </a:xfrm>
          <a:prstGeom prst="rect">
            <a:avLst/>
          </a:prstGeom>
          <a:solidFill>
            <a:srgbClr val="F2F6FA"/>
          </a:solidFill>
          <a:ln w="12700">
            <a:solidFill>
              <a:srgbClr val="D3DAE3"/>
            </a:solidFill>
            <a:prstDash val="solid"/>
          </a:ln>
        </p:spPr>
      </p:sp>
      <p:sp>
        <p:nvSpPr>
          <p:cNvPr id="28" name="Shape 26"/>
          <p:cNvSpPr/>
          <p:nvPr/>
        </p:nvSpPr>
        <p:spPr>
          <a:xfrm>
            <a:off x="713232" y="4507992"/>
            <a:ext cx="384048" cy="384048"/>
          </a:xfrm>
          <a:prstGeom prst="ellipse">
            <a:avLst/>
          </a:prstGeom>
          <a:solidFill>
            <a:srgbClr val="1F4E79"/>
          </a:solidFill>
          <a:ln/>
        </p:spPr>
      </p:sp>
      <p:sp>
        <p:nvSpPr>
          <p:cNvPr id="29" name="Text 27"/>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 để bỏ một người</a:t>
            </a:r>
            <a:endParaRPr lang="en-US" sz="1400" dirty="0"/>
          </a:p>
        </p:txBody>
      </p:sp>
      <p:sp>
        <p:nvSpPr>
          <p:cNvPr id="31" name="Text 29"/>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Xoá khỏi kíp của ngày đang chọn</a:t>
            </a:r>
            <a:endParaRPr lang="en-US" sz="1200" dirty="0"/>
          </a:p>
        </p:txBody>
      </p:sp>
      <p:sp>
        <p:nvSpPr>
          <p:cNvPr id="32" name="Shape 30"/>
          <p:cNvSpPr/>
          <p:nvPr/>
        </p:nvSpPr>
        <p:spPr>
          <a:xfrm>
            <a:off x="566928" y="5074920"/>
            <a:ext cx="11057839" cy="1051560"/>
          </a:xfrm>
          <a:prstGeom prst="rect">
            <a:avLst/>
          </a:prstGeom>
          <a:solidFill>
            <a:srgbClr val="FFF6E5"/>
          </a:solidFill>
          <a:ln w="12700">
            <a:solidFill>
              <a:srgbClr val="FFF6E5"/>
            </a:solidFill>
            <a:prstDash val="solid"/>
          </a:ln>
        </p:spPr>
      </p:sp>
      <p:sp>
        <p:nvSpPr>
          <p:cNvPr id="33" name="Shape 31"/>
          <p:cNvSpPr/>
          <p:nvPr/>
        </p:nvSpPr>
        <p:spPr>
          <a:xfrm>
            <a:off x="566928" y="5074920"/>
            <a:ext cx="64008" cy="1051560"/>
          </a:xfrm>
          <a:prstGeom prst="rect">
            <a:avLst/>
          </a:prstGeom>
          <a:solidFill>
            <a:srgbClr val="B26A00"/>
          </a:solidFill>
          <a:ln w="12700">
            <a:solidFill>
              <a:srgbClr val="B26A00"/>
            </a:solidFill>
            <a:prstDash val="solid"/>
          </a:ln>
        </p:spPr>
      </p:sp>
      <p:sp>
        <p:nvSpPr>
          <p:cNvPr id="34" name="Text 3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Nếu thấy </a:t>
            </a:r>
            <a:pPr indent="0" marL="0">
              <a:lnSpc>
                <a:spcPts val="1900"/>
              </a:lnSpc>
              <a:buNone/>
            </a:pPr>
            <a:r>
              <a:rPr lang="en-US" sz="1300" dirty="0">
                <a:solidFill>
                  <a:srgbClr val="1A1A1A"/>
                </a:solidFill>
                <a:latin typeface="Arial" pitchFamily="34" charset="0"/>
                <a:ea typeface="Arial" pitchFamily="34" charset="-122"/>
                <a:cs typeface="Arial" pitchFamily="34" charset="-120"/>
              </a:rPr>
              <a:t>"Chưa cấu hình chức danh trực (Cấu hình giao ban)." — quản trị cần khai danh mục chức danh trực trước (Phần 5).</a:t>
            </a:r>
            <a:endParaRPr lang="en-US" sz="1300" dirty="0"/>
          </a:p>
        </p:txBody>
      </p:sp>
      <p:sp>
        <p:nvSpPr>
          <p:cNvPr id="35" name="Text 3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6" name="Text 3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Khung Kíp trực lãnh đạo và Ghi chú chung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7c-kip-truc-ghi-chu.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Mỗi dòng một chức danh; người trực hiện thành thẻ: tên · SĐT · ×</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Ô "+ thêm người (gõ tên/mã NV)..." ngay dưới thẻ</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"Sao chép kíp ngày trước" cạnh tiêu đề</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Ghi chú chung ở cuối trang — chỉ KHTH sửa được</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Số tự động được đếm như thế nào</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Tất cả tính trong khung "Từ thời điểm" → "Đến thời điểm". Nội trú = diện điều trị nội trú trên HIS.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764460"/>
                <a:gridCol w="8293379"/>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Loại tiêu chí</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Phần mềm đếm</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BN cũ (đầu kỳ)</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Người bệnh nội trú đang nằm ở khoa tại thời điểm BẮT ĐẦU: đã vào khoa, chưa ra viện, chưa chuyển 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Hiện có (cuối kỳ)</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Cách đếm như trên, tại thời điểm KẾT THÚC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BN vào thẳng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Người bệnh vào khoa trong khung giờ mà khoa này là khoa đầu tiên của đợt điều trị</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BN chuyển đến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Người bệnh vào khoa trong khung giờ, từ một khoa khác chuyển sang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BN chuyển khoa (đi)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Người bệnh rời khoa sang khoa khác trong khung giờ — tính cho khoa chuyển 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Kết thúc điều trị</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Đợt nội trú kết thúc trong khung giờ, tính cho KHOA CUỐI CÙNG, lọc theo loại ra viện / chuyển viện / tử vong…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BN trên giường chỉ định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người bệnh đang nằm trên các giường được chọn tại thời điểm kết thúc (ví dụ giường yêu cầu)</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Lượt khám</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yêu cầu khám chính khoa đã thực hiện trong khung giờ</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Đếm dịch vụ</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dịch vụ chỉ định trong khung giờ, lọc theo loại dịch vụ và phạm vi khoa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Nhập tay</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Không đếm — khoa tự điền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9"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Khoa gộp: </a:t>
            </a:r>
            <a:pPr indent="0" marL="0">
              <a:lnSpc>
                <a:spcPts val="1900"/>
              </a:lnSpc>
              <a:buNone/>
            </a:pPr>
            <a:r>
              <a:rPr lang="en-US" sz="1300" dirty="0">
                <a:solidFill>
                  <a:srgbClr val="1A1A1A"/>
                </a:solidFill>
                <a:latin typeface="Arial" pitchFamily="34" charset="0"/>
                <a:ea typeface="Arial" pitchFamily="34" charset="-122"/>
                <a:cs typeface="Arial" pitchFamily="34" charset="-120"/>
              </a:rPr>
              <a:t>Nếu một dòng báo cáo gộp nhiều khoa HIS, người bệnh chuyển qua lại GIỮA các khoa đó không bị tính là chuyển đến / chuyển khoa.</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3</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KHTH: chốt, trình chiếu và xuất PPTX</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Dành cho phòng Kế hoạch tổng hợp — tài khoản có quyền giaoban-admin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Rà soát và chốt báo cáo trước giờ giao ban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643738"/>
          </a:xfrm>
          <a:prstGeom prst="rect">
            <a:avLst/>
          </a:prstGeom>
          <a:solidFill>
            <a:srgbClr val="F2F6FA"/>
          </a:solidFill>
          <a:ln w="12700">
            <a:solidFill>
              <a:srgbClr val="D3DAE3"/>
            </a:solidFill>
            <a:prstDash val="solid"/>
          </a:ln>
        </p:spPr>
      </p:sp>
      <p:sp>
        <p:nvSpPr>
          <p:cNvPr id="7" name="Shape 5"/>
          <p:cNvSpPr/>
          <p:nvPr/>
        </p:nvSpPr>
        <p:spPr>
          <a:xfrm>
            <a:off x="713232" y="1455725"/>
            <a:ext cx="384048" cy="384048"/>
          </a:xfrm>
          <a:prstGeom prst="ellipse">
            <a:avLst/>
          </a:prstGeom>
          <a:solidFill>
            <a:srgbClr val="1F4E79"/>
          </a:solidFill>
          <a:ln/>
        </p:spPr>
      </p:sp>
      <p:sp>
        <p:nvSpPr>
          <p:cNvPr id="8" name="Text 6"/>
          <p:cNvSpPr/>
          <p:nvPr/>
        </p:nvSpPr>
        <p:spPr>
          <a:xfrm>
            <a:off x="713232" y="1455725"/>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"Trình chiếu", xem slide Tổng quan</a:t>
            </a:r>
            <a:endParaRPr lang="en-US" sz="1400" dirty="0"/>
          </a:p>
        </p:txBody>
      </p:sp>
      <p:sp>
        <p:nvSpPr>
          <p:cNvPr id="10" name="Text 8"/>
          <p:cNvSpPr/>
          <p:nvPr/>
        </p:nvSpPr>
        <p:spPr>
          <a:xfrm>
            <a:off x="7085951" y="1325880"/>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Dòng "Ô BẮT BUỘC CÒN TRỐNG" nêu tên khoa còn thiếu, hoặc "Các khoa đã nhập đủ"</a:t>
            </a:r>
            <a:endParaRPr lang="en-US" sz="1200" dirty="0"/>
          </a:p>
        </p:txBody>
      </p:sp>
      <p:sp>
        <p:nvSpPr>
          <p:cNvPr id="11" name="Shape 9"/>
          <p:cNvSpPr/>
          <p:nvPr/>
        </p:nvSpPr>
        <p:spPr>
          <a:xfrm>
            <a:off x="566928" y="2079346"/>
            <a:ext cx="11057839" cy="643738"/>
          </a:xfrm>
          <a:prstGeom prst="rect">
            <a:avLst/>
          </a:prstGeom>
          <a:solidFill>
            <a:srgbClr val="FFFFFF"/>
          </a:solidFill>
          <a:ln w="12700">
            <a:solidFill>
              <a:srgbClr val="D3DAE3"/>
            </a:solidFill>
            <a:prstDash val="solid"/>
          </a:ln>
        </p:spPr>
      </p:sp>
      <p:sp>
        <p:nvSpPr>
          <p:cNvPr id="12" name="Shape 10"/>
          <p:cNvSpPr/>
          <p:nvPr/>
        </p:nvSpPr>
        <p:spPr>
          <a:xfrm>
            <a:off x="713232" y="2209190"/>
            <a:ext cx="384048" cy="384048"/>
          </a:xfrm>
          <a:prstGeom prst="ellipse">
            <a:avLst/>
          </a:prstGeom>
          <a:solidFill>
            <a:srgbClr val="1F4E79"/>
          </a:solidFill>
          <a:ln/>
        </p:spPr>
      </p:sp>
      <p:sp>
        <p:nvSpPr>
          <p:cNvPr id="13" name="Text 11"/>
          <p:cNvSpPr/>
          <p:nvPr/>
        </p:nvSpPr>
        <p:spPr>
          <a:xfrm>
            <a:off x="713232" y="22091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2079346"/>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Tìm khoa có dấu ▲ / ⚠ "Lệch cân đối"</a:t>
            </a:r>
            <a:endParaRPr lang="en-US" sz="1400" dirty="0"/>
          </a:p>
        </p:txBody>
      </p:sp>
      <p:sp>
        <p:nvSpPr>
          <p:cNvPr id="15" name="Text 13"/>
          <p:cNvSpPr/>
          <p:nvPr/>
        </p:nvSpPr>
        <p:spPr>
          <a:xfrm>
            <a:off x="7085951" y="2079346"/>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Gọi khoa kiểm tra, hoặc sửa trực tiếp trên màn nhập</a:t>
            </a:r>
            <a:endParaRPr lang="en-US" sz="1200" dirty="0"/>
          </a:p>
        </p:txBody>
      </p:sp>
      <p:sp>
        <p:nvSpPr>
          <p:cNvPr id="16" name="Shape 14"/>
          <p:cNvSpPr/>
          <p:nvPr/>
        </p:nvSpPr>
        <p:spPr>
          <a:xfrm>
            <a:off x="566928" y="2832811"/>
            <a:ext cx="11057839" cy="643738"/>
          </a:xfrm>
          <a:prstGeom prst="rect">
            <a:avLst/>
          </a:prstGeom>
          <a:solidFill>
            <a:srgbClr val="F2F6FA"/>
          </a:solidFill>
          <a:ln w="12700">
            <a:solidFill>
              <a:srgbClr val="D3DAE3"/>
            </a:solidFill>
            <a:prstDash val="solid"/>
          </a:ln>
        </p:spPr>
      </p:sp>
      <p:sp>
        <p:nvSpPr>
          <p:cNvPr id="17" name="Shape 15"/>
          <p:cNvSpPr/>
          <p:nvPr/>
        </p:nvSpPr>
        <p:spPr>
          <a:xfrm>
            <a:off x="713232" y="2962656"/>
            <a:ext cx="384048" cy="384048"/>
          </a:xfrm>
          <a:prstGeom prst="ellipse">
            <a:avLst/>
          </a:prstGeom>
          <a:solidFill>
            <a:srgbClr val="1F4E79"/>
          </a:solidFill>
          <a:ln/>
        </p:spPr>
      </p:sp>
      <p:sp>
        <p:nvSpPr>
          <p:cNvPr id="18" name="Text 16"/>
          <p:cNvSpPr/>
          <p:nvPr/>
        </p:nvSpPr>
        <p:spPr>
          <a:xfrm>
            <a:off x="713232" y="296265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2832811"/>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Cần đếm lại từ HIS? Bấm "Tạo số liệu"</a:t>
            </a:r>
            <a:endParaRPr lang="en-US" sz="1400" dirty="0"/>
          </a:p>
        </p:txBody>
      </p:sp>
      <p:sp>
        <p:nvSpPr>
          <p:cNvPr id="20" name="Text 18"/>
          <p:cNvSpPr/>
          <p:nvPr/>
        </p:nvSpPr>
        <p:spPr>
          <a:xfrm>
            <a:off x="7085951" y="2832811"/>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Số sửa tay của khoa được giữ nguyên</a:t>
            </a:r>
            <a:endParaRPr lang="en-US" sz="1200" dirty="0"/>
          </a:p>
        </p:txBody>
      </p:sp>
      <p:sp>
        <p:nvSpPr>
          <p:cNvPr id="21" name="Shape 19"/>
          <p:cNvSpPr/>
          <p:nvPr/>
        </p:nvSpPr>
        <p:spPr>
          <a:xfrm>
            <a:off x="566928" y="3586277"/>
            <a:ext cx="11057839" cy="643738"/>
          </a:xfrm>
          <a:prstGeom prst="rect">
            <a:avLst/>
          </a:prstGeom>
          <a:solidFill>
            <a:srgbClr val="FFFFFF"/>
          </a:solidFill>
          <a:ln w="12700">
            <a:solidFill>
              <a:srgbClr val="D3DAE3"/>
            </a:solidFill>
            <a:prstDash val="solid"/>
          </a:ln>
        </p:spPr>
      </p:sp>
      <p:sp>
        <p:nvSpPr>
          <p:cNvPr id="22" name="Shape 20"/>
          <p:cNvSpPr/>
          <p:nvPr/>
        </p:nvSpPr>
        <p:spPr>
          <a:xfrm>
            <a:off x="713232" y="3716122"/>
            <a:ext cx="384048" cy="384048"/>
          </a:xfrm>
          <a:prstGeom prst="ellipse">
            <a:avLst/>
          </a:prstGeom>
          <a:solidFill>
            <a:srgbClr val="1F4E79"/>
          </a:solidFill>
          <a:ln/>
        </p:spPr>
      </p:sp>
      <p:sp>
        <p:nvSpPr>
          <p:cNvPr id="23" name="Text 21"/>
          <p:cNvSpPr/>
          <p:nvPr/>
        </p:nvSpPr>
        <p:spPr>
          <a:xfrm>
            <a:off x="713232" y="371612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3586277"/>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Viết "Ghi chú chung" (nút Sửa ở khung Ghi chú chung)</a:t>
            </a:r>
            <a:endParaRPr lang="en-US" sz="1400" dirty="0"/>
          </a:p>
        </p:txBody>
      </p:sp>
      <p:sp>
        <p:nvSpPr>
          <p:cNvPr id="25" name="Text 23"/>
          <p:cNvSpPr/>
          <p:nvPr/>
        </p:nvSpPr>
        <p:spPr>
          <a:xfrm>
            <a:off x="7085951" y="3586277"/>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Hiện thành slide riêng ngay sau Tổng quan</a:t>
            </a:r>
            <a:endParaRPr lang="en-US" sz="1200" dirty="0"/>
          </a:p>
        </p:txBody>
      </p:sp>
      <p:sp>
        <p:nvSpPr>
          <p:cNvPr id="26" name="Shape 24"/>
          <p:cNvSpPr/>
          <p:nvPr/>
        </p:nvSpPr>
        <p:spPr>
          <a:xfrm>
            <a:off x="566928" y="4339742"/>
            <a:ext cx="11057839" cy="643738"/>
          </a:xfrm>
          <a:prstGeom prst="rect">
            <a:avLst/>
          </a:prstGeom>
          <a:solidFill>
            <a:srgbClr val="F2F6FA"/>
          </a:solidFill>
          <a:ln w="12700">
            <a:solidFill>
              <a:srgbClr val="D3DAE3"/>
            </a:solidFill>
            <a:prstDash val="solid"/>
          </a:ln>
        </p:spPr>
      </p:sp>
      <p:sp>
        <p:nvSpPr>
          <p:cNvPr id="27" name="Shape 25"/>
          <p:cNvSpPr/>
          <p:nvPr/>
        </p:nvSpPr>
        <p:spPr>
          <a:xfrm>
            <a:off x="713232" y="4469587"/>
            <a:ext cx="384048" cy="384048"/>
          </a:xfrm>
          <a:prstGeom prst="ellipse">
            <a:avLst/>
          </a:prstGeom>
          <a:solidFill>
            <a:srgbClr val="1F4E79"/>
          </a:solidFill>
          <a:ln/>
        </p:spPr>
      </p:sp>
      <p:sp>
        <p:nvSpPr>
          <p:cNvPr id="28" name="Text 26"/>
          <p:cNvSpPr/>
          <p:nvPr/>
        </p:nvSpPr>
        <p:spPr>
          <a:xfrm>
            <a:off x="713232" y="4469587"/>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1225296" y="4339742"/>
            <a:ext cx="5750076" cy="64373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"Chốt báo cáo" → xác nhận</a:t>
            </a:r>
            <a:endParaRPr lang="en-US" sz="1400" dirty="0"/>
          </a:p>
        </p:txBody>
      </p:sp>
      <p:sp>
        <p:nvSpPr>
          <p:cNvPr id="30" name="Text 28"/>
          <p:cNvSpPr/>
          <p:nvPr/>
        </p:nvSpPr>
        <p:spPr>
          <a:xfrm>
            <a:off x="7085951" y="4339742"/>
            <a:ext cx="4088209" cy="6437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Tiêu đề chuyển "(ĐÃ CHỐT)", slide đổi nhãn "BẢN NHÁP" thành "ĐÃ CHỐT"</a:t>
            </a:r>
            <a:endParaRPr lang="en-US" sz="1200" dirty="0"/>
          </a:p>
        </p:txBody>
      </p:sp>
      <p:sp>
        <p:nvSpPr>
          <p:cNvPr id="31" name="Shape 29"/>
          <p:cNvSpPr/>
          <p:nvPr/>
        </p:nvSpPr>
        <p:spPr>
          <a:xfrm>
            <a:off x="566928" y="5074920"/>
            <a:ext cx="11057839" cy="1051560"/>
          </a:xfrm>
          <a:prstGeom prst="rect">
            <a:avLst/>
          </a:prstGeom>
          <a:solidFill>
            <a:srgbClr val="FFF6E5"/>
          </a:solidFill>
          <a:ln w="12700">
            <a:solidFill>
              <a:srgbClr val="FFF6E5"/>
            </a:solidFill>
            <a:prstDash val="solid"/>
          </a:ln>
        </p:spPr>
      </p:sp>
      <p:sp>
        <p:nvSpPr>
          <p:cNvPr id="32" name="Shape 30"/>
          <p:cNvSpPr/>
          <p:nvPr/>
        </p:nvSpPr>
        <p:spPr>
          <a:xfrm>
            <a:off x="566928" y="5074920"/>
            <a:ext cx="64008" cy="1051560"/>
          </a:xfrm>
          <a:prstGeom prst="rect">
            <a:avLst/>
          </a:prstGeom>
          <a:solidFill>
            <a:srgbClr val="B26A00"/>
          </a:solidFill>
          <a:ln w="12700">
            <a:solidFill>
              <a:srgbClr val="B26A00"/>
            </a:solidFill>
            <a:prstDash val="solid"/>
          </a:ln>
        </p:spPr>
      </p:sp>
      <p:sp>
        <p:nvSpPr>
          <p:cNvPr id="33" name="Text 31"/>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Sau khi chốt: </a:t>
            </a:r>
            <a:pPr indent="0" marL="0">
              <a:lnSpc>
                <a:spcPts val="1900"/>
              </a:lnSpc>
              <a:buNone/>
            </a:pPr>
            <a:r>
              <a:rPr lang="en-US" sz="1300" dirty="0">
                <a:solidFill>
                  <a:srgbClr val="1A1A1A"/>
                </a:solidFill>
                <a:latin typeface="Arial" pitchFamily="34" charset="0"/>
                <a:ea typeface="Arial" pitchFamily="34" charset="-122"/>
                <a:cs typeface="Arial" pitchFamily="34" charset="-120"/>
              </a:rPr>
              <a:t>không sửa được số, ghi chú hay kíp trực ("Báo cáo đã chốt."). Cần sửa thì bấm "Mở khóa" — mở ngay, không hỏi lại — sửa xong nhớ chốt lại.</a:t>
            </a:r>
            <a:endParaRPr lang="en-US" sz="1300" dirty="0"/>
          </a:p>
        </p:txBody>
      </p:sp>
      <p:sp>
        <p:nvSpPr>
          <p:cNvPr id="34" name="Text 3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5" name="Text 3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Thứ tự slide khi trình chiếu (và trong tệp PPTX)</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992112" cy="1417320"/>
          </a:xfrm>
          <a:prstGeom prst="roundRect">
            <a:avLst>
              <a:gd name="adj" fmla="val 5161"/>
            </a:avLst>
          </a:prstGeom>
          <a:solidFill>
            <a:srgbClr val="1F4E79"/>
          </a:solidFill>
          <a:ln w="12700">
            <a:solidFill>
              <a:srgbClr val="1F4E79"/>
            </a:solidFill>
            <a:prstDash val="solid"/>
          </a:ln>
        </p:spPr>
      </p:sp>
      <p:sp>
        <p:nvSpPr>
          <p:cNvPr id="7" name="Text 5"/>
          <p:cNvSpPr/>
          <p:nvPr/>
        </p:nvSpPr>
        <p:spPr>
          <a:xfrm>
            <a:off x="676656" y="1453896"/>
            <a:ext cx="1772656"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Tổng quan</a:t>
            </a:r>
            <a:endParaRPr lang="en-US" sz="1400" dirty="0"/>
          </a:p>
        </p:txBody>
      </p:sp>
      <p:sp>
        <p:nvSpPr>
          <p:cNvPr id="8" name="Text 6"/>
          <p:cNvSpPr/>
          <p:nvPr/>
        </p:nvSpPr>
        <p:spPr>
          <a:xfrm>
            <a:off x="676656" y="1911096"/>
            <a:ext cx="1772656"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Nhãn nháp/chốt, kíp trực, tiêu chí toàn viện, ô còn trống</a:t>
            </a:r>
            <a:endParaRPr lang="en-US" sz="1100" dirty="0"/>
          </a:p>
        </p:txBody>
      </p:sp>
      <p:sp>
        <p:nvSpPr>
          <p:cNvPr id="9" name="Text 7"/>
          <p:cNvSpPr/>
          <p:nvPr/>
        </p:nvSpPr>
        <p:spPr>
          <a:xfrm>
            <a:off x="2559040" y="18699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2833360" y="1325880"/>
            <a:ext cx="1992112" cy="1417320"/>
          </a:xfrm>
          <a:prstGeom prst="roundRect">
            <a:avLst>
              <a:gd name="adj" fmla="val 5161"/>
            </a:avLst>
          </a:prstGeom>
          <a:solidFill>
            <a:srgbClr val="F2F6FA"/>
          </a:solidFill>
          <a:ln w="12700">
            <a:solidFill>
              <a:srgbClr val="D3DAE3"/>
            </a:solidFill>
            <a:prstDash val="solid"/>
          </a:ln>
        </p:spPr>
      </p:sp>
      <p:sp>
        <p:nvSpPr>
          <p:cNvPr id="11" name="Text 9"/>
          <p:cNvSpPr/>
          <p:nvPr/>
        </p:nvSpPr>
        <p:spPr>
          <a:xfrm>
            <a:off x="2943088" y="1453896"/>
            <a:ext cx="1772656"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Ghi chú chung</a:t>
            </a:r>
            <a:endParaRPr lang="en-US" sz="1400" dirty="0"/>
          </a:p>
        </p:txBody>
      </p:sp>
      <p:sp>
        <p:nvSpPr>
          <p:cNvPr id="12" name="Text 10"/>
          <p:cNvSpPr/>
          <p:nvPr/>
        </p:nvSpPr>
        <p:spPr>
          <a:xfrm>
            <a:off x="2943088" y="1911096"/>
            <a:ext cx="1772656"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Nếu có. Dài thì tự tách "(1/3)", "(2/3)"…</a:t>
            </a:r>
            <a:endParaRPr lang="en-US" sz="1100" dirty="0"/>
          </a:p>
        </p:txBody>
      </p:sp>
      <p:sp>
        <p:nvSpPr>
          <p:cNvPr id="13" name="Text 11"/>
          <p:cNvSpPr/>
          <p:nvPr/>
        </p:nvSpPr>
        <p:spPr>
          <a:xfrm>
            <a:off x="4825472" y="18699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5099792" y="1325880"/>
            <a:ext cx="1992112" cy="1417320"/>
          </a:xfrm>
          <a:prstGeom prst="roundRect">
            <a:avLst>
              <a:gd name="adj" fmla="val 5161"/>
            </a:avLst>
          </a:prstGeom>
          <a:solidFill>
            <a:srgbClr val="0E7C7B"/>
          </a:solidFill>
          <a:ln w="12700">
            <a:solidFill>
              <a:srgbClr val="0E7C7B"/>
            </a:solidFill>
            <a:prstDash val="solid"/>
          </a:ln>
        </p:spPr>
      </p:sp>
      <p:sp>
        <p:nvSpPr>
          <p:cNvPr id="15" name="Text 13"/>
          <p:cNvSpPr/>
          <p:nvPr/>
        </p:nvSpPr>
        <p:spPr>
          <a:xfrm>
            <a:off x="5209520" y="1453896"/>
            <a:ext cx="1772656"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Hoạt động điều trị</a:t>
            </a:r>
            <a:endParaRPr lang="en-US" sz="1400" dirty="0"/>
          </a:p>
        </p:txBody>
      </p:sp>
      <p:sp>
        <p:nvSpPr>
          <p:cNvPr id="16" name="Text 14"/>
          <p:cNvSpPr/>
          <p:nvPr/>
        </p:nvSpPr>
        <p:spPr>
          <a:xfrm>
            <a:off x="5209520" y="1911096"/>
            <a:ext cx="1772656"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Bảng các khoa nội trú, dòng TỔNG CỘNG cuối bảng</a:t>
            </a:r>
            <a:endParaRPr lang="en-US" sz="1100" dirty="0"/>
          </a:p>
        </p:txBody>
      </p:sp>
      <p:sp>
        <p:nvSpPr>
          <p:cNvPr id="17" name="Text 15"/>
          <p:cNvSpPr/>
          <p:nvPr/>
        </p:nvSpPr>
        <p:spPr>
          <a:xfrm>
            <a:off x="7091904" y="18699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8" name="Shape 16"/>
          <p:cNvSpPr/>
          <p:nvPr/>
        </p:nvSpPr>
        <p:spPr>
          <a:xfrm>
            <a:off x="7366224" y="1325880"/>
            <a:ext cx="1992112" cy="1417320"/>
          </a:xfrm>
          <a:prstGeom prst="roundRect">
            <a:avLst>
              <a:gd name="adj" fmla="val 5161"/>
            </a:avLst>
          </a:prstGeom>
          <a:solidFill>
            <a:srgbClr val="F2F6FA"/>
          </a:solidFill>
          <a:ln w="12700">
            <a:solidFill>
              <a:srgbClr val="D3DAE3"/>
            </a:solidFill>
            <a:prstDash val="solid"/>
          </a:ln>
        </p:spPr>
      </p:sp>
      <p:sp>
        <p:nvSpPr>
          <p:cNvPr id="19" name="Text 17"/>
          <p:cNvSpPr/>
          <p:nvPr/>
        </p:nvSpPr>
        <p:spPr>
          <a:xfrm>
            <a:off x="7475952" y="1453896"/>
            <a:ext cx="1772656"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Từng khoa</a:t>
            </a:r>
            <a:endParaRPr lang="en-US" sz="1400" dirty="0"/>
          </a:p>
        </p:txBody>
      </p:sp>
      <p:sp>
        <p:nvSpPr>
          <p:cNvPr id="20" name="Text 18"/>
          <p:cNvSpPr/>
          <p:nvPr/>
        </p:nvSpPr>
        <p:spPr>
          <a:xfrm>
            <a:off x="7475952" y="1911096"/>
            <a:ext cx="1772656"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Bảng TIÊU CHÍ / SỐ LIỆU, ô chữ, rồi các slide "&lt;Khoa&gt; — Ghi chú"</a:t>
            </a:r>
            <a:endParaRPr lang="en-US" sz="1100" dirty="0"/>
          </a:p>
        </p:txBody>
      </p:sp>
      <p:sp>
        <p:nvSpPr>
          <p:cNvPr id="21" name="Text 19"/>
          <p:cNvSpPr/>
          <p:nvPr/>
        </p:nvSpPr>
        <p:spPr>
          <a:xfrm>
            <a:off x="9358335" y="18699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9632655" y="1325880"/>
            <a:ext cx="1992112" cy="1417320"/>
          </a:xfrm>
          <a:prstGeom prst="roundRect">
            <a:avLst>
              <a:gd name="adj" fmla="val 5161"/>
            </a:avLst>
          </a:prstGeom>
          <a:solidFill>
            <a:srgbClr val="1F4E79"/>
          </a:solidFill>
          <a:ln w="12700">
            <a:solidFill>
              <a:srgbClr val="1F4E79"/>
            </a:solidFill>
            <a:prstDash val="solid"/>
          </a:ln>
        </p:spPr>
      </p:sp>
      <p:sp>
        <p:nvSpPr>
          <p:cNvPr id="23" name="Text 21"/>
          <p:cNvSpPr/>
          <p:nvPr/>
        </p:nvSpPr>
        <p:spPr>
          <a:xfrm>
            <a:off x="9742383" y="1453896"/>
            <a:ext cx="1772656"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Công suất giường</a:t>
            </a:r>
            <a:endParaRPr lang="en-US" sz="1400" dirty="0"/>
          </a:p>
        </p:txBody>
      </p:sp>
      <p:sp>
        <p:nvSpPr>
          <p:cNvPr id="24" name="Text 22"/>
          <p:cNvSpPr/>
          <p:nvPr/>
        </p:nvSpPr>
        <p:spPr>
          <a:xfrm>
            <a:off x="9742383" y="1911096"/>
            <a:ext cx="1772656"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Biểu đồ vòng toàn viện và thanh % theo khoa</a:t>
            </a:r>
            <a:endParaRPr lang="en-US" sz="1100" dirty="0"/>
          </a:p>
        </p:txBody>
      </p:sp>
      <p:sp>
        <p:nvSpPr>
          <p:cNvPr id="25" name="Text 23"/>
          <p:cNvSpPr/>
          <p:nvPr/>
        </p:nvSpPr>
        <p:spPr>
          <a:xfrm>
            <a:off x="566928" y="3017520"/>
            <a:ext cx="11057839" cy="32278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Tổng quan chỉ hiện tiêu chí được quản trị tích "Hiện ở màn Tổng quan". Chưa tích gì thì slide nhắc cách cấu hình.</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Công suất giường tô màu: từ 90% đỏ · từ 80% cam · từ 60% xanh lá · dưới 60% xanh dương.</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Số trên slide là số đang lưu lúc mở — khoa sửa thêm thì bấm F5 để tải lại.</a:t>
            </a:r>
            <a:endParaRPr lang="en-US" sz="1300" dirty="0"/>
          </a:p>
        </p:txBody>
      </p:sp>
      <p:sp>
        <p:nvSpPr>
          <p:cNvPr id="26" name="Text 24"/>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27" name="Text 25"/>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Slide Tổng quan khi trình chiếu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8a-trinh-chieu-tong-quan.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Nhãn "BẢN NHÁP" — sau khi chốt đổi thành "ĐÃ CHỐT"</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Khối KÍP TRỰC LÃNH ĐẠO</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Bảng tiêu chí gộp toàn viện: các khoa cùng Nhãn gộp được cộng dồn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Thanh đỏ "Ô BẮT BUỘC CÒN TRỐNG: 1 khoa: Khoa Mắt (1)"</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Thanh điều khiển dưới cùng, nút "⬇ PPTX", bộ đếm 1/13</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Slide Hoạt động điều trị và slide từng khoa</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8b-hoat-dong-dieu-tri.png">    </p:cNvPr>
          <p:cNvPicPr>
            <a:picLocks noChangeAspect="1"/>
          </p:cNvPicPr>
          <p:nvPr/>
        </p:nvPicPr>
        <p:blipFill>
          <a:blip r:embed="rId1"/>
          <a:stretch>
            <a:fillRect/>
          </a:stretch>
        </p:blipFill>
        <p:spPr>
          <a:xfrm>
            <a:off x="566928" y="1631818"/>
            <a:ext cx="5414620" cy="3045724"/>
          </a:xfrm>
          <a:prstGeom prst="rect">
            <a:avLst/>
          </a:prstGeom>
        </p:spPr>
      </p:pic>
      <p:sp>
        <p:nvSpPr>
          <p:cNvPr id="7" name="Shape 4"/>
          <p:cNvSpPr/>
          <p:nvPr/>
        </p:nvSpPr>
        <p:spPr>
          <a:xfrm>
            <a:off x="566928" y="1631818"/>
            <a:ext cx="5414620" cy="3045724"/>
          </a:xfrm>
          <a:prstGeom prst="rect">
            <a:avLst/>
          </a:prstGeom>
          <a:ln w="9525">
            <a:solidFill>
              <a:srgbClr val="D3DAE3"/>
            </a:solidFill>
            <a:prstDash val="solid"/>
          </a:ln>
        </p:spPr>
      </p:sp>
      <p:pic>
        <p:nvPicPr>
          <p:cNvPr id="8" name="Image 1" descr="C:\Users\tracnn\qlbv\docs\dao-tao\anh\anh-08c-slide-khoa-lech.png">    </p:cNvPr>
          <p:cNvPicPr>
            <a:picLocks noChangeAspect="1"/>
          </p:cNvPicPr>
          <p:nvPr/>
        </p:nvPicPr>
        <p:blipFill>
          <a:blip r:embed="rId2"/>
          <a:stretch>
            <a:fillRect/>
          </a:stretch>
        </p:blipFill>
        <p:spPr>
          <a:xfrm>
            <a:off x="6210148" y="1631818"/>
            <a:ext cx="5414620" cy="3045724"/>
          </a:xfrm>
          <a:prstGeom prst="rect">
            <a:avLst/>
          </a:prstGeom>
        </p:spPr>
      </p:pic>
      <p:sp>
        <p:nvSpPr>
          <p:cNvPr id="9" name="Shape 5"/>
          <p:cNvSpPr/>
          <p:nvPr/>
        </p:nvSpPr>
        <p:spPr>
          <a:xfrm>
            <a:off x="6210148" y="1631818"/>
            <a:ext cx="5414620" cy="3045724"/>
          </a:xfrm>
          <a:prstGeom prst="rect">
            <a:avLst/>
          </a:prstGeom>
          <a:ln w="9525">
            <a:solidFill>
              <a:srgbClr val="D3DAE3"/>
            </a:solidFill>
            <a:prstDash val="solid"/>
          </a:ln>
        </p:spPr>
      </p:sp>
      <p:sp>
        <p:nvSpPr>
          <p:cNvPr id="10" name="Shape 6"/>
          <p:cNvSpPr/>
          <p:nvPr/>
        </p:nvSpPr>
        <p:spPr>
          <a:xfrm>
            <a:off x="566928" y="5074920"/>
            <a:ext cx="11057839" cy="1051560"/>
          </a:xfrm>
          <a:prstGeom prst="rect">
            <a:avLst/>
          </a:prstGeom>
          <a:solidFill>
            <a:srgbClr val="EAF5EC"/>
          </a:solidFill>
          <a:ln w="12700">
            <a:solidFill>
              <a:srgbClr val="EAF5EC"/>
            </a:solidFill>
            <a:prstDash val="solid"/>
          </a:ln>
        </p:spPr>
      </p:sp>
      <p:sp>
        <p:nvSpPr>
          <p:cNvPr id="11" name="Shape 7"/>
          <p:cNvSpPr/>
          <p:nvPr/>
        </p:nvSpPr>
        <p:spPr>
          <a:xfrm>
            <a:off x="566928" y="5074920"/>
            <a:ext cx="64008" cy="1051560"/>
          </a:xfrm>
          <a:prstGeom prst="rect">
            <a:avLst/>
          </a:prstGeom>
          <a:solidFill>
            <a:srgbClr val="2E7D32"/>
          </a:solidFill>
          <a:ln w="12700">
            <a:solidFill>
              <a:srgbClr val="2E7D32"/>
            </a:solidFill>
            <a:prstDash val="solid"/>
          </a:ln>
        </p:spPr>
      </p:sp>
      <p:sp>
        <p:nvSpPr>
          <p:cNvPr id="12" name="Text 8"/>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Đọc ảnh: </a:t>
            </a:r>
            <a:pPr indent="0" marL="0">
              <a:lnSpc>
                <a:spcPts val="1900"/>
              </a:lnSpc>
              <a:buNone/>
            </a:pPr>
            <a:r>
              <a:rPr lang="en-US" sz="1300" dirty="0">
                <a:solidFill>
                  <a:srgbClr val="1A1A1A"/>
                </a:solidFill>
                <a:latin typeface="Arial" pitchFamily="34" charset="0"/>
                <a:ea typeface="Arial" pitchFamily="34" charset="-122"/>
                <a:cs typeface="Arial" pitchFamily="34" charset="-120"/>
              </a:rPr>
              <a:t>Trái — bảng Hoạt động điều trị, mỗi khoa nội trú một dòng, dòng TỔNG CỘNG cuối bảng. Phải — slide Khoa Tai Mũi Họng có dấu "▲ 1" cạnh tên: khoa đang lệch cân đối 1. Số vào/chuyển đến tô xanh, ra viện/chuyển viện tô cam.</a:t>
            </a:r>
            <a:endParaRPr lang="en-US" sz="1300" dirty="0"/>
          </a:p>
        </p:txBody>
      </p:sp>
      <p:sp>
        <p:nvSpPr>
          <p:cNvPr id="13" name="Text 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4" name="Text 1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Slide Công suất giường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8d-cong-suat-giuong.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Trái: vòng công suất — Tổng giường · Đang dùng · Trống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Phải: thanh % theo khoa, xếp từ cao xuống thấp</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Màu: từ 90% đỏ · từ 80% cam · từ 60% xanh lá · dưới 60% xanh dương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Trên 100% nghĩa là số người bệnh nằm giường vượt số giường kê khai</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Điều khiển màn trình chiếu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189761"/>
                <a:gridCol w="3615063"/>
                <a:gridCol w="425301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Muốn làm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Bàn phím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Chuột / nút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Slide tiếp theo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 Space · PageDown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Bấm nửa PHẢI màn hình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Slide trước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 PageUp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Bấm nửa TRÁI màn hình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Về đầu / cuối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Home / End</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Nhảy tới một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Khoa" → chọn trong danh sách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Toàn màn hình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F</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Toàn màn hình (F)"</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Phóng to / thu nhỏ chữ</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  −  /  0 (về 100%)</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 · "100%" · "A+" (70%–200%)</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Đổi nền sáng / tối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 "☾" — chiếu phòng sáng nên dùng nền sáng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Xuất tệp PPTX</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 PPTX" (chỉ hiện khi có dữ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EAF5EC"/>
          </a:solidFill>
          <a:ln w="12700">
            <a:solidFill>
              <a:srgbClr val="EAF5EC"/>
            </a:solidFill>
            <a:prstDash val="solid"/>
          </a:ln>
        </p:spPr>
      </p:sp>
      <p:sp>
        <p:nvSpPr>
          <p:cNvPr id="8" name="Shape 5"/>
          <p:cNvSpPr/>
          <p:nvPr/>
        </p:nvSpPr>
        <p:spPr>
          <a:xfrm>
            <a:off x="566928" y="5074920"/>
            <a:ext cx="64008" cy="1051560"/>
          </a:xfrm>
          <a:prstGeom prst="rect">
            <a:avLst/>
          </a:prstGeom>
          <a:solidFill>
            <a:srgbClr val="2E7D32"/>
          </a:solidFill>
          <a:ln w="12700">
            <a:solidFill>
              <a:srgbClr val="2E7D32"/>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Lưu ý: </a:t>
            </a:r>
            <a:pPr indent="0" marL="0">
              <a:lnSpc>
                <a:spcPts val="1900"/>
              </a:lnSpc>
              <a:buNone/>
            </a:pPr>
            <a:r>
              <a:rPr lang="en-US" sz="1300" dirty="0">
                <a:solidFill>
                  <a:srgbClr val="1A1A1A"/>
                </a:solidFill>
                <a:latin typeface="Arial" pitchFamily="34" charset="0"/>
                <a:ea typeface="Arial" pitchFamily="34" charset="-122"/>
                <a:cs typeface="Arial" pitchFamily="34" charset="-120"/>
              </a:rPr>
              <a:t>Phím ESC chỉ thoát chế độ toàn màn hình, không đóng màn trình chiếu. Cỡ chữ và màu nền được nhớ trên từng máy tính.</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Xuất tệp: PPTX hay Excel?</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PPTX — trên màn Trình chiếu</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Tên tệp: giao-ban-YYYY-MM-DD.pptx, khổ 16:9</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Cùng thứ tự slide với màn trình chiếu, màu theo nền sáng/tối đang chọn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Bảng, chữ, biểu đồ là đối tượng PowerPoint thật — sửa được</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Bảng dài tự tách nhiều slide "(1/n)", dòng tiêu đề lặp lại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Nút đổi thành "Đang xuất…"; lỗi thì hiện "Xuất lỗi" 3 giây</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Dùng để: gửi ban giám đốc, lưu hồ sơ, chiếu ở phòng không vào được phần mềm</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Xuất Excel — trên màn Báo cáo giao ban</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Tên tệp: bao-cao-giao-ban-YYYY-MM-DD.xlsx (thêm -nhap nếu chưa chốt)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Mỗi khoa một khối: tên khoa, dòng tên tiêu chí, dòng số liệu, ghi chú khoa</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Số sửa tay được ưu tiên hơn số HIS</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Cuối tệp: GHI CHÚ CHUNG</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Dùng để: tổng hợp, làm báo cáo tuần/tháng, đối chiếu số liệu</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Ngày chưa có báo cáo thì không xuất được</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Kiểm tra tệp PPTX trước khi gửi đi</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3527450" cy="4800600"/>
          </a:xfrm>
          <a:prstGeom prst="rect">
            <a:avLst/>
          </a:prstGeom>
          <a:solidFill>
            <a:srgbClr val="F2F6FA"/>
          </a:solidFill>
          <a:ln w="12700">
            <a:solidFill>
              <a:srgbClr val="D3DAE3"/>
            </a:solidFill>
            <a:prstDash val="solid"/>
          </a:ln>
        </p:spPr>
      </p:sp>
      <p:sp>
        <p:nvSpPr>
          <p:cNvPr id="7" name="Shape 5"/>
          <p:cNvSpPr/>
          <p:nvPr/>
        </p:nvSpPr>
        <p:spPr>
          <a:xfrm>
            <a:off x="566928" y="1325880"/>
            <a:ext cx="3527450" cy="91440"/>
          </a:xfrm>
          <a:prstGeom prst="rect">
            <a:avLst/>
          </a:prstGeom>
          <a:solidFill>
            <a:srgbClr val="B26A00"/>
          </a:solidFill>
          <a:ln w="12700">
            <a:solidFill>
              <a:srgbClr val="B26A00"/>
            </a:solidFill>
            <a:prstDash val="solid"/>
          </a:ln>
        </p:spPr>
      </p:sp>
      <p:sp>
        <p:nvSpPr>
          <p:cNvPr id="8" name="Text 6"/>
          <p:cNvSpPr/>
          <p:nvPr/>
        </p:nvSpPr>
        <p:spPr>
          <a:xfrm>
            <a:off x="768096"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Định dạng ghi chú bị bỏ</a:t>
            </a:r>
            <a:endParaRPr lang="en-US" sz="1600" dirty="0"/>
          </a:p>
        </p:txBody>
      </p:sp>
      <p:sp>
        <p:nvSpPr>
          <p:cNvPr id="9" name="Text 7"/>
          <p:cNvSpPr/>
          <p:nvPr/>
        </p:nvSpPr>
        <p:spPr>
          <a:xfrm>
            <a:off x="768096"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Ghi chú chung và ghi chú khoa được xuất thành chữ thường: mất in đậm, màu, căn lề.</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Cần nhấn mạnh thì sửa lại trong PowerPoint sau khi xuất.</a:t>
            </a:r>
            <a:endParaRPr lang="en-US" sz="1300" dirty="0"/>
          </a:p>
        </p:txBody>
      </p:sp>
      <p:sp>
        <p:nvSpPr>
          <p:cNvPr id="10" name="Shape 8"/>
          <p:cNvSpPr/>
          <p:nvPr/>
        </p:nvSpPr>
        <p:spPr>
          <a:xfrm>
            <a:off x="4332122" y="1325880"/>
            <a:ext cx="3527450" cy="4800600"/>
          </a:xfrm>
          <a:prstGeom prst="rect">
            <a:avLst/>
          </a:prstGeom>
          <a:solidFill>
            <a:srgbClr val="F2F6FA"/>
          </a:solidFill>
          <a:ln w="12700">
            <a:solidFill>
              <a:srgbClr val="D3DAE3"/>
            </a:solidFill>
            <a:prstDash val="solid"/>
          </a:ln>
        </p:spPr>
      </p:sp>
      <p:sp>
        <p:nvSpPr>
          <p:cNvPr id="11" name="Shape 9"/>
          <p:cNvSpPr/>
          <p:nvPr/>
        </p:nvSpPr>
        <p:spPr>
          <a:xfrm>
            <a:off x="4332122" y="1325880"/>
            <a:ext cx="3527450" cy="91440"/>
          </a:xfrm>
          <a:prstGeom prst="rect">
            <a:avLst/>
          </a:prstGeom>
          <a:solidFill>
            <a:srgbClr val="C62828"/>
          </a:solidFill>
          <a:ln w="12700">
            <a:solidFill>
              <a:srgbClr val="C62828"/>
            </a:solidFill>
            <a:prstDash val="solid"/>
          </a:ln>
        </p:spPr>
      </p:sp>
      <p:sp>
        <p:nvSpPr>
          <p:cNvPr id="12" name="Text 10"/>
          <p:cNvSpPr/>
          <p:nvPr/>
        </p:nvSpPr>
        <p:spPr>
          <a:xfrm>
            <a:off x="4533290"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Ô chữ quá dài có thể bị bỏ</a:t>
            </a:r>
            <a:endParaRPr lang="en-US" sz="1600" dirty="0"/>
          </a:p>
        </p:txBody>
      </p:sp>
      <p:sp>
        <p:nvSpPr>
          <p:cNvPr id="13" name="Text 11"/>
          <p:cNvSpPr/>
          <p:nvPr/>
        </p:nvSpPr>
        <p:spPr>
          <a:xfrm>
            <a:off x="4533290"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Tiêu chí dạng chữ không vừa slide sẽ KHÔNG có trong tệp, và không có thông báo.</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Mở tệp, lướt các slide khoa có ô chữ dài để kiểm tra.</a:t>
            </a:r>
            <a:endParaRPr lang="en-US" sz="1300" dirty="0"/>
          </a:p>
        </p:txBody>
      </p:sp>
      <p:sp>
        <p:nvSpPr>
          <p:cNvPr id="14" name="Shape 12"/>
          <p:cNvSpPr/>
          <p:nvPr/>
        </p:nvSpPr>
        <p:spPr>
          <a:xfrm>
            <a:off x="8097317" y="1325880"/>
            <a:ext cx="3527450" cy="4800600"/>
          </a:xfrm>
          <a:prstGeom prst="rect">
            <a:avLst/>
          </a:prstGeom>
          <a:solidFill>
            <a:srgbClr val="F2F6FA"/>
          </a:solidFill>
          <a:ln w="12700">
            <a:solidFill>
              <a:srgbClr val="D3DAE3"/>
            </a:solidFill>
            <a:prstDash val="solid"/>
          </a:ln>
        </p:spPr>
      </p:sp>
      <p:sp>
        <p:nvSpPr>
          <p:cNvPr id="15" name="Shape 13"/>
          <p:cNvSpPr/>
          <p:nvPr/>
        </p:nvSpPr>
        <p:spPr>
          <a:xfrm>
            <a:off x="8097317" y="1325880"/>
            <a:ext cx="3527450" cy="91440"/>
          </a:xfrm>
          <a:prstGeom prst="rect">
            <a:avLst/>
          </a:prstGeom>
          <a:solidFill>
            <a:srgbClr val="2E7D32"/>
          </a:solidFill>
          <a:ln w="12700">
            <a:solidFill>
              <a:srgbClr val="2E7D32"/>
            </a:solidFill>
            <a:prstDash val="solid"/>
          </a:ln>
        </p:spPr>
      </p:sp>
      <p:sp>
        <p:nvSpPr>
          <p:cNvPr id="16" name="Text 14"/>
          <p:cNvSpPr/>
          <p:nvPr/>
        </p:nvSpPr>
        <p:spPr>
          <a:xfrm>
            <a:off x="8298485" y="1600200"/>
            <a:ext cx="3125114"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Nhãn BẢN NHÁP</a:t>
            </a:r>
            <a:endParaRPr lang="en-US" sz="1600" dirty="0"/>
          </a:p>
        </p:txBody>
      </p:sp>
      <p:sp>
        <p:nvSpPr>
          <p:cNvPr id="17" name="Text 15"/>
          <p:cNvSpPr/>
          <p:nvPr/>
        </p:nvSpPr>
        <p:spPr>
          <a:xfrm>
            <a:off x="8298485" y="2313432"/>
            <a:ext cx="3125114" cy="3611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Xuất trước khi chốt thì slide Tổng quan mang nhãn "BẢN NHÁP".</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Muốn tệp lưu trữ ghi "ĐÃ CHỐT" thì chốt báo cáo trước, rồi tải lại màn trình chiếu (F5) và xuất.</a:t>
            </a:r>
            <a:endParaRPr lang="en-US" sz="1300" dirty="0"/>
          </a:p>
        </p:txBody>
      </p:sp>
      <p:sp>
        <p:nvSpPr>
          <p:cNvPr id="18" name="Text 1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9" name="Text 1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4</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Phân quyền và vai trò</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Cấp quyền dùng module giao ban cho một tài khoản — người quản trị hệ thống (superadministrator)</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Hai quyền, hai vai trò của module giao ban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Quyền là từng việc được phép làm. Vai trò là "gói" nhiều quyền. Nên cấp theo vai trò.</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508737"/>
                <a:gridCol w="4678317"/>
                <a:gridCol w="287078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Vai trò (ô tích trong cửa sổ Roles)</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Gồm quyền (ô tích trong cửa sổ Permissions)</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Dành cho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Giao ban - Nhập liệu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Báo cáo giao ban - Xem/nhập theo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Cán bộ nhập liệu các khoa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Giao ban - Quản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Báo cáo giao ban - Xem/nhập theo khoa</a:t>
                      </a:r>
                      <a:endParaRPr lang="en-US" sz="1200" dirty="0">
                        <a:latin typeface="Arial" charset="0"/>
                        <a:ea typeface="Arial" charset="0"/>
                        <a:cs typeface="Arial" charset="0"/>
                      </a:endParaRPr>
                    </a:p>
                    <a:p>
                      <a:pPr indent="0" marL="0">
                        <a:buNone/>
                      </a:pPr>
                      <a:r>
                        <a:rPr lang="en-US" sz="1200" dirty="0">
                          <a:solidFill>
                            <a:srgbClr val="1A1A1A"/>
                          </a:solidFill>
                          <a:latin typeface="Arial" pitchFamily="34" charset="0"/>
                          <a:ea typeface="Arial" pitchFamily="34" charset="-122"/>
                          <a:cs typeface="Arial" pitchFamily="34" charset="-120"/>
                        </a:rPr>
                        <a:t>Báo cáo giao ban - Quản trị (lấy số liệu, chốt, cấu hình)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Phòng KHTH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Administrator</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Có sẵn cả hai quyền giao ban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Quản trị hệ thống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Có vai trò vẫn chưa đủ với tài khoản khoa: </a:t>
            </a:r>
            <a:pPr indent="0" marL="0">
              <a:lnSpc>
                <a:spcPts val="1900"/>
              </a:lnSpc>
              <a:buNone/>
            </a:pPr>
            <a:r>
              <a:rPr lang="en-US" sz="1300" dirty="0">
                <a:solidFill>
                  <a:srgbClr val="1A1A1A"/>
                </a:solidFill>
                <a:latin typeface="Arial" pitchFamily="34" charset="0"/>
                <a:ea typeface="Arial" pitchFamily="34" charset="-122"/>
                <a:cs typeface="Arial" pitchFamily="34" charset="-120"/>
              </a:rPr>
              <a:t>phải gán thêm khoa ở Cấu hình giao ban → "Gán tài khoản HIS ↔ khoa" (Phần 5). Chưa gán thì màn hình báo "Bạn chưa được phân công khoa nào".</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Cấp vai trò giao ban cho một tài khoản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Chỉ tài khoản có vai trò SuperAdministrator mới thấy màn hình này.</a:t>
            </a:r>
            <a:endParaRPr lang="en-US" sz="1300" dirty="0"/>
          </a:p>
        </p:txBody>
      </p:sp>
      <p:sp>
        <p:nvSpPr>
          <p:cNvPr id="7" name="Shape 5"/>
          <p:cNvSpPr/>
          <p:nvPr/>
        </p:nvSpPr>
        <p:spPr>
          <a:xfrm>
            <a:off x="566928" y="1709928"/>
            <a:ext cx="11057839" cy="454152"/>
          </a:xfrm>
          <a:prstGeom prst="rect">
            <a:avLst/>
          </a:prstGeom>
          <a:solidFill>
            <a:srgbClr val="F2F6FA"/>
          </a:solidFill>
          <a:ln w="12700">
            <a:solidFill>
              <a:srgbClr val="D3DAE3"/>
            </a:solidFill>
            <a:prstDash val="solid"/>
          </a:ln>
        </p:spPr>
      </p:sp>
      <p:sp>
        <p:nvSpPr>
          <p:cNvPr id="8" name="Shape 6"/>
          <p:cNvSpPr/>
          <p:nvPr/>
        </p:nvSpPr>
        <p:spPr>
          <a:xfrm>
            <a:off x="713232" y="1744980"/>
            <a:ext cx="384048" cy="384048"/>
          </a:xfrm>
          <a:prstGeom prst="ellipse">
            <a:avLst/>
          </a:prstGeom>
          <a:solidFill>
            <a:srgbClr val="1F4E79"/>
          </a:solidFill>
          <a:ln/>
        </p:spPr>
      </p:sp>
      <p:sp>
        <p:nvSpPr>
          <p:cNvPr id="9" name="Text 7"/>
          <p:cNvSpPr/>
          <p:nvPr/>
        </p:nvSpPr>
        <p:spPr>
          <a:xfrm>
            <a:off x="713232" y="17449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Vào menu Thiết lập hệ thống → Quyền và Vai trò</a:t>
            </a:r>
            <a:endParaRPr lang="en-US" sz="1400" dirty="0"/>
          </a:p>
        </p:txBody>
      </p:sp>
      <p:sp>
        <p:nvSpPr>
          <p:cNvPr id="11" name="Text 9"/>
          <p:cNvSpPr/>
          <p:nvPr/>
        </p:nvSpPr>
        <p:spPr>
          <a:xfrm>
            <a:off x="7085951" y="170992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Bảng danh sách người dùng: Tên đăng nhập, Họ và tên, Email, Kích hoạt</a:t>
            </a:r>
            <a:endParaRPr lang="en-US" sz="1200" dirty="0"/>
          </a:p>
        </p:txBody>
      </p:sp>
      <p:sp>
        <p:nvSpPr>
          <p:cNvPr id="12" name="Shape 10"/>
          <p:cNvSpPr/>
          <p:nvPr/>
        </p:nvSpPr>
        <p:spPr>
          <a:xfrm>
            <a:off x="566928" y="2273808"/>
            <a:ext cx="11057839" cy="454152"/>
          </a:xfrm>
          <a:prstGeom prst="rect">
            <a:avLst/>
          </a:prstGeom>
          <a:solidFill>
            <a:srgbClr val="FFFFFF"/>
          </a:solidFill>
          <a:ln w="12700">
            <a:solidFill>
              <a:srgbClr val="D3DAE3"/>
            </a:solidFill>
            <a:prstDash val="solid"/>
          </a:ln>
        </p:spPr>
      </p:sp>
      <p:sp>
        <p:nvSpPr>
          <p:cNvPr id="13" name="Shape 11"/>
          <p:cNvSpPr/>
          <p:nvPr/>
        </p:nvSpPr>
        <p:spPr>
          <a:xfrm>
            <a:off x="713232" y="2308860"/>
            <a:ext cx="384048" cy="384048"/>
          </a:xfrm>
          <a:prstGeom prst="ellipse">
            <a:avLst/>
          </a:prstGeom>
          <a:solidFill>
            <a:srgbClr val="1F4E79"/>
          </a:solidFill>
          <a:ln/>
        </p:spPr>
      </p:sp>
      <p:sp>
        <p:nvSpPr>
          <p:cNvPr id="14" name="Text 12"/>
          <p:cNvSpPr/>
          <p:nvPr/>
        </p:nvSpPr>
        <p:spPr>
          <a:xfrm>
            <a:off x="713232" y="230886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27380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Gõ tên đăng nhập hoặc họ tên vào ô "Search"</a:t>
            </a:r>
            <a:endParaRPr lang="en-US" sz="1400" dirty="0"/>
          </a:p>
        </p:txBody>
      </p:sp>
      <p:sp>
        <p:nvSpPr>
          <p:cNvPr id="16" name="Text 14"/>
          <p:cNvSpPr/>
          <p:nvPr/>
        </p:nvSpPr>
        <p:spPr>
          <a:xfrm>
            <a:off x="7085951" y="227380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Bảng lọc còn đúng tài khoản cần cấp</a:t>
            </a:r>
            <a:endParaRPr lang="en-US" sz="1200" dirty="0"/>
          </a:p>
        </p:txBody>
      </p:sp>
      <p:sp>
        <p:nvSpPr>
          <p:cNvPr id="17" name="Shape 15"/>
          <p:cNvSpPr/>
          <p:nvPr/>
        </p:nvSpPr>
        <p:spPr>
          <a:xfrm>
            <a:off x="566928" y="2837688"/>
            <a:ext cx="11057839" cy="454152"/>
          </a:xfrm>
          <a:prstGeom prst="rect">
            <a:avLst/>
          </a:prstGeom>
          <a:solidFill>
            <a:srgbClr val="F2F6FA"/>
          </a:solidFill>
          <a:ln w="12700">
            <a:solidFill>
              <a:srgbClr val="D3DAE3"/>
            </a:solidFill>
            <a:prstDash val="solid"/>
          </a:ln>
        </p:spPr>
      </p:sp>
      <p:sp>
        <p:nvSpPr>
          <p:cNvPr id="18" name="Shape 16"/>
          <p:cNvSpPr/>
          <p:nvPr/>
        </p:nvSpPr>
        <p:spPr>
          <a:xfrm>
            <a:off x="713232" y="2872740"/>
            <a:ext cx="384048" cy="384048"/>
          </a:xfrm>
          <a:prstGeom prst="ellipse">
            <a:avLst/>
          </a:prstGeom>
          <a:solidFill>
            <a:srgbClr val="1F4E79"/>
          </a:solidFill>
          <a:ln/>
        </p:spPr>
      </p:sp>
      <p:sp>
        <p:nvSpPr>
          <p:cNvPr id="19" name="Text 17"/>
          <p:cNvSpPr/>
          <p:nvPr/>
        </p:nvSpPr>
        <p:spPr>
          <a:xfrm>
            <a:off x="713232" y="287274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283768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nút đỏ "Roles" trên dòng tài khoản đó</a:t>
            </a:r>
            <a:endParaRPr lang="en-US" sz="1400" dirty="0"/>
          </a:p>
        </p:txBody>
      </p:sp>
      <p:sp>
        <p:nvSpPr>
          <p:cNvPr id="21" name="Text 19"/>
          <p:cNvSpPr/>
          <p:nvPr/>
        </p:nvSpPr>
        <p:spPr>
          <a:xfrm>
            <a:off x="7085951" y="283768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Cửa sổ "Chỉnh Sửa Vai trò" hiện ra, ô đã tích là vai trò đang có</a:t>
            </a:r>
            <a:endParaRPr lang="en-US" sz="1200" dirty="0"/>
          </a:p>
        </p:txBody>
      </p:sp>
      <p:sp>
        <p:nvSpPr>
          <p:cNvPr id="22" name="Shape 20"/>
          <p:cNvSpPr/>
          <p:nvPr/>
        </p:nvSpPr>
        <p:spPr>
          <a:xfrm>
            <a:off x="566928" y="3401568"/>
            <a:ext cx="11057839" cy="454152"/>
          </a:xfrm>
          <a:prstGeom prst="rect">
            <a:avLst/>
          </a:prstGeom>
          <a:solidFill>
            <a:srgbClr val="FFFFFF"/>
          </a:solidFill>
          <a:ln w="12700">
            <a:solidFill>
              <a:srgbClr val="D3DAE3"/>
            </a:solidFill>
            <a:prstDash val="solid"/>
          </a:ln>
        </p:spPr>
      </p:sp>
      <p:sp>
        <p:nvSpPr>
          <p:cNvPr id="23" name="Shape 21"/>
          <p:cNvSpPr/>
          <p:nvPr/>
        </p:nvSpPr>
        <p:spPr>
          <a:xfrm>
            <a:off x="713232" y="3436620"/>
            <a:ext cx="384048" cy="384048"/>
          </a:xfrm>
          <a:prstGeom prst="ellipse">
            <a:avLst/>
          </a:prstGeom>
          <a:solidFill>
            <a:srgbClr val="1F4E79"/>
          </a:solidFill>
          <a:ln/>
        </p:spPr>
      </p:sp>
      <p:sp>
        <p:nvSpPr>
          <p:cNvPr id="24" name="Text 22"/>
          <p:cNvSpPr/>
          <p:nvPr/>
        </p:nvSpPr>
        <p:spPr>
          <a:xfrm>
            <a:off x="713232" y="343662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40156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Tích "Giao ban - Nhập liệu khoa" hoặc "Giao ban - Quản trị"</a:t>
            </a:r>
            <a:endParaRPr lang="en-US" sz="1400" dirty="0"/>
          </a:p>
        </p:txBody>
      </p:sp>
      <p:sp>
        <p:nvSpPr>
          <p:cNvPr id="26" name="Text 24"/>
          <p:cNvSpPr/>
          <p:nvPr/>
        </p:nvSpPr>
        <p:spPr>
          <a:xfrm>
            <a:off x="7085951" y="340156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Không bỏ tích các vai trò khác tài khoản đang dùng</a:t>
            </a:r>
            <a:endParaRPr lang="en-US" sz="1200" dirty="0"/>
          </a:p>
        </p:txBody>
      </p:sp>
      <p:sp>
        <p:nvSpPr>
          <p:cNvPr id="27" name="Shape 25"/>
          <p:cNvSpPr/>
          <p:nvPr/>
        </p:nvSpPr>
        <p:spPr>
          <a:xfrm>
            <a:off x="566928" y="3965448"/>
            <a:ext cx="11057839" cy="454152"/>
          </a:xfrm>
          <a:prstGeom prst="rect">
            <a:avLst/>
          </a:prstGeom>
          <a:solidFill>
            <a:srgbClr val="F2F6FA"/>
          </a:solidFill>
          <a:ln w="12700">
            <a:solidFill>
              <a:srgbClr val="D3DAE3"/>
            </a:solidFill>
            <a:prstDash val="solid"/>
          </a:ln>
        </p:spPr>
      </p:sp>
      <p:sp>
        <p:nvSpPr>
          <p:cNvPr id="28" name="Shape 26"/>
          <p:cNvSpPr/>
          <p:nvPr/>
        </p:nvSpPr>
        <p:spPr>
          <a:xfrm>
            <a:off x="713232" y="4000500"/>
            <a:ext cx="384048" cy="384048"/>
          </a:xfrm>
          <a:prstGeom prst="ellipse">
            <a:avLst/>
          </a:prstGeom>
          <a:solidFill>
            <a:srgbClr val="1F4E79"/>
          </a:solidFill>
          <a:ln/>
        </p:spPr>
      </p:sp>
      <p:sp>
        <p:nvSpPr>
          <p:cNvPr id="29" name="Text 27"/>
          <p:cNvSpPr/>
          <p:nvPr/>
        </p:nvSpPr>
        <p:spPr>
          <a:xfrm>
            <a:off x="713232" y="40005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396544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"Lưu Thay Đổi"</a:t>
            </a:r>
            <a:endParaRPr lang="en-US" sz="1400" dirty="0"/>
          </a:p>
        </p:txBody>
      </p:sp>
      <p:sp>
        <p:nvSpPr>
          <p:cNvPr id="31" name="Text 29"/>
          <p:cNvSpPr/>
          <p:nvPr/>
        </p:nvSpPr>
        <p:spPr>
          <a:xfrm>
            <a:off x="7085951" y="396544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Người dùng đăng xuất rồi đăng nhập lại để menu "Báo cáo giao ban" hiện ra</a:t>
            </a:r>
            <a:endParaRPr lang="en-US" sz="1200" dirty="0"/>
          </a:p>
        </p:txBody>
      </p:sp>
      <p:sp>
        <p:nvSpPr>
          <p:cNvPr id="32" name="Shape 30"/>
          <p:cNvSpPr/>
          <p:nvPr/>
        </p:nvSpPr>
        <p:spPr>
          <a:xfrm>
            <a:off x="566928" y="4529328"/>
            <a:ext cx="11057839" cy="454152"/>
          </a:xfrm>
          <a:prstGeom prst="rect">
            <a:avLst/>
          </a:prstGeom>
          <a:solidFill>
            <a:srgbClr val="FFFFFF"/>
          </a:solidFill>
          <a:ln w="12700">
            <a:solidFill>
              <a:srgbClr val="D3DAE3"/>
            </a:solidFill>
            <a:prstDash val="solid"/>
          </a:ln>
        </p:spPr>
      </p:sp>
      <p:sp>
        <p:nvSpPr>
          <p:cNvPr id="33" name="Shape 31"/>
          <p:cNvSpPr/>
          <p:nvPr/>
        </p:nvSpPr>
        <p:spPr>
          <a:xfrm>
            <a:off x="713232" y="4564380"/>
            <a:ext cx="384048" cy="384048"/>
          </a:xfrm>
          <a:prstGeom prst="ellipse">
            <a:avLst/>
          </a:prstGeom>
          <a:solidFill>
            <a:srgbClr val="1F4E79"/>
          </a:solidFill>
          <a:ln/>
        </p:spPr>
      </p:sp>
      <p:sp>
        <p:nvSpPr>
          <p:cNvPr id="34" name="Text 32"/>
          <p:cNvSpPr/>
          <p:nvPr/>
        </p:nvSpPr>
        <p:spPr>
          <a:xfrm>
            <a:off x="713232" y="45643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3"/>
          <p:cNvSpPr/>
          <p:nvPr/>
        </p:nvSpPr>
        <p:spPr>
          <a:xfrm>
            <a:off x="1225296" y="452932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Với tài khoản khoa: sang Cấu hình giao ban gán khoa (Phần 5)</a:t>
            </a:r>
            <a:endParaRPr lang="en-US" sz="1400" dirty="0"/>
          </a:p>
        </p:txBody>
      </p:sp>
      <p:sp>
        <p:nvSpPr>
          <p:cNvPr id="36" name="Text 34"/>
          <p:cNvSpPr/>
          <p:nvPr/>
        </p:nvSpPr>
        <p:spPr>
          <a:xfrm>
            <a:off x="7085951" y="452932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Dòng "Chế độ: Khoa — phân công N khoa" xác nhận đã đúng</a:t>
            </a:r>
            <a:endParaRPr lang="en-US" sz="1200" dirty="0"/>
          </a:p>
        </p:txBody>
      </p:sp>
      <p:sp>
        <p:nvSpPr>
          <p:cNvPr id="37" name="Shape 35"/>
          <p:cNvSpPr/>
          <p:nvPr/>
        </p:nvSpPr>
        <p:spPr>
          <a:xfrm>
            <a:off x="566928" y="5074920"/>
            <a:ext cx="11057839" cy="1051560"/>
          </a:xfrm>
          <a:prstGeom prst="rect">
            <a:avLst/>
          </a:prstGeom>
          <a:solidFill>
            <a:srgbClr val="FFF6E5"/>
          </a:solidFill>
          <a:ln w="12700">
            <a:solidFill>
              <a:srgbClr val="FFF6E5"/>
            </a:solidFill>
            <a:prstDash val="solid"/>
          </a:ln>
        </p:spPr>
      </p:sp>
      <p:sp>
        <p:nvSpPr>
          <p:cNvPr id="38" name="Shape 36"/>
          <p:cNvSpPr/>
          <p:nvPr/>
        </p:nvSpPr>
        <p:spPr>
          <a:xfrm>
            <a:off x="566928" y="5074920"/>
            <a:ext cx="64008" cy="1051560"/>
          </a:xfrm>
          <a:prstGeom prst="rect">
            <a:avLst/>
          </a:prstGeom>
          <a:solidFill>
            <a:srgbClr val="B26A00"/>
          </a:solidFill>
          <a:ln w="12700">
            <a:solidFill>
              <a:srgbClr val="B26A00"/>
            </a:solidFill>
            <a:prstDash val="solid"/>
          </a:ln>
        </p:spPr>
      </p:sp>
      <p:sp>
        <p:nvSpPr>
          <p:cNvPr id="39" name="Text 3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Cấp xong mà menu chưa hiện: </a:t>
            </a:r>
            <a:pPr indent="0" marL="0">
              <a:lnSpc>
                <a:spcPts val="1900"/>
              </a:lnSpc>
              <a:buNone/>
            </a:pPr>
            <a:r>
              <a:rPr lang="en-US" sz="1300" dirty="0">
                <a:solidFill>
                  <a:srgbClr val="1A1A1A"/>
                </a:solidFill>
                <a:latin typeface="Arial" pitchFamily="34" charset="0"/>
                <a:ea typeface="Arial" pitchFamily="34" charset="-122"/>
                <a:cs typeface="Arial" pitchFamily="34" charset="-120"/>
              </a:rPr>
              <a:t>nhờ CNTT chạy "php artisan cache:clear", rồi người dùng đăng nhập lại. Nếu cột "Kích hoạt" là dấu ✗ đỏ thì tài khoản đang bị khoá, phải mở trước.</a:t>
            </a:r>
            <a:endParaRPr lang="en-US" sz="1300" dirty="0"/>
          </a:p>
        </p:txBody>
      </p:sp>
      <p:sp>
        <p:nvSpPr>
          <p:cNvPr id="40" name="Text 3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41" name="Text 3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Màn Quyền và Vai trò</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10a-quan-ly-nguoi-dung.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Menu bên trái: Thiết lập hệ thống → Quyền và Vai trò</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Ô "Search" góc phải để tìm tài khoản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Cột "Kích hoạt": ✓ xanh = đang dùng, ✗ đỏ = bị khoá</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xanh "Permissions": cấp từng quyền lẻ</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đỏ "Roles": cấp theo vai trò (nên dùng)</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Cửa sổ Vai trò và cửa sổ Quyền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10b-modal-vai-tro.png">    </p:cNvPr>
          <p:cNvPicPr>
            <a:picLocks noChangeAspect="1"/>
          </p:cNvPicPr>
          <p:nvPr/>
        </p:nvPicPr>
        <p:blipFill>
          <a:blip r:embed="rId1"/>
          <a:stretch>
            <a:fillRect/>
          </a:stretch>
        </p:blipFill>
        <p:spPr>
          <a:xfrm>
            <a:off x="566928" y="2372149"/>
            <a:ext cx="3905860" cy="2708063"/>
          </a:xfrm>
          <a:prstGeom prst="rect">
            <a:avLst/>
          </a:prstGeom>
        </p:spPr>
      </p:pic>
      <p:sp>
        <p:nvSpPr>
          <p:cNvPr id="7" name="Shape 4"/>
          <p:cNvSpPr/>
          <p:nvPr/>
        </p:nvSpPr>
        <p:spPr>
          <a:xfrm>
            <a:off x="566928" y="2372149"/>
            <a:ext cx="3905860" cy="2708063"/>
          </a:xfrm>
          <a:prstGeom prst="rect">
            <a:avLst/>
          </a:prstGeom>
          <a:ln w="9525">
            <a:solidFill>
              <a:srgbClr val="D3DAE3"/>
            </a:solidFill>
            <a:prstDash val="solid"/>
          </a:ln>
        </p:spPr>
      </p:sp>
      <p:pic>
        <p:nvPicPr>
          <p:cNvPr id="8" name="Image 1" descr="C:\Users\tracnn\qlbv\docs\dao-tao\anh\anh-10c-modal-quyen.png">    </p:cNvPr>
          <p:cNvPicPr>
            <a:picLocks noChangeAspect="1"/>
          </p:cNvPicPr>
          <p:nvPr/>
        </p:nvPicPr>
        <p:blipFill>
          <a:blip r:embed="rId2"/>
          <a:stretch>
            <a:fillRect/>
          </a:stretch>
        </p:blipFill>
        <p:spPr>
          <a:xfrm>
            <a:off x="4701388" y="1626780"/>
            <a:ext cx="3905860" cy="4198799"/>
          </a:xfrm>
          <a:prstGeom prst="rect">
            <a:avLst/>
          </a:prstGeom>
        </p:spPr>
      </p:pic>
      <p:sp>
        <p:nvSpPr>
          <p:cNvPr id="9" name="Shape 5"/>
          <p:cNvSpPr/>
          <p:nvPr/>
        </p:nvSpPr>
        <p:spPr>
          <a:xfrm>
            <a:off x="4701388" y="1626780"/>
            <a:ext cx="3905860" cy="4198799"/>
          </a:xfrm>
          <a:prstGeom prst="rect">
            <a:avLst/>
          </a:prstGeom>
          <a:ln w="9525">
            <a:solidFill>
              <a:srgbClr val="D3DAE3"/>
            </a:solidFill>
            <a:prstDash val="solid"/>
          </a:ln>
        </p:spPr>
      </p:sp>
      <p:sp>
        <p:nvSpPr>
          <p:cNvPr id="10" name="Text 6"/>
          <p:cNvSpPr/>
          <p:nvPr/>
        </p:nvSpPr>
        <p:spPr>
          <a:xfrm>
            <a:off x="8881567" y="1325880"/>
            <a:ext cx="274320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Trái — "Chỉnh Sửa Vai trò" (nút Roles): hai ô "Giao ban - Nhập liệu khoa" và "Giao ban - Quản trị"</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Phải — "Chỉnh Sửa Quyền" (nút Permissions): hai ô cuối "Báo cáo giao ban - …"</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Tích xong bấm "Lưu Thay Đổi"; "Đóng" là bỏ qua, không lưu</a:t>
            </a:r>
            <a:endParaRPr lang="en-US" sz="1300" dirty="0"/>
          </a:p>
        </p:txBody>
      </p:sp>
      <p:sp>
        <p:nvSpPr>
          <p:cNvPr id="11"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2"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5</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Cấu hình giao ban (quản trị)</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Menu Báo cáo giao ban → Cấu hình giao ban — quyền giaoban-admin</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Bốn khối trên màn Cấu hình giao ban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2764460"/>
                <a:gridCol w="3827714"/>
                <a:gridCol w="4465666"/>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Khối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Dùng để</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Thao tác chính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1. Khoa hiển thị trên báo cáo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Danh sách khoa có khung trên báo cáo và slide</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TT (thứ tự), Tên hiển thị, Loại khối (Điều trị / Khám / Cận lâm sàng), Khoa HIS (gộp được nhiều), cột BID = bật/tắt khoa, nút "Tiêu chí (N)", "Lưu" từng dòng. "Thêm khoa" để tạo mới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2. Gán tài khoản HIS ↔ khoa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Quyết định cán bộ nào nhập cho khoa nào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Tìm tài khoản (≥ 2 ký tự) → chọn "Khoa được nhập" → "Lưu gán khoa". Lưu là THAY TOÀN BỘ danh sách khoa cũ của tài khoản đó</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3. Danh mục chức danh trực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Các chức danh chọn trong Kíp trực lãnh đạo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TT, Chức danh, Hoạt động, Lưu. "Thêm chức danh"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4. Người được cập nhật kíp trực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Cho người không phải quản trị nhập kíp trực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Thêm tài khoản → "Lưu danh sách". Quản trị luôn được cập nhật</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Sau khi đổi quyền / nhóm quyền </a:t>
            </a:r>
            <a:pPr indent="0" marL="0">
              <a:lnSpc>
                <a:spcPts val="1900"/>
              </a:lnSpc>
              <a:buNone/>
            </a:pPr>
            <a:r>
              <a:rPr lang="en-US" sz="1300" dirty="0">
                <a:solidFill>
                  <a:srgbClr val="1A1A1A"/>
                </a:solidFill>
                <a:latin typeface="Arial" pitchFamily="34" charset="0"/>
                <a:ea typeface="Arial" pitchFamily="34" charset="-122"/>
                <a:cs typeface="Arial" pitchFamily="34" charset="-120"/>
              </a:rPr>
              <a:t>cho một tài khoản mà màn hình chưa đổi theo: nhờ CNTT chạy "php artisan cache:clear", rồi người dùng đăng nhập lại.</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Màn Cấu hình báo cáo giao ban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11-cau-hinh-giao-ban.png">    </p:cNvPr>
          <p:cNvPicPr>
            <a:picLocks noChangeAspect="1"/>
          </p:cNvPicPr>
          <p:nvPr/>
        </p:nvPicPr>
        <p:blipFill>
          <a:blip r:embed="rId1"/>
          <a:stretch>
            <a:fillRect/>
          </a:stretch>
        </p:blipFill>
        <p:spPr>
          <a:xfrm>
            <a:off x="566928" y="1567710"/>
            <a:ext cx="7674559" cy="4316940"/>
          </a:xfrm>
          <a:prstGeom prst="rect">
            <a:avLst/>
          </a:prstGeom>
        </p:spPr>
      </p:pic>
      <p:sp>
        <p:nvSpPr>
          <p:cNvPr id="7" name="Shape 4"/>
          <p:cNvSpPr/>
          <p:nvPr/>
        </p:nvSpPr>
        <p:spPr>
          <a:xfrm>
            <a:off x="566928" y="1567710"/>
            <a:ext cx="7674559" cy="4316940"/>
          </a:xfrm>
          <a:prstGeom prst="rect">
            <a:avLst/>
          </a:prstGeom>
          <a:ln w="9525">
            <a:solidFill>
              <a:srgbClr val="D3DAE3"/>
            </a:solidFill>
            <a:prstDash val="solid"/>
          </a:ln>
        </p:spPr>
      </p:sp>
      <p:sp>
        <p:nvSpPr>
          <p:cNvPr id="8" name="Text 5"/>
          <p:cNvSpPr/>
          <p:nvPr/>
        </p:nvSpPr>
        <p:spPr>
          <a:xfrm>
            <a:off x="8515807" y="1325880"/>
            <a:ext cx="31089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Trái: bảng "Khoa hiển thị trên báo cáo" — mỗi dòng một khoa, sửa xong bấm "Lưu" cuối dòng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Cột "Khoa HIS (gộp)": Khoa Phụ Sản trong ví dụ gộp 3 khoa HIS</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"Tiêu chí (N)": số trong ngoặc là số tiêu chí đang có</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Phải: "Gán tài khoản HIS ↔ khoa"</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Cuộn xuống: Danh mục chức danh trực, Người được cập nhật kíp trực</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Khai báo tiêu chí cho một khoa</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Bấm nút "Tiêu chí (N)" trên dòng khoa — mở cửa sổ "Tiêu chí — &lt;khoa&gt; [khối]".</a:t>
            </a:r>
            <a:endParaRPr lang="en-US" sz="1300" dirty="0"/>
          </a:p>
        </p:txBody>
      </p:sp>
      <p:sp>
        <p:nvSpPr>
          <p:cNvPr id="7" name="Shape 5"/>
          <p:cNvSpPr/>
          <p:nvPr/>
        </p:nvSpPr>
        <p:spPr>
          <a:xfrm>
            <a:off x="566928" y="1709928"/>
            <a:ext cx="11057839" cy="454152"/>
          </a:xfrm>
          <a:prstGeom prst="rect">
            <a:avLst/>
          </a:prstGeom>
          <a:solidFill>
            <a:srgbClr val="F2F6FA"/>
          </a:solidFill>
          <a:ln w="12700">
            <a:solidFill>
              <a:srgbClr val="D3DAE3"/>
            </a:solidFill>
            <a:prstDash val="solid"/>
          </a:ln>
        </p:spPr>
      </p:sp>
      <p:sp>
        <p:nvSpPr>
          <p:cNvPr id="8" name="Shape 6"/>
          <p:cNvSpPr/>
          <p:nvPr/>
        </p:nvSpPr>
        <p:spPr>
          <a:xfrm>
            <a:off x="713232" y="1744980"/>
            <a:ext cx="384048" cy="384048"/>
          </a:xfrm>
          <a:prstGeom prst="ellipse">
            <a:avLst/>
          </a:prstGeom>
          <a:solidFill>
            <a:srgbClr val="1F4E79"/>
          </a:solidFill>
          <a:ln/>
        </p:spPr>
      </p:sp>
      <p:sp>
        <p:nvSpPr>
          <p:cNvPr id="9" name="Text 7"/>
          <p:cNvSpPr/>
          <p:nvPr/>
        </p:nvSpPr>
        <p:spPr>
          <a:xfrm>
            <a:off x="713232" y="17449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Nạp nhanh: "Nạp mẫu" hoặc "Nhân bản từ khoa"</a:t>
            </a:r>
            <a:endParaRPr lang="en-US" sz="1400" dirty="0"/>
          </a:p>
        </p:txBody>
      </p:sp>
      <p:sp>
        <p:nvSpPr>
          <p:cNvPr id="11" name="Text 9"/>
          <p:cNvSpPr/>
          <p:nvPr/>
        </p:nvSpPr>
        <p:spPr>
          <a:xfrm>
            <a:off x="7085951" y="170992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Mẫu có sẵn: Điều trị, Khám, Tổng dịch vụ, CĐHA, Xét nghiệm. Nhân bản hỏi thay thế hay nối thêm</a:t>
            </a:r>
            <a:endParaRPr lang="en-US" sz="1200" dirty="0"/>
          </a:p>
        </p:txBody>
      </p:sp>
      <p:sp>
        <p:nvSpPr>
          <p:cNvPr id="12" name="Shape 10"/>
          <p:cNvSpPr/>
          <p:nvPr/>
        </p:nvSpPr>
        <p:spPr>
          <a:xfrm>
            <a:off x="566928" y="2273808"/>
            <a:ext cx="11057839" cy="454152"/>
          </a:xfrm>
          <a:prstGeom prst="rect">
            <a:avLst/>
          </a:prstGeom>
          <a:solidFill>
            <a:srgbClr val="FFFFFF"/>
          </a:solidFill>
          <a:ln w="12700">
            <a:solidFill>
              <a:srgbClr val="D3DAE3"/>
            </a:solidFill>
            <a:prstDash val="solid"/>
          </a:ln>
        </p:spPr>
      </p:sp>
      <p:sp>
        <p:nvSpPr>
          <p:cNvPr id="13" name="Shape 11"/>
          <p:cNvSpPr/>
          <p:nvPr/>
        </p:nvSpPr>
        <p:spPr>
          <a:xfrm>
            <a:off x="713232" y="2308860"/>
            <a:ext cx="384048" cy="384048"/>
          </a:xfrm>
          <a:prstGeom prst="ellipse">
            <a:avLst/>
          </a:prstGeom>
          <a:solidFill>
            <a:srgbClr val="1F4E79"/>
          </a:solidFill>
          <a:ln/>
        </p:spPr>
      </p:sp>
      <p:sp>
        <p:nvSpPr>
          <p:cNvPr id="14" name="Text 12"/>
          <p:cNvSpPr/>
          <p:nvPr/>
        </p:nvSpPr>
        <p:spPr>
          <a:xfrm>
            <a:off x="713232" y="230886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27380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Hoặc "Thêm tiêu chí" → chọn loại</a:t>
            </a:r>
            <a:endParaRPr lang="en-US" sz="1400" dirty="0"/>
          </a:p>
        </p:txBody>
      </p:sp>
      <p:sp>
        <p:nvSpPr>
          <p:cNvPr id="16" name="Text 14"/>
          <p:cNvSpPr/>
          <p:nvPr/>
        </p:nvSpPr>
        <p:spPr>
          <a:xfrm>
            <a:off x="7085951" y="227380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Chỉ hiện các loại hợp với khối của khoa</a:t>
            </a:r>
            <a:endParaRPr lang="en-US" sz="1200" dirty="0"/>
          </a:p>
        </p:txBody>
      </p:sp>
      <p:sp>
        <p:nvSpPr>
          <p:cNvPr id="17" name="Shape 15"/>
          <p:cNvSpPr/>
          <p:nvPr/>
        </p:nvSpPr>
        <p:spPr>
          <a:xfrm>
            <a:off x="566928" y="2837688"/>
            <a:ext cx="11057839" cy="454152"/>
          </a:xfrm>
          <a:prstGeom prst="rect">
            <a:avLst/>
          </a:prstGeom>
          <a:solidFill>
            <a:srgbClr val="F2F6FA"/>
          </a:solidFill>
          <a:ln w="12700">
            <a:solidFill>
              <a:srgbClr val="D3DAE3"/>
            </a:solidFill>
            <a:prstDash val="solid"/>
          </a:ln>
        </p:spPr>
      </p:sp>
      <p:sp>
        <p:nvSpPr>
          <p:cNvPr id="18" name="Shape 16"/>
          <p:cNvSpPr/>
          <p:nvPr/>
        </p:nvSpPr>
        <p:spPr>
          <a:xfrm>
            <a:off x="713232" y="2872740"/>
            <a:ext cx="384048" cy="384048"/>
          </a:xfrm>
          <a:prstGeom prst="ellipse">
            <a:avLst/>
          </a:prstGeom>
          <a:solidFill>
            <a:srgbClr val="1F4E79"/>
          </a:solidFill>
          <a:ln/>
        </p:spPr>
      </p:sp>
      <p:sp>
        <p:nvSpPr>
          <p:cNvPr id="19" name="Text 17"/>
          <p:cNvSpPr/>
          <p:nvPr/>
        </p:nvSpPr>
        <p:spPr>
          <a:xfrm>
            <a:off x="713232" y="287274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283768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Điền Mã tiêu chí, Tên hiển thị và điều kiện lọc</a:t>
            </a:r>
            <a:endParaRPr lang="en-US" sz="1400" dirty="0"/>
          </a:p>
        </p:txBody>
      </p:sp>
      <p:sp>
        <p:nvSpPr>
          <p:cNvPr id="21" name="Text 19"/>
          <p:cNvSpPr/>
          <p:nvPr/>
        </p:nvSpPr>
        <p:spPr>
          <a:xfrm>
            <a:off x="7085951" y="283768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chữ thường a–z, số, dấu _, tối đa 32 ký tự, không trùng</a:t>
            </a:r>
            <a:endParaRPr lang="en-US" sz="1200" dirty="0"/>
          </a:p>
        </p:txBody>
      </p:sp>
      <p:sp>
        <p:nvSpPr>
          <p:cNvPr id="22" name="Shape 20"/>
          <p:cNvSpPr/>
          <p:nvPr/>
        </p:nvSpPr>
        <p:spPr>
          <a:xfrm>
            <a:off x="566928" y="3401568"/>
            <a:ext cx="11057839" cy="454152"/>
          </a:xfrm>
          <a:prstGeom prst="rect">
            <a:avLst/>
          </a:prstGeom>
          <a:solidFill>
            <a:srgbClr val="FFFFFF"/>
          </a:solidFill>
          <a:ln w="12700">
            <a:solidFill>
              <a:srgbClr val="D3DAE3"/>
            </a:solidFill>
            <a:prstDash val="solid"/>
          </a:ln>
        </p:spPr>
      </p:sp>
      <p:sp>
        <p:nvSpPr>
          <p:cNvPr id="23" name="Shape 21"/>
          <p:cNvSpPr/>
          <p:nvPr/>
        </p:nvSpPr>
        <p:spPr>
          <a:xfrm>
            <a:off x="713232" y="3436620"/>
            <a:ext cx="384048" cy="384048"/>
          </a:xfrm>
          <a:prstGeom prst="ellipse">
            <a:avLst/>
          </a:prstGeom>
          <a:solidFill>
            <a:srgbClr val="1F4E79"/>
          </a:solidFill>
          <a:ln/>
        </p:spPr>
      </p:sp>
      <p:sp>
        <p:nvSpPr>
          <p:cNvPr id="24" name="Text 22"/>
          <p:cNvSpPr/>
          <p:nvPr/>
        </p:nvSpPr>
        <p:spPr>
          <a:xfrm>
            <a:off x="713232" y="343662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40156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Kéo thẻ để đổi thứ tự</a:t>
            </a:r>
            <a:endParaRPr lang="en-US" sz="1400" dirty="0"/>
          </a:p>
        </p:txBody>
      </p:sp>
      <p:sp>
        <p:nvSpPr>
          <p:cNvPr id="26" name="Text 24"/>
          <p:cNvSpPr/>
          <p:nvPr/>
        </p:nvSpPr>
        <p:spPr>
          <a:xfrm>
            <a:off x="7085951" y="340156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Thứ tự này là thứ tự ô trên màn nhập và slide</a:t>
            </a:r>
            <a:endParaRPr lang="en-US" sz="1200" dirty="0"/>
          </a:p>
        </p:txBody>
      </p:sp>
      <p:sp>
        <p:nvSpPr>
          <p:cNvPr id="27" name="Shape 25"/>
          <p:cNvSpPr/>
          <p:nvPr/>
        </p:nvSpPr>
        <p:spPr>
          <a:xfrm>
            <a:off x="566928" y="3965448"/>
            <a:ext cx="11057839" cy="454152"/>
          </a:xfrm>
          <a:prstGeom prst="rect">
            <a:avLst/>
          </a:prstGeom>
          <a:solidFill>
            <a:srgbClr val="F2F6FA"/>
          </a:solidFill>
          <a:ln w="12700">
            <a:solidFill>
              <a:srgbClr val="D3DAE3"/>
            </a:solidFill>
            <a:prstDash val="solid"/>
          </a:ln>
        </p:spPr>
      </p:sp>
      <p:sp>
        <p:nvSpPr>
          <p:cNvPr id="28" name="Shape 26"/>
          <p:cNvSpPr/>
          <p:nvPr/>
        </p:nvSpPr>
        <p:spPr>
          <a:xfrm>
            <a:off x="713232" y="4000500"/>
            <a:ext cx="384048" cy="384048"/>
          </a:xfrm>
          <a:prstGeom prst="ellipse">
            <a:avLst/>
          </a:prstGeom>
          <a:solidFill>
            <a:srgbClr val="1F4E79"/>
          </a:solidFill>
          <a:ln/>
        </p:spPr>
      </p:sp>
      <p:sp>
        <p:nvSpPr>
          <p:cNvPr id="29" name="Text 27"/>
          <p:cNvSpPr/>
          <p:nvPr/>
        </p:nvSpPr>
        <p:spPr>
          <a:xfrm>
            <a:off x="713232" y="40005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396544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"Tính thử" với một khung giờ</a:t>
            </a:r>
            <a:endParaRPr lang="en-US" sz="1400" dirty="0"/>
          </a:p>
        </p:txBody>
      </p:sp>
      <p:sp>
        <p:nvSpPr>
          <p:cNvPr id="31" name="Text 29"/>
          <p:cNvSpPr/>
          <p:nvPr/>
        </p:nvSpPr>
        <p:spPr>
          <a:xfrm>
            <a:off x="7085951" y="396544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Bảng Tiêu chí / Giá trị / Ghi chú — "chưa ghi vào báo cáo"</a:t>
            </a:r>
            <a:endParaRPr lang="en-US" sz="1200" dirty="0"/>
          </a:p>
        </p:txBody>
      </p:sp>
      <p:sp>
        <p:nvSpPr>
          <p:cNvPr id="32" name="Shape 30"/>
          <p:cNvSpPr/>
          <p:nvPr/>
        </p:nvSpPr>
        <p:spPr>
          <a:xfrm>
            <a:off x="566928" y="4529328"/>
            <a:ext cx="11057839" cy="454152"/>
          </a:xfrm>
          <a:prstGeom prst="rect">
            <a:avLst/>
          </a:prstGeom>
          <a:solidFill>
            <a:srgbClr val="FFFFFF"/>
          </a:solidFill>
          <a:ln w="12700">
            <a:solidFill>
              <a:srgbClr val="D3DAE3"/>
            </a:solidFill>
            <a:prstDash val="solid"/>
          </a:ln>
        </p:spPr>
      </p:sp>
      <p:sp>
        <p:nvSpPr>
          <p:cNvPr id="33" name="Shape 31"/>
          <p:cNvSpPr/>
          <p:nvPr/>
        </p:nvSpPr>
        <p:spPr>
          <a:xfrm>
            <a:off x="713232" y="4564380"/>
            <a:ext cx="384048" cy="384048"/>
          </a:xfrm>
          <a:prstGeom prst="ellipse">
            <a:avLst/>
          </a:prstGeom>
          <a:solidFill>
            <a:srgbClr val="1F4E79"/>
          </a:solidFill>
          <a:ln/>
        </p:spPr>
      </p:sp>
      <p:sp>
        <p:nvSpPr>
          <p:cNvPr id="34" name="Text 32"/>
          <p:cNvSpPr/>
          <p:nvPr/>
        </p:nvSpPr>
        <p:spPr>
          <a:xfrm>
            <a:off x="713232" y="45643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3"/>
          <p:cNvSpPr/>
          <p:nvPr/>
        </p:nvSpPr>
        <p:spPr>
          <a:xfrm>
            <a:off x="1225296" y="4529328"/>
            <a:ext cx="5750076" cy="45415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"Lưu tiêu chí"</a:t>
            </a:r>
            <a:endParaRPr lang="en-US" sz="1400" dirty="0"/>
          </a:p>
        </p:txBody>
      </p:sp>
      <p:sp>
        <p:nvSpPr>
          <p:cNvPr id="36" name="Text 34"/>
          <p:cNvSpPr/>
          <p:nvPr/>
        </p:nvSpPr>
        <p:spPr>
          <a:xfrm>
            <a:off x="7085951" y="4529328"/>
            <a:ext cx="4088209" cy="45415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Thẻ lỗi tô đỏ kèm "(tiêu chí thứ N)"</a:t>
            </a:r>
            <a:endParaRPr lang="en-US" sz="1200" dirty="0"/>
          </a:p>
        </p:txBody>
      </p:sp>
      <p:sp>
        <p:nvSpPr>
          <p:cNvPr id="37" name="Shape 35"/>
          <p:cNvSpPr/>
          <p:nvPr/>
        </p:nvSpPr>
        <p:spPr>
          <a:xfrm>
            <a:off x="566928" y="5074920"/>
            <a:ext cx="11057839" cy="1051560"/>
          </a:xfrm>
          <a:prstGeom prst="rect">
            <a:avLst/>
          </a:prstGeom>
          <a:solidFill>
            <a:srgbClr val="FFF6E5"/>
          </a:solidFill>
          <a:ln w="12700">
            <a:solidFill>
              <a:srgbClr val="FFF6E5"/>
            </a:solidFill>
            <a:prstDash val="solid"/>
          </a:ln>
        </p:spPr>
      </p:sp>
      <p:sp>
        <p:nvSpPr>
          <p:cNvPr id="38" name="Shape 36"/>
          <p:cNvSpPr/>
          <p:nvPr/>
        </p:nvSpPr>
        <p:spPr>
          <a:xfrm>
            <a:off x="566928" y="5074920"/>
            <a:ext cx="64008" cy="1051560"/>
          </a:xfrm>
          <a:prstGeom prst="rect">
            <a:avLst/>
          </a:prstGeom>
          <a:solidFill>
            <a:srgbClr val="B26A00"/>
          </a:solidFill>
          <a:ln w="12700">
            <a:solidFill>
              <a:srgbClr val="B26A00"/>
            </a:solidFill>
            <a:prstDash val="solid"/>
          </a:ln>
        </p:spPr>
      </p:sp>
      <p:sp>
        <p:nvSpPr>
          <p:cNvPr id="39" name="Text 3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Nhớ: </a:t>
            </a:r>
            <a:pPr indent="0" marL="0">
              <a:lnSpc>
                <a:spcPts val="1900"/>
              </a:lnSpc>
              <a:buNone/>
            </a:pPr>
            <a:r>
              <a:rPr lang="en-US" sz="1300" dirty="0">
                <a:solidFill>
                  <a:srgbClr val="1A1A1A"/>
                </a:solidFill>
                <a:latin typeface="Arial" pitchFamily="34" charset="0"/>
                <a:ea typeface="Arial" pitchFamily="34" charset="-122"/>
                <a:cs typeface="Arial" pitchFamily="34" charset="-120"/>
              </a:rPr>
              <a:t>Khoa điều trị muốn có cảnh báo cân đối thì PHẢI dùng đúng mã: bn_cu, bn_vao, bn_chuyen_den, bn_ra_vien, bn_chuyen_vien, bn_tu_vong, bn_chuyen_khoa, hien_co. Nạp mẫu "Điều trị (mặc định)" là có sẵn.</a:t>
            </a:r>
            <a:endParaRPr lang="en-US" sz="1300" dirty="0"/>
          </a:p>
        </p:txBody>
      </p:sp>
      <p:sp>
        <p:nvSpPr>
          <p:cNvPr id="40" name="Text 3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41" name="Text 3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trường quan trọng của một tiêu chí</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189761"/>
                <a:gridCol w="7868078"/>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Trường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Ý nghĩa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Phạm vi khoa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(Đếm dịch vụ) Dịch vụ do khoa này thực hiện / do khoa này chỉ định / chỉ định phòng, dịch vụ cụ thể</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Kiểu giá trị</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(Nhập tay) số nguyên · số thập phân (≤ 2 chữ số lẻ) · phần trăm (0–100) · chữ</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Nhỏ nhất / Lớn nhất, Đơn vị</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Chặn giá trị ngoài khoảng khi khoa nhập</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Bắt buộc nhập</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Ô có dấu * đỏ; để trống thì khoa bị nêu ở "Ô BẮT BUỘC CÒN TRỐNG"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Giá trị mặc định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Điền sẵn ở lần tạo số liệu đầu tiên của ngày</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Kế thừa từ phiên trước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Chép số của báo cáo hôm trước (hiện xám nghiêng, khoa phải xác nhận)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Giải thích cho khoa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Nội dung hiện khi khoa rê chuột vào dấu ?</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Hiện ở màn Tổng quan + Nhãn gộp</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Đưa lên slide Tổng quan; các khoa cùng Nhãn gộp được cộng dồn thành một ô</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Hiện ở slide Hoạt động điều trị + Thứ tự cột</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(Chỉ khối Điều trị) Chọn cột và thứ tự cột của bảng Hoạt động điều trị</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Bảng Hoạt động điều trị gộp cột theo TÊN tiêu chí: </a:t>
            </a:r>
            <a:pPr indent="0" marL="0">
              <a:lnSpc>
                <a:spcPts val="1900"/>
              </a:lnSpc>
              <a:buNone/>
            </a:pPr>
            <a:r>
              <a:rPr lang="en-US" sz="1300" dirty="0">
                <a:solidFill>
                  <a:srgbClr val="1A1A1A"/>
                </a:solidFill>
                <a:latin typeface="Arial" pitchFamily="34" charset="0"/>
                <a:ea typeface="Arial" pitchFamily="34" charset="-122"/>
                <a:cs typeface="Arial" pitchFamily="34" charset="-120"/>
              </a:rPr>
              <a:t>hai khoa đặt tên khác nhau cho cùng một thứ (ví dụ "BN vào" và "Vào viện") sẽ thành hai cột. Thống nhất tên giữa các khoa.</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Cửa sổ khai báo tiêu chí</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pic>
        <p:nvPicPr>
          <p:cNvPr id="6" name="Image 0" descr="C:\Users\tracnn\qlbv\docs\dao-tao\anh\anh-09-khai-bao-tieu-chi.png">    </p:cNvPr>
          <p:cNvPicPr>
            <a:picLocks noChangeAspect="1"/>
          </p:cNvPicPr>
          <p:nvPr/>
        </p:nvPicPr>
        <p:blipFill>
          <a:blip r:embed="rId1"/>
          <a:stretch>
            <a:fillRect/>
          </a:stretch>
        </p:blipFill>
        <p:spPr>
          <a:xfrm>
            <a:off x="1118606" y="1325880"/>
            <a:ext cx="3828004" cy="4800600"/>
          </a:xfrm>
          <a:prstGeom prst="rect">
            <a:avLst/>
          </a:prstGeom>
        </p:spPr>
      </p:pic>
      <p:sp>
        <p:nvSpPr>
          <p:cNvPr id="7" name="Shape 4"/>
          <p:cNvSpPr/>
          <p:nvPr/>
        </p:nvSpPr>
        <p:spPr>
          <a:xfrm>
            <a:off x="1118606" y="1325880"/>
            <a:ext cx="3828004" cy="4800600"/>
          </a:xfrm>
          <a:prstGeom prst="rect">
            <a:avLst/>
          </a:prstGeom>
          <a:ln w="9525">
            <a:solidFill>
              <a:srgbClr val="D3DAE3"/>
            </a:solidFill>
            <a:prstDash val="solid"/>
          </a:ln>
        </p:spPr>
      </p:sp>
      <p:sp>
        <p:nvSpPr>
          <p:cNvPr id="8" name="Text 5"/>
          <p:cNvSpPr/>
          <p:nvPr/>
        </p:nvSpPr>
        <p:spPr>
          <a:xfrm>
            <a:off x="5772607" y="1325880"/>
            <a:ext cx="5852160"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Thanh công cụ: Thêm tiêu chí · Nạp mẫu · Nhân bản từ khoa · Tính thử</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Thẻ "Form" là nơi làm việc thường ngày; "JSON (nâng cao)" chỉ dành cho người quản trị thành thạo</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Mỗi dòng một tiêu chí: mã (chữ đỏ), tên, nhãn loại. Kéo tay nắm ⠿ bên trái để đổi thứ tự; thùng rác đỏ để xoá</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Thẻ đang mở trong ảnh: tiêu chí nhập tay "BN nặng" — Kiểu giá trị int, Nhỏ nhất 0, Bắt buộc nhập, có Giải thích cho khoa</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Mục "Màn Tổng quan": tích "Hiện ở màn Tổng quan" với Nhãn gộp "BN nặng", tích "Hiện ở slide Hoạt động điều trị" ở cột thứ 9</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Bấm "Tính thử" trước, rồi mới "Lưu tiêu chí". "Huỷ" là bỏ mọi thay đổi</a:t>
            </a:r>
            <a:endParaRPr lang="en-US" sz="1300" dirty="0"/>
          </a:p>
        </p:txBody>
      </p:sp>
      <p:sp>
        <p:nvSpPr>
          <p:cNvPr id="9" name="Text 6"/>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0" name="Text 7"/>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6</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Xử lý tình huống thường gặp</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Gặp thông báo gì → vì sao → làm gì</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Thông báo khi nhập liệu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72338"/>
          </a:xfrm>
          <a:prstGeom prst="rect">
            <a:avLst/>
          </a:prstGeom>
          <a:solidFill>
            <a:srgbClr val="FFFFFF"/>
          </a:solidFill>
          <a:ln w="12700">
            <a:solidFill>
              <a:srgbClr val="D3DAE3"/>
            </a:solidFill>
            <a:prstDash val="solid"/>
          </a:ln>
        </p:spPr>
      </p:sp>
      <p:sp>
        <p:nvSpPr>
          <p:cNvPr id="7" name="Shape 5"/>
          <p:cNvSpPr/>
          <p:nvPr/>
        </p:nvSpPr>
        <p:spPr>
          <a:xfrm>
            <a:off x="566928" y="1325880"/>
            <a:ext cx="64008" cy="872338"/>
          </a:xfrm>
          <a:prstGeom prst="rect">
            <a:avLst/>
          </a:prstGeom>
          <a:solidFill>
            <a:srgbClr val="C62828"/>
          </a:solidFill>
          <a:ln w="12700">
            <a:solidFill>
              <a:srgbClr val="C62828"/>
            </a:solidFill>
            <a:prstDash val="solid"/>
          </a:ln>
        </p:spPr>
      </p:sp>
      <p:sp>
        <p:nvSpPr>
          <p:cNvPr id="8" name="Text 6"/>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"Bạn chưa được phân công khoa nào"</a:t>
            </a:r>
            <a:endParaRPr lang="en-US" sz="1300" dirty="0"/>
          </a:p>
        </p:txBody>
      </p:sp>
      <p:sp>
        <p:nvSpPr>
          <p:cNvPr id="9" name="Text 7"/>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Tài khoản chưa được gán khoa</a:t>
            </a:r>
            <a:endParaRPr lang="en-US" sz="1200" dirty="0"/>
          </a:p>
        </p:txBody>
      </p:sp>
      <p:sp>
        <p:nvSpPr>
          <p:cNvPr id="10" name="Text 8"/>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Báo KHTH gán ở khối "Gán tài khoản HIS ↔ khoa"</a:t>
            </a:r>
            <a:endParaRPr lang="en-US" sz="1250" dirty="0"/>
          </a:p>
        </p:txBody>
      </p:sp>
      <p:sp>
        <p:nvSpPr>
          <p:cNvPr id="11" name="Shape 9"/>
          <p:cNvSpPr/>
          <p:nvPr/>
        </p:nvSpPr>
        <p:spPr>
          <a:xfrm>
            <a:off x="566928" y="2326234"/>
            <a:ext cx="11057839" cy="872338"/>
          </a:xfrm>
          <a:prstGeom prst="rect">
            <a:avLst/>
          </a:prstGeom>
          <a:solidFill>
            <a:srgbClr val="FFFFFF"/>
          </a:solidFill>
          <a:ln w="12700">
            <a:solidFill>
              <a:srgbClr val="D3DAE3"/>
            </a:solidFill>
            <a:prstDash val="solid"/>
          </a:ln>
        </p:spPr>
      </p:sp>
      <p:sp>
        <p:nvSpPr>
          <p:cNvPr id="12" name="Shape 10"/>
          <p:cNvSpPr/>
          <p:nvPr/>
        </p:nvSpPr>
        <p:spPr>
          <a:xfrm>
            <a:off x="566928" y="2326234"/>
            <a:ext cx="64008" cy="872338"/>
          </a:xfrm>
          <a:prstGeom prst="rect">
            <a:avLst/>
          </a:prstGeom>
          <a:solidFill>
            <a:srgbClr val="C62828"/>
          </a:solidFill>
          <a:ln w="12700">
            <a:solidFill>
              <a:srgbClr val="C62828"/>
            </a:solidFill>
            <a:prstDash val="solid"/>
          </a:ln>
        </p:spPr>
      </p:sp>
      <p:sp>
        <p:nvSpPr>
          <p:cNvPr id="13" name="Text 11"/>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"Chưa có số liệu cho ngày này"</a:t>
            </a:r>
            <a:endParaRPr lang="en-US" sz="1300" dirty="0"/>
          </a:p>
        </p:txBody>
      </p:sp>
      <p:sp>
        <p:nvSpPr>
          <p:cNvPr id="14" name="Text 12"/>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Chưa ai bấm Tạo số liệu cho ngày đó</a:t>
            </a:r>
            <a:endParaRPr lang="en-US" sz="1200" dirty="0"/>
          </a:p>
        </p:txBody>
      </p:sp>
      <p:sp>
        <p:nvSpPr>
          <p:cNvPr id="15" name="Text 13"/>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Tài khoản khoa được gán thì tự bấm "Tạo số liệu"; nếu không có nút, báo KHTH</a:t>
            </a:r>
            <a:endParaRPr lang="en-US" sz="1250" dirty="0"/>
          </a:p>
        </p:txBody>
      </p:sp>
      <p:sp>
        <p:nvSpPr>
          <p:cNvPr id="16" name="Shape 14"/>
          <p:cNvSpPr/>
          <p:nvPr/>
        </p:nvSpPr>
        <p:spPr>
          <a:xfrm>
            <a:off x="566928" y="3326587"/>
            <a:ext cx="11057839" cy="872338"/>
          </a:xfrm>
          <a:prstGeom prst="rect">
            <a:avLst/>
          </a:prstGeom>
          <a:solidFill>
            <a:srgbClr val="FFFFFF"/>
          </a:solidFill>
          <a:ln w="12700">
            <a:solidFill>
              <a:srgbClr val="D3DAE3"/>
            </a:solidFill>
            <a:prstDash val="solid"/>
          </a:ln>
        </p:spPr>
      </p:sp>
      <p:sp>
        <p:nvSpPr>
          <p:cNvPr id="17" name="Shape 15"/>
          <p:cNvSpPr/>
          <p:nvPr/>
        </p:nvSpPr>
        <p:spPr>
          <a:xfrm>
            <a:off x="566928" y="3326587"/>
            <a:ext cx="64008" cy="872338"/>
          </a:xfrm>
          <a:prstGeom prst="rect">
            <a:avLst/>
          </a:prstGeom>
          <a:solidFill>
            <a:srgbClr val="C62828"/>
          </a:solidFill>
          <a:ln w="12700">
            <a:solidFill>
              <a:srgbClr val="C62828"/>
            </a:solidFill>
            <a:prstDash val="solid"/>
          </a:ln>
        </p:spPr>
      </p:sp>
      <p:sp>
        <p:nvSpPr>
          <p:cNvPr id="18" name="Text 16"/>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"Báo cáo ngày này đã có số liệu. Cần lấy lại thì liên hệ phòng KHTH."</a:t>
            </a:r>
            <a:endParaRPr lang="en-US" sz="1300" dirty="0"/>
          </a:p>
        </p:txBody>
      </p:sp>
      <p:sp>
        <p:nvSpPr>
          <p:cNvPr id="19" name="Text 17"/>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Khoa chỉ được tạo số liệu một lần</a:t>
            </a:r>
            <a:endParaRPr lang="en-US" sz="1200" dirty="0"/>
          </a:p>
        </p:txBody>
      </p:sp>
      <p:sp>
        <p:nvSpPr>
          <p:cNvPr id="20" name="Text 18"/>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Sửa tay các ô sai, hoặc nhờ KHTH tạo lại</a:t>
            </a:r>
            <a:endParaRPr lang="en-US" sz="1250" dirty="0"/>
          </a:p>
        </p:txBody>
      </p:sp>
      <p:sp>
        <p:nvSpPr>
          <p:cNvPr id="21" name="Shape 19"/>
          <p:cNvSpPr/>
          <p:nvPr/>
        </p:nvSpPr>
        <p:spPr>
          <a:xfrm>
            <a:off x="566928" y="4326941"/>
            <a:ext cx="11057839" cy="872338"/>
          </a:xfrm>
          <a:prstGeom prst="rect">
            <a:avLst/>
          </a:prstGeom>
          <a:solidFill>
            <a:srgbClr val="FFFFFF"/>
          </a:solidFill>
          <a:ln w="12700">
            <a:solidFill>
              <a:srgbClr val="D3DAE3"/>
            </a:solidFill>
            <a:prstDash val="solid"/>
          </a:ln>
        </p:spPr>
      </p:sp>
      <p:sp>
        <p:nvSpPr>
          <p:cNvPr id="22" name="Shape 20"/>
          <p:cNvSpPr/>
          <p:nvPr/>
        </p:nvSpPr>
        <p:spPr>
          <a:xfrm>
            <a:off x="566928" y="4326941"/>
            <a:ext cx="64008" cy="872338"/>
          </a:xfrm>
          <a:prstGeom prst="rect">
            <a:avLst/>
          </a:prstGeom>
          <a:solidFill>
            <a:srgbClr val="C62828"/>
          </a:solidFill>
          <a:ln w="12700">
            <a:solidFill>
              <a:srgbClr val="C62828"/>
            </a:solidFill>
            <a:prstDash val="solid"/>
          </a:ln>
        </p:spPr>
      </p:sp>
      <p:sp>
        <p:nvSpPr>
          <p:cNvPr id="23" name="Text 21"/>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"Báo cáo đã chốt."</a:t>
            </a:r>
            <a:endParaRPr lang="en-US" sz="1300" dirty="0"/>
          </a:p>
        </p:txBody>
      </p:sp>
      <p:sp>
        <p:nvSpPr>
          <p:cNvPr id="24" name="Text 22"/>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KHTH đã chốt báo cáo</a:t>
            </a:r>
            <a:endParaRPr lang="en-US" sz="1200" dirty="0"/>
          </a:p>
        </p:txBody>
      </p:sp>
      <p:sp>
        <p:nvSpPr>
          <p:cNvPr id="25" name="Text 23"/>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Báo KHTH mở khóa nếu thật sự cần sửa</a:t>
            </a:r>
            <a:endParaRPr lang="en-US" sz="1250" dirty="0"/>
          </a:p>
        </p:txBody>
      </p:sp>
      <p:sp>
        <p:nvSpPr>
          <p:cNvPr id="26" name="Shape 24"/>
          <p:cNvSpPr/>
          <p:nvPr/>
        </p:nvSpPr>
        <p:spPr>
          <a:xfrm>
            <a:off x="566928" y="5327294"/>
            <a:ext cx="11057839" cy="872338"/>
          </a:xfrm>
          <a:prstGeom prst="rect">
            <a:avLst/>
          </a:prstGeom>
          <a:solidFill>
            <a:srgbClr val="FFFFFF"/>
          </a:solidFill>
          <a:ln w="12700">
            <a:solidFill>
              <a:srgbClr val="D3DAE3"/>
            </a:solidFill>
            <a:prstDash val="solid"/>
          </a:ln>
        </p:spPr>
      </p:sp>
      <p:sp>
        <p:nvSpPr>
          <p:cNvPr id="27" name="Shape 25"/>
          <p:cNvSpPr/>
          <p:nvPr/>
        </p:nvSpPr>
        <p:spPr>
          <a:xfrm>
            <a:off x="566928" y="5327294"/>
            <a:ext cx="64008" cy="872338"/>
          </a:xfrm>
          <a:prstGeom prst="rect">
            <a:avLst/>
          </a:prstGeom>
          <a:solidFill>
            <a:srgbClr val="C62828"/>
          </a:solidFill>
          <a:ln w="12700">
            <a:solidFill>
              <a:srgbClr val="C62828"/>
            </a:solidFill>
            <a:prstDash val="solid"/>
          </a:ln>
        </p:spPr>
      </p:sp>
      <p:sp>
        <p:nvSpPr>
          <p:cNvPr id="28" name="Text 26"/>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"Bạn không có quyền nhập số liệu khoa này."</a:t>
            </a:r>
            <a:endParaRPr lang="en-US" sz="1300" dirty="0"/>
          </a:p>
        </p:txBody>
      </p:sp>
      <p:sp>
        <p:nvSpPr>
          <p:cNvPr id="29" name="Text 27"/>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Khoa không nằm trong danh sách được gán</a:t>
            </a:r>
            <a:endParaRPr lang="en-US" sz="1200" dirty="0"/>
          </a:p>
        </p:txBody>
      </p:sp>
      <p:sp>
        <p:nvSpPr>
          <p:cNvPr id="30" name="Text 28"/>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Báo KHTH kiểm tra phân công</a:t>
            </a:r>
            <a:endParaRPr lang="en-US" sz="1250" dirty="0"/>
          </a:p>
        </p:txBody>
      </p:sp>
      <p:sp>
        <p:nvSpPr>
          <p:cNvPr id="31" name="Text 2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2" name="Text 3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PHẦN 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Tình huống khi rà soát và trình chiếu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72338"/>
          </a:xfrm>
          <a:prstGeom prst="rect">
            <a:avLst/>
          </a:prstGeom>
          <a:solidFill>
            <a:srgbClr val="FFFFFF"/>
          </a:solidFill>
          <a:ln w="12700">
            <a:solidFill>
              <a:srgbClr val="D3DAE3"/>
            </a:solidFill>
            <a:prstDash val="solid"/>
          </a:ln>
        </p:spPr>
      </p:sp>
      <p:sp>
        <p:nvSpPr>
          <p:cNvPr id="7" name="Shape 5"/>
          <p:cNvSpPr/>
          <p:nvPr/>
        </p:nvSpPr>
        <p:spPr>
          <a:xfrm>
            <a:off x="566928" y="1325880"/>
            <a:ext cx="64008" cy="872338"/>
          </a:xfrm>
          <a:prstGeom prst="rect">
            <a:avLst/>
          </a:prstGeom>
          <a:solidFill>
            <a:srgbClr val="C62828"/>
          </a:solidFill>
          <a:ln w="12700">
            <a:solidFill>
              <a:srgbClr val="C62828"/>
            </a:solidFill>
            <a:prstDash val="solid"/>
          </a:ln>
        </p:spPr>
      </p:sp>
      <p:sp>
        <p:nvSpPr>
          <p:cNvPr id="8" name="Text 6"/>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Khoa bị nêu ở "Ô BẮT BUỘC CÒN TRỐNG" dù ô có số</a:t>
            </a:r>
            <a:endParaRPr lang="en-US" sz="1300" dirty="0"/>
          </a:p>
        </p:txBody>
      </p:sp>
      <p:sp>
        <p:nvSpPr>
          <p:cNvPr id="9" name="Text 7"/>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Số là kế thừa (xám nghiêng) chưa xác nhận</a:t>
            </a:r>
            <a:endParaRPr lang="en-US" sz="1200" dirty="0"/>
          </a:p>
        </p:txBody>
      </p:sp>
      <p:sp>
        <p:nvSpPr>
          <p:cNvPr id="10" name="Text 8"/>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Khoa gõ lại số vào ô để xác nhận, rồi tải lại trình chiếu</a:t>
            </a:r>
            <a:endParaRPr lang="en-US" sz="1250" dirty="0"/>
          </a:p>
        </p:txBody>
      </p:sp>
      <p:sp>
        <p:nvSpPr>
          <p:cNvPr id="11" name="Shape 9"/>
          <p:cNvSpPr/>
          <p:nvPr/>
        </p:nvSpPr>
        <p:spPr>
          <a:xfrm>
            <a:off x="566928" y="2326234"/>
            <a:ext cx="11057839" cy="872338"/>
          </a:xfrm>
          <a:prstGeom prst="rect">
            <a:avLst/>
          </a:prstGeom>
          <a:solidFill>
            <a:srgbClr val="FFFFFF"/>
          </a:solidFill>
          <a:ln w="12700">
            <a:solidFill>
              <a:srgbClr val="D3DAE3"/>
            </a:solidFill>
            <a:prstDash val="solid"/>
          </a:ln>
        </p:spPr>
      </p:sp>
      <p:sp>
        <p:nvSpPr>
          <p:cNvPr id="12" name="Shape 10"/>
          <p:cNvSpPr/>
          <p:nvPr/>
        </p:nvSpPr>
        <p:spPr>
          <a:xfrm>
            <a:off x="566928" y="2326234"/>
            <a:ext cx="64008" cy="872338"/>
          </a:xfrm>
          <a:prstGeom prst="rect">
            <a:avLst/>
          </a:prstGeom>
          <a:solidFill>
            <a:srgbClr val="C62828"/>
          </a:solidFill>
          <a:ln w="12700">
            <a:solidFill>
              <a:srgbClr val="C62828"/>
            </a:solidFill>
            <a:prstDash val="solid"/>
          </a:ln>
        </p:spPr>
      </p:sp>
      <p:sp>
        <p:nvSpPr>
          <p:cNvPr id="13" name="Text 11"/>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 "Lệch cân đối: X"</a:t>
            </a:r>
            <a:endParaRPr lang="en-US" sz="1300" dirty="0"/>
          </a:p>
        </p:txBody>
      </p:sp>
      <p:sp>
        <p:nvSpPr>
          <p:cNvPr id="14" name="Text 12"/>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Các ô vào/ra/hiện có không khớp nhau</a:t>
            </a:r>
            <a:endParaRPr lang="en-US" sz="1200" dirty="0"/>
          </a:p>
        </p:txBody>
      </p:sp>
      <p:sp>
        <p:nvSpPr>
          <p:cNvPr id="15" name="Text 13"/>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Soát lại từng ô theo công thức; ưu tiên sửa gốc trên HIS</a:t>
            </a:r>
            <a:endParaRPr lang="en-US" sz="1250" dirty="0"/>
          </a:p>
        </p:txBody>
      </p:sp>
      <p:sp>
        <p:nvSpPr>
          <p:cNvPr id="16" name="Shape 14"/>
          <p:cNvSpPr/>
          <p:nvPr/>
        </p:nvSpPr>
        <p:spPr>
          <a:xfrm>
            <a:off x="566928" y="3326587"/>
            <a:ext cx="11057839" cy="872338"/>
          </a:xfrm>
          <a:prstGeom prst="rect">
            <a:avLst/>
          </a:prstGeom>
          <a:solidFill>
            <a:srgbClr val="FFFFFF"/>
          </a:solidFill>
          <a:ln w="12700">
            <a:solidFill>
              <a:srgbClr val="D3DAE3"/>
            </a:solidFill>
            <a:prstDash val="solid"/>
          </a:ln>
        </p:spPr>
      </p:sp>
      <p:sp>
        <p:nvSpPr>
          <p:cNvPr id="17" name="Shape 15"/>
          <p:cNvSpPr/>
          <p:nvPr/>
        </p:nvSpPr>
        <p:spPr>
          <a:xfrm>
            <a:off x="566928" y="3326587"/>
            <a:ext cx="64008" cy="872338"/>
          </a:xfrm>
          <a:prstGeom prst="rect">
            <a:avLst/>
          </a:prstGeom>
          <a:solidFill>
            <a:srgbClr val="C62828"/>
          </a:solidFill>
          <a:ln w="12700">
            <a:solidFill>
              <a:srgbClr val="C62828"/>
            </a:solidFill>
            <a:prstDash val="solid"/>
          </a:ln>
        </p:spPr>
      </p:sp>
      <p:sp>
        <p:nvSpPr>
          <p:cNvPr id="18" name="Text 16"/>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Tổng quan ghi "CHƯA ĐÁNH DẤU TIÊU CHÍ NÀO"</a:t>
            </a:r>
            <a:endParaRPr lang="en-US" sz="1300" dirty="0"/>
          </a:p>
        </p:txBody>
      </p:sp>
      <p:sp>
        <p:nvSpPr>
          <p:cNvPr id="19" name="Text 17"/>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Chưa tích "Hiện ở màn Tổng quan"</a:t>
            </a:r>
            <a:endParaRPr lang="en-US" sz="1200" dirty="0"/>
          </a:p>
        </p:txBody>
      </p:sp>
      <p:sp>
        <p:nvSpPr>
          <p:cNvPr id="20" name="Text 18"/>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Quản trị vào Tiêu chí của khoa, tích ô đó rồi lưu</a:t>
            </a:r>
            <a:endParaRPr lang="en-US" sz="1250" dirty="0"/>
          </a:p>
        </p:txBody>
      </p:sp>
      <p:sp>
        <p:nvSpPr>
          <p:cNvPr id="21" name="Shape 19"/>
          <p:cNvSpPr/>
          <p:nvPr/>
        </p:nvSpPr>
        <p:spPr>
          <a:xfrm>
            <a:off x="566928" y="4326941"/>
            <a:ext cx="11057839" cy="872338"/>
          </a:xfrm>
          <a:prstGeom prst="rect">
            <a:avLst/>
          </a:prstGeom>
          <a:solidFill>
            <a:srgbClr val="FFFFFF"/>
          </a:solidFill>
          <a:ln w="12700">
            <a:solidFill>
              <a:srgbClr val="D3DAE3"/>
            </a:solidFill>
            <a:prstDash val="solid"/>
          </a:ln>
        </p:spPr>
      </p:sp>
      <p:sp>
        <p:nvSpPr>
          <p:cNvPr id="22" name="Shape 20"/>
          <p:cNvSpPr/>
          <p:nvPr/>
        </p:nvSpPr>
        <p:spPr>
          <a:xfrm>
            <a:off x="566928" y="4326941"/>
            <a:ext cx="64008" cy="872338"/>
          </a:xfrm>
          <a:prstGeom prst="rect">
            <a:avLst/>
          </a:prstGeom>
          <a:solidFill>
            <a:srgbClr val="C62828"/>
          </a:solidFill>
          <a:ln w="12700">
            <a:solidFill>
              <a:srgbClr val="C62828"/>
            </a:solidFill>
            <a:prstDash val="solid"/>
          </a:ln>
        </p:spPr>
      </p:sp>
      <p:sp>
        <p:nvSpPr>
          <p:cNvPr id="23" name="Text 21"/>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Nút "⬇ PPTX" báo "Xuất lỗi"</a:t>
            </a:r>
            <a:endParaRPr lang="en-US" sz="1300" dirty="0"/>
          </a:p>
        </p:txBody>
      </p:sp>
      <p:sp>
        <p:nvSpPr>
          <p:cNvPr id="24" name="Text 22"/>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Trình duyệt không tạo được tệp</a:t>
            </a:r>
            <a:endParaRPr lang="en-US" sz="1200" dirty="0"/>
          </a:p>
        </p:txBody>
      </p:sp>
      <p:sp>
        <p:nvSpPr>
          <p:cNvPr id="25" name="Text 23"/>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Tải lại trang (F5) rồi thử lại; không được thì chụp màn hình báo CNTT</a:t>
            </a:r>
            <a:endParaRPr lang="en-US" sz="1250" dirty="0"/>
          </a:p>
        </p:txBody>
      </p:sp>
      <p:sp>
        <p:nvSpPr>
          <p:cNvPr id="26" name="Shape 24"/>
          <p:cNvSpPr/>
          <p:nvPr/>
        </p:nvSpPr>
        <p:spPr>
          <a:xfrm>
            <a:off x="566928" y="5327294"/>
            <a:ext cx="11057839" cy="872338"/>
          </a:xfrm>
          <a:prstGeom prst="rect">
            <a:avLst/>
          </a:prstGeom>
          <a:solidFill>
            <a:srgbClr val="FFFFFF"/>
          </a:solidFill>
          <a:ln w="12700">
            <a:solidFill>
              <a:srgbClr val="D3DAE3"/>
            </a:solidFill>
            <a:prstDash val="solid"/>
          </a:ln>
        </p:spPr>
      </p:sp>
      <p:sp>
        <p:nvSpPr>
          <p:cNvPr id="27" name="Shape 25"/>
          <p:cNvSpPr/>
          <p:nvPr/>
        </p:nvSpPr>
        <p:spPr>
          <a:xfrm>
            <a:off x="566928" y="5327294"/>
            <a:ext cx="64008" cy="872338"/>
          </a:xfrm>
          <a:prstGeom prst="rect">
            <a:avLst/>
          </a:prstGeom>
          <a:solidFill>
            <a:srgbClr val="C62828"/>
          </a:solidFill>
          <a:ln w="12700">
            <a:solidFill>
              <a:srgbClr val="C62828"/>
            </a:solidFill>
            <a:prstDash val="solid"/>
          </a:ln>
        </p:spPr>
      </p:sp>
      <p:sp>
        <p:nvSpPr>
          <p:cNvPr id="28" name="Text 26"/>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Slide không thấy số khoa vừa sửa</a:t>
            </a:r>
            <a:endParaRPr lang="en-US" sz="1300" dirty="0"/>
          </a:p>
        </p:txBody>
      </p:sp>
      <p:sp>
        <p:nvSpPr>
          <p:cNvPr id="29" name="Text 27"/>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Màn trình chiếu lấy số lúc mở</a:t>
            </a:r>
            <a:endParaRPr lang="en-US" sz="1200" dirty="0"/>
          </a:p>
        </p:txBody>
      </p:sp>
      <p:sp>
        <p:nvSpPr>
          <p:cNvPr id="30" name="Text 28"/>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Bấm F5 trên màn trình chiếu</a:t>
            </a:r>
            <a:endParaRPr lang="en-US" sz="1250" dirty="0"/>
          </a:p>
        </p:txBody>
      </p:sp>
      <p:sp>
        <p:nvSpPr>
          <p:cNvPr id="31" name="Text 2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32" name="Text 3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RANH GIỚI TRÁCH NHIỆM</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Việc của khoa và việc của KHTH / CNTT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CÁN BỘ KHOA tự làm</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Tạo số liệu sau 07:00, đúng ngày giao ban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Rà từng ô, sửa khi HIS sai, gõ xác nhận các ô xám nghiêng</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Điền đủ ô bắt buộc (*), ghi chú khoa</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Tự kiểm tra cảnh báo "Lệch cân đối" trước giờ giao ban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Ưu tiên sửa dữ liệu gốc trên HIS khi sai do nhập liệu</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BÁO PHÒNG KHTH / CNTT</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Chưa được gán khoa, gán sai khoa, dòng Chế độ đếm khoa lệch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Cần lấy lại số liệu từ HIS khi ngày đã có số liệu</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Cần sửa khi báo cáo đã chốt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Cần thêm / sửa tiêu chí, chức danh trực, khoa trên báo cáo</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"Lỗi lấy số liệu từ HIS", "Xuất lỗi" lặp lại — kèm ảnh chụp màn hình</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D — Báo cáo giao ban</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822960" y="1097280"/>
            <a:ext cx="10545775"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Tóm lại — năm điều cần nhớ</a:t>
            </a:r>
            <a:endParaRPr lang="en-US" sz="3200" dirty="0"/>
          </a:p>
        </p:txBody>
      </p:sp>
      <p:sp>
        <p:nvSpPr>
          <p:cNvPr id="3" name="Shape 1"/>
          <p:cNvSpPr/>
          <p:nvPr/>
        </p:nvSpPr>
        <p:spPr>
          <a:xfrm>
            <a:off x="822960" y="1920240"/>
            <a:ext cx="2926080" cy="0"/>
          </a:xfrm>
          <a:prstGeom prst="line">
            <a:avLst/>
          </a:prstGeom>
          <a:noFill/>
          <a:ln w="38100">
            <a:solidFill>
              <a:srgbClr val="0E7C7B"/>
            </a:solidFill>
            <a:prstDash val="solid"/>
          </a:ln>
        </p:spPr>
      </p:sp>
      <p:sp>
        <p:nvSpPr>
          <p:cNvPr id="4" name="Text 2"/>
          <p:cNvSpPr/>
          <p:nvPr/>
        </p:nvSpPr>
        <p:spPr>
          <a:xfrm>
            <a:off x="822960" y="2240280"/>
            <a:ext cx="10545775" cy="2743200"/>
          </a:xfrm>
          <a:prstGeom prst="rect">
            <a:avLst/>
          </a:prstGeom>
          <a:noFill/>
          <a:ln/>
        </p:spPr>
        <p:txBody>
          <a:bodyPr wrap="square" rtlCol="0" anchor="t"/>
          <a:lstStyle/>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Số liệu tính từ 07:00 hôm trước đến 07:00 ngày giao ban. Khoa chỉ "Tạo số liệu" được một lần.</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"Làm mới" chỉ đọc lại; "Tạo số liệu" mới đếm lại từ HIS — và vẫn giữ số khoa sửa tay.</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Nút ↺ cạnh ô = đã sửa tay · ô xám nghiêng = kế thừa, phải gõ lại để xác nhận · viền đỏ = còn thiếu.</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"Lệch cân đối" = cũ + vào + chuyển đến − ra viện − chuyển viện − tử vong − chuyển khoa ≠ hiện có.</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KHTH chốt trước rồi mới xuất PPTX / Excel; mở tệp PPTX kiểm tra trước khi gửi.</a:t>
            </a:r>
            <a:endParaRPr lang="en-US" sz="1600" dirty="0"/>
          </a:p>
        </p:txBody>
      </p:sp>
      <p:sp>
        <p:nvSpPr>
          <p:cNvPr id="5" name="Text 3"/>
          <p:cNvSpPr/>
          <p:nvPr/>
        </p:nvSpPr>
        <p:spPr>
          <a:xfrm>
            <a:off x="822960" y="5394960"/>
            <a:ext cx="10545775" cy="822960"/>
          </a:xfrm>
          <a:prstGeom prst="rect">
            <a:avLst/>
          </a:prstGeom>
          <a:noFill/>
          <a:ln/>
        </p:spPr>
        <p:txBody>
          <a:bodyPr wrap="square" rtlCol="0" anchor="ctr"/>
          <a:lstStyle/>
          <a:p>
            <a:pPr indent="0" marL="0">
              <a:lnSpc>
                <a:spcPts val="2000"/>
              </a:lnSpc>
              <a:buNone/>
            </a:pPr>
            <a:r>
              <a:rPr lang="en-US" sz="1300" dirty="0">
                <a:solidFill>
                  <a:srgbClr val="A9C4DC"/>
                </a:solidFill>
                <a:latin typeface="Arial" pitchFamily="34" charset="0"/>
                <a:ea typeface="Arial" pitchFamily="34" charset="-122"/>
                <a:cs typeface="Arial" pitchFamily="34" charset="-120"/>
              </a:rPr>
              <a:t>Màn hình: Báo cáo giao ban → Báo cáo giao ban · Cấu hình giao ban</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Hướng dẫn chẩn đoán phân quyền khoa: docs/giaoban-chan-doan-phan-quyen-khoa.md</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Hỗ trợ: Phòng Kế hoạch tổng hợp · Phòng Công nghệ thông tin — số máy lẻ: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Phần mềm quản lý bệnh viện qlbv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tạo sử dụng module Báo cáo giao ban</dc:title>
  <dc:subject>Hướng dẫn nhập số liệu, chốt, trình chiếu, xuất PPTX và cấu hình báo cáo giao ban</dc:subject>
  <dc:creator>Phòng Công nghệ thông tin</dc:creator>
  <cp:lastModifiedBy>Phòng Công nghệ thông tin</cp:lastModifiedBy>
  <cp:revision>1</cp:revision>
  <dcterms:created xsi:type="dcterms:W3CDTF">2026-09-21T08:34:46Z</dcterms:created>
  <dcterms:modified xsi:type="dcterms:W3CDTF">2026-09-21T08:34:46Z</dcterms:modified>
</cp:coreProperties>
</file>