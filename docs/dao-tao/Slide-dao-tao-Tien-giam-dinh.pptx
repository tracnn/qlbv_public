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tổ chức một buổi chung: đi phần 01 cho cả phòng, rồi tách nhóm. Nếu tổ chức theo khối: các khoa lâm sàng khoảng 45–60 phút (01, 02, 04, 06, 10); các phòng ban chức năng khoảng 120 phút, có thể tách hai buổi (01, 03, 04, 05, 06 rồi 07, 08, 09, 10). Phần 05 chỉ cần cho Phòng TCKT (viện phí) và Phòng BHYT.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đối chiếu này giúp phòng ban hiểu vì sao cùng là "gửi cổng" mà ba màn hình hành xử khác nhau. Không cần đi sâu, chi tiết nằm ở phần 03, 08,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3 báo cáo Hội đồng. Chứng từ điện tử (phần 08) không nằm trong 7 nhóm nhưng dùng chung hạ tầng ký số và gửi cổng nên học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nguyên tắc này trả lời trước phần lớn thắc mắc trong các phần sau. Nếu thời gian ít, dừng ở đây rồi chuyển thẳng sang phần của khối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Gạch đầu dòng thứ 4 là điều khoa thích nghe nhất: làm xong là xong. Gạch thứ 3 là điều khoa hay quên nhất. Nhấn mạnh độ trễ 60 giây để không ai than "tôi vừa sửa mà vẫn thấy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hồ sơ nội trú dài ngày vẫn được theo dõi đầy đủ. Dùng ví dụ một bệnh nhân hồi sức nằm 3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nguồn gây tranh cãi lớn nhất giữa khoa và phòng BHYT. Dạy khoa cách ghi chú đúng, vì ghi chú chính là căn cứ giải trình khi giám định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màn hình thật trên máy chiếu nếu được. Nhấn hai điều: (1) mặc định chỉ hiện hôm nay — nhiều người tưởng không có lỗi; (2) phải bấm Tải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Biến thành một thói quen 4 bước để khoa nhớ được. Có thể in nhỏ dán ở buồng trực.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thứ tự: SỬA TRÊN HIS TRƯỚC, đánh dấu SAU. Bấm Đã xử lý trước khi sửa là tự xoá việc của mình mà dữ liệu vẫn sai. Cho học viên nhắc lại thứ tự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chỗ dễ lạm dụng nhất. Kể một tình huống thật: giám định hỏi vì sao 40 dòng bị bỏ qua trong cùng một buổi chiều mà ghi chú đều để trống.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phòng: khoa mình thường ra y lệnh và ghi nhận thực hiện theo thứ tự nào? Đây là chỗ dễ giảm lỗi nhất bằng kỷ luật ghi chép.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quy tắc liều nhân ngày bằng ví dụ cụ thể: 1 viên x 3 lần x 5 ngày = 15 viên, cấp 20 viên thì máy báo. Mức Thông tin nên không chặn gì, chỉ để rà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để trả lời câu hỏi kinh điển "sao ca kia sai mà máy không báo". Không cần học thuộc, chỉ cần biết là có bảng này trong tài liệu, mục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nhầm về nút Xuất XML3176 là hiểu nhầm phổ biến nhất của cả module. Hỏi lại cả phòng để chắc chắn ai cũng nghe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đóng trình duyệt khi đang tải sẽ có hộp hỏi "Bạn có muốn rời trang không?" — chọn ở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tính im lặng của đường tự động. Đề nghị phòng ban đặt lịch kiểm tra thư mục "loi" hằng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"phạm vi xem" giải thích được rất nhiều cuộc gọi hỗ trợ. Nhấn mạnh.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bẫy của ô Mã điều trị: nhập vào là mọi bộ lọc khác bị vô hiệu. Nhiều người tưởng đang lọc theo cơ sở mà thực ra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trả lời câu hỏi hay gặp nhất của phòng BHYT. Dạy họ đi lần lượt 5 điều kiện thay vì gọi điện hỏi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là công cụ họp giao ban, không phải màn làm việc. Gợi ý: mỗi tuần chụp lại phễu để thấy điểm nghẽn dịch chuyển.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quyền lực nhất của module — một ô tích sai có thể chặn hàng nghìn hồ sơ. Đề nghị đơn vị quy định ai được đụng vào.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khô nhất của buổi. Rút gọn: mã tra cứu = việc của bảo hiểm; mã kiểm tra = việc của mình. Nhắc lại đúng một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mã 08 và 09: hai mã này nhỏ nhưng hậu quả lớn. Giới tính sai nghe rất vô lý nhưng thực tế phát sinh nhiều, chủ yếu do nhập nhanh lúc tiếp đón.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quy trình hằng ngày ở gạch đầu dòng cuối — đó là phần việc lặp lại của phòng 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thực tế: chọn cả năm rồi hàng đợi tắc một ngày, làm mọi chức năng tra thẻ khác đứng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Chia nhóm: 000 là xong; 003/004/060/070 là sửa trên HIS; 010/110 là làm việc với người bệnh; 054/055/401 là việc của CNTT. Bốn nhóm, dễ nhớ hơn 23 mã.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của buổi. Câu phải nhắc lại nhiều lần: đạt ngưỡng tiền MỚI LÀ MỘT NỬA điều kiện. Hỏi cả phòng cách kiểm tra vế 5 năm liên tục tại đơn vị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giải thích trước ba hiểu nhầm lớn nhất, để phần sau không phải dừng lại giải thích từng cái.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đây là cách nên dùng mặc định khi người bệnh đang ở quầy. Cách 2 chỉ dùng khi cần tra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người không biết có nút này nên vẫn sang màn hình riêng gõ lại từ đầu. Chỉ rõ vị trí trên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Thanh địa chỉ trình duyệt tự cập nhật theo thẻ đang tra — sao chép được đường dẫn gửi cho người khác, hoặc F5 để mở lại. Nhưng nhớ: mở lại đường dẫn CŨNG là một lần tra mới trên cổng.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nhập ngày sinh thiếu số 0 là lỗi gặp nhiều nhất. Cho học viên gõ thử 1/1/1964 để thấy thông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đây. Dạy học viên thói quen: đọc mốc thời gian TRƯỚC khi nói con số cho người bệnh. Câu mẫu: "Theo số liệu cổng bảo hiểm tính đến ngày …, bác đã cùng chi trả …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bắt học viên thuộc công thức. Mục tiêu duy nhất: hiểu vì sao con số ngưỡng trên màn hình lại khác 15.180.000, để không cãi nhau với người bệnh hoặc với đồng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cột Mã CSKCB: lũy kế bao gồm cả các đợt khám ở cơ sở khác. Đây là điều người bệnh hay không hiểu và cán bộ cần giải thích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giải quyết hành vi xấu phổ biến nhất: sốt ruột nên bấm đi bấm lại. Giải thích hậu quả thật: tài khoản của cơ sở có thể bị cổng hạn chế tra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thông báo này chiếm phần lớn số lần gọi hỗ trợ. Nếu học viên thuộc năm dòng này thì phòng CNTT đỡ được rất nhiều.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Dạy học viên chụp màn hình thông báo thay vì mô tả bằng lời. Một ảnh chụp tiết kiệm được cả buổi hỏi đi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nên in ra dán tại quầy. Nhắc: mỗi lần Nhà nước điều chỉnh lương cơ sở, phòng CNTT phải bổ sung mốc mới vào cấu hình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nên đọc chậm từng dòng. Đây là ranh giới giữa "cung cấp thông tin" và "kết luận quyền lợi" — cán bộ tra cứu chỉ làm việc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khoa thích nhất vì nhanh. Nhấn vị trí menu, vì nó nằm khác chỗ với mọi thứ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Máy quét cầm tay hoạt động như bàn phím: gõ chuỗi rồi tự gửi Enter — không cần cài đặt gì. Nếu có máy quét, demo ngay tại chỗ, đây là phần gây ấn tượng nhất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hành vi ẩn kết quả cũ khi lỗi: đó là chủ ý, để khi quét liên tiếp nhiều phiếu không ai nhìn nhầm kết quả của hồ sơ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câu cuối của bảng thứ ba: bảng trống không có nghĩa là sạch. Hồ sơ chưa gửi thì đương nhiên chưa có lỗi 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lỗi in ra đánh dấu dòng nghiêm trọng bằng chữ đậm và vạch dọc đầu dòng, không chỉ bằng màu — in đen trắng vẫn phân biệt được. Đây là chi tiết khoa hay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tách quyền: để nhân viên khoa tra cứu được hồ sơ của mình mà không phải mở quyền quản trị toàn bộ danh sách vi phạm.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Đặt câu hỏi mở đầu: đơn vị mình cập nhật danh mục bao lâu một lần, ai làm? Câu trả lời thường cho thấy đây là việc không có chủ.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là chỗ mất thời gian nhất của mọi đơn vị. Tệp tải thẳng từ cổng thường có tiêu đề ở dòng 5. Có ghi chú riêng về việc này trong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"Không đổi" lớn là bình thường, nhiều người tưởng nhập hỏng. "Lỗi" khác 0 là bắt buộc phải mở tệp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đơn vị chỉ có một cơ sở thì bỏ qua nhanh. Nếu nhiều cơ sở/chi nhánh thì dừng lại lâu, đây là lỗi âm thầm và chỉ lộ khi đối chiếu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việc này nên có quy trình nội bộ: ai được làm, làm lúc nào (ngoài giờ), ai xác nhận. Đề nghị đơn vị ghi thành quy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bản lề của chương. Mọi hành vi "khó chịu" của màn hình sau này (hỏi xác nhận, không cho tích chọn, trần 50 hồ sơ) đều quay về đúng lý do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một hồ sơ vừa còn lỗi vừa chưa ký sẽ hiện "Còn lỗi chặn", vì việc phải làm trước là sửa lỗi. Thứ tự hiển thị ưu tiên lý do gần nhất cần xử lý.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slide này. Đây là chỗ một người có thể báo cáo "sạch hết rồi" trong khi chưa có gì được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tốt về "phần mềm cố tình làm khó". Giải thích lý do thì người dùng chấp nhận, không giải thích thì họ coi là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mối liên hệ ngược về Phần I: gửi TT12 xong là danh mục dùng để kiểm XML 3176 cũng đổi theo. Hai việc không tách rời.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luôn tải biểu mẫu từ phần mềm thay vì tự tạo tệp. Sửa một tên cột là bị từ chối ngay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Nút "Đồng bộ lại danh mục" là đường thoát cho một trạng thái hiếm nhưng gây hoang mang: đã gửi thành công mà danh mục chưa đổi. Nhấn: KHÔNG bấm gửi lại trong tình huống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độ phủ là màn hình để trả lời lãnh đạo "đã khai đủ chưa". Bấm vào ô nào sẽ mở Danh sách hồ sơ đã lọc sẵn theo mẫu và cơ sở.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Gộp ba slide "ranh giới trách nhiệm" của ba deck cũ. Mục tiêu: không ai mất thời gian với việc không phải của mình, và không gọi hỗ trợ sai địa chỉ.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mỗi tình huống 30 giây. Nhấn rằng toàn bộ bảng xử lý sự cố đầy đủ nằm ở mục 2.8, 5.9 và Phụ lục A của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tình huống 30 giây. Bảng xử lý sự cố đầy đủ nằm ở cuối mỗi phần và ở Phụ lục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6 báo cáo Hội đồng, chuyển sang góc nhìn người dùng. Nói thẳng giới hạn giúp người dùng không tin tuyệt đối vào màu xanh trên màn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658368" y="457200"/>
            <a:ext cx="10820095" cy="274320"/>
          </a:xfrm>
          <a:prstGeom prst="rect">
            <a:avLst/>
          </a:prstGeom>
          <a:noFill/>
          <a:ln/>
        </p:spPr>
        <p:txBody>
          <a:bodyPr wrap="square" rtlCol="0" anchor="ctr"/>
          <a:lstStyle/>
          <a:p>
            <a:pPr indent="0" marL="0">
              <a:buNone/>
            </a:pPr>
            <a:r>
              <a:rPr lang="en-US" sz="1100" b="1" spc="100" kern="0" dirty="0">
                <a:solidFill>
                  <a:srgbClr val="8FC8EC"/>
                </a:solidFill>
                <a:latin typeface="Arial" pitchFamily="34" charset="0"/>
                <a:ea typeface="Arial" pitchFamily="34" charset="-122"/>
                <a:cs typeface="Arial" pitchFamily="34" charset="-120"/>
              </a:rPr>
              <a:t>TÀI LIỆU ĐÀO TẠO NGƯỜI DÙNG</a:t>
            </a:r>
            <a:endParaRPr lang="en-US" sz="1100" dirty="0"/>
          </a:p>
        </p:txBody>
      </p:sp>
      <p:sp>
        <p:nvSpPr>
          <p:cNvPr id="4" name="Text 2"/>
          <p:cNvSpPr/>
          <p:nvPr/>
        </p:nvSpPr>
        <p:spPr>
          <a:xfrm>
            <a:off x="658368" y="868680"/>
            <a:ext cx="9905695" cy="1325880"/>
          </a:xfrm>
          <a:prstGeom prst="rect">
            <a:avLst/>
          </a:prstGeom>
          <a:noFill/>
          <a:ln/>
        </p:spPr>
        <p:txBody>
          <a:bodyPr wrap="square" rtlCol="0" anchor="b"/>
          <a:lstStyle/>
          <a:p>
            <a:pPr indent="0" marL="0">
              <a:buNone/>
            </a:pPr>
            <a:r>
              <a:rPr lang="en-US" sz="3800" b="1" dirty="0">
                <a:solidFill>
                  <a:srgbClr val="FFFFFF"/>
                </a:solidFill>
                <a:latin typeface="Arial" pitchFamily="34" charset="0"/>
                <a:ea typeface="Arial" pitchFamily="34" charset="-122"/>
                <a:cs typeface="Arial" pitchFamily="34" charset="-120"/>
              </a:rPr>
              <a:t>Giải pháp Tiền giám định</a:t>
            </a:r>
            <a:endParaRPr lang="en-US" sz="3800" dirty="0"/>
          </a:p>
          <a:p>
            <a:pPr indent="0" marL="0">
              <a:buNone/>
            </a:pPr>
            <a:r>
              <a:rPr lang="en-US" sz="3800" b="1" dirty="0">
                <a:solidFill>
                  <a:srgbClr val="FFFFFF"/>
                </a:solidFill>
                <a:latin typeface="Arial" pitchFamily="34" charset="0"/>
                <a:ea typeface="Arial" pitchFamily="34" charset="-122"/>
                <a:cs typeface="Arial" pitchFamily="34" charset="-120"/>
              </a:rPr>
              <a:t>hồ sơ BHYT</a:t>
            </a:r>
            <a:endParaRPr lang="en-US" sz="3800" dirty="0"/>
          </a:p>
        </p:txBody>
      </p:sp>
      <p:sp>
        <p:nvSpPr>
          <p:cNvPr id="5" name="Text 3"/>
          <p:cNvSpPr/>
          <p:nvPr/>
        </p:nvSpPr>
        <p:spPr>
          <a:xfrm>
            <a:off x="658368" y="2240280"/>
            <a:ext cx="9448495" cy="685800"/>
          </a:xfrm>
          <a:prstGeom prst="rect">
            <a:avLst/>
          </a:prstGeom>
          <a:noFill/>
          <a:ln/>
        </p:spPr>
        <p:txBody>
          <a:bodyPr wrap="square" rtlCol="0" anchor="t"/>
          <a:lstStyle/>
          <a:p>
            <a:pPr indent="0" marL="0">
              <a:lnSpc>
                <a:spcPts val="2400"/>
              </a:lnSpc>
              <a:buNone/>
            </a:pPr>
            <a:r>
              <a:rPr lang="en-US" sz="1800" dirty="0">
                <a:solidFill>
                  <a:srgbClr val="C9DDF0"/>
                </a:solidFill>
                <a:latin typeface="Arial" pitchFamily="34" charset="0"/>
                <a:ea typeface="Arial" pitchFamily="34" charset="-122"/>
                <a:cs typeface="Arial" pitchFamily="34" charset="-120"/>
              </a:rPr>
              <a:t>Đưa phát hiện lỗi về trước khi hồ sơ BHYT rời bệnh viện —</a:t>
            </a:r>
            <a:endParaRPr lang="en-US" sz="1800" dirty="0"/>
          </a:p>
          <a:p>
            <a:pPr indent="0" marL="0">
              <a:lnSpc>
                <a:spcPts val="2400"/>
              </a:lnSpc>
              <a:buNone/>
            </a:pPr>
            <a:r>
              <a:rPr lang="en-US" sz="1800" dirty="0">
                <a:solidFill>
                  <a:srgbClr val="C9DDF0"/>
                </a:solidFill>
                <a:latin typeface="Arial" pitchFamily="34" charset="0"/>
                <a:ea typeface="Arial" pitchFamily="34" charset="-122"/>
                <a:cs typeface="Arial" pitchFamily="34" charset="-120"/>
              </a:rPr>
              <a:t>hướng dẫn sử dụng cho khoa lâm sàng và phòng ban chức năng</a:t>
            </a:r>
            <a:endParaRPr lang="en-US" sz="1800" dirty="0"/>
          </a:p>
        </p:txBody>
      </p:sp>
      <p:sp>
        <p:nvSpPr>
          <p:cNvPr id="6" name="Shape 4"/>
          <p:cNvSpPr/>
          <p:nvPr/>
        </p:nvSpPr>
        <p:spPr>
          <a:xfrm>
            <a:off x="658368" y="3246120"/>
            <a:ext cx="3063240" cy="1005840"/>
          </a:xfrm>
          <a:prstGeom prst="roundRect">
            <a:avLst>
              <a:gd name="adj" fmla="val 5455"/>
            </a:avLst>
          </a:prstGeom>
          <a:solidFill>
            <a:srgbClr val="17385F"/>
          </a:solidFill>
          <a:ln w="12700">
            <a:solidFill>
              <a:srgbClr val="2B5580"/>
            </a:solidFill>
            <a:prstDash val="solid"/>
          </a:ln>
        </p:spPr>
      </p:sp>
      <p:sp>
        <p:nvSpPr>
          <p:cNvPr id="7" name="Text 5"/>
          <p:cNvSpPr/>
          <p:nvPr/>
        </p:nvSpPr>
        <p:spPr>
          <a:xfrm>
            <a:off x="80467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ĐỐI TƯỢNG</a:t>
            </a:r>
            <a:endParaRPr lang="en-US" sz="900" dirty="0"/>
          </a:p>
        </p:txBody>
      </p:sp>
      <p:sp>
        <p:nvSpPr>
          <p:cNvPr id="8" name="Text 6"/>
          <p:cNvSpPr/>
          <p:nvPr/>
        </p:nvSpPr>
        <p:spPr>
          <a:xfrm>
            <a:off x="80467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khoa lâm sàng</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phòng ban chức năng</a:t>
            </a:r>
            <a:endParaRPr lang="en-US" sz="1300" dirty="0"/>
          </a:p>
        </p:txBody>
      </p:sp>
      <p:sp>
        <p:nvSpPr>
          <p:cNvPr id="9" name="Shape 7"/>
          <p:cNvSpPr/>
          <p:nvPr/>
        </p:nvSpPr>
        <p:spPr>
          <a:xfrm>
            <a:off x="3904488" y="3246120"/>
            <a:ext cx="3063240" cy="1005840"/>
          </a:xfrm>
          <a:prstGeom prst="roundRect">
            <a:avLst>
              <a:gd name="adj" fmla="val 5455"/>
            </a:avLst>
          </a:prstGeom>
          <a:solidFill>
            <a:srgbClr val="17385F"/>
          </a:solidFill>
          <a:ln w="12700">
            <a:solidFill>
              <a:srgbClr val="2B5580"/>
            </a:solidFill>
            <a:prstDash val="solid"/>
          </a:ln>
        </p:spPr>
      </p:sp>
      <p:sp>
        <p:nvSpPr>
          <p:cNvPr id="10" name="Text 8"/>
          <p:cNvSpPr/>
          <p:nvPr/>
        </p:nvSpPr>
        <p:spPr>
          <a:xfrm>
            <a:off x="405079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CÁCH HỌC</a:t>
            </a:r>
            <a:endParaRPr lang="en-US" sz="900" dirty="0"/>
          </a:p>
        </p:txBody>
      </p:sp>
      <p:sp>
        <p:nvSpPr>
          <p:cNvPr id="11" name="Text 9"/>
          <p:cNvSpPr/>
          <p:nvPr/>
        </p:nvSpPr>
        <p:spPr>
          <a:xfrm>
            <a:off x="405079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Trọn bộ, hoặc theo</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phần của khối mình</a:t>
            </a:r>
            <a:endParaRPr lang="en-US" sz="1300" dirty="0"/>
          </a:p>
        </p:txBody>
      </p:sp>
      <p:sp>
        <p:nvSpPr>
          <p:cNvPr id="12" name="Shape 10"/>
          <p:cNvSpPr/>
          <p:nvPr/>
        </p:nvSpPr>
        <p:spPr>
          <a:xfrm>
            <a:off x="7150608" y="3246120"/>
            <a:ext cx="3063240" cy="1005840"/>
          </a:xfrm>
          <a:prstGeom prst="roundRect">
            <a:avLst>
              <a:gd name="adj" fmla="val 5455"/>
            </a:avLst>
          </a:prstGeom>
          <a:solidFill>
            <a:srgbClr val="17385F"/>
          </a:solidFill>
          <a:ln w="12700">
            <a:solidFill>
              <a:srgbClr val="2B5580"/>
            </a:solidFill>
            <a:prstDash val="solid"/>
          </a:ln>
        </p:spPr>
      </p:sp>
      <p:sp>
        <p:nvSpPr>
          <p:cNvPr id="13" name="Text 11"/>
          <p:cNvSpPr/>
          <p:nvPr/>
        </p:nvSpPr>
        <p:spPr>
          <a:xfrm>
            <a:off x="729691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TÀI LIỆU GỐC</a:t>
            </a:r>
            <a:endParaRPr lang="en-US" sz="900" dirty="0"/>
          </a:p>
        </p:txBody>
      </p:sp>
      <p:sp>
        <p:nvSpPr>
          <p:cNvPr id="14" name="Text 12"/>
          <p:cNvSpPr/>
          <p:nvPr/>
        </p:nvSpPr>
        <p:spPr>
          <a:xfrm>
            <a:off x="729691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XML3176 – OrderCheck</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tra cứu MCCT</a:t>
            </a:r>
            <a:endParaRPr lang="en-US" sz="1300" dirty="0"/>
          </a:p>
        </p:txBody>
      </p:sp>
      <p:sp>
        <p:nvSpPr>
          <p:cNvPr id="15" name="Shape 13"/>
          <p:cNvSpPr/>
          <p:nvPr/>
        </p:nvSpPr>
        <p:spPr>
          <a:xfrm>
            <a:off x="658368" y="4526280"/>
            <a:ext cx="9555480" cy="868680"/>
          </a:xfrm>
          <a:prstGeom prst="roundRect">
            <a:avLst>
              <a:gd name="adj" fmla="val 6316"/>
            </a:avLst>
          </a:prstGeom>
          <a:solidFill>
            <a:srgbClr val="14365C"/>
          </a:solidFill>
          <a:ln w="12700">
            <a:solidFill>
              <a:srgbClr val="2B5580"/>
            </a:solidFill>
            <a:prstDash val="solid"/>
          </a:ln>
        </p:spPr>
      </p:sp>
      <p:sp>
        <p:nvSpPr>
          <p:cNvPr id="16" name="Text 14"/>
          <p:cNvSpPr/>
          <p:nvPr/>
        </p:nvSpPr>
        <p:spPr>
          <a:xfrm>
            <a:off x="859536" y="4526280"/>
            <a:ext cx="9189720" cy="868680"/>
          </a:xfrm>
          <a:prstGeom prst="rect">
            <a:avLst/>
          </a:prstGeom>
          <a:noFill/>
          <a:ln/>
        </p:spPr>
        <p:txBody>
          <a:bodyPr wrap="square" rtlCol="0" anchor="ctr"/>
          <a:lstStyle/>
          <a:p>
            <a:pPr indent="0" marL="0">
              <a:lnSpc>
                <a:spcPts val="2100"/>
              </a:lnSpc>
              <a:buNone/>
            </a:pPr>
            <a:r>
              <a:rPr lang="en-US" sz="1500" b="1" dirty="0">
                <a:solidFill>
                  <a:srgbClr val="FFFFFF"/>
                </a:solidFill>
                <a:latin typeface="Arial" pitchFamily="34" charset="0"/>
                <a:ea typeface="Arial" pitchFamily="34" charset="-122"/>
                <a:cs typeface="Arial" pitchFamily="34" charset="-120"/>
              </a:rPr>
              <a:t>Phần lớn lỗi có thể phát hiện ngay từ thời điểm bác sĩ ra y lệnh — trước khi hồ sơ rời bệnh viện hàng tuần lễ.</a:t>
            </a:r>
            <a:endParaRPr lang="en-US" sz="1500" dirty="0"/>
          </a:p>
        </p:txBody>
      </p:sp>
      <p:sp>
        <p:nvSpPr>
          <p:cNvPr id="17" name="Text 15"/>
          <p:cNvSpPr/>
          <p:nvPr/>
        </p:nvSpPr>
        <p:spPr>
          <a:xfrm>
            <a:off x="658368" y="6355080"/>
            <a:ext cx="10820095" cy="274320"/>
          </a:xfrm>
          <a:prstGeom prst="rect">
            <a:avLst/>
          </a:prstGeom>
          <a:noFill/>
          <a:ln/>
        </p:spPr>
        <p:txBody>
          <a:bodyPr wrap="square" rtlCol="0" anchor="ctr"/>
          <a:lstStyle/>
          <a:p>
            <a:pPr indent="0" marL="0">
              <a:buNone/>
            </a:pPr>
            <a:r>
              <a:rPr lang="en-US" sz="1000" b="1" dirty="0">
                <a:solidFill>
                  <a:srgbClr val="A9C4DC"/>
                </a:solidFill>
                <a:latin typeface="Arial" pitchFamily="34" charset="0"/>
                <a:ea typeface="Arial" pitchFamily="34" charset="-122"/>
                <a:cs typeface="Arial" pitchFamily="34" charset="-120"/>
              </a:rPr>
              <a:t>Bệnh viện Bạch Mai  |  Phần mềm quản lý bệnh viện qlbv  |  Tài liệu đào tạo tháng 9/2026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LỘ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học phần nào</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Bộ slide dùng chung cho hai khối. Mỗi khối chỉ cần học phần đánh dấu ●; phần ○ nên biết để phối hợp.</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804206"/>
                <a:gridCol w="5629445"/>
                <a:gridCol w="2211568"/>
                <a:gridCol w="2412619"/>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Phần</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Nội dung</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Các khoa lâm sàng</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Các phòng ban chức năng</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Tổng quan: vị trí Tiền giám định, quy trình 5 bước, 7 nhóm chức năng</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02</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Kiểm tra sai sót y lệnh</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Hồ sơ XML 3176: nạp, kiểm tra, ký số, gửi, theo dõi</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04</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Thẻ BHYT: đọc mã kết quả, tra hàng loạt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05</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Tra cứu tiền cùng chi trả (MCCT) — Phòng TCKT, Phòng BHYT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06</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Tra cứu lỗi hồ sơ theo mã điều trị</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07</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Quản lý danh mục BHYT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08</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Chứng từ điện tử theo Phụ lục 02</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09</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Danh mục theo Thông tư 12/2026</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Phân công, tình huống thường gặp, giới hạn</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b="1" dirty="0">
                          <a:solidFill>
                            <a:srgbClr val="1A5EA8"/>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02 / 79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VỊ TRÍ TRONG QUY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Tiền giám định đặt điểm kiểm soát trước khi hồ sơ được gửi</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Một điểm kiểm soát mới, nằm giữa lập hồ sơ và ký số — cộng một điểm kiểm soát sớm ngay khi bác sĩ ra y lệnh.</a:t>
            </a:r>
            <a:endParaRPr lang="en-US" sz="1300" dirty="0"/>
          </a:p>
        </p:txBody>
      </p:sp>
      <p:sp>
        <p:nvSpPr>
          <p:cNvPr id="5" name="Shape 3"/>
          <p:cNvSpPr/>
          <p:nvPr/>
        </p:nvSpPr>
        <p:spPr>
          <a:xfrm>
            <a:off x="566928" y="2011680"/>
            <a:ext cx="1962851" cy="1188720"/>
          </a:xfrm>
          <a:prstGeom prst="roundRect">
            <a:avLst>
              <a:gd name="adj" fmla="val 5385"/>
            </a:avLst>
          </a:prstGeom>
          <a:solidFill>
            <a:srgbClr val="EEF3F8"/>
          </a:solidFill>
          <a:ln w="12700">
            <a:solidFill>
              <a:srgbClr val="D6E2EE"/>
            </a:solidFill>
            <a:prstDash val="solid"/>
          </a:ln>
        </p:spPr>
      </p:sp>
      <p:sp>
        <p:nvSpPr>
          <p:cNvPr id="6" name="Text 4"/>
          <p:cNvSpPr/>
          <p:nvPr/>
        </p:nvSpPr>
        <p:spPr>
          <a:xfrm>
            <a:off x="694944"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01</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Y lệnh</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Bác sĩ chỉ định, điều dưỡng thực hiện trên HIS</a:t>
            </a:r>
            <a:endParaRPr lang="en-US" sz="1000" dirty="0"/>
          </a:p>
        </p:txBody>
      </p:sp>
      <p:sp>
        <p:nvSpPr>
          <p:cNvPr id="7" name="Text 5"/>
          <p:cNvSpPr/>
          <p:nvPr/>
        </p:nvSpPr>
        <p:spPr>
          <a:xfrm>
            <a:off x="2529779"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840675" y="2011680"/>
            <a:ext cx="1962851" cy="1188720"/>
          </a:xfrm>
          <a:prstGeom prst="roundRect">
            <a:avLst>
              <a:gd name="adj" fmla="val 5385"/>
            </a:avLst>
          </a:prstGeom>
          <a:solidFill>
            <a:srgbClr val="EEF3F8"/>
          </a:solidFill>
          <a:ln w="12700">
            <a:solidFill>
              <a:srgbClr val="D6E2EE"/>
            </a:solidFill>
            <a:prstDash val="solid"/>
          </a:ln>
        </p:spPr>
      </p:sp>
      <p:sp>
        <p:nvSpPr>
          <p:cNvPr id="9" name="Text 7"/>
          <p:cNvSpPr/>
          <p:nvPr/>
        </p:nvSpPr>
        <p:spPr>
          <a:xfrm>
            <a:off x="2968691"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02</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Hồ sơ XML 3176</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Kết xuất từ HIS, nạp vào phần mềm</a:t>
            </a:r>
            <a:endParaRPr lang="en-US" sz="1000" dirty="0"/>
          </a:p>
        </p:txBody>
      </p:sp>
      <p:sp>
        <p:nvSpPr>
          <p:cNvPr id="10" name="Text 8"/>
          <p:cNvSpPr/>
          <p:nvPr/>
        </p:nvSpPr>
        <p:spPr>
          <a:xfrm>
            <a:off x="4803526"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5114422" y="2011680"/>
            <a:ext cx="1962851" cy="1188720"/>
          </a:xfrm>
          <a:prstGeom prst="roundRect">
            <a:avLst>
              <a:gd name="adj" fmla="val 5385"/>
            </a:avLst>
          </a:prstGeom>
          <a:solidFill>
            <a:srgbClr val="1A5EA8"/>
          </a:solidFill>
          <a:ln w="12700">
            <a:solidFill>
              <a:srgbClr val="1A5EA8"/>
            </a:solidFill>
            <a:prstDash val="solid"/>
          </a:ln>
        </p:spPr>
      </p:sp>
      <p:sp>
        <p:nvSpPr>
          <p:cNvPr id="12" name="Text 10"/>
          <p:cNvSpPr/>
          <p:nvPr/>
        </p:nvSpPr>
        <p:spPr>
          <a:xfrm>
            <a:off x="5242438" y="2066544"/>
            <a:ext cx="1725107" cy="1078992"/>
          </a:xfrm>
          <a:prstGeom prst="rect">
            <a:avLst/>
          </a:prstGeom>
          <a:noFill/>
          <a:ln/>
        </p:spPr>
        <p:txBody>
          <a:bodyPr wrap="square" rtlCol="0" anchor="t"/>
          <a:lstStyle/>
          <a:p>
            <a:pPr indent="0" marL="0">
              <a:lnSpc>
                <a:spcPts val="1600"/>
              </a:lnSpc>
              <a:buNone/>
            </a:pPr>
            <a:r>
              <a:rPr lang="en-US" sz="1000" b="1" dirty="0">
                <a:solidFill>
                  <a:srgbClr val="BFE0F7"/>
                </a:solidFill>
                <a:latin typeface="Arial" pitchFamily="34" charset="0"/>
                <a:ea typeface="Arial" pitchFamily="34" charset="-122"/>
                <a:cs typeface="Arial" pitchFamily="34" charset="-120"/>
              </a:rPr>
              <a:t>03</a:t>
            </a:r>
            <a:endParaRPr lang="en-US" sz="1000" dirty="0"/>
          </a:p>
          <a:p>
            <a:pPr indent="0" marL="0">
              <a:lnSpc>
                <a:spcPts val="1600"/>
              </a:lnSpc>
              <a:buNone/>
            </a:pPr>
            <a:r>
              <a:rPr lang="en-US" sz="1500" b="1" dirty="0">
                <a:solidFill>
                  <a:srgbClr val="FFFFFF"/>
                </a:solidFill>
                <a:latin typeface="Arial" pitchFamily="34" charset="0"/>
                <a:ea typeface="Arial" pitchFamily="34" charset="-122"/>
                <a:cs typeface="Arial" pitchFamily="34" charset="-120"/>
              </a:rPr>
              <a:t>Kiểm lỗi tại Bệnh viện</a:t>
            </a:r>
            <a:endParaRPr lang="en-US" sz="1000" dirty="0"/>
          </a:p>
          <a:p>
            <a:pPr indent="0" marL="0">
              <a:lnSpc>
                <a:spcPts val="1600"/>
              </a:lnSpc>
              <a:buNone/>
            </a:pPr>
            <a:r>
              <a:rPr lang="en-US" sz="1000" dirty="0">
                <a:solidFill>
                  <a:srgbClr val="DCEBF8"/>
                </a:solidFill>
                <a:latin typeface="Arial" pitchFamily="34" charset="0"/>
                <a:ea typeface="Arial" pitchFamily="34" charset="-122"/>
                <a:cs typeface="Arial" pitchFamily="34" charset="-120"/>
              </a:rPr>
              <a:t>Bộ quy tắc kiểm từng XML, tra thẻ, đối chiếu danh mục</a:t>
            </a:r>
            <a:endParaRPr lang="en-US" sz="1000" dirty="0"/>
          </a:p>
        </p:txBody>
      </p:sp>
      <p:sp>
        <p:nvSpPr>
          <p:cNvPr id="13" name="Text 11"/>
          <p:cNvSpPr/>
          <p:nvPr/>
        </p:nvSpPr>
        <p:spPr>
          <a:xfrm>
            <a:off x="7077273"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7388169" y="2011680"/>
            <a:ext cx="1962851" cy="1188720"/>
          </a:xfrm>
          <a:prstGeom prst="roundRect">
            <a:avLst>
              <a:gd name="adj" fmla="val 5385"/>
            </a:avLst>
          </a:prstGeom>
          <a:solidFill>
            <a:srgbClr val="EEF3F8"/>
          </a:solidFill>
          <a:ln w="12700">
            <a:solidFill>
              <a:srgbClr val="D6E2EE"/>
            </a:solidFill>
            <a:prstDash val="solid"/>
          </a:ln>
        </p:spPr>
      </p:sp>
      <p:sp>
        <p:nvSpPr>
          <p:cNvPr id="15" name="Text 13"/>
          <p:cNvSpPr/>
          <p:nvPr/>
        </p:nvSpPr>
        <p:spPr>
          <a:xfrm>
            <a:off x="7516185"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04</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Ký số</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HSM hoặc USB Token</a:t>
            </a:r>
            <a:endParaRPr lang="en-US" sz="1000" dirty="0"/>
          </a:p>
        </p:txBody>
      </p:sp>
      <p:sp>
        <p:nvSpPr>
          <p:cNvPr id="16" name="Text 14"/>
          <p:cNvSpPr/>
          <p:nvPr/>
        </p:nvSpPr>
        <p:spPr>
          <a:xfrm>
            <a:off x="9351020"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9661916" y="2011680"/>
            <a:ext cx="1962851" cy="1188720"/>
          </a:xfrm>
          <a:prstGeom prst="roundRect">
            <a:avLst>
              <a:gd name="adj" fmla="val 5385"/>
            </a:avLst>
          </a:prstGeom>
          <a:solidFill>
            <a:srgbClr val="EEF3F8"/>
          </a:solidFill>
          <a:ln w="12700">
            <a:solidFill>
              <a:srgbClr val="D6E2EE"/>
            </a:solidFill>
            <a:prstDash val="solid"/>
          </a:ln>
        </p:spPr>
      </p:sp>
      <p:sp>
        <p:nvSpPr>
          <p:cNvPr id="18" name="Text 16"/>
          <p:cNvSpPr/>
          <p:nvPr/>
        </p:nvSpPr>
        <p:spPr>
          <a:xfrm>
            <a:off x="9789932"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05</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Gửi Cổng tiếp nhận</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Cổng giám định BHXH</a:t>
            </a:r>
            <a:endParaRPr lang="en-US" sz="1000" dirty="0"/>
          </a:p>
        </p:txBody>
      </p:sp>
      <p:sp>
        <p:nvSpPr>
          <p:cNvPr id="19" name="Shape 17"/>
          <p:cNvSpPr/>
          <p:nvPr/>
        </p:nvSpPr>
        <p:spPr>
          <a:xfrm>
            <a:off x="5022982" y="1572768"/>
            <a:ext cx="2145731" cy="329184"/>
          </a:xfrm>
          <a:prstGeom prst="roundRect">
            <a:avLst>
              <a:gd name="adj" fmla="val 50000"/>
            </a:avLst>
          </a:prstGeom>
          <a:solidFill>
            <a:srgbClr val="2A9FD8"/>
          </a:solidFill>
          <a:ln w="12700">
            <a:solidFill>
              <a:srgbClr val="2A9FD8"/>
            </a:solidFill>
            <a:prstDash val="solid"/>
          </a:ln>
        </p:spPr>
      </p:sp>
      <p:sp>
        <p:nvSpPr>
          <p:cNvPr id="20" name="Text 18"/>
          <p:cNvSpPr/>
          <p:nvPr/>
        </p:nvSpPr>
        <p:spPr>
          <a:xfrm>
            <a:off x="5022982" y="1572768"/>
            <a:ext cx="2145731" cy="329184"/>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ĐIỂM KIỂM SOÁT MỚI</a:t>
            </a:r>
            <a:endParaRPr lang="en-US" sz="1000" dirty="0"/>
          </a:p>
        </p:txBody>
      </p:sp>
      <p:sp>
        <p:nvSpPr>
          <p:cNvPr id="21" name="Shape 19"/>
          <p:cNvSpPr/>
          <p:nvPr/>
        </p:nvSpPr>
        <p:spPr>
          <a:xfrm>
            <a:off x="566928" y="1572768"/>
            <a:ext cx="1962851" cy="329184"/>
          </a:xfrm>
          <a:prstGeom prst="roundRect">
            <a:avLst>
              <a:gd name="adj" fmla="val 50000"/>
            </a:avLst>
          </a:prstGeom>
          <a:solidFill>
            <a:srgbClr val="E6F1FA"/>
          </a:solidFill>
          <a:ln w="12700">
            <a:solidFill>
              <a:srgbClr val="2A9FD8"/>
            </a:solidFill>
            <a:prstDash val="solid"/>
          </a:ln>
        </p:spPr>
      </p:sp>
      <p:sp>
        <p:nvSpPr>
          <p:cNvPr id="22" name="Text 20"/>
          <p:cNvSpPr/>
          <p:nvPr/>
        </p:nvSpPr>
        <p:spPr>
          <a:xfrm>
            <a:off x="566928" y="1572768"/>
            <a:ext cx="1962851" cy="329184"/>
          </a:xfrm>
          <a:prstGeom prst="rect">
            <a:avLst/>
          </a:prstGeom>
          <a:noFill/>
          <a:ln/>
        </p:spPr>
        <p:txBody>
          <a:bodyPr wrap="square" rtlCol="0" anchor="ctr"/>
          <a:lstStyle/>
          <a:p>
            <a:pPr algn="ctr" indent="0" marL="0">
              <a:buNone/>
            </a:pPr>
            <a:r>
              <a:rPr lang="en-US" sz="1000" b="1" dirty="0">
                <a:solidFill>
                  <a:srgbClr val="1A5EA8"/>
                </a:solidFill>
                <a:latin typeface="Arial" pitchFamily="34" charset="0"/>
                <a:ea typeface="Arial" pitchFamily="34" charset="-122"/>
                <a:cs typeface="Arial" pitchFamily="34" charset="-120"/>
              </a:rPr>
              <a:t>KIỂM SOÁT SỚM</a:t>
            </a:r>
            <a:endParaRPr lang="en-US" sz="1000" dirty="0"/>
          </a:p>
        </p:txBody>
      </p:sp>
      <p:sp>
        <p:nvSpPr>
          <p:cNvPr id="23" name="Shape 21"/>
          <p:cNvSpPr/>
          <p:nvPr/>
        </p:nvSpPr>
        <p:spPr>
          <a:xfrm>
            <a:off x="6095848" y="3200400"/>
            <a:ext cx="0" cy="411480"/>
          </a:xfrm>
          <a:prstGeom prst="line">
            <a:avLst/>
          </a:prstGeom>
          <a:noFill/>
          <a:ln w="19050">
            <a:solidFill>
              <a:srgbClr val="C96A12"/>
            </a:solidFill>
            <a:prstDash val="solid"/>
            <a:tailEnd type="triangle"/>
          </a:ln>
        </p:spPr>
      </p:sp>
      <p:sp>
        <p:nvSpPr>
          <p:cNvPr id="24" name="Shape 22"/>
          <p:cNvSpPr/>
          <p:nvPr/>
        </p:nvSpPr>
        <p:spPr>
          <a:xfrm>
            <a:off x="2137209" y="3611880"/>
            <a:ext cx="5421679" cy="457200"/>
          </a:xfrm>
          <a:prstGeom prst="roundRect">
            <a:avLst>
              <a:gd name="adj" fmla="val 12000"/>
            </a:avLst>
          </a:prstGeom>
          <a:solidFill>
            <a:srgbClr val="FFF4E6"/>
          </a:solidFill>
          <a:ln w="12700">
            <a:solidFill>
              <a:srgbClr val="F1C58E"/>
            </a:solidFill>
            <a:prstDash val="solid"/>
          </a:ln>
        </p:spPr>
      </p:sp>
      <p:sp>
        <p:nvSpPr>
          <p:cNvPr id="25" name="Text 23"/>
          <p:cNvSpPr/>
          <p:nvPr/>
        </p:nvSpPr>
        <p:spPr>
          <a:xfrm>
            <a:off x="2137209" y="3611880"/>
            <a:ext cx="5421679" cy="457200"/>
          </a:xfrm>
          <a:prstGeom prst="rect">
            <a:avLst/>
          </a:prstGeom>
          <a:noFill/>
          <a:ln/>
        </p:spPr>
        <p:txBody>
          <a:bodyPr wrap="square" rtlCol="0" anchor="ctr"/>
          <a:lstStyle/>
          <a:p>
            <a:pPr algn="ctr" indent="0" marL="0">
              <a:buNone/>
            </a:pPr>
            <a:r>
              <a:rPr lang="en-US" sz="1150" b="1" dirty="0">
                <a:solidFill>
                  <a:srgbClr val="C96A12"/>
                </a:solidFill>
                <a:latin typeface="Arial" pitchFamily="34" charset="0"/>
                <a:ea typeface="Arial" pitchFamily="34" charset="-122"/>
                <a:cs typeface="Arial" pitchFamily="34" charset="-120"/>
              </a:rPr>
              <a:t>Sửa tại đơn vị phát sinh trên HIS  →  nạp lại  →  quay lại kiểm tra</a:t>
            </a:r>
            <a:endParaRPr lang="en-US" sz="1150" dirty="0"/>
          </a:p>
        </p:txBody>
      </p:sp>
      <p:sp>
        <p:nvSpPr>
          <p:cNvPr id="26" name="Shape 24"/>
          <p:cNvSpPr/>
          <p:nvPr/>
        </p:nvSpPr>
        <p:spPr>
          <a:xfrm flipV="1">
            <a:off x="1548354" y="3200400"/>
            <a:ext cx="0" cy="640080"/>
          </a:xfrm>
          <a:prstGeom prst="line">
            <a:avLst/>
          </a:prstGeom>
          <a:noFill/>
          <a:ln w="19050">
            <a:solidFill>
              <a:srgbClr val="C96A12"/>
            </a:solidFill>
            <a:prstDash val="solid"/>
            <a:tailEnd type="triangle"/>
          </a:ln>
        </p:spPr>
      </p:sp>
      <p:sp>
        <p:nvSpPr>
          <p:cNvPr id="27" name="Shape 25"/>
          <p:cNvSpPr/>
          <p:nvPr/>
        </p:nvSpPr>
        <p:spPr>
          <a:xfrm>
            <a:off x="1548354" y="3840480"/>
            <a:ext cx="588855" cy="0"/>
          </a:xfrm>
          <a:prstGeom prst="line">
            <a:avLst/>
          </a:prstGeom>
          <a:noFill/>
          <a:ln w="19050">
            <a:solidFill>
              <a:srgbClr val="C96A12"/>
            </a:solidFill>
            <a:prstDash val="solid"/>
          </a:ln>
        </p:spPr>
      </p:sp>
      <p:sp>
        <p:nvSpPr>
          <p:cNvPr id="28" name="Shape 26"/>
          <p:cNvSpPr/>
          <p:nvPr/>
        </p:nvSpPr>
        <p:spPr>
          <a:xfrm>
            <a:off x="566928" y="4315968"/>
            <a:ext cx="3594506" cy="932688"/>
          </a:xfrm>
          <a:prstGeom prst="rect">
            <a:avLst/>
          </a:prstGeom>
          <a:solidFill>
            <a:srgbClr val="EEF3F8"/>
          </a:solidFill>
          <a:ln w="12700">
            <a:solidFill>
              <a:srgbClr val="D6E2EE"/>
            </a:solidFill>
            <a:prstDash val="solid"/>
          </a:ln>
        </p:spPr>
      </p:sp>
      <p:sp>
        <p:nvSpPr>
          <p:cNvPr id="29" name="Shape 27"/>
          <p:cNvSpPr/>
          <p:nvPr/>
        </p:nvSpPr>
        <p:spPr>
          <a:xfrm>
            <a:off x="566928" y="4315968"/>
            <a:ext cx="64008" cy="932688"/>
          </a:xfrm>
          <a:prstGeom prst="rect">
            <a:avLst/>
          </a:prstGeom>
          <a:solidFill>
            <a:srgbClr val="C62828"/>
          </a:solidFill>
          <a:ln w="12700">
            <a:solidFill>
              <a:srgbClr val="C62828"/>
            </a:solidFill>
            <a:prstDash val="solid"/>
          </a:ln>
        </p:spPr>
      </p:sp>
      <p:sp>
        <p:nvSpPr>
          <p:cNvPr id="30" name="Text 28"/>
          <p:cNvSpPr/>
          <p:nvPr/>
        </p:nvSpPr>
        <p:spPr>
          <a:xfrm>
            <a:off x="768096" y="4361688"/>
            <a:ext cx="3283610" cy="841248"/>
          </a:xfrm>
          <a:prstGeom prst="rect">
            <a:avLst/>
          </a:prstGeom>
          <a:noFill/>
          <a:ln/>
        </p:spPr>
        <p:txBody>
          <a:bodyPr wrap="square" rtlCol="0" anchor="ctr"/>
          <a:lstStyle/>
          <a:p>
            <a:pPr indent="0" marL="0">
              <a:lnSpc>
                <a:spcPts val="1700"/>
              </a:lnSpc>
              <a:buNone/>
            </a:pPr>
            <a:r>
              <a:rPr lang="en-US" sz="1400" b="1" dirty="0">
                <a:solidFill>
                  <a:srgbClr val="C62828"/>
                </a:solidFill>
                <a:latin typeface="Arial" pitchFamily="34" charset="0"/>
                <a:ea typeface="Arial" pitchFamily="34" charset="-122"/>
                <a:cs typeface="Arial" pitchFamily="34" charset="-120"/>
              </a:rPr>
              <a:t>Lỗi nghiêm trọng</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Chặn xuất và chặn gửi hồ sơ cho tới khi được sửa.</a:t>
            </a:r>
            <a:endParaRPr lang="en-US" sz="1400" dirty="0"/>
          </a:p>
        </p:txBody>
      </p:sp>
      <p:sp>
        <p:nvSpPr>
          <p:cNvPr id="31" name="Shape 29"/>
          <p:cNvSpPr/>
          <p:nvPr/>
        </p:nvSpPr>
        <p:spPr>
          <a:xfrm>
            <a:off x="4298594" y="4315968"/>
            <a:ext cx="3594506" cy="932688"/>
          </a:xfrm>
          <a:prstGeom prst="rect">
            <a:avLst/>
          </a:prstGeom>
          <a:solidFill>
            <a:srgbClr val="EEF3F8"/>
          </a:solidFill>
          <a:ln w="12700">
            <a:solidFill>
              <a:srgbClr val="D6E2EE"/>
            </a:solidFill>
            <a:prstDash val="solid"/>
          </a:ln>
        </p:spPr>
      </p:sp>
      <p:sp>
        <p:nvSpPr>
          <p:cNvPr id="32" name="Shape 30"/>
          <p:cNvSpPr/>
          <p:nvPr/>
        </p:nvSpPr>
        <p:spPr>
          <a:xfrm>
            <a:off x="4298594" y="4315968"/>
            <a:ext cx="64008" cy="932688"/>
          </a:xfrm>
          <a:prstGeom prst="rect">
            <a:avLst/>
          </a:prstGeom>
          <a:solidFill>
            <a:srgbClr val="C96A12"/>
          </a:solidFill>
          <a:ln w="12700">
            <a:solidFill>
              <a:srgbClr val="C96A12"/>
            </a:solidFill>
            <a:prstDash val="solid"/>
          </a:ln>
        </p:spPr>
      </p:sp>
      <p:sp>
        <p:nvSpPr>
          <p:cNvPr id="33" name="Text 31"/>
          <p:cNvSpPr/>
          <p:nvPr/>
        </p:nvSpPr>
        <p:spPr>
          <a:xfrm>
            <a:off x="4499762" y="4361688"/>
            <a:ext cx="3283610" cy="841248"/>
          </a:xfrm>
          <a:prstGeom prst="rect">
            <a:avLst/>
          </a:prstGeom>
          <a:noFill/>
          <a:ln/>
        </p:spPr>
        <p:txBody>
          <a:bodyPr wrap="square" rtlCol="0" anchor="ctr"/>
          <a:lstStyle/>
          <a:p>
            <a:pPr indent="0" marL="0">
              <a:lnSpc>
                <a:spcPts val="1700"/>
              </a:lnSpc>
              <a:buNone/>
            </a:pPr>
            <a:r>
              <a:rPr lang="en-US" sz="1400" b="1" dirty="0">
                <a:solidFill>
                  <a:srgbClr val="C96A12"/>
                </a:solidFill>
                <a:latin typeface="Arial" pitchFamily="34" charset="0"/>
                <a:ea typeface="Arial" pitchFamily="34" charset="-122"/>
                <a:cs typeface="Arial" pitchFamily="34" charset="-120"/>
              </a:rPr>
              <a:t>Lỗi cảnh báo</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Cho hồ sơ đi, kèm ghi nhận để theo dõi.</a:t>
            </a:r>
            <a:endParaRPr lang="en-US" sz="1400" dirty="0"/>
          </a:p>
        </p:txBody>
      </p:sp>
      <p:sp>
        <p:nvSpPr>
          <p:cNvPr id="34" name="Shape 32"/>
          <p:cNvSpPr/>
          <p:nvPr/>
        </p:nvSpPr>
        <p:spPr>
          <a:xfrm>
            <a:off x="8030261" y="4315968"/>
            <a:ext cx="3594506" cy="932688"/>
          </a:xfrm>
          <a:prstGeom prst="rect">
            <a:avLst/>
          </a:prstGeom>
          <a:solidFill>
            <a:srgbClr val="EEF3F8"/>
          </a:solidFill>
          <a:ln w="12700">
            <a:solidFill>
              <a:srgbClr val="D6E2EE"/>
            </a:solidFill>
            <a:prstDash val="solid"/>
          </a:ln>
        </p:spPr>
      </p:sp>
      <p:sp>
        <p:nvSpPr>
          <p:cNvPr id="35" name="Shape 33"/>
          <p:cNvSpPr/>
          <p:nvPr/>
        </p:nvSpPr>
        <p:spPr>
          <a:xfrm>
            <a:off x="8030261" y="4315968"/>
            <a:ext cx="64008" cy="932688"/>
          </a:xfrm>
          <a:prstGeom prst="rect">
            <a:avLst/>
          </a:prstGeom>
          <a:solidFill>
            <a:srgbClr val="1A5EA8"/>
          </a:solidFill>
          <a:ln w="12700">
            <a:solidFill>
              <a:srgbClr val="1A5EA8"/>
            </a:solidFill>
            <a:prstDash val="solid"/>
          </a:ln>
        </p:spPr>
      </p:sp>
      <p:sp>
        <p:nvSpPr>
          <p:cNvPr id="36" name="Text 34"/>
          <p:cNvSpPr/>
          <p:nvPr/>
        </p:nvSpPr>
        <p:spPr>
          <a:xfrm>
            <a:off x="8231429" y="4361688"/>
            <a:ext cx="3283610" cy="841248"/>
          </a:xfrm>
          <a:prstGeom prst="rect">
            <a:avLst/>
          </a:prstGeom>
          <a:noFill/>
          <a:ln/>
        </p:spPr>
        <p:txBody>
          <a:bodyPr wrap="square" rtlCol="0" anchor="ctr"/>
          <a:lstStyle/>
          <a:p>
            <a:pPr indent="0" marL="0">
              <a:lnSpc>
                <a:spcPts val="1700"/>
              </a:lnSpc>
              <a:buNone/>
            </a:pPr>
            <a:r>
              <a:rPr lang="en-US" sz="1400" b="1" dirty="0">
                <a:solidFill>
                  <a:srgbClr val="1A5EA8"/>
                </a:solidFill>
                <a:latin typeface="Arial" pitchFamily="34" charset="0"/>
                <a:ea typeface="Arial" pitchFamily="34" charset="-122"/>
                <a:cs typeface="Arial" pitchFamily="34" charset="-120"/>
              </a:rPr>
              <a:t>Kiểm soát sớm</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Sai sót y lệnh được bắt khoảng 60 giây sau khi phát sinh — trước khi hồ sơ được lập.</a:t>
            </a:r>
            <a:endParaRPr lang="en-US" sz="1400" dirty="0"/>
          </a:p>
        </p:txBody>
      </p:sp>
      <p:sp>
        <p:nvSpPr>
          <p:cNvPr id="37" name="Shape 35"/>
          <p:cNvSpPr/>
          <p:nvPr/>
        </p:nvSpPr>
        <p:spPr>
          <a:xfrm>
            <a:off x="566928" y="5468112"/>
            <a:ext cx="11057839" cy="457200"/>
          </a:xfrm>
          <a:prstGeom prst="roundRect">
            <a:avLst>
              <a:gd name="adj" fmla="val 12000"/>
            </a:avLst>
          </a:prstGeom>
          <a:solidFill>
            <a:srgbClr val="0B1F3A"/>
          </a:solidFill>
          <a:ln w="12700">
            <a:solidFill>
              <a:srgbClr val="0B1F3A"/>
            </a:solidFill>
            <a:prstDash val="solid"/>
          </a:ln>
        </p:spPr>
      </p:sp>
      <p:sp>
        <p:nvSpPr>
          <p:cNvPr id="38" name="Text 36"/>
          <p:cNvSpPr/>
          <p:nvPr/>
        </p:nvSpPr>
        <p:spPr>
          <a:xfrm>
            <a:off x="566928" y="5468112"/>
            <a:ext cx="11057839" cy="457200"/>
          </a:xfrm>
          <a:prstGeom prst="rect">
            <a:avLst/>
          </a:prstGeom>
          <a:noFill/>
          <a:ln/>
        </p:spPr>
        <p:txBody>
          <a:bodyPr wrap="square"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Tiền giám định không thay thế quyết định chuyên môn; đây là lớp kiểm soát dữ liệu trước khi gửi.</a:t>
            </a:r>
            <a:endParaRPr lang="en-US" sz="1350" dirty="0"/>
          </a:p>
        </p:txBody>
      </p:sp>
      <p:sp>
        <p:nvSpPr>
          <p:cNvPr id="40" name="Shape 37"/>
          <p:cNvSpPr/>
          <p:nvPr/>
        </p:nvSpPr>
        <p:spPr>
          <a:xfrm>
            <a:off x="566928" y="6382512"/>
            <a:ext cx="11057839" cy="0"/>
          </a:xfrm>
          <a:prstGeom prst="line">
            <a:avLst/>
          </a:prstGeom>
          <a:noFill/>
          <a:ln w="9525">
            <a:solidFill>
              <a:srgbClr val="D6E2EE"/>
            </a:solidFill>
            <a:prstDash val="solid"/>
          </a:ln>
        </p:spPr>
      </p:sp>
      <p:sp>
        <p:nvSpPr>
          <p:cNvPr id="41" name="Text 3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2" name="Text 3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03 / 79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Năm bước hồ sơ đi qua trước khi tới cổng BHXH</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Nạp hồ sơ → Kiểm tra dữ liệu → Ký số → Gửi cổng → Theo dõi kết quả. Ví dụ theo luồng XML 3176.</a:t>
            </a:r>
            <a:endParaRPr lang="en-US" sz="1300" dirty="0"/>
          </a:p>
        </p:txBody>
      </p:sp>
      <p:sp>
        <p:nvSpPr>
          <p:cNvPr id="5" name="Shape 3"/>
          <p:cNvSpPr/>
          <p:nvPr/>
        </p:nvSpPr>
        <p:spPr>
          <a:xfrm>
            <a:off x="566928" y="1508760"/>
            <a:ext cx="2215225" cy="658368"/>
          </a:xfrm>
          <a:prstGeom prst="homePlate">
            <a:avLst/>
          </a:prstGeom>
          <a:solidFill>
            <a:srgbClr val="0B1F3A"/>
          </a:solidFill>
          <a:ln w="12700">
            <a:solidFill>
              <a:srgbClr val="FFFFFF"/>
            </a:solidFill>
            <a:prstDash val="solid"/>
          </a:ln>
        </p:spPr>
      </p:sp>
      <p:sp>
        <p:nvSpPr>
          <p:cNvPr id="6" name="Text 4"/>
          <p:cNvSpPr/>
          <p:nvPr/>
        </p:nvSpPr>
        <p:spPr>
          <a:xfrm>
            <a:off x="694944"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01  </a:t>
            </a:r>
            <a:pPr indent="0" marL="0">
              <a:buNone/>
            </a:pPr>
            <a:r>
              <a:rPr lang="en-US" sz="1300" b="1" dirty="0">
                <a:solidFill>
                  <a:srgbClr val="FFFFFF"/>
                </a:solidFill>
                <a:latin typeface="Arial" pitchFamily="34" charset="0"/>
                <a:ea typeface="Arial" pitchFamily="34" charset="-122"/>
                <a:cs typeface="Arial" pitchFamily="34" charset="-120"/>
              </a:rPr>
              <a:t>Nạp hồ sơ</a:t>
            </a:r>
            <a:endParaRPr lang="en-US" sz="1100" dirty="0"/>
          </a:p>
        </p:txBody>
      </p:sp>
      <p:sp>
        <p:nvSpPr>
          <p:cNvPr id="7" name="Shape 5"/>
          <p:cNvSpPr/>
          <p:nvPr/>
        </p:nvSpPr>
        <p:spPr>
          <a:xfrm>
            <a:off x="566928" y="2295144"/>
            <a:ext cx="2123785" cy="3218688"/>
          </a:xfrm>
          <a:prstGeom prst="rect">
            <a:avLst/>
          </a:prstGeom>
          <a:solidFill>
            <a:srgbClr val="EEF3F8"/>
          </a:solidFill>
          <a:ln w="12700">
            <a:solidFill>
              <a:srgbClr val="D6E2EE"/>
            </a:solidFill>
            <a:prstDash val="solid"/>
          </a:ln>
        </p:spPr>
      </p:sp>
      <p:sp>
        <p:nvSpPr>
          <p:cNvPr id="8" name="Text 6"/>
          <p:cNvSpPr/>
          <p:nvPr/>
        </p:nvSpPr>
        <p:spPr>
          <a:xfrm>
            <a:off x="67665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hoặc hệ thống tự quét thư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Kéo thả tệp .xml (tối đa 100 MB), hoặc đặt tệp vào thư mục theo dõi — nhận trong vài giây</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XML → Xml 3176 → Nhập khẩu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hiện ở Danh sách hồ sơ. Tệp hỏng nằm trong thư mục con "loi"</a:t>
            </a:r>
            <a:endParaRPr lang="en-US" sz="850" dirty="0"/>
          </a:p>
        </p:txBody>
      </p:sp>
      <p:sp>
        <p:nvSpPr>
          <p:cNvPr id="9" name="Shape 7"/>
          <p:cNvSpPr/>
          <p:nvPr/>
        </p:nvSpPr>
        <p:spPr>
          <a:xfrm>
            <a:off x="2800441" y="1508760"/>
            <a:ext cx="2215225" cy="658368"/>
          </a:xfrm>
          <a:prstGeom prst="chevron">
            <a:avLst/>
          </a:prstGeom>
          <a:solidFill>
            <a:srgbClr val="1A5EA8"/>
          </a:solidFill>
          <a:ln w="12700">
            <a:solidFill>
              <a:srgbClr val="FFFFFF"/>
            </a:solidFill>
            <a:prstDash val="solid"/>
          </a:ln>
        </p:spPr>
      </p:sp>
      <p:sp>
        <p:nvSpPr>
          <p:cNvPr id="10" name="Text 8"/>
          <p:cNvSpPr/>
          <p:nvPr/>
        </p:nvSpPr>
        <p:spPr>
          <a:xfrm>
            <a:off x="3074761"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02  </a:t>
            </a:r>
            <a:pPr indent="0" marL="0">
              <a:buNone/>
            </a:pPr>
            <a:r>
              <a:rPr lang="en-US" sz="1300" b="1" dirty="0">
                <a:solidFill>
                  <a:srgbClr val="FFFFFF"/>
                </a:solidFill>
                <a:latin typeface="Arial" pitchFamily="34" charset="0"/>
                <a:ea typeface="Arial" pitchFamily="34" charset="-122"/>
                <a:cs typeface="Arial" pitchFamily="34" charset="-120"/>
              </a:rPr>
              <a:t>Kiểm tra dữ liệu</a:t>
            </a:r>
            <a:endParaRPr lang="en-US" sz="1100" dirty="0"/>
          </a:p>
        </p:txBody>
      </p:sp>
      <p:sp>
        <p:nvSpPr>
          <p:cNvPr id="11" name="Shape 9"/>
          <p:cNvSpPr/>
          <p:nvPr/>
        </p:nvSpPr>
        <p:spPr>
          <a:xfrm>
            <a:off x="2800441" y="2295144"/>
            <a:ext cx="2123785" cy="3218688"/>
          </a:xfrm>
          <a:prstGeom prst="rect">
            <a:avLst/>
          </a:prstGeom>
          <a:solidFill>
            <a:srgbClr val="E6F1FA"/>
          </a:solidFill>
          <a:ln w="12700">
            <a:solidFill>
              <a:srgbClr val="D6E2EE"/>
            </a:solidFill>
            <a:prstDash val="solid"/>
          </a:ln>
        </p:spPr>
      </p:sp>
      <p:sp>
        <p:nvSpPr>
          <p:cNvPr id="12" name="Text 10"/>
          <p:cNvSpPr/>
          <p:nvPr/>
        </p:nvSpPr>
        <p:spPr>
          <a:xfrm>
            <a:off x="2910169"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chạy nền; người dùng đọc lỗi, phối hợp khoa sửa</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Kiểm từng XML, tra thẻ BHYT, đối chiếu chéo và đối chiếu danh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Danh sách hồ sơ (dòng đỏ), tab Lỗi XML, Tra cứu lỗi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Số hàng đợi ở góc dưới phải về 0 và hồ sơ hết lỗi Nghiêm trọng</a:t>
            </a:r>
            <a:endParaRPr lang="en-US" sz="850" dirty="0"/>
          </a:p>
        </p:txBody>
      </p:sp>
      <p:sp>
        <p:nvSpPr>
          <p:cNvPr id="13" name="Shape 11"/>
          <p:cNvSpPr/>
          <p:nvPr/>
        </p:nvSpPr>
        <p:spPr>
          <a:xfrm>
            <a:off x="5033955" y="1508760"/>
            <a:ext cx="2215225" cy="658368"/>
          </a:xfrm>
          <a:prstGeom prst="chevron">
            <a:avLst/>
          </a:prstGeom>
          <a:solidFill>
            <a:srgbClr val="0B1F3A"/>
          </a:solidFill>
          <a:ln w="12700">
            <a:solidFill>
              <a:srgbClr val="FFFFFF"/>
            </a:solidFill>
            <a:prstDash val="solid"/>
          </a:ln>
        </p:spPr>
      </p:sp>
      <p:sp>
        <p:nvSpPr>
          <p:cNvPr id="14" name="Text 12"/>
          <p:cNvSpPr/>
          <p:nvPr/>
        </p:nvSpPr>
        <p:spPr>
          <a:xfrm>
            <a:off x="5308275"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03  </a:t>
            </a:r>
            <a:pPr indent="0" marL="0">
              <a:buNone/>
            </a:pPr>
            <a:r>
              <a:rPr lang="en-US" sz="1300" b="1" dirty="0">
                <a:solidFill>
                  <a:srgbClr val="FFFFFF"/>
                </a:solidFill>
                <a:latin typeface="Arial" pitchFamily="34" charset="0"/>
                <a:ea typeface="Arial" pitchFamily="34" charset="-122"/>
                <a:cs typeface="Arial" pitchFamily="34" charset="-120"/>
              </a:rPr>
              <a:t>Ký số</a:t>
            </a:r>
            <a:endParaRPr lang="en-US" sz="1100" dirty="0"/>
          </a:p>
        </p:txBody>
      </p:sp>
      <p:sp>
        <p:nvSpPr>
          <p:cNvPr id="15" name="Shape 13"/>
          <p:cNvSpPr/>
          <p:nvPr/>
        </p:nvSpPr>
        <p:spPr>
          <a:xfrm>
            <a:off x="5033955" y="2295144"/>
            <a:ext cx="2123785" cy="3218688"/>
          </a:xfrm>
          <a:prstGeom prst="rect">
            <a:avLst/>
          </a:prstGeom>
          <a:solidFill>
            <a:srgbClr val="EEF3F8"/>
          </a:solidFill>
          <a:ln w="12700">
            <a:solidFill>
              <a:srgbClr val="D6E2EE"/>
            </a:solidFill>
            <a:prstDash val="solid"/>
          </a:ln>
        </p:spPr>
      </p:sp>
      <p:sp>
        <p:nvSpPr>
          <p:cNvPr id="16" name="Text 14"/>
          <p:cNvSpPr/>
          <p:nvPr/>
        </p:nvSpPr>
        <p:spPr>
          <a:xfrm>
            <a:off x="5143683"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bằng HSM hoặc USB Token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Tự động khi hết lỗi Nghiêm trọng và ngày ra viện không ở tương lai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Ký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"Đã ký số (HSM)" hoặc "Đã ký số (USB Token)"</a:t>
            </a:r>
            <a:endParaRPr lang="en-US" sz="850" dirty="0"/>
          </a:p>
        </p:txBody>
      </p:sp>
      <p:sp>
        <p:nvSpPr>
          <p:cNvPr id="17" name="Shape 15"/>
          <p:cNvSpPr/>
          <p:nvPr/>
        </p:nvSpPr>
        <p:spPr>
          <a:xfrm>
            <a:off x="7267468" y="1508760"/>
            <a:ext cx="2215225" cy="658368"/>
          </a:xfrm>
          <a:prstGeom prst="chevron">
            <a:avLst/>
          </a:prstGeom>
          <a:solidFill>
            <a:srgbClr val="0B1F3A"/>
          </a:solidFill>
          <a:ln w="12700">
            <a:solidFill>
              <a:srgbClr val="FFFFFF"/>
            </a:solidFill>
            <a:prstDash val="solid"/>
          </a:ln>
        </p:spPr>
      </p:sp>
      <p:sp>
        <p:nvSpPr>
          <p:cNvPr id="18" name="Text 16"/>
          <p:cNvSpPr/>
          <p:nvPr/>
        </p:nvSpPr>
        <p:spPr>
          <a:xfrm>
            <a:off x="7541788"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04  </a:t>
            </a:r>
            <a:pPr indent="0" marL="0">
              <a:buNone/>
            </a:pPr>
            <a:r>
              <a:rPr lang="en-US" sz="1300" b="1" dirty="0">
                <a:solidFill>
                  <a:srgbClr val="FFFFFF"/>
                </a:solidFill>
                <a:latin typeface="Arial" pitchFamily="34" charset="0"/>
                <a:ea typeface="Arial" pitchFamily="34" charset="-122"/>
                <a:cs typeface="Arial" pitchFamily="34" charset="-120"/>
              </a:rPr>
              <a:t>Gửi cổng</a:t>
            </a:r>
            <a:endParaRPr lang="en-US" sz="1100" dirty="0"/>
          </a:p>
        </p:txBody>
      </p:sp>
      <p:sp>
        <p:nvSpPr>
          <p:cNvPr id="19" name="Shape 17"/>
          <p:cNvSpPr/>
          <p:nvPr/>
        </p:nvSpPr>
        <p:spPr>
          <a:xfrm>
            <a:off x="7267468" y="2295144"/>
            <a:ext cx="2123785" cy="3218688"/>
          </a:xfrm>
          <a:prstGeom prst="rect">
            <a:avLst/>
          </a:prstGeom>
          <a:solidFill>
            <a:srgbClr val="EEF3F8"/>
          </a:solidFill>
          <a:ln w="12700">
            <a:solidFill>
              <a:srgbClr val="D6E2EE"/>
            </a:solidFill>
            <a:prstDash val="solid"/>
          </a:ln>
        </p:spPr>
      </p:sp>
      <p:sp>
        <p:nvSpPr>
          <p:cNvPr id="20" name="Text 18"/>
          <p:cNvSpPr/>
          <p:nvPr/>
        </p:nvSpPr>
        <p:spPr>
          <a:xfrm>
            <a:off x="737719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 chức năng tự gửi phải được bật cho từng cơ sở (mặc định TẮT)</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Chỉ gửi hồ sơ đã ký. Lỗi mạng thì tự thử lại tối đa 3 lần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(rê chuột xem thông điệp)</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Có thời điểm gửi, không kèm thông điệp lỗi</a:t>
            </a:r>
            <a:endParaRPr lang="en-US" sz="850" dirty="0"/>
          </a:p>
        </p:txBody>
      </p:sp>
      <p:sp>
        <p:nvSpPr>
          <p:cNvPr id="21" name="Shape 19"/>
          <p:cNvSpPr/>
          <p:nvPr/>
        </p:nvSpPr>
        <p:spPr>
          <a:xfrm>
            <a:off x="9500982" y="1508760"/>
            <a:ext cx="2123785" cy="658368"/>
          </a:xfrm>
          <a:prstGeom prst="chevron">
            <a:avLst/>
          </a:prstGeom>
          <a:solidFill>
            <a:srgbClr val="0B1F3A"/>
          </a:solidFill>
          <a:ln w="12700">
            <a:solidFill>
              <a:srgbClr val="FFFFFF"/>
            </a:solidFill>
            <a:prstDash val="solid"/>
          </a:ln>
        </p:spPr>
      </p:sp>
      <p:sp>
        <p:nvSpPr>
          <p:cNvPr id="22" name="Text 20"/>
          <p:cNvSpPr/>
          <p:nvPr/>
        </p:nvSpPr>
        <p:spPr>
          <a:xfrm>
            <a:off x="9775302"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05  </a:t>
            </a:r>
            <a:pPr indent="0" marL="0">
              <a:buNone/>
            </a:pPr>
            <a:r>
              <a:rPr lang="en-US" sz="1300" b="1" dirty="0">
                <a:solidFill>
                  <a:srgbClr val="FFFFFF"/>
                </a:solidFill>
                <a:latin typeface="Arial" pitchFamily="34" charset="0"/>
                <a:ea typeface="Arial" pitchFamily="34" charset="-122"/>
                <a:cs typeface="Arial" pitchFamily="34" charset="-120"/>
              </a:rPr>
              <a:t>Theo dõi kết quả</a:t>
            </a:r>
            <a:endParaRPr lang="en-US" sz="1100" dirty="0"/>
          </a:p>
        </p:txBody>
      </p:sp>
      <p:sp>
        <p:nvSpPr>
          <p:cNvPr id="23" name="Shape 21"/>
          <p:cNvSpPr/>
          <p:nvPr/>
        </p:nvSpPr>
        <p:spPr>
          <a:xfrm>
            <a:off x="9500982" y="2295144"/>
            <a:ext cx="2123785" cy="3218688"/>
          </a:xfrm>
          <a:prstGeom prst="rect">
            <a:avLst/>
          </a:prstGeom>
          <a:solidFill>
            <a:srgbClr val="EEF3F8"/>
          </a:solidFill>
          <a:ln w="12700">
            <a:solidFill>
              <a:srgbClr val="D6E2EE"/>
            </a:solidFill>
            <a:prstDash val="solid"/>
          </a:ln>
        </p:spPr>
      </p:sp>
      <p:sp>
        <p:nvSpPr>
          <p:cNvPr id="24" name="Text 22"/>
          <p:cNvSpPr/>
          <p:nvPr/>
        </p:nvSpPr>
        <p:spPr>
          <a:xfrm>
            <a:off x="9610710"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 Giám định</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Lọc "Gửi có lỗi", đọc thông điệp cổng, xem phễu và Pareto mã lỗi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Dashboard lỗi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Lỗi cổng trả về đã sửa trên HIS và nạp lại; phễu không còn bậc tụt</a:t>
            </a:r>
            <a:endParaRPr lang="en-US" sz="850" dirty="0"/>
          </a:p>
        </p:txBody>
      </p:sp>
      <p:sp>
        <p:nvSpPr>
          <p:cNvPr id="25" name="Shape 23"/>
          <p:cNvSpPr/>
          <p:nvPr/>
        </p:nvSpPr>
        <p:spPr>
          <a:xfrm>
            <a:off x="566928" y="5614416"/>
            <a:ext cx="11057839" cy="475488"/>
          </a:xfrm>
          <a:prstGeom prst="roundRect">
            <a:avLst>
              <a:gd name="adj" fmla="val 11538"/>
            </a:avLst>
          </a:prstGeom>
          <a:solidFill>
            <a:srgbClr val="FFF4E6"/>
          </a:solidFill>
          <a:ln w="12700">
            <a:solidFill>
              <a:srgbClr val="F1C58E"/>
            </a:solidFill>
            <a:prstDash val="solid"/>
          </a:ln>
        </p:spPr>
      </p:sp>
      <p:sp>
        <p:nvSpPr>
          <p:cNvPr id="26" name="Text 24"/>
          <p:cNvSpPr/>
          <p:nvPr/>
        </p:nvSpPr>
        <p:spPr>
          <a:xfrm>
            <a:off x="749808" y="5614416"/>
            <a:ext cx="10692079" cy="475488"/>
          </a:xfrm>
          <a:prstGeom prst="rect">
            <a:avLst/>
          </a:prstGeom>
          <a:noFill/>
          <a:ln/>
        </p:spPr>
        <p:txBody>
          <a:bodyPr wrap="square" rtlCol="0" anchor="ctr"/>
          <a:lstStyle/>
          <a:p>
            <a:pPr algn="ctr" indent="0" marL="0">
              <a:buNone/>
            </a:pPr>
            <a:r>
              <a:rPr lang="en-US" sz="1200" b="1" dirty="0">
                <a:solidFill>
                  <a:srgbClr val="C96A12"/>
                </a:solidFill>
                <a:latin typeface="Arial" pitchFamily="34" charset="0"/>
                <a:ea typeface="Arial" pitchFamily="34" charset="-122"/>
                <a:cs typeface="Arial" pitchFamily="34" charset="-120"/>
              </a:rPr>
              <a:t>Sửa trên HIS xong phải NẠP LẠI (quay về bước 01) thì kết quả mới đổi. Nút "Xuất XML3176" chỉ tải ZIP về máy — không phải bước 04.</a:t>
            </a:r>
            <a:endParaRPr lang="en-US" sz="12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04 / 79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Cùng năm bước, ba luồng chạy khác nhau</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79691"/>
                <a:gridCol w="3159383"/>
                <a:gridCol w="3159383"/>
                <a:gridCol w="3159383"/>
              </a:tblGrid>
              <a:tr h="0">
                <a:tc>
                  <a:txBody>
                    <a:bodyPr/>
                    <a:lstStyle/>
                    <a:p>
                      <a:pPr indent="0" marL="0">
                        <a:buNone/>
                      </a:pPr>
                      <a:r>
                        <a:rPr lang="en-US" sz="1350" b="1" dirty="0">
                          <a:solidFill>
                            <a:srgbClr val="FFFFFF"/>
                          </a:solidFill>
                          <a:latin typeface="Arial" pitchFamily="34" charset="0"/>
                          <a:ea typeface="Arial" pitchFamily="34" charset="-122"/>
                          <a:cs typeface="Arial" pitchFamily="34" charset="-120"/>
                        </a:rPr>
                        <a:t>Bước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Hồ sơ XML 3176 (phần 03)</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Chứng từ điện tử PL02 (phần 08)</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Danh mục TT12/2026 (phần 09)</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01 Nạp hồ sơ</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tệp .xml, hoặc tự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ở màn Nạp hồ sơ, hoặc tiến trình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Chỉ qua màn Nạp danh mục, bằng biểu mẫu Excel tải từ phần mềm</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02 Kiểm tra dữ liệu</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bộ kiểm XML1–XML15 và kiểm chéo. Lỗi Nghiêm trọng chặn xuất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mã CTDT001–008, mức Chặn / Cảnh báo. "Chưa kiểm" chưa phải là sạch</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sau khi nạp. MA_CSKCB lệch một dòng là từ chối cả tệp</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03 Ký số</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khi hết lỗi Nghiêm trọng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"Ký và gửi" — một hồ sơ, hoặc tối đa 50 hồ sơ mỗi lượt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Một lần bấm "Ký và gửi" chạy cả ký và gửi</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04 Gửi cổng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nếu cơ sở bật (mặc định tắt). Tự thử lại 3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Tự gửi là công tắc riêng; mỗi hồ sơ chỉ tự gửi đúng 1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Cùng lượt với ký số. Mã 200 = cổng tiếp nhận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05 Theo dõi kết quả</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Cột Sub, lọc "Gửi có lỗi", Dashboard lỗi XML</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Chín trạng thái gửi, khối Lịch sử gửi, Dashboard chứng từ</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Mã giao dịch, cột Đã đồng bộ, Dashboard độ phủ</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3"/>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Khác biệt phải nhớ: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Chứng từ điện tử PL02 không có mã giao dịch chống trùng — gửi hai lần là hai chứng từ trên cổng, không rút lại được. Vì thế luồng này để người bấm gửi, còn XML 3176 thì máy tự gửi.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05 / 79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CÁCH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Bảy nhóm chức năng, hai trọng tâm tạo giá trị lớn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Phát hiện tại nguồn → phân mức lỗi → sửa trước khi ký số → gửi hồ sơ sạch hơn.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25915"/>
                <a:gridCol w="4381408"/>
                <a:gridCol w="1460469"/>
                <a:gridCol w="459004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Nhóm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Học ở phần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Màn hình chính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tra sai sót y lệnh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sai sót y lệnh → Danh sách vi phạm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hồ sơ XML 3176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XML → Xml 3176 → Danh sách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thẻ, mức hưởng và quyền lợi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04, 05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BHYT → Tra cứu thẻ BHYT / Tra cứu tiền cùng chi trả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mã và tên thuốc, VTYT, DVKT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đối chiếu danh mục; mã lỗi XML2, XML3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danh mục và giá còn hiệu lực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07, 09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Quản lý danh mục → Nhập khẩu danh mục; Danh mục TT12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Phản hồi lỗi tới đơn vị phát sinh theo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lỗi hồ sơ (quét mã vạch trên phiếu)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hợp chỉ số và báo cáo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03, 08, 09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Dashboard lỗi XML · Dashboard chứng từ · Dashboard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mức lỗi xuyên suốt: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 chặn xuất và gửi. CẢNH BÁO = cho đi, ghi nhận để theo dõi. Mã lỗi mới chưa có trong danh mục được mặc định coi là NGHIÊM TRỌNG.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06 / 79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NGUYÊN TẮC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nguyên tắc cần hiểu trước khi dùng</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Chỉ đọc HIS — sửa tại HIS</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đọc dữ liệu HIS, không bao giờ ghi hay sửa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Mọi sai sót phải sửa trên HIS, tại đơn vị phát sinh. Bấm "Đã xử lý" không sửa được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xong phải nạp lại hồ sơ thì kết quả kiểm mới đổi.</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Hai mức lỗi</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hồ sơ không được xuất, không được gửi.</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Cảnh báo: hồ sơ vẫn đi, lỗi được ghi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của từng mã lỗi do phòng ban đặt ở danh mục mã lỗi — một ô tích sai có thể chặn hàng nghìn hồ sơ.</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Cổng nhận là nhận thật</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có đường rút lại hồ sơ đã được cổng tiếp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sai sau đó phải theo quy trình nghiệp vụ với cơ quan BHXH.</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Đối chiếu kỹ trước khi bấm gửi — đặc biệt với chứng từ điện tử.</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07 / 79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02</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Kiểm tra sai sót y lệnh</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Máy rà soát cái gì · Đọc một dòng vi phạm · Xử lý dứt điểm · Các quy tắc hay gặp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Máy rà soát như thế nào — 5 điều phải hiểu trước</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Bộ quét chạy thường trực trên máy chủ, không phụ thuộc việc có ai mở màn hình hay không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Chu kỳ khoảng 60 giây một lượt; dữ liệu HIS phát sinh nhiều thì độ trễ có thể vài phút</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Hệ thống chỉ đọc dữ liệu HIS, không bao giờ ghi hay sửa. Việc sửa vẫn do khoa làm trên HIS</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Vi phạm đã đánh dấu "Đã xử lý" hoặc "Bỏ qua" sẽ không bao giờ bị dựng lại ở lượt quét sau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có thể yên tâm xử lý dứt điểm từng dòng, không sợ làm đi làm lại</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 tắc bị tắt sẽ không sinh vi phạm mới, nhưng vi phạm cũ vẫn còn trong danh sách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09 / 79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nguồn dữ liệu được quét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Bộ quét không làm việc theo "hồ sơ" mà theo từng dòng dữ liệu mới. Bệnh nhân nằm viện 30 ngày thì y lệnh ngày thứ 30 vẫn được quét như ngày đầu.</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588005"/>
                <a:gridCol w="3529098"/>
                <a:gridCol w="494073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Nguồn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Cách theo dõi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chỉ định dịch vụ, thuốc, cận lâm sàng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thời điểm sửa đổi — phiếu sửa lại sau khi tạo sẽ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Nhật ký 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do HIS phát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thuốc cấp phát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dùng và số lượng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đã chỉ định — kiểm giới hạn giới tính và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Điểm có lợi cho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Phiếu chỉ định được theo dõi theo thời điểm sửa đổi. Vì vậy khi khoa gán người thực hiện vào lúc thực hiện dịch vụ, phiếu đó sẽ được quét lại — sửa đúng là hết lỗi cho lần sau.</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10 / 79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Giới hạn phải biết: con trỏ quét chỉ tiến, không lùi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Một phiếu đã quét sẽ không được đánh giá lại, trừ khi chính phiếu đó bị sửa trên HIS. Ba tình huống dưới đây khiến kết quả tự động chưa phản ánh đúng thực tế.</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764460"/>
                <a:gridCol w="4837805"/>
                <a:gridCol w="345557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Hệ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Khoa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Lúc quét, bệnh nhân còn nằm viện nên chưa có giờ ra viện; khi ra viện các phiếu cũ không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 Phòng BHYT sẽ đối chiếu lại bằng kiểm tra hồ sơ XML 3176 sau khi hồ sơ kết thúc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nhập bổ sung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lúc quét chưa có mã ICD bị ghi vi phạm "thiếu chẩn đoán"; bổ sung ICD sau thì vi phạm cũ vẫn còn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ghi chú rõ: đã bổ sung ICD ngày …</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BHYT cập nhật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bị báo "mã không có trong danh mục" do lúc quét danh mục chưa nhập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Việc nhập danh mục là của phòng ban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Đừng kết luận vội: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Thấy một vi phạm mà biết chắc mình đã sửa rồi — hãy đối chiếu ba tình huống trên trước khi báo là lỗi phần mềm. Đa số trường hợp rơi vào dòng thứ hai.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11 / 79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vi phạm</a:t>
            </a:r>
            <a:endParaRPr lang="en-US" sz="2600" dirty="0"/>
          </a:p>
        </p:txBody>
      </p:sp>
      <p:pic>
        <p:nvPicPr>
          <p:cNvPr id="4" name="Image 0" descr="C:\Users\tracnn\qlbv\docs\dao-tao\anh\anh-01-danh-sach-vi-pham.png">    </p:cNvPr>
          <p:cNvPicPr>
            <a:picLocks noChangeAspect="1"/>
          </p:cNvPicPr>
          <p:nvPr/>
        </p:nvPicPr>
        <p:blipFill>
          <a:blip r:embed="rId1"/>
          <a:stretch>
            <a:fillRect/>
          </a:stretch>
        </p:blipFill>
        <p:spPr>
          <a:xfrm>
            <a:off x="566928" y="1325880"/>
            <a:ext cx="7298174" cy="4105223"/>
          </a:xfrm>
          <a:prstGeom prst="rect">
            <a:avLst/>
          </a:prstGeom>
        </p:spPr>
      </p:pic>
      <p:sp>
        <p:nvSpPr>
          <p:cNvPr id="5" name="Shape 2"/>
          <p:cNvSpPr/>
          <p:nvPr/>
        </p:nvSpPr>
        <p:spPr>
          <a:xfrm>
            <a:off x="566928" y="1325880"/>
            <a:ext cx="7298174" cy="4105223"/>
          </a:xfrm>
          <a:prstGeom prst="rect">
            <a:avLst/>
          </a:prstGeom>
          <a:ln w="12700">
            <a:solidFill>
              <a:srgbClr val="D6E2EE"/>
            </a:solidFill>
            <a:prstDash val="solid"/>
          </a:ln>
        </p:spPr>
      </p:sp>
      <p:sp>
        <p:nvSpPr>
          <p:cNvPr id="6" name="Text 3"/>
          <p:cNvSpPr/>
          <p:nvPr/>
        </p:nvSpPr>
        <p:spPr>
          <a:xfrm>
            <a:off x="8139422" y="1325880"/>
            <a:ext cx="3485345" cy="4800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Màn hình tự tải dữ liệu NGÀY HÔM NAY ngay khi mở</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Đổi bộ lọc xong phải bấm Tải dữ liệu, bảng không tự đổi</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Bốn ô chỉ số: Tổng · Nghiêm trọng · Cảnh báo · Chưa xử lý — tính theo bộ lọc đang áp</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Nút Xuất Excel xuất đúng phạm vi bộ lọc đang chọn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nghiêm trọng gắn nhãn đỏ ở cột Mức độ</a:t>
            </a:r>
            <a:endParaRPr lang="en-US" sz="1300" dirty="0"/>
          </a:p>
        </p:txBody>
      </p:sp>
      <p:sp>
        <p:nvSpPr>
          <p:cNvPr id="8" name="Shape 4"/>
          <p:cNvSpPr/>
          <p:nvPr/>
        </p:nvSpPr>
        <p:spPr>
          <a:xfrm>
            <a:off x="566928" y="6382512"/>
            <a:ext cx="11057839" cy="0"/>
          </a:xfrm>
          <a:prstGeom prst="line">
            <a:avLst/>
          </a:prstGeom>
          <a:noFill/>
          <a:ln w="9525">
            <a:solidFill>
              <a:srgbClr val="D6E2EE"/>
            </a:solidFill>
            <a:prstDash val="solid"/>
          </a:ln>
        </p:spPr>
      </p:sp>
      <p:sp>
        <p:nvSpPr>
          <p:cNvPr id="9" name="Text 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0" name="Text 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12 / 79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khoa lâm sàng dùng hằng ngày</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Toàn màn có 8 ô lọc. Khoa chỉ cần thuộc 4 ô dưới đây.</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352732"/>
                <a:gridCol w="3529098"/>
                <a:gridCol w="517601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Đặt giá trị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Khoa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Khoa của mình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Lọc ra đúng phần việc của khoa, bỏ qua vi phạm của khoa khác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còn việc chưa ai đụng tới. Làm hết là sạch việc trong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trước, sau đó mới tới 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là nhóm chặn hồ sơ; xử lý trước sẽ gỡ được hồ sơ đang treo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Từ ngày / Đến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Mặc định hôm nay; mở rộng khi cần rà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cuối tuần hoặc trước kỳ quyết toán thì mở rộng khoảng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Tìm BN/BS/ĐT/DV</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hoặc tên khi cần tra một ca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theo bệnh nhân, bác sĩ, mã điều trị hoặc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Thói quen nên tập: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Đầu giờ sáng: Khoa = khoa mình, Trạng thái = Mới, Mức độ = Nghiêm trọng → Tải dữ liệu. Làm hết danh sách đó rồi mới chuyển sang Cảnh báo.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13 / 79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xử lý một vi phạm</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Lọc Trạng thái = "Mới", Mức độ = "Nghiêm trọng", bấm Tải dữ liệu</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rút gọn còn các việc cần làm ngay</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cột Nội dung để hiểu sai sót; ghi lại số Phiếu và Mã ĐT</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Đủ thông tin để tra ngược trên HIS</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Sửa dữ liệu gốc trên HIS: sửa phiếu chỉ định, bổ sung thông tin còn thiếu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Đây là bước duy nhất thực sự sửa được sai sót</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Quay lại phần mềm, bấm nút Đã xử lý trên dòng tương ứng</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ô nhập "Ghi chú (tùy chọn)"</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Nhập ghi chú, ví dụ: "Khoa Nội đã bổ sung ICD ngày 11/8", rồi xác nhận</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lưu người xử lý và thời điểm; dòng chuyển sang Đã xử lý</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Với vi phạm không đúng thực tế: bấm Bỏ qua và ghi RÕ lý do</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chuyển sang Bỏ qua và không bao giờ xuất hiện lại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a:t>
            </a:r>
            <a:pPr indent="0" marL="0">
              <a:lnSpc>
                <a:spcPts val="1900"/>
              </a:lnSpc>
              <a:buNone/>
            </a:pPr>
            <a:r>
              <a:rPr lang="en-US" sz="1300" dirty="0">
                <a:solidFill>
                  <a:srgbClr val="14233A"/>
                </a:solidFill>
                <a:latin typeface="Arial" pitchFamily="34" charset="0"/>
                <a:ea typeface="Arial" pitchFamily="34" charset="-122"/>
                <a:cs typeface="Arial" pitchFamily="34" charset="-120"/>
              </a:rPr>
              <a:t>Nút Bỏ qua là quyết định vĩnh viễn với dòng đó. Luôn ghi rõ lý do trong ô ghi chú — đây là căn cứ giải trình khi cơ quan giám định hỏi lại.</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14 / 79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Chọn "Đã xử lý" hay "Bỏ qua"?</a:t>
            </a:r>
            <a:endParaRPr lang="en-US" sz="2600" dirty="0"/>
          </a:p>
        </p:txBody>
      </p:sp>
      <p:sp>
        <p:nvSpPr>
          <p:cNvPr id="4" name="Shape 2"/>
          <p:cNvSpPr/>
          <p:nvPr/>
        </p:nvSpPr>
        <p:spPr>
          <a:xfrm>
            <a:off x="566928" y="1325880"/>
            <a:ext cx="5364328" cy="3657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ĐÃ XỬ LÝ — khi vi phạm là thật</a:t>
            </a:r>
            <a:endParaRPr lang="en-US" sz="1500" dirty="0"/>
          </a:p>
        </p:txBody>
      </p:sp>
      <p:sp>
        <p:nvSpPr>
          <p:cNvPr id="7" name="Text 5"/>
          <p:cNvSpPr/>
          <p:nvPr/>
        </p:nvSpPr>
        <p:spPr>
          <a:xfrm>
            <a:off x="768096"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Sai sót có thật và đã được sửa trên HIS</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phiếu thiếu ICD → đã bổ sung ICD</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người thực hiện chưa khai chứng chỉ hành nghề → đã khai bổ sung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giờ y lệnh ghi sai → đã sửa lại giờ</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nên nêu: đã sửa gì, ngày nào</a:t>
            </a:r>
            <a:endParaRPr lang="en-US" sz="1350" dirty="0"/>
          </a:p>
        </p:txBody>
      </p:sp>
      <p:sp>
        <p:nvSpPr>
          <p:cNvPr id="8" name="Shape 6"/>
          <p:cNvSpPr/>
          <p:nvPr/>
        </p:nvSpPr>
        <p:spPr>
          <a:xfrm>
            <a:off x="6260440" y="1325880"/>
            <a:ext cx="5364328" cy="3657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BỎ QUA — khi vi phạm không đúng thực tế</a:t>
            </a:r>
            <a:endParaRPr lang="en-US" sz="1500" dirty="0"/>
          </a:p>
        </p:txBody>
      </p:sp>
      <p:sp>
        <p:nvSpPr>
          <p:cNvPr id="11" name="Text 9"/>
          <p:cNvSpPr/>
          <p:nvPr/>
        </p:nvSpPr>
        <p:spPr>
          <a:xfrm>
            <a:off x="6461608"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Máy báo nhưng dữ liệu thực tế không sai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ICD đã bổ sung sau lượt quét (xem lại giới hạn ở mục 2.2.2)</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mã báo "không có trong danh mục" do danh mục chưa nhập kịp</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BẮT BUỘC nêu rõ lý do vì sao không phải là sai sót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Bỏ qua là vĩnh viễn — dòng sẽ không quay lại</a:t>
            </a:r>
            <a:endParaRPr lang="en-US" sz="135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Nguyên tắc: </a:t>
            </a:r>
            <a:pPr indent="0" marL="0">
              <a:lnSpc>
                <a:spcPts val="1900"/>
              </a:lnSpc>
              <a:buNone/>
            </a:pPr>
            <a:r>
              <a:rPr lang="en-US" sz="1300" dirty="0">
                <a:solidFill>
                  <a:srgbClr val="14233A"/>
                </a:solidFill>
                <a:latin typeface="Arial" pitchFamily="34" charset="0"/>
                <a:ea typeface="Arial" pitchFamily="34" charset="-122"/>
                <a:cs typeface="Arial" pitchFamily="34" charset="-120"/>
              </a:rPr>
              <a:t>Không dùng "Bỏ qua" để dọn màn hình cho gọn. Một dòng bỏ qua không có lý do chính đáng sẽ thành điểm yếu khi cơ quan giám định đối chiếu.</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15 / 79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cấu trúc và thời gian</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trước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nhỏ hơn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y lệnh ngoài khoảng đợt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có giờ trước giờ vào viện hoặc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thực hiện trước giờ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ghi nhận thực hiện trước thời điểm bác sĩ ra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thực hiện thiếu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Tài khoản thực hiện dịch vụ chưa khai hoặc khai không hợp lệ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Hay gặp nhất tại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"giờ" — do thói quen nhập y lệnh gộp vào cuối ca, hoặc ghi nhận thực hiện trước khi bác sĩ ký y lệnh. Sửa được bằng thay đổi quy trình ghi chép, không cần sửa phần mềm.</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16 / 79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lâm sàng</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thuốc do HIS phát hiện trong cùng đơn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không có mã bệnh. Phiếu khám bệnh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nhân ngày không khớp số lượng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liều sáng-trưa-chiều-tối nhân số ngày khác số lượng thuốc đã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5A6472"/>
                          </a:solidFill>
                          <a:latin typeface="Arial" pitchFamily="34" charset="0"/>
                          <a:ea typeface="Arial" pitchFamily="34" charset="-122"/>
                          <a:cs typeface="Arial" pitchFamily="34" charset="-120"/>
                        </a:rPr>
                        <a:t>Thông tin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chỉ dành cho một giới nhưng chỉ định cho giới còn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ngoài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Tuổi bệnh nhân nằm ngoài khoảng tuổi cho phép của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Còn một nhóm nữa: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17 / 79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nào máy KHÔNG báo — các trường hợp được miễn trừ</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Thấy một trường hợp rõ ràng sai nhưng hệ thống im lặng, hãy đối chiếu bảng này trước khi kết luận là lỗi phần mềm.</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836393"/>
                <a:gridCol w="2933712"/>
                <a:gridCol w="4287734"/>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 hợp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Miễn cho quy tắc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loại: Khác, Đơn máu, Suất ăn, Ngoài khám chữa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quy tắc cấp 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phải y lệnh khám chữa bệnh theo nghĩa thông thường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khám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chỉ có sau khi khám xong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Đơn phòng khám, Đơn tủ trực, Đơn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gắn với một người thực hiện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rõ giới tính / dịch vụ không khai giới hạn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đủ căn cứ để kết luận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thiếu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tính được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thuộc đối tượng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Nhóm đối chiếu danh mục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phát sinh nghĩa vụ đối chiếu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18 / 79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03</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Hồ sơ XML 3176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bước vòng đời · Màn Danh sách hồ sơ · Điều kiện xuất và gửi · Dashboard lỗi · Danh mục mã lỗi</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Vòng đời một hồ sơ XML 3176 — sáu bước chi tiết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Tài liệu gốc chia sáu bước. Cột cuối cho biết mỗi bước thuộc bước nào trong quy trình năm bước ở phần 01.</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31877"/>
                <a:gridCol w="2000942"/>
                <a:gridCol w="2000942"/>
                <a:gridCol w="4844387"/>
                <a:gridCol w="157969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Thuộc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 hoặc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XML lên bằng tay, hoặc để hệ thống tự quét thư mục và nhập khẩu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Giải mã gói FILEHOSO, tách thành các bảng XML1 đến XML15 theo từng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tự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Chạy bộ kiểm lỗi cho từng loại XML, tra cứu thẻ BHYT, đối chiếu chéo giữa các bảng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Xem và xử lý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 có lỗi, xem chi tiết, phối hợp khoa phòng sửa dữ liệu gốc trên HIS</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số – Xuất –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hết lỗi nghiêm trọng được ký số, xuất tệp XML và gửi lên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Ký số, 04 Gửi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Xem cột Exp, Sub, Ký XML và thông điệp phản hồi của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05 Theo dõi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Rất quan trọng: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Bước 5 diễn ra HOÀN TOÀN TỰ ĐỘNG. Nút "Xuất XML3176" trên màn danh sách CHỈ tải tệp ZIP về máy để đối chiếu, KHÔNG gửi hồ sơ lên cổng. Đừng nhầm hai việc này.</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20 / 79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Nhập khẩu hồ sơ thủ công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Hồ sơ XML → Xml 3176 → Nhập khẩu hồ sơ</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màn Nhập khẩu hồ sơ</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khung kéo thả tệp và một bảng trống bên dưới</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một hoặc nhiều tệp .xml thả vào khung, hoặc bấm vào khung để chọn tệp</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một dòng, ba cột: Tên tệp, Kích thước, Trạng thái</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cột Trạng thái của tất cả các dòng chuyển sang hoàn tất</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"Thành công! Đã hoàn thành việc tải lên hồ sơ!"</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Chuyển sang màn Danh sách hồ sơ để xem kết quả kiểm tra</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kiểm lỗi hiện dần trong vài phút</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cần biết: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21 / 79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Đường tự động: hệ thống tự quét thư mục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Một tiến trình chạy thường trực trên máy chủ quét hai thư mục được cấu hình sẵn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   Hai luồng hồ sơ: luồng thanh toán và luồng thường. Nghỉ khoảng 3 giây giữa hai vòng quét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Tệp hợp lệ được tách và đưa vào hàng đợi kiểm lỗi giống hệt đường tải lên bằng tay</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gốc được dọn khỏi thư mục theo dõi sau khi xử lý xong</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Tệp không đọc được bị chuyển vào thư mục con "loi" và nằm lại đó cho tới khi có người xử lý</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Người dùng cần làm ba việc: đặt tệp vào đúng thư mục → chờ một phút → mở Danh sách hồ sơ lọc Ngày tạo = hôm nay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không xuất hiện thì mở thư mục con "loi" kiểm tra — tệp nằm ở đó là hỏng cấu trúc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có thông báo nào trên màn hình: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22 / 79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hồ sơ — màn làm việc chính</a:t>
            </a:r>
            <a:endParaRPr lang="en-US" sz="2600" dirty="0"/>
          </a:p>
        </p:txBody>
      </p:sp>
      <p:pic>
        <p:nvPicPr>
          <p:cNvPr id="4" name="Image 0" descr="C:\Users\tracnn\qlbv\docs\dao-tao\anh\anh-03-danh-sach-ho-so-xml3176.png">    </p:cNvPr>
          <p:cNvPicPr>
            <a:picLocks noChangeAspect="1"/>
          </p:cNvPicPr>
          <p:nvPr/>
        </p:nvPicPr>
        <p:blipFill>
          <a:blip r:embed="rId1"/>
          <a:stretch>
            <a:fillRect/>
          </a:stretch>
        </p:blipFill>
        <p:spPr>
          <a:xfrm>
            <a:off x="566928" y="1325880"/>
            <a:ext cx="5852160" cy="3657600"/>
          </a:xfrm>
          <a:prstGeom prst="rect">
            <a:avLst/>
          </a:prstGeom>
        </p:spPr>
      </p:pic>
      <p:sp>
        <p:nvSpPr>
          <p:cNvPr id="5" name="Shape 2"/>
          <p:cNvSpPr/>
          <p:nvPr/>
        </p:nvSpPr>
        <p:spPr>
          <a:xfrm>
            <a:off x="566928" y="1325880"/>
            <a:ext cx="5852160" cy="3657600"/>
          </a:xfrm>
          <a:prstGeom prst="rect">
            <a:avLst/>
          </a:prstGeom>
          <a:ln w="12700">
            <a:solidFill>
              <a:srgbClr val="D6E2EE"/>
            </a:solidFill>
            <a:prstDash val="solid"/>
          </a:ln>
        </p:spPr>
      </p:sp>
      <p:sp>
        <p:nvSpPr>
          <p:cNvPr id="6" name="Text 3"/>
          <p:cNvSpPr/>
          <p:nvPr/>
        </p:nvSpPr>
        <p:spPr>
          <a:xfrm>
            <a:off x="6693408" y="1325880"/>
            <a:ext cx="4931359"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Nháy ĐÚP vào một dòng để mở Chi tiết hồ sơ (các tab XML1–XML15, Thẻ BHYT, Lỗi XML)</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có lỗi hiện chữ đỏ</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Góc dưới phải: biểu tượng quay tròn kèm con số = số việc còn trong hàng đợi kiểm tra, tự cập nhật mỗi 5 giây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về 0 = đã kiểm xong. Đứng yên rất lâu = báo công nghệ thông tin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Sub có biểu tượng sao chép để chép nguyên văn thông điệp lỗi gửi cho bộ phận hỗ trợ</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Phạm vi xem: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thông thường CHỈ nhìn thấy hồ sơ do chính mình nhập khẩu. Chỉ tài khoản quản trị mới thấy toàn bộ hồ sơ của đơn vị. Đồng nghiệp nhập hồ sơ mà mình không thấy — đây là nguyên nhân thường gặp nhất.</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23 / 79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dùng nhiều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Màn hình có 14 ô lọc. Sáu ô dưới đây giải quyết hầu hết công việc hằng ngày.</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Giá trị nên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Dùng khi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theo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hoặc Ngày thanh toán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Quyết định khoảng thời gian áp cho loại ngày nào. Đối chiếu quyết toán thường dùng hai loại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"Lỗi critical"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Ưu tiên xử lý hồ sơ đang bị CHẶN xuất — đây là nhóm làm treo chi phí</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gửi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gửi" / "Gửi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hồ sơ tồn chưa lên được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ký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sự cố chữ ký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Chọn đúng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 đúng khi chuẩn bị số liệu của một cơ sở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Một mã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Lưu ý: khi đã nhập ô này, MỌI bộ lọc khác bị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nhãn cũ: </a:t>
            </a:r>
            <a:pPr indent="0" marL="0">
              <a:lnSpc>
                <a:spcPts val="1900"/>
              </a:lnSpc>
              <a:buNone/>
            </a:pPr>
            <a:r>
              <a:rPr lang="en-US" sz="1300" dirty="0">
                <a:solidFill>
                  <a:srgbClr val="14233A"/>
                </a:solidFill>
                <a:latin typeface="Arial" pitchFamily="34" charset="0"/>
                <a:ea typeface="Arial" pitchFamily="34" charset="-122"/>
                <a:cs typeface="Arial" pitchFamily="34" charset="-120"/>
              </a:rPr>
              <a:t>Ô lọc "Trạng thái" vẫn dùng nhãn "Đã Export 4750 / Chưa Export 4750". Trên màn XML 3176 hãy hiểu là "Đã xuất tệp XML / Chưa xuất tệp XML" — nhãn còn sót từ phiên bản trước, không liên quan tới menu Xml 4750.</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24 / 79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một hồ sơ chưa được gửi lên cổng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XUẤT tệp XML — cả ba phải đủ:</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xuất đang được bật trong cấu hình hệ thống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công nghệ thông tin</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không còn bất kỳ lỗi nào ở mức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phòng ban + khoa: lọc "Lỗi critical", sửa dữ liệu gốc trên HIS rồi nạp lại</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Ngày ra viện của hồ sơ không nằm ở tương lai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   Thường do HIS ghi sai ngày ra viện</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GỬI lên cổng — cả hai phải đủ:</a:t>
            </a:r>
            <a:endParaRPr lang="en-US" sz="1600" dirty="0"/>
          </a:p>
          <a:p>
            <a:pPr marL="342900" indent="-342900">
              <a:lnSpc>
                <a:spcPts val="2400"/>
              </a:lnSpc>
              <a:spcAft>
                <a:spcPts val="10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gửi đang bật trong cấu hình của cơ sở — mặc định TẮT, phải yêu cầu bật</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đã được ký số thành công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   Chưa ký thì tooltip cột Sub ghi rõ "Hồ sơ chưa ký số, không gửi lên cổng BHXH"</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gửi thất bại vì lỗi mạng: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Hệ thống tự thử lại tối đa ba lần trước khi ghi nhận lỗi. Sau khi sửa dữ liệu gốc trên HIS và nạp lại, hồ sơ được kiểm tra lại và gửi lại tự động khi đã hợp lệ.</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25 / 79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Dashboard lỗi XML — năm chỉ số và bốn biểu đồ</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17352"/>
                <a:gridCol w="7740487"/>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Khối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Đọc như thế nào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Tổng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đã nhập khẩu trong kỳ. So với số liệu HIS để phát hiện hồ sơ chưa nạp</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Lỗi nghiêm trọng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đang bị chặn xuất. Đây là chỉ số cần đưa về 0 TRƯỚC kỳ quyết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thẻ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có kết quả tra thẻ bất thường. Thường phải phối hợp với tiếp đón để sửa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Chi phí BHYT bị treo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Tổng chi phí của các hồ sơ chưa gửi được — con số thể hiện rủi ro tài chính của tồn đọng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Phễu xử lý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Năm bậc: Đã import → Không lỗi nghiêm trọng → Đã xuất XML → Đã ký số → Đã gửi. Bậc nào tụt mạnh là điểm nghẽn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Top 15 mã lỗi (Pareto)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Xử lý vài mã đầu bảng thường giải quyết được phần lớn hồ sơ lỗi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Tồn đọng theo tuổi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Nhóm 0–7, 8–15, 16–30 và trên 30 ngày. Nhóm trên 30 ngày xử lý trước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nghiêm trọng theo khoa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Phân bổ theo khoa thực hiện — dùng để giao việc cho đúng đầu mối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3"/>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Mẹo: </a:t>
            </a:r>
            <a:pPr indent="0" marL="0">
              <a:lnSpc>
                <a:spcPts val="1900"/>
              </a:lnSpc>
              <a:buNone/>
            </a:pPr>
            <a:r>
              <a:rPr lang="en-US" sz="1300" dirty="0">
                <a:solidFill>
                  <a:srgbClr val="14233A"/>
                </a:solidFill>
                <a:latin typeface="Arial" pitchFamily="34" charset="0"/>
                <a:ea typeface="Arial" pitchFamily="34" charset="-122"/>
                <a:cs typeface="Arial" pitchFamily="34" charset="-120"/>
              </a:rPr>
              <a:t>Bấm vào một cột hoặc một phần của biểu đồ sẽ chuyển sang màn Danh sách hồ sơ với bộ lọc tương ứng đã áp sẵn.</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26 / 79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Danh mục mã lỗi XML 3176 — nơi quyết định lỗi nào chặn hồ sơ</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Quản lý danh mục → BHYT → DM lỗi Xml 3176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Cột "Nghiêm trọng": bật = hồ sơ còn lỗi này sẽ KHÔNG được xuất và không được gửi. Tắt = chỉ cảnh báo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Cột "Có kiểm tra": bật = hệ thống vẫn kiểm mã lỗi này. Tắt = ngừng kiểm và ngừng ghi nhận từ lần chạy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Thay đổi có hiệu lực với các lần kiểm SAU, không hồi tố — muốn xoá lỗi cũ phải nạp lại hồ sơ</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Mã lỗi mới phát sinh mà chưa có trong danh mục sẽ được mặc định coi là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   Hệ quả: hồ sơ có thể bị chặn xuất hàng loạt mà không rõ nguyên nhân</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Việc phải làm sau mỗi lần nâng cấp phần mềm: </a:t>
            </a:r>
            <a:pPr indent="0" marL="0">
              <a:lnSpc>
                <a:spcPts val="1900"/>
              </a:lnSpc>
              <a:buNone/>
            </a:pPr>
            <a:r>
              <a:rPr lang="en-US" sz="1300" dirty="0">
                <a:solidFill>
                  <a:srgbClr val="14233A"/>
                </a:solidFill>
                <a:latin typeface="Arial" pitchFamily="34" charset="0"/>
                <a:ea typeface="Arial" pitchFamily="34" charset="-122"/>
                <a:cs typeface="Arial" pitchFamily="34" charset="-120"/>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27 / 79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04</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Thẻ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Đọc hai mã kết quả · Lỗi khoa sửa được trên HIS · Tra cứu tự động và hàng loạt ở phòng ban</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mã hoàn toàn khác nhau — đừng nhầm</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tra cứu</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000</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CỔNG BHXH trả về.</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Phản ánh tình trạng thẻ trong cơ sở dữ liệu của cơ quan bảo hiểm: thẻ còn hạn không, có bị thu hồi không, họ tên và ngày sinh có khớp không.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000 thường phải làm việc với người bệnh hoặc cơ quan BHXH.</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C62828"/>
          </a:solidFill>
          <a:ln w="12700">
            <a:solidFill>
              <a:srgbClr val="C62828"/>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kiểm tra</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PHẦN MỀM tự tính khi so dữ liệu cổng trả về với dữ liệu đang lưu trên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Ví dụ: 08 = giới tính lệch · 09 = nơi đăng ký ban đầu khác cổng · 11 = cổng trả về thiếu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 thường là khoa/tiếp đón sửa được ngay trên HIS.</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Một dòng bị coi là lỗi khi: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khác 000 HOẶC Mã kiểm tra khác 00. Dòng lỗi được tô nền đỏ nhạt trên màn Kết quả tra cứu thẻ.</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29 / 79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mã kiểm tra khoa sửa được ngay trên HIS</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nhóm có tác động trực tiếp tới mức hưởng và tới việc hồ sơ XML có bị giám định từ chối hay không.</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4644292"/>
                <a:gridCol w="541834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phải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00</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Mọi thông tin đều khớp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họ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họ tên trên HIS theo dữ liệu cổng trả về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ngày sinh trên HIS theo dữ liệu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giới tính trên HIS. Đây là lỗi hay bị bỏ sót nhất và sẽ làm hồ sơ XML bị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Nơi đăng ký ban đầu khác với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Cập nhật nơi ĐKBĐ trên HIS — trường này quyết định đúng tuyến hay trái tuyến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hết hạn khi bệnh nhân chưa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Xác định phần chi phí sau ngày hết hạn thẻ, thông báo cho người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không có trong cơ sở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lại số thẻ; nếu đúng, đề nghị người bệnh liên hệ cơ quan bảo hiểm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Ảnh hưởng tới mức hưởng: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Trường "Ngày đủ 5 năm liên tục" và "Mã khu vực" khi lệch với cổng phải sửa theo dữ liệu cổng TRƯỚC khi kết xuất hồ sơ XML, nếu không hồ sơ sẽ bị giám định từ chối.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30 / 79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Kết quả tra cứu thẻ tự động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Hồ sơ XML → Kết quả tra cứu thẻ</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Hằng ngày hệ thống tự quét danh sách bệnh nhân đang điều trị có số thẻ, gửi yêu cầu lên cổng và lưu kết quả</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đã tra cứu hợp lệ trước đó được bỏ qua để không gọi cổng nhiều lần không cần thiết</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Thẻ do BHXH Bộ Quốc phòng và Bộ Công an quản lý được bỏ qua theo cấu hình — cổng không trả kết quả cho nhóm này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mã điều trị giữ MỘT bản ghi mới nhất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Thao tác hằng ngày: chọn khoảng ngày → Trạng thái = "Chỉ lỗi" → chọn Cơ sở KCB → Xuất Excel gửi khoa phòng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xuất gồm 26 cột, đúng phạm vi bộ lọc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nhiều ngày không có dữ liệu mới: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Tiến trình tra cứu tự động đã dừng, hoặc không xác định được cơ sở cho các hồ sơ. Báo công nghệ thông tin kiểm tra dịch vụ nền và việc khai mã cơ sở cho các khoa/chi nhánh.</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31 / 79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Tra cứu hàng loạt theo hồ sơ XML</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trước kỳ quyết toán, khi cần tra lại thẻ cho một nhóm hồ sơ đã có trong hệ thống.</a:t>
            </a:r>
            <a:endParaRPr lang="en-US" sz="1300" dirty="0"/>
          </a:p>
        </p:txBody>
      </p:sp>
      <p:sp>
        <p:nvSpPr>
          <p:cNvPr id="5" name="Shape 3"/>
          <p:cNvSpPr/>
          <p:nvPr/>
        </p:nvSpPr>
        <p:spPr>
          <a:xfrm>
            <a:off x="566928" y="1709928"/>
            <a:ext cx="11057839" cy="841248"/>
          </a:xfrm>
          <a:prstGeom prst="rect">
            <a:avLst/>
          </a:prstGeom>
          <a:solidFill>
            <a:srgbClr val="EEF3F8"/>
          </a:solidFill>
          <a:ln w="12700">
            <a:solidFill>
              <a:srgbClr val="D6E2EE"/>
            </a:solidFill>
            <a:prstDash val="solid"/>
          </a:ln>
        </p:spPr>
      </p:sp>
      <p:sp>
        <p:nvSpPr>
          <p:cNvPr id="6" name="Shape 4"/>
          <p:cNvSpPr/>
          <p:nvPr/>
        </p:nvSpPr>
        <p:spPr>
          <a:xfrm>
            <a:off x="713232" y="1938528"/>
            <a:ext cx="384048" cy="384048"/>
          </a:xfrm>
          <a:prstGeom prst="ellipse">
            <a:avLst/>
          </a:prstGeom>
          <a:solidFill>
            <a:srgbClr val="1A5EA8"/>
          </a:solidFill>
          <a:ln/>
        </p:spPr>
      </p:sp>
      <p:sp>
        <p:nvSpPr>
          <p:cNvPr id="7" name="Text 5"/>
          <p:cNvSpPr/>
          <p:nvPr/>
        </p:nvSpPr>
        <p:spPr>
          <a:xfrm>
            <a:off x="713232" y="193852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Đặt bộ lọc: khoảng ngày ra viện, loại khám chữa bệnh, mã thẻ hoặc khoa</a:t>
            </a:r>
            <a:endParaRPr lang="en-US" sz="1400" dirty="0"/>
          </a:p>
        </p:txBody>
      </p:sp>
      <p:sp>
        <p:nvSpPr>
          <p:cNvPr id="9" name="Text 7"/>
          <p:cNvSpPr/>
          <p:nvPr/>
        </p:nvSpPr>
        <p:spPr>
          <a:xfrm>
            <a:off x="7085951" y="1709928"/>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định phạm vi hồ sơ cần tra cứu</a:t>
            </a:r>
            <a:endParaRPr lang="en-US" sz="1200" dirty="0"/>
          </a:p>
        </p:txBody>
      </p:sp>
      <p:sp>
        <p:nvSpPr>
          <p:cNvPr id="10" name="Shape 8"/>
          <p:cNvSpPr/>
          <p:nvPr/>
        </p:nvSpPr>
        <p:spPr>
          <a:xfrm>
            <a:off x="566928" y="2660904"/>
            <a:ext cx="11057839" cy="841248"/>
          </a:xfrm>
          <a:prstGeom prst="rect">
            <a:avLst/>
          </a:prstGeom>
          <a:solidFill>
            <a:srgbClr val="FFFFFF"/>
          </a:solidFill>
          <a:ln w="12700">
            <a:solidFill>
              <a:srgbClr val="D6E2EE"/>
            </a:solidFill>
            <a:prstDash val="solid"/>
          </a:ln>
        </p:spPr>
      </p:sp>
      <p:sp>
        <p:nvSpPr>
          <p:cNvPr id="11" name="Shape 9"/>
          <p:cNvSpPr/>
          <p:nvPr/>
        </p:nvSpPr>
        <p:spPr>
          <a:xfrm>
            <a:off x="713232" y="2889504"/>
            <a:ext cx="384048" cy="384048"/>
          </a:xfrm>
          <a:prstGeom prst="ellipse">
            <a:avLst/>
          </a:prstGeom>
          <a:solidFill>
            <a:srgbClr val="1A5EA8"/>
          </a:solidFill>
          <a:ln/>
        </p:spPr>
      </p:sp>
      <p:sp>
        <p:nvSpPr>
          <p:cNvPr id="12" name="Text 10"/>
          <p:cNvSpPr/>
          <p:nvPr/>
        </p:nvSpPr>
        <p:spPr>
          <a:xfrm>
            <a:off x="713232" y="28895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660904"/>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Xác nhận thực hiện</a:t>
            </a:r>
            <a:endParaRPr lang="en-US" sz="1400" dirty="0"/>
          </a:p>
        </p:txBody>
      </p:sp>
      <p:sp>
        <p:nvSpPr>
          <p:cNvPr id="14" name="Text 12"/>
          <p:cNvSpPr/>
          <p:nvPr/>
        </p:nvSpPr>
        <p:spPr>
          <a:xfrm>
            <a:off x="7085951" y="2660904"/>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Toàn bộ hồ sơ trong phạm vi được xếp vào hàng đợi tra cứu</a:t>
            </a:r>
            <a:endParaRPr lang="en-US" sz="1200" dirty="0"/>
          </a:p>
        </p:txBody>
      </p:sp>
      <p:sp>
        <p:nvSpPr>
          <p:cNvPr id="15" name="Shape 13"/>
          <p:cNvSpPr/>
          <p:nvPr/>
        </p:nvSpPr>
        <p:spPr>
          <a:xfrm>
            <a:off x="566928" y="3611880"/>
            <a:ext cx="11057839" cy="841248"/>
          </a:xfrm>
          <a:prstGeom prst="rect">
            <a:avLst/>
          </a:prstGeom>
          <a:solidFill>
            <a:srgbClr val="EEF3F8"/>
          </a:solidFill>
          <a:ln w="12700">
            <a:solidFill>
              <a:srgbClr val="D6E2EE"/>
            </a:solidFill>
            <a:prstDash val="solid"/>
          </a:ln>
        </p:spPr>
      </p:sp>
      <p:sp>
        <p:nvSpPr>
          <p:cNvPr id="16" name="Shape 14"/>
          <p:cNvSpPr/>
          <p:nvPr/>
        </p:nvSpPr>
        <p:spPr>
          <a:xfrm>
            <a:off x="713232" y="3840480"/>
            <a:ext cx="384048" cy="384048"/>
          </a:xfrm>
          <a:prstGeom prst="ellipse">
            <a:avLst/>
          </a:prstGeom>
          <a:solidFill>
            <a:srgbClr val="1A5EA8"/>
          </a:solidFill>
          <a:ln/>
        </p:spPr>
      </p:sp>
      <p:sp>
        <p:nvSpPr>
          <p:cNvPr id="17" name="Text 15"/>
          <p:cNvSpPr/>
          <p:nvPr/>
        </p:nvSpPr>
        <p:spPr>
          <a:xfrm>
            <a:off x="713232" y="38404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611880"/>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hàng đợi xử lý, sau đó mở màn Kết quả tra cứu thẻ</a:t>
            </a:r>
            <a:endParaRPr lang="en-US" sz="1400" dirty="0"/>
          </a:p>
        </p:txBody>
      </p:sp>
      <p:sp>
        <p:nvSpPr>
          <p:cNvPr id="19" name="Text 17"/>
          <p:cNvSpPr/>
          <p:nvPr/>
        </p:nvSpPr>
        <p:spPr>
          <a:xfrm>
            <a:off x="7085951" y="3611880"/>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mới xuất hiện với thời điểm tra cứu là hiện tại</a:t>
            </a:r>
            <a:endParaRPr lang="en-US" sz="1200" dirty="0"/>
          </a:p>
        </p:txBody>
      </p:sp>
      <p:sp>
        <p:nvSpPr>
          <p:cNvPr id="20" name="Shape 18"/>
          <p:cNvSpPr/>
          <p:nvPr/>
        </p:nvSpPr>
        <p:spPr>
          <a:xfrm>
            <a:off x="566928" y="5074920"/>
            <a:ext cx="11057839" cy="1051560"/>
          </a:xfrm>
          <a:prstGeom prst="rect">
            <a:avLst/>
          </a:prstGeom>
          <a:solidFill>
            <a:srgbClr val="FDECEC"/>
          </a:solidFill>
          <a:ln w="12700">
            <a:solidFill>
              <a:srgbClr val="FDECEC"/>
            </a:solidFill>
            <a:prstDash val="solid"/>
          </a:ln>
        </p:spPr>
      </p:sp>
      <p:sp>
        <p:nvSpPr>
          <p:cNvPr id="21" name="Shape 19"/>
          <p:cNvSpPr/>
          <p:nvPr/>
        </p:nvSpPr>
        <p:spPr>
          <a:xfrm>
            <a:off x="566928" y="5074920"/>
            <a:ext cx="64008" cy="1051560"/>
          </a:xfrm>
          <a:prstGeom prst="rect">
            <a:avLst/>
          </a:prstGeom>
          <a:solidFill>
            <a:srgbClr val="C62828"/>
          </a:solidFill>
          <a:ln w="12700">
            <a:solidFill>
              <a:srgbClr val="C62828"/>
            </a:solidFill>
            <a:prstDash val="solid"/>
          </a:ln>
        </p:spPr>
      </p:sp>
      <p:sp>
        <p:nvSpPr>
          <p:cNvPr id="22" name="Text 2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về phạm vi: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cứu là một lần gọi lên cổng BHXH. KHÔNG chọn phạm vi quá rộng (ví dụ cả năm) vì sẽ chiếm hàng đợi rất lâu và có thể bị cổng hạn chế truy cập. Chia theo tháng hoặc theo khoa.</a:t>
            </a:r>
            <a:endParaRPr lang="en-US" sz="1300" dirty="0"/>
          </a:p>
        </p:txBody>
      </p:sp>
      <p:sp>
        <p:nvSpPr>
          <p:cNvPr id="24" name="Shape 21"/>
          <p:cNvSpPr/>
          <p:nvPr/>
        </p:nvSpPr>
        <p:spPr>
          <a:xfrm>
            <a:off x="566928" y="6382512"/>
            <a:ext cx="11057839" cy="0"/>
          </a:xfrm>
          <a:prstGeom prst="line">
            <a:avLst/>
          </a:prstGeom>
          <a:noFill/>
          <a:ln w="9525">
            <a:solidFill>
              <a:srgbClr val="D6E2EE"/>
            </a:solidFill>
            <a:prstDash val="solid"/>
          </a:ln>
        </p:spPr>
      </p:sp>
      <p:sp>
        <p:nvSpPr>
          <p:cNvPr id="25" name="Text 2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6" name="Text 2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32 / 79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tra cứu do cổng trả về — nhóm hay gặp</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mã 000 là hợp lệ. Bảng đầy đủ 23 mã nằm ở mục 3.5 của tài liệu.</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3980822"/>
                <a:gridCol w="608181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Mã</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Ý nghĩa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Hướng xử lý</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2E7D32"/>
                          </a:solidFill>
                          <a:latin typeface="Arial" pitchFamily="34" charset="0"/>
                          <a:ea typeface="Arial" pitchFamily="34" charset="-122"/>
                          <a:cs typeface="Arial" pitchFamily="34" charset="-120"/>
                        </a:rPr>
                        <a:t>000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Thông tin thẻ chính xác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cần làm gì</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003 / 004</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cũ đã hết giá trị / còn giá trị, đã được cấp thẻ mới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Cập nhật số thẻ mới vào HIS theo thông tin cổng trả về</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010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hết giá trị sử dụng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Đề nghị người bệnh liên hệ cơ quan BHXH gia hạn. Xác định lại đối tượng thanh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050 / 051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có thông tin thẻ / Mã thẻ không đúng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Kiểm tra lại số thẻ nhập vào, nhập đúng 15 ký tự</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060 / 070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Sai họ tên / Sai ngày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Sửa theo đúng thẻ, chú ý dấu tiếng Việt và năm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110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đã bị thu hồi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Xác định lại đối tượng thanh toán, không thanh toán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054 / 055</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CCCD hoặc họ tên cán bộ tra cứu không khớp đăng ký của cơ sở</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Báo công nghệ thông tin cập nhật thông tin cán bộ tra cứu, hoặc đăng ký bổ sung với cơ quan BHXH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401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Lỗi xác thực tài khoản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Tài khoản cổng của cơ sở sai hoặc hết hạn — báo công nghệ thông tin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33 / 79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05</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tiền cùng chi trả (MCCT)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Dành cho Phòng Tài chính kế toán (viện phí) và Phòng BHYT · Hai vế điều kiện miễn · Đọc kết luận · Không bấm nhiều lần</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Điều kiện miễn cùng chi trả gồm HAI vế</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1 — Tham gia BHYT đủ 5 năm liên tục trở lên</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KIỂM ĐƯỢC VẾ NÀY.</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Hàm tra cứu của cổng BHXH không trả về dữ kiện 5 năm liên tục.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Cán bộ phải kiểm tra riêng vế này.</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2E7D32"/>
          </a:solidFill>
          <a:ln w="12700">
            <a:solidFill>
              <a:srgbClr val="2E7D32"/>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2 — Lũy kế cùng chi trả trong năm LỚN HƠN 6 tháng lương cơ sở</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vế phần mềm tra được.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Bằng đúng mức đó thì CHƯA ĐỦ — phải lớn hơn.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Khi đạt, màn hình chỉ ghi "ĐỦ NGƯỠNG 6 THÁNG LƯƠNG CƠ SỞ", không kết luận là đã đủ điều kiện miễn.</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Căn cứ pháp lý: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Điểm b khoản 2 Điều 18 Nghị định số 188/2025/NĐ-CP ngày 01/7/2025 · Công văn số 1839/CNTT-PM ngày 18/8/2026 của Trung tâm Công nghệ thông tin và Chuyển đổi số, Bảo hiểm xã hội Việt Nam.</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35 / 79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BỐI CẢNH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Số liệu đến từ đâu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Phần mềm không tự tính số tiền. Nó hỏi cổng BHXH và hiển thị lại đúng những gì cổng trả về.</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Các cơ sở KCB</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Gửi hồ sơ đề nghị thanh toán KCB BHYT lên Hệ thống thông tin giám định</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1A5EA8"/>
          </a:solidFill>
          <a:ln w="12700">
            <a:solidFill>
              <a:srgbClr val="1A5EA8"/>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Cổng BHXH</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Cộng dồn tiền cùng chi trả của người bệnh trong năm, từ MỌI cơ sở</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2A9FD8"/>
          </a:solidFill>
          <a:ln w="12700">
            <a:solidFill>
              <a:srgbClr val="2A9FD8"/>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qlbv hỏi cổng</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Mỗi lần tra là một lượt gọi thật, lấy số liệu mới nhất cổng đang có</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EEF3F8"/>
          </a:solidFill>
          <a:ln w="12700">
            <a:solidFill>
              <a:srgbClr val="D6E2EE"/>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Cán bộ trả lời người bệnh</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Kèm mốc thời gian "tính đến …" và lưu ý về điều kiện 5 năm liên tục</a:t>
            </a:r>
            <a:endParaRPr lang="en-US" sz="1100" dirty="0"/>
          </a:p>
        </p:txBody>
      </p:sp>
      <p:sp>
        <p:nvSpPr>
          <p:cNvPr id="20" name="Text 18"/>
          <p:cNvSpPr/>
          <p:nvPr/>
        </p:nvSpPr>
        <p:spPr>
          <a:xfrm>
            <a:off x="566928" y="3474720"/>
            <a:ext cx="11057839" cy="2770632"/>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1: đợt khám vừa kết thúc hôm nay thường CHƯA có trong lũy kế, vì cơ sở chưa kịp gửi hồ sơ đề nghị thanh toán.</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2: lũy kế bao gồm cả các đợt khám ở cơ sở khác — không chỉ riêng bệnh viện mình.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3: số liệu có độ trễ, nên luôn phải đọc mốc thời gian trước khi kết luận với người bệnh.</a:t>
            </a:r>
            <a:endParaRPr lang="en-US" sz="1300" dirty="0"/>
          </a:p>
        </p:txBody>
      </p:sp>
      <p:sp>
        <p:nvSpPr>
          <p:cNvPr id="22" name="Shape 19"/>
          <p:cNvSpPr/>
          <p:nvPr/>
        </p:nvSpPr>
        <p:spPr>
          <a:xfrm>
            <a:off x="566928" y="6382512"/>
            <a:ext cx="11057839" cy="0"/>
          </a:xfrm>
          <a:prstGeom prst="line">
            <a:avLst/>
          </a:prstGeom>
          <a:noFill/>
          <a:ln w="9525">
            <a:solidFill>
              <a:srgbClr val="D6E2EE"/>
            </a:solidFill>
            <a:prstDash val="solid"/>
          </a:ln>
        </p:spPr>
      </p:sp>
      <p:sp>
        <p:nvSpPr>
          <p:cNvPr id="23" name="Text 20"/>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4" name="Text 21"/>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36 / 79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1 — Tra ngay trên màn Tra cứu thẻ BHYT (khuyến nghị)</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Nhanh nhất khi đang làm việc trực tiếp với người bệnh, vì thông tin thẻ đã có sẵn, không phải nhập lại.</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thẻ BHYT</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Màn hình tra cứu thẻ hiện ra</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KCB, nhập mã thẻ BHYT/CCCD, họ tên, ngày sinh rồi bấm Tra cứu</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tra thẻ hiện ra</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Khi tra thẻ THÀNH CÔNG, nút "Tra tiền cùng chi trả" (màu xanh lá) hiện ra cạnh nút Tra cứu. Bấm vào đó</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Một cửa sổ hiện lên và bắt đầu hỏi cổng BHXH</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cho tới khi có kết quả</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Đồng hồ đếm giây chạy trong lúc chờ — xem mục về thời gian chờ</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Nút chỉ xuất hiện khi tra thẻ thành công: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Nếu tra thẻ báo lỗi hoặc không tìm thấy thẻ thì nút không hiện, vì khi đó thông tin thẻ chưa đủ tin cậy để tra tiếp. Đây không phải lỗi hiển thị.</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37 / 79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Nút "Tra tiền cùng chi trả" nằm ở đâu</a:t>
            </a:r>
            <a:endParaRPr lang="en-US" sz="2600" dirty="0"/>
          </a:p>
        </p:txBody>
      </p:sp>
      <p:pic>
        <p:nvPicPr>
          <p:cNvPr id="4" name="Image 0" descr="C:\Users\tracnn\qlbv\docs\dao-tao\anh\anh-06-nut-tra-tien-cung-chi-tra.png">    </p:cNvPr>
          <p:cNvPicPr>
            <a:picLocks noChangeAspect="1"/>
          </p:cNvPicPr>
          <p:nvPr/>
        </p:nvPicPr>
        <p:blipFill>
          <a:blip r:embed="rId1"/>
          <a:stretch>
            <a:fillRect/>
          </a:stretch>
        </p:blipFill>
        <p:spPr>
          <a:xfrm>
            <a:off x="566928" y="1325880"/>
            <a:ext cx="9312314" cy="3072384"/>
          </a:xfrm>
          <a:prstGeom prst="rect">
            <a:avLst/>
          </a:prstGeom>
        </p:spPr>
      </p:pic>
      <p:sp>
        <p:nvSpPr>
          <p:cNvPr id="5" name="Shape 2"/>
          <p:cNvSpPr/>
          <p:nvPr/>
        </p:nvSpPr>
        <p:spPr>
          <a:xfrm>
            <a:off x="566928" y="1325880"/>
            <a:ext cx="9312314" cy="3072384"/>
          </a:xfrm>
          <a:prstGeom prst="rect">
            <a:avLst/>
          </a:prstGeom>
          <a:ln w="12700">
            <a:solidFill>
              <a:srgbClr val="D6E2EE"/>
            </a:solidFill>
            <a:prstDash val="solid"/>
          </a:ln>
        </p:spPr>
      </p:sp>
      <p:sp>
        <p:nvSpPr>
          <p:cNvPr id="6" name="Text 3"/>
          <p:cNvSpPr/>
          <p:nvPr/>
        </p:nvSpPr>
        <p:spPr>
          <a:xfrm>
            <a:off x="5669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Nút chỉ hiện khi tra thẻ THÀNH CÔNG</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Tra thẻ lỗi hoặc không tìm thấy thẻ → nút không hiện, đây không phải lỗi hiển thị</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Bấm nút mở một cửa sổ riêng và bắt đầu hỏi cổng BHXH ngay</a:t>
            </a:r>
            <a:endParaRPr lang="en-US" sz="1300" dirty="0"/>
          </a:p>
        </p:txBody>
      </p:sp>
      <p:sp>
        <p:nvSpPr>
          <p:cNvPr id="7" name="Text 4"/>
          <p:cNvSpPr/>
          <p:nvPr/>
        </p:nvSpPr>
        <p:spPr>
          <a:xfrm>
            <a:off x="62787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Không phải nhập lại mã thẻ, họ tên, ngày sinh — đã lấy từ lần tra thẻ</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Đây là cách nên dùng mặc định khi đang làm việc với người bệnh</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38 / 79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2 — Tra trên màn hình riêng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khi cần tra độc lập, không đi từ màn tra cứu thẻ.</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tiền cùng chi trả</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Hàng trên là ô Quét QR; hàng dưới là Cơ sở KCB, Mã thẻ/CCCD, Họ và tên, Ngày sinh và nút Tra cứu</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ô Cơ sở KCB — thông thường ô này đã được chọn sẵn</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ghi nhớ lựa chọn từ lần trước</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nhanh: con trỏ đã nằm sẵn ở ô Quét QR, chỉ cần quét mã QR trên thẻ BHYT hoặc CCCD</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thẻ, họ tên, ngày sinh tự điền và phần mềm TỰ tra cứu luôn, không phải bấm thêm</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thủ công: nhập mã thẻ/CCCD, họ tên, ngày sinh rồi bấm Tra cứu (hoặc nhấn Enter ở bất kỳ ô nào)</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được gửi lên cổng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cổng BHXH trả lời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ra ngay bên dưới, trang KHÔNG tải lại</a:t>
            </a:r>
            <a:endParaRPr lang="en-US" sz="1200" dirty="0"/>
          </a:p>
        </p:txBody>
      </p:sp>
      <p:sp>
        <p:nvSpPr>
          <p:cNvPr id="30" name="Shape 28"/>
          <p:cNvSpPr/>
          <p:nvPr/>
        </p:nvSpPr>
        <p:spPr>
          <a:xfrm>
            <a:off x="566928" y="5074920"/>
            <a:ext cx="11057839" cy="1051560"/>
          </a:xfrm>
          <a:prstGeom prst="rect">
            <a:avLst/>
          </a:prstGeom>
          <a:solidFill>
            <a:srgbClr val="EAF5EC"/>
          </a:solidFill>
          <a:ln w="12700">
            <a:solidFill>
              <a:srgbClr val="EAF5EC"/>
            </a:solidFill>
            <a:prstDash val="solid"/>
          </a:ln>
        </p:spPr>
      </p:sp>
      <p:sp>
        <p:nvSpPr>
          <p:cNvPr id="31" name="Shape 29"/>
          <p:cNvSpPr/>
          <p:nvPr/>
        </p:nvSpPr>
        <p:spPr>
          <a:xfrm>
            <a:off x="566928" y="5074920"/>
            <a:ext cx="64008" cy="1051560"/>
          </a:xfrm>
          <a:prstGeom prst="rect">
            <a:avLst/>
          </a:prstGeom>
          <a:solidFill>
            <a:srgbClr val="2E7D32"/>
          </a:solidFill>
          <a:ln w="12700">
            <a:solidFill>
              <a:srgbClr val="2E7D3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Về mã QR: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QR trên thẻ thường ghi ngày sinh thành 8 chữ số liền (ví dụ 20101964). Phần mềm tự chuyển sang dạng 20/10/1964 trước khi tra, nên không bị báo sai định dạng.</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39 / 79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tắc nhập liệu — bốn ô, bốn quy tắc</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211568"/>
                <a:gridCol w="2875038"/>
                <a:gridCol w="5971233"/>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Yêu cầu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chú</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hiện những cơ sở đã khai tài khoản cổng BHXH. Chưa chọn thì phần mềm nhắc chọn chứ không báo lỗi. Lựa chọn được ghi nhớ cho lần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thẻ BHYT/CCCD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Đúng 10, 12, 15 hoặc 17 ký tự</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thẻ BHYT 15 hoặc 17 ký tự; mã số BHXH / số CCCD 10 hoặc 12 ký tự. Gõ kèm dấu cách cho dễ đọc cũng được — phần mềm tự bỏ khoảng trắng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Họ và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Tự chuyển thành chữ IN HOA ngay khi gõ, kể cả họ tên điền từ mã QR. Không cần bật Caps Lock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20/10/1964 hoặc 10/1964 hoặc 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đủ HAI chữ số cho ngày và tháng. Gõ 1/1/1964 sẽ bị báo sai — phải gõ 01/01/1964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việc ghi nhớ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40 / 79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5.1 –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kết quả — khối kết luận</a:t>
            </a:r>
            <a:endParaRPr lang="en-US" sz="2600" dirty="0"/>
          </a:p>
        </p:txBody>
      </p:sp>
      <p:pic>
        <p:nvPicPr>
          <p:cNvPr id="4" name="Image 0" descr="C:\Users\tracnn\qlbv\docs\dao-tao\anh\anh-05-ket-qua-mcct.png">    </p:cNvPr>
          <p:cNvPicPr>
            <a:picLocks noChangeAspect="1"/>
          </p:cNvPicPr>
          <p:nvPr/>
        </p:nvPicPr>
        <p:blipFill>
          <a:blip r:embed="rId1"/>
          <a:stretch>
            <a:fillRect/>
          </a:stretch>
        </p:blipFill>
        <p:spPr>
          <a:xfrm>
            <a:off x="566928" y="1325880"/>
            <a:ext cx="4127928" cy="3657600"/>
          </a:xfrm>
          <a:prstGeom prst="rect">
            <a:avLst/>
          </a:prstGeom>
        </p:spPr>
      </p:pic>
      <p:sp>
        <p:nvSpPr>
          <p:cNvPr id="5" name="Shape 2"/>
          <p:cNvSpPr/>
          <p:nvPr/>
        </p:nvSpPr>
        <p:spPr>
          <a:xfrm>
            <a:off x="566928" y="1325880"/>
            <a:ext cx="4127928" cy="3657600"/>
          </a:xfrm>
          <a:prstGeom prst="rect">
            <a:avLst/>
          </a:prstGeom>
          <a:ln w="12700">
            <a:solidFill>
              <a:srgbClr val="D6E2EE"/>
            </a:solidFill>
            <a:prstDash val="solid"/>
          </a:ln>
        </p:spPr>
      </p:sp>
      <p:sp>
        <p:nvSpPr>
          <p:cNvPr id="6" name="Text 3"/>
          <p:cNvSpPr/>
          <p:nvPr/>
        </p:nvSpPr>
        <p:spPr>
          <a:xfrm>
            <a:off x="4969176" y="1325880"/>
            <a:ext cx="6655591"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Lũy kế cùng chi trả — tổng tiền người bệnh đã cùng chi trả trong năm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Ngưỡng cả năm — số tiền cần đạt. KHÔNG phải lúc nào cũng bằng 6 tháng lương cơ sở hiện hành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Kết luận — nhãn xanh "ĐỦ NGƯỠNG 6 THÁNG LƯƠNG CƠ SỞ" hoặc nhãn vàng "CÒN THIẾU" kèm số tiền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Hai số đầu đều tính từ 01/01 nên so sánh trực tiếp được với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Khi đạt ngưỡng, màn hình hiện thêm khung nhắc kiểm tra điều kiện 5 năm liên tục — đọc kỹ trước khi trả lời</a:t>
            </a:r>
            <a:endParaRPr lang="en-US" sz="1300" dirty="0"/>
          </a:p>
        </p:txBody>
      </p:sp>
      <p:sp>
        <p:nvSpPr>
          <p:cNvPr id="7" name="Shape 4"/>
          <p:cNvSpPr/>
          <p:nvPr/>
        </p:nvSpPr>
        <p:spPr>
          <a:xfrm>
            <a:off x="566928" y="5074920"/>
            <a:ext cx="11057839" cy="1051560"/>
          </a:xfrm>
          <a:prstGeom prst="rect">
            <a:avLst/>
          </a:prstGeom>
          <a:solidFill>
            <a:srgbClr val="FDECEC"/>
          </a:solidFill>
          <a:ln w="12700">
            <a:solidFill>
              <a:srgbClr val="FDECEC"/>
            </a:solidFill>
            <a:prstDash val="solid"/>
          </a:ln>
        </p:spPr>
      </p:sp>
      <p:sp>
        <p:nvSpPr>
          <p:cNvPr id="8" name="Shape 5"/>
          <p:cNvSpPr/>
          <p:nvPr/>
        </p:nvSpPr>
        <p:spPr>
          <a:xfrm>
            <a:off x="566928" y="5074920"/>
            <a:ext cx="64008" cy="1051560"/>
          </a:xfrm>
          <a:prstGeom prst="rect">
            <a:avLst/>
          </a:prstGeom>
          <a:solidFill>
            <a:srgbClr val="C62828"/>
          </a:solidFill>
          <a:ln w="12700">
            <a:solidFill>
              <a:srgbClr val="C62828"/>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BẮT BUỘC đọc dòng chữ nhỏ bên dưới: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41 / 79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lương cơ sở thay đổi giữa năm — ngưỡng KHÔNG phải 6 × lương mới</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Năm 2026 lương cơ sở đổi từ 2.340.000 đ lên 2.530.000 đ kể từ 01/7/2026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Ngưỡng cả năm KHÔNG phải là 6 × 2.530.000 = 15.180.000 đ</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Theo điểm c khoản 2 Điều 18 Nghị định 188/2025/NĐ-CP: phần tiền đã cùng chi trả trước ngày đổi lương được quy đổi ra số tháng theo LƯƠNG CŨ; phần còn thiếu mới tính theo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Số tiền còn phải cùng chi trả = ( 6 − Tiền đã đóng trước 01/7 ÷ Lương cũ ) ×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Ngưỡng cả năm = Tiền đã đóng trước 01/7 + Số tiền còn phải cùng chi trả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Ví dụ: đã cùng chi trả 13.000.000 đ tính đến 30/6/2026</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   Còn phải đóng = (6 − 13.000.000 ÷ 2.340.000) × 2.530.000 = 1.124.444 đ → Ngưỡng cả năm = 14.124.444 đ, CHƯA đủ miễn</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Không phải tính tay: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42 / 79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Bảng chi tiết các đợt KCB và lịch sử tra cứu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Bảng chi tiết liệt kê từng đợt KCB có phát sinh cùng chi trả, sắp xếp giảm dần theo ngày ra viện.</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317352"/>
                <a:gridCol w="774048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Cột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CSKCB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Cơ sở nơi phát sinh đợt KCB đó — CÓ THỂ LÀ CƠ SỞ KHÁC, không phải cơ sở đang tra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 Ngày 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viện và ngày ra viện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tượng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đối tượng khi đi khám chữa bệnh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Tiền CCT thuộc diện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của riêng đợt đó được tính vào diện xét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Lũy kế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cộng dồn tính đến hết đợt đó — đây là con số dùng để xét ngưỡng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nhận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cổng tiếp nhận hồ sơ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Lịch sử tra cứu: </a:t>
            </a:r>
            <a:pPr indent="0" marL="0">
              <a:lnSpc>
                <a:spcPts val="1900"/>
              </a:lnSpc>
              <a:buNone/>
            </a:pPr>
            <a:r>
              <a:rPr lang="en-US" sz="1300" dirty="0">
                <a:solidFill>
                  <a:srgbClr val="14233A"/>
                </a:solidFill>
                <a:latin typeface="Arial" pitchFamily="34" charset="0"/>
                <a:ea typeface="Arial" pitchFamily="34" charset="-122"/>
                <a:cs typeface="Arial" pitchFamily="34" charset="-120"/>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43 / 79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phải chờ, và vì sao không được bấm nhiều lần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Cổng BHXH thường trả lời trong khoảng 5 đến 30 giây, đôi khi lâu hơn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Trong lúc chờ, màn hình hiển thị đồng hồ đếm số giây. Đồng hồ còn chạy nghĩa là hệ thống vẫn làm việc bình thường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Sau 25 giây, dòng chữ tự đổi thành "Cổng BHXH đang phản hồi chậm, vẫn đang chờ…" — vẫn là trạng thái BÌNH THƯỜNG, không phải lỗi</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KHÔNG bấm lại nhiều lần. Cơ quan BHXH giới hạn số lượt tra cứu của mỗi tài khoản và có danh sách tài khoản bị hạn chế tra cứu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   Mỗi lần bấm là một lượt gọi thật. Vì vậy trong lúc chờ, phần mềm tự khoá nút và các ô nhập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là một lượt hỏi cổng thật, kể cả khi mở lại đúng thẻ vừa tra. Chỉ tra khi cần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Phần mềm chờ cổng tối đa 120 giây; quá thời gian đó thì dừng chờ và báo lỗi — đợi vài phút rồi bấm Thử lại</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Đổi lại việc phải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đều lấy số liệu MỚI NHẤT từ cổng, không phải số liệu đã lưu từ lần tra trước. Các lần tra trước của thẻ vẫn xem được ở bảng Lịch sử tra cứu cuối trang.</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44 / 79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hay gặp — phần cán bộ tự xử lý</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dữ liệu. Có thể do sai thông tin thẻ, hoặc thẻ chưa phát sinh chi phí cùng chi trả.</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dùng CHUNG một mã cho hai tình huống khác nhau</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thẻ, họ tên, ngày sinh. Thông tin đã đúng thì nghĩa là thẻ chưa phát sinh chi phí cùng chi trả trong năm — KHÔNG phải lỗi</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Chọn cơ sở khám chữa bệnh rồi bấm Tra cứu</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Chưa chọn cơ sở</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Chọn cơ sở trong ô đầu tiên rồi tra lại</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Mã thẻ BHYT/CCCD phải có 10, 12, 15 hoặc 17 ký tự</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sai số ký tự</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trên thẻ BHYT hoặc trên căn cước công dân</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Ngày sinh phải theo dd/mm/yyyy, mm/yyyy hoặc yyyy</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thiếu chữ số</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Phải gõ 01/01/1964 chứ không gõ 1/1/1964</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BHXH không trả lời sau 120 giây…</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vẫn hoạt động nhưng trả lời quá chậm</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KHÔNG phải sự cố đường truyền của bệnh viện. Đợi vài phút rồi bấm Thử lại</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45 / 79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phải báo lên — không tự xử lý được</a:t>
            </a:r>
            <a:endParaRPr lang="en-US" sz="2600" dirty="0"/>
          </a:p>
        </p:txBody>
      </p:sp>
      <p:sp>
        <p:nvSpPr>
          <p:cNvPr id="4" name="Shape 2"/>
          <p:cNvSpPr/>
          <p:nvPr/>
        </p:nvSpPr>
        <p:spPr>
          <a:xfrm>
            <a:off x="566928" y="1325880"/>
            <a:ext cx="11057839" cy="629107"/>
          </a:xfrm>
          <a:prstGeom prst="rect">
            <a:avLst/>
          </a:prstGeom>
          <a:solidFill>
            <a:srgbClr val="FFFFFF"/>
          </a:solidFill>
          <a:ln w="12700">
            <a:solidFill>
              <a:srgbClr val="D6E2EE"/>
            </a:solidFill>
            <a:prstDash val="solid"/>
          </a:ln>
        </p:spPr>
      </p:sp>
      <p:sp>
        <p:nvSpPr>
          <p:cNvPr id="5" name="Shape 3"/>
          <p:cNvSpPr/>
          <p:nvPr/>
        </p:nvSpPr>
        <p:spPr>
          <a:xfrm>
            <a:off x="566928" y="1325880"/>
            <a:ext cx="64008" cy="629107"/>
          </a:xfrm>
          <a:prstGeom prst="rect">
            <a:avLst/>
          </a:prstGeom>
          <a:solidFill>
            <a:srgbClr val="C62828"/>
          </a:solidFill>
          <a:ln w="12700">
            <a:solidFill>
              <a:srgbClr val="C62828"/>
            </a:solidFill>
            <a:prstDash val="solid"/>
          </a:ln>
        </p:spPr>
      </p:sp>
      <p:sp>
        <p:nvSpPr>
          <p:cNvPr id="6" name="Text 4"/>
          <p:cNvSpPr/>
          <p:nvPr/>
        </p:nvSpPr>
        <p:spPr>
          <a:xfrm>
            <a:off x="749808" y="132588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xác thực được với cổng BHXH…</a:t>
            </a:r>
            <a:endParaRPr lang="en-US" sz="1300" dirty="0"/>
          </a:p>
        </p:txBody>
      </p:sp>
      <p:sp>
        <p:nvSpPr>
          <p:cNvPr id="7" name="Text 5"/>
          <p:cNvSpPr/>
          <p:nvPr/>
        </p:nvSpPr>
        <p:spPr>
          <a:xfrm>
            <a:off x="5211220" y="132588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Phiên làm việc hết hạn, hoặc địa chỉ IP của máy chủ khác IP đã đăng ký với cơ quan BHXH</a:t>
            </a:r>
            <a:endParaRPr lang="en-US" sz="1200" dirty="0"/>
          </a:p>
        </p:txBody>
      </p:sp>
      <p:sp>
        <p:nvSpPr>
          <p:cNvPr id="8" name="Text 6"/>
          <p:cNvSpPr/>
          <p:nvPr/>
        </p:nvSpPr>
        <p:spPr>
          <a:xfrm>
            <a:off x="7975680" y="132588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a:t>
            </a:r>
            <a:endParaRPr lang="en-US" sz="1250" dirty="0"/>
          </a:p>
        </p:txBody>
      </p:sp>
      <p:sp>
        <p:nvSpPr>
          <p:cNvPr id="9" name="Shape 7"/>
          <p:cNvSpPr/>
          <p:nvPr/>
        </p:nvSpPr>
        <p:spPr>
          <a:xfrm>
            <a:off x="566928" y="2083003"/>
            <a:ext cx="11057839" cy="629107"/>
          </a:xfrm>
          <a:prstGeom prst="rect">
            <a:avLst/>
          </a:prstGeom>
          <a:solidFill>
            <a:srgbClr val="FFFFFF"/>
          </a:solidFill>
          <a:ln w="12700">
            <a:solidFill>
              <a:srgbClr val="D6E2EE"/>
            </a:solidFill>
            <a:prstDash val="solid"/>
          </a:ln>
        </p:spPr>
      </p:sp>
      <p:sp>
        <p:nvSpPr>
          <p:cNvPr id="10" name="Shape 8"/>
          <p:cNvSpPr/>
          <p:nvPr/>
        </p:nvSpPr>
        <p:spPr>
          <a:xfrm>
            <a:off x="566928" y="2083003"/>
            <a:ext cx="64008" cy="629107"/>
          </a:xfrm>
          <a:prstGeom prst="rect">
            <a:avLst/>
          </a:prstGeom>
          <a:solidFill>
            <a:srgbClr val="C62828"/>
          </a:solidFill>
          <a:ln w="12700">
            <a:solidFill>
              <a:srgbClr val="C62828"/>
            </a:solidFill>
            <a:prstDash val="solid"/>
          </a:ln>
        </p:spPr>
      </p:sp>
      <p:sp>
        <p:nvSpPr>
          <p:cNvPr id="11" name="Text 9"/>
          <p:cNvSpPr/>
          <p:nvPr/>
        </p:nvSpPr>
        <p:spPr>
          <a:xfrm>
            <a:off x="749808" y="208300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Tài khoản của cơ sở … đang bị cổng hạn chế tra cứu</a:t>
            </a:r>
            <a:endParaRPr lang="en-US" sz="1300" dirty="0"/>
          </a:p>
        </p:txBody>
      </p:sp>
      <p:sp>
        <p:nvSpPr>
          <p:cNvPr id="12" name="Text 10"/>
          <p:cNvSpPr/>
          <p:nvPr/>
        </p:nvSpPr>
        <p:spPr>
          <a:xfrm>
            <a:off x="5211220" y="208300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Vấn đề tài khoản, KHÔNG phải lỗi phần mềm</a:t>
            </a:r>
            <a:endParaRPr lang="en-US" sz="1200" dirty="0"/>
          </a:p>
        </p:txBody>
      </p:sp>
      <p:sp>
        <p:nvSpPr>
          <p:cNvPr id="13" name="Text 11"/>
          <p:cNvSpPr/>
          <p:nvPr/>
        </p:nvSpPr>
        <p:spPr>
          <a:xfrm>
            <a:off x="7975680" y="208300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Liên hệ cơ quan BHXH tỉnh để được mở lại</a:t>
            </a:r>
            <a:endParaRPr lang="en-US" sz="1250" dirty="0"/>
          </a:p>
        </p:txBody>
      </p:sp>
      <p:sp>
        <p:nvSpPr>
          <p:cNvPr id="14" name="Shape 12"/>
          <p:cNvSpPr/>
          <p:nvPr/>
        </p:nvSpPr>
        <p:spPr>
          <a:xfrm>
            <a:off x="566928" y="2840126"/>
            <a:ext cx="11057839" cy="629107"/>
          </a:xfrm>
          <a:prstGeom prst="rect">
            <a:avLst/>
          </a:prstGeom>
          <a:solidFill>
            <a:srgbClr val="FFFFFF"/>
          </a:solidFill>
          <a:ln w="12700">
            <a:solidFill>
              <a:srgbClr val="D6E2EE"/>
            </a:solidFill>
            <a:prstDash val="solid"/>
          </a:ln>
        </p:spPr>
      </p:sp>
      <p:sp>
        <p:nvSpPr>
          <p:cNvPr id="15" name="Shape 13"/>
          <p:cNvSpPr/>
          <p:nvPr/>
        </p:nvSpPr>
        <p:spPr>
          <a:xfrm>
            <a:off x="566928" y="2840126"/>
            <a:ext cx="64008" cy="629107"/>
          </a:xfrm>
          <a:prstGeom prst="rect">
            <a:avLst/>
          </a:prstGeom>
          <a:solidFill>
            <a:srgbClr val="C62828"/>
          </a:solidFill>
          <a:ln w="12700">
            <a:solidFill>
              <a:srgbClr val="C62828"/>
            </a:solidFill>
            <a:prstDash val="solid"/>
          </a:ln>
        </p:spPr>
      </p:sp>
      <p:sp>
        <p:nvSpPr>
          <p:cNvPr id="16" name="Text 14"/>
          <p:cNvSpPr/>
          <p:nvPr/>
        </p:nvSpPr>
        <p:spPr>
          <a:xfrm>
            <a:off x="749808" y="2840126"/>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Cơ sở … chưa khai tài khoản cổng BHXH…</a:t>
            </a:r>
            <a:endParaRPr lang="en-US" sz="1300" dirty="0"/>
          </a:p>
        </p:txBody>
      </p:sp>
      <p:sp>
        <p:nvSpPr>
          <p:cNvPr id="17" name="Text 15"/>
          <p:cNvSpPr/>
          <p:nvPr/>
        </p:nvSpPr>
        <p:spPr>
          <a:xfrm>
            <a:off x="5211220" y="2840126"/>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Cơ sở chưa được cấu hình</a:t>
            </a:r>
            <a:endParaRPr lang="en-US" sz="1200" dirty="0"/>
          </a:p>
        </p:txBody>
      </p:sp>
      <p:sp>
        <p:nvSpPr>
          <p:cNvPr id="18" name="Text 16"/>
          <p:cNvSpPr/>
          <p:nvPr/>
        </p:nvSpPr>
        <p:spPr>
          <a:xfrm>
            <a:off x="7975680" y="2840126"/>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 khai tài khoản cho cơ sở đó</a:t>
            </a:r>
            <a:endParaRPr lang="en-US" sz="1250" dirty="0"/>
          </a:p>
        </p:txBody>
      </p:sp>
      <p:sp>
        <p:nvSpPr>
          <p:cNvPr id="19" name="Shape 17"/>
          <p:cNvSpPr/>
          <p:nvPr/>
        </p:nvSpPr>
        <p:spPr>
          <a:xfrm>
            <a:off x="566928" y="3597250"/>
            <a:ext cx="11057839" cy="629107"/>
          </a:xfrm>
          <a:prstGeom prst="rect">
            <a:avLst/>
          </a:prstGeom>
          <a:solidFill>
            <a:srgbClr val="FFFFFF"/>
          </a:solidFill>
          <a:ln w="12700">
            <a:solidFill>
              <a:srgbClr val="D6E2EE"/>
            </a:solidFill>
            <a:prstDash val="solid"/>
          </a:ln>
        </p:spPr>
      </p:sp>
      <p:sp>
        <p:nvSpPr>
          <p:cNvPr id="20" name="Shape 18"/>
          <p:cNvSpPr/>
          <p:nvPr/>
        </p:nvSpPr>
        <p:spPr>
          <a:xfrm>
            <a:off x="566928" y="3597250"/>
            <a:ext cx="64008" cy="629107"/>
          </a:xfrm>
          <a:prstGeom prst="rect">
            <a:avLst/>
          </a:prstGeom>
          <a:solidFill>
            <a:srgbClr val="C62828"/>
          </a:solidFill>
          <a:ln w="12700">
            <a:solidFill>
              <a:srgbClr val="C62828"/>
            </a:solidFill>
            <a:prstDash val="solid"/>
          </a:ln>
        </p:spPr>
      </p:sp>
      <p:sp>
        <p:nvSpPr>
          <p:cNvPr id="21" name="Text 19"/>
          <p:cNvSpPr/>
          <p:nvPr/>
        </p:nvSpPr>
        <p:spPr>
          <a:xfrm>
            <a:off x="749808" y="359725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kết nối được cổng BHXH / Cổng BHXH báo lỗi (500)…</a:t>
            </a:r>
            <a:endParaRPr lang="en-US" sz="1300" dirty="0"/>
          </a:p>
        </p:txBody>
      </p:sp>
      <p:sp>
        <p:nvSpPr>
          <p:cNvPr id="22" name="Text 20"/>
          <p:cNvSpPr/>
          <p:nvPr/>
        </p:nvSpPr>
        <p:spPr>
          <a:xfrm>
            <a:off x="5211220" y="359725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Sự cố đường truyền, cổng bảo trì, hoặc lỗi phía hệ thống của cổng</a:t>
            </a:r>
            <a:endParaRPr lang="en-US" sz="1200" dirty="0"/>
          </a:p>
        </p:txBody>
      </p:sp>
      <p:sp>
        <p:nvSpPr>
          <p:cNvPr id="23" name="Text 21"/>
          <p:cNvSpPr/>
          <p:nvPr/>
        </p:nvSpPr>
        <p:spPr>
          <a:xfrm>
            <a:off x="7975680" y="359725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thử lại. Kéo dài thì báo công nghệ thông tin / cơ quan BHXH</a:t>
            </a:r>
            <a:endParaRPr lang="en-US" sz="1250" dirty="0"/>
          </a:p>
        </p:txBody>
      </p:sp>
      <p:sp>
        <p:nvSpPr>
          <p:cNvPr id="24" name="Shape 22"/>
          <p:cNvSpPr/>
          <p:nvPr/>
        </p:nvSpPr>
        <p:spPr>
          <a:xfrm>
            <a:off x="566928" y="4354373"/>
            <a:ext cx="11057839" cy="629107"/>
          </a:xfrm>
          <a:prstGeom prst="rect">
            <a:avLst/>
          </a:prstGeom>
          <a:solidFill>
            <a:srgbClr val="FFFFFF"/>
          </a:solidFill>
          <a:ln w="12700">
            <a:solidFill>
              <a:srgbClr val="D6E2EE"/>
            </a:solidFill>
            <a:prstDash val="solid"/>
          </a:ln>
        </p:spPr>
      </p:sp>
      <p:sp>
        <p:nvSpPr>
          <p:cNvPr id="25" name="Shape 23"/>
          <p:cNvSpPr/>
          <p:nvPr/>
        </p:nvSpPr>
        <p:spPr>
          <a:xfrm>
            <a:off x="566928" y="4354373"/>
            <a:ext cx="64008" cy="629107"/>
          </a:xfrm>
          <a:prstGeom prst="rect">
            <a:avLst/>
          </a:prstGeom>
          <a:solidFill>
            <a:srgbClr val="C62828"/>
          </a:solidFill>
          <a:ln w="12700">
            <a:solidFill>
              <a:srgbClr val="C62828"/>
            </a:solidFill>
            <a:prstDash val="solid"/>
          </a:ln>
        </p:spPr>
      </p:sp>
      <p:sp>
        <p:nvSpPr>
          <p:cNvPr id="26" name="Text 24"/>
          <p:cNvSpPr/>
          <p:nvPr/>
        </p:nvSpPr>
        <p:spPr>
          <a:xfrm>
            <a:off x="749808" y="435437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Đã tra cứu được nhưng không lưu được lịch sử tra cứu.</a:t>
            </a:r>
            <a:endParaRPr lang="en-US" sz="1300" dirty="0"/>
          </a:p>
        </p:txBody>
      </p:sp>
      <p:sp>
        <p:nvSpPr>
          <p:cNvPr id="27" name="Text 25"/>
          <p:cNvSpPr/>
          <p:nvPr/>
        </p:nvSpPr>
        <p:spPr>
          <a:xfrm>
            <a:off x="5211220" y="435437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Không ghi được vào cơ sở dữ liệu, thường do chưa chạy lệnh tạo bảng</a:t>
            </a:r>
            <a:endParaRPr lang="en-US" sz="1200" dirty="0"/>
          </a:p>
        </p:txBody>
      </p:sp>
      <p:sp>
        <p:nvSpPr>
          <p:cNvPr id="28" name="Text 26"/>
          <p:cNvSpPr/>
          <p:nvPr/>
        </p:nvSpPr>
        <p:spPr>
          <a:xfrm>
            <a:off x="7975680" y="435437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Kết quả hiển thị VẪN ĐÚNG và dùng được. Báo công nghệ thông tin để khắc phục phần lưu lịch sử</a:t>
            </a:r>
            <a:endParaRPr lang="en-US" sz="1250" dirty="0"/>
          </a:p>
        </p:txBody>
      </p:sp>
      <p:sp>
        <p:nvSpPr>
          <p:cNvPr id="29" name="Shape 27"/>
          <p:cNvSpPr/>
          <p:nvPr/>
        </p:nvSpPr>
        <p:spPr>
          <a:xfrm>
            <a:off x="566928" y="5074920"/>
            <a:ext cx="11057839" cy="1051560"/>
          </a:xfrm>
          <a:prstGeom prst="rect">
            <a:avLst/>
          </a:prstGeom>
          <a:solidFill>
            <a:srgbClr val="FFF4E6"/>
          </a:solidFill>
          <a:ln w="12700">
            <a:solidFill>
              <a:srgbClr val="FFF4E6"/>
            </a:solidFill>
            <a:prstDash val="solid"/>
          </a:ln>
        </p:spPr>
      </p:sp>
      <p:sp>
        <p:nvSpPr>
          <p:cNvPr id="30" name="Shape 28"/>
          <p:cNvSpPr/>
          <p:nvPr/>
        </p:nvSpPr>
        <p:spPr>
          <a:xfrm>
            <a:off x="566928" y="5074920"/>
            <a:ext cx="64008" cy="1051560"/>
          </a:xfrm>
          <a:prstGeom prst="rect">
            <a:avLst/>
          </a:prstGeom>
          <a:solidFill>
            <a:srgbClr val="C96A12"/>
          </a:solidFill>
          <a:ln w="12700">
            <a:solidFill>
              <a:srgbClr val="C96A12"/>
            </a:solidFill>
            <a:prstDash val="solid"/>
          </a:ln>
        </p:spPr>
      </p:sp>
      <p:sp>
        <p:nvSpPr>
          <p:cNvPr id="31" name="Text 29"/>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cung cấp đủ: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Nguyên văn thông báo trên màn hình, cơ sở KCB đã chọn, thời điểm tra và mã thẻ đã tra. Thiếu những thông tin này thì bộ phận hỗ trợ phải hỏi lại và mất thêm thời gian.</a:t>
            </a:r>
            <a:endParaRPr lang="en-US" sz="1300" dirty="0"/>
          </a:p>
        </p:txBody>
      </p:sp>
      <p:sp>
        <p:nvSpPr>
          <p:cNvPr id="33" name="Shape 30"/>
          <p:cNvSpPr/>
          <p:nvPr/>
        </p:nvSpPr>
        <p:spPr>
          <a:xfrm>
            <a:off x="566928" y="6382512"/>
            <a:ext cx="11057839" cy="0"/>
          </a:xfrm>
          <a:prstGeom prst="line">
            <a:avLst/>
          </a:prstGeom>
          <a:noFill/>
          <a:ln w="9525">
            <a:solidFill>
              <a:srgbClr val="D6E2EE"/>
            </a:solidFill>
            <a:prstDash val="solid"/>
          </a:ln>
        </p:spPr>
      </p:sp>
      <p:sp>
        <p:nvSpPr>
          <p:cNvPr id="34" name="Text 3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5" name="Text 3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46 / 79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PHỤ LỤC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Mức lương cơ sở và 6 tháng lương cơ sở</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649087"/>
                <a:gridCol w="3649087"/>
                <a:gridCol w="3759665"/>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Áp dụng từ ngày</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6 tháng 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01/7/2023</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10.800.000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01/7/2024</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2.340.000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14.040.000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233A"/>
                          </a:solidFill>
                          <a:latin typeface="Arial" pitchFamily="34" charset="0"/>
                          <a:ea typeface="Arial" pitchFamily="34" charset="-122"/>
                          <a:cs typeface="Arial" pitchFamily="34" charset="-120"/>
                        </a:rPr>
                        <a:t>01/7/2026</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2.530.000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15.180.000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Nhắc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Con số 15.180.000 đ chỉ đúng khi người bệnh không có khoản cùng chi trả nào trước 01/7/2026. Có phát sinh trước mốc đó thì ngưỡng cả năm được tính theo công thức ở mục 5.3 và luôn thấp hơn 15.180.000 đ.</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47 / 79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điều cần lưu ý khi trả lời người bệnh</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Số liệu do cổng BHXH cung cấp, phần mềm KHÔNG tự tính. Luôn đối chiếu mốc thời gian "tính đến …" trước khi trả lời</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Lũy kế chỉ gồm các đợt KCB mà cơ sở đã gửi hồ sơ đề nghị thanh toán lên cổng. Đợt vừa kết thúc hôm nay thường CHƯA có trong số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Lũy kế tính theo năm tài chính và bao gồm cả các đợt KCB tại CƠ SỞ KHÁC, không chỉ riêng cơ sở đang tra</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Mọi lần tra cứu đều được ghi lại, kể cả lần không thành công, phục vụ đối chiếu về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đều hỏi thẳng cổng nên kết quả là số liệu mới nhất cổng có tại thời điểm tra</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Kết quả tra cứu là căn cứ THAM KHẢO, không thay thế thủ tục. Việc xác định đủ điều kiện miễn và cấp giấy chứng nhận thực hiện theo quy định hiện hành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48 / 79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06</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lỗi hồ sơ theo mã điều trị</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Một lần quét mã vạch — thấy toàn bộ lỗi của hồ sơ từ cả ba nguồn</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Chức năng này giải quyết vấn đề gì</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Cùng một đợt điều trị có thể bị ghi lỗi ở ba nơi khác nhau. Trước đây phải mở lần lượt ba màn hình và tự lọc ở từng nơi.</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Sai sót y lệnh</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bộ quét y lệnh (Phần II)</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EEF3F8"/>
          </a:solidFill>
          <a:ln w="12700">
            <a:solidFill>
              <a:srgbClr val="D6E2EE"/>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tra thẻ BHYT</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tra cứu thẻ tự động lên cổng BHXH</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EEF3F8"/>
          </a:solidFill>
          <a:ln w="12700">
            <a:solidFill>
              <a:srgbClr val="D6E2EE"/>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XML 3176</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kiểm tra hồ sơ và kết quả cổng giám định trả về</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1A5EA8"/>
          </a:solidFill>
          <a:ln w="12700">
            <a:solidFill>
              <a:srgbClr val="1A5EA8"/>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Một màn hình duy nhất</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Nhập hoặc quét mã điều trị → hiện thông tin hồ sơ + cả ba bảng lỗi</a:t>
            </a:r>
            <a:endParaRPr lang="en-US" sz="1100" dirty="0"/>
          </a:p>
        </p:txBody>
      </p:sp>
      <p:sp>
        <p:nvSpPr>
          <p:cNvPr id="20" name="Text 18"/>
          <p:cNvSpPr/>
          <p:nvPr/>
        </p:nvSpPr>
        <p:spPr>
          <a:xfrm>
            <a:off x="566928" y="3474720"/>
            <a:ext cx="11057839" cy="1554480"/>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Menu Tra cứu lỗi hồ sơ nằm ở cấp NGOÀI CÙNG của thanh menu bên trái, không nằm trong nhóm Kiểm tra sai sót y lệnh.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Quyền cần có: tra-cuu-loi-ho-so. Quyền này cấp riêng cho khoa phòng, không cần mở quyền quản trị.</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Đây là màn hình tra cứu nhanh tại khoa. Theo dõi theo ngày / theo khoa / theo mức độ vẫn làm ở ba màn hình chuyên trách.</a:t>
            </a:r>
            <a:endParaRPr lang="en-US" sz="1300" dirty="0"/>
          </a:p>
        </p:txBody>
      </p:sp>
      <p:sp>
        <p:nvSpPr>
          <p:cNvPr id="21" name="Shape 19"/>
          <p:cNvSpPr/>
          <p:nvPr/>
        </p:nvSpPr>
        <p:spPr>
          <a:xfrm>
            <a:off x="566928" y="5074920"/>
            <a:ext cx="11057839" cy="1051560"/>
          </a:xfrm>
          <a:prstGeom prst="rect">
            <a:avLst/>
          </a:prstGeom>
          <a:solidFill>
            <a:srgbClr val="FFF4E6"/>
          </a:solidFill>
          <a:ln w="12700">
            <a:solidFill>
              <a:srgbClr val="FFF4E6"/>
            </a:solidFill>
            <a:prstDash val="solid"/>
          </a:ln>
        </p:spPr>
      </p:sp>
      <p:sp>
        <p:nvSpPr>
          <p:cNvPr id="22" name="Shape 20"/>
          <p:cNvSpPr/>
          <p:nvPr/>
        </p:nvSpPr>
        <p:spPr>
          <a:xfrm>
            <a:off x="566928" y="5074920"/>
            <a:ext cx="64008" cy="1051560"/>
          </a:xfrm>
          <a:prstGeom prst="rect">
            <a:avLst/>
          </a:prstGeom>
          <a:solidFill>
            <a:srgbClr val="C96A12"/>
          </a:solidFill>
          <a:ln w="12700">
            <a:solidFill>
              <a:srgbClr val="C96A12"/>
            </a:solidFill>
            <a:prstDash val="solid"/>
          </a:ln>
        </p:spPr>
      </p:sp>
      <p:sp>
        <p:nvSpPr>
          <p:cNvPr id="23" name="Text 21"/>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Lưu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chỉ hiển thị lại lỗi đã được ghi nhận trước đó. Mở màn hình này KHÔNG kích hoạt một lượt kiểm tra mới — hồ sơ vừa phát sinh y lệnh có thể chưa kịp xuất hiện lỗi.</a:t>
            </a:r>
            <a:endParaRPr lang="en-US" sz="1300" dirty="0"/>
          </a:p>
        </p:txBody>
      </p:sp>
      <p:sp>
        <p:nvSpPr>
          <p:cNvPr id="25" name="Shape 22"/>
          <p:cNvSpPr/>
          <p:nvPr/>
        </p:nvSpPr>
        <p:spPr>
          <a:xfrm>
            <a:off x="566928" y="6382512"/>
            <a:ext cx="11057839" cy="0"/>
          </a:xfrm>
          <a:prstGeom prst="line">
            <a:avLst/>
          </a:prstGeom>
          <a:noFill/>
          <a:ln w="9525">
            <a:solidFill>
              <a:srgbClr val="D6E2EE"/>
            </a:solidFill>
            <a:prstDash val="solid"/>
          </a:ln>
        </p:spPr>
      </p:sp>
      <p:sp>
        <p:nvSpPr>
          <p:cNvPr id="26" name="Text 23"/>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7" name="Text 24"/>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50 / 79</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cách đưa mã điều trị vào</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Ô nhập nằm ngay đầu màn hình và tự động được đặt con trỏ khi mở trang.</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1 — Gõ tay: gõ mã điều trị vào ô Mã điều trị</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hiện trong ô</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Nhấn Enter hoặc bấm nút Tra cứu</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bên dưới sau khoảng một giây</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2 — Quét mã vạch: bấm chuột vào ô Mã điều trị (vừa mở trang thì con trỏ đã sẵn ở đó)</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Con trỏ nhấp nháy trong ô</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mã vạch in trên phiếu bằng máy quét cầm tay</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tự điền và kết quả tự hiện ra, không cần bấm nút</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tiếp phiếu thứ hai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cũ tự bị thay bằng mã mới — không cần xoá ô giữa hai lượt quét</a:t>
            </a:r>
            <a:endParaRPr lang="en-US" sz="1200" dirty="0"/>
          </a:p>
        </p:txBody>
      </p:sp>
      <p:sp>
        <p:nvSpPr>
          <p:cNvPr id="30" name="Shape 28"/>
          <p:cNvSpPr/>
          <p:nvPr/>
        </p:nvSpPr>
        <p:spPr>
          <a:xfrm>
            <a:off x="566928" y="5074920"/>
            <a:ext cx="11057839" cy="1051560"/>
          </a:xfrm>
          <a:prstGeom prst="rect">
            <a:avLst/>
          </a:prstGeom>
          <a:solidFill>
            <a:srgbClr val="FFF4E6"/>
          </a:solidFill>
          <a:ln w="12700">
            <a:solidFill>
              <a:srgbClr val="FFF4E6"/>
            </a:solidFill>
            <a:prstDash val="solid"/>
          </a:ln>
        </p:spPr>
      </p:sp>
      <p:sp>
        <p:nvSpPr>
          <p:cNvPr id="31" name="Shape 29"/>
          <p:cNvSpPr/>
          <p:nvPr/>
        </p:nvSpPr>
        <p:spPr>
          <a:xfrm>
            <a:off x="566928" y="5074920"/>
            <a:ext cx="64008" cy="1051560"/>
          </a:xfrm>
          <a:prstGeom prst="rect">
            <a:avLst/>
          </a:prstGeom>
          <a:solidFill>
            <a:srgbClr val="C96A12"/>
          </a:solidFill>
          <a:ln w="12700">
            <a:solidFill>
              <a:srgbClr val="C96A1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dùng camera: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quét mã bằng camera điện thoại hay máy tính. Chức năng đó đã thử nghiệm và gỡ bỏ vì ảnh camera thiết bị thông thường quá thấp để đọc mã vạch. Dùng máy quét cầm tay hoặc gõ tay.</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51 / 79</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kết quả tra cứu</a:t>
            </a:r>
            <a:endParaRPr lang="en-US" sz="2600" dirty="0"/>
          </a:p>
        </p:txBody>
      </p:sp>
      <p:pic>
        <p:nvPicPr>
          <p:cNvPr id="4" name="Image 0" descr="C:\Users\tracnn\qlbv\docs\dao-tao\anh\anh-02-tra-cuu-loi-ho-so.png">    </p:cNvPr>
          <p:cNvPicPr>
            <a:picLocks noChangeAspect="1"/>
          </p:cNvPicPr>
          <p:nvPr/>
        </p:nvPicPr>
        <p:blipFill>
          <a:blip r:embed="rId1"/>
          <a:stretch>
            <a:fillRect/>
          </a:stretch>
        </p:blipFill>
        <p:spPr>
          <a:xfrm>
            <a:off x="566928" y="1325880"/>
            <a:ext cx="6465693" cy="3657600"/>
          </a:xfrm>
          <a:prstGeom prst="rect">
            <a:avLst/>
          </a:prstGeom>
        </p:spPr>
      </p:pic>
      <p:sp>
        <p:nvSpPr>
          <p:cNvPr id="5" name="Shape 2"/>
          <p:cNvSpPr/>
          <p:nvPr/>
        </p:nvSpPr>
        <p:spPr>
          <a:xfrm>
            <a:off x="566928" y="1325880"/>
            <a:ext cx="6465693" cy="3657600"/>
          </a:xfrm>
          <a:prstGeom prst="rect">
            <a:avLst/>
          </a:prstGeom>
          <a:ln w="12700">
            <a:solidFill>
              <a:srgbClr val="D6E2EE"/>
            </a:solidFill>
            <a:prstDash val="solid"/>
          </a:ln>
        </p:spPr>
      </p:sp>
      <p:sp>
        <p:nvSpPr>
          <p:cNvPr id="6" name="Text 3"/>
          <p:cNvSpPr/>
          <p:nvPr/>
        </p:nvSpPr>
        <p:spPr>
          <a:xfrm>
            <a:off x="7306941" y="1325880"/>
            <a:ext cx="4317826"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Khối Thông tin hồ sơ lấy trực tiếp từ HIS tại thời điểm tra</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trên tiêu đề mỗi bảng là số dòng lỗi đang có</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sạch hiện dải màu xanh "Không phát hiện lỗi trên hồ sơ này"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Cả ba bảng có ô tìm kiếm riêng, bấm tiêu đề cột để sắp xếp, tự phân trang khi quá 10 dòng</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Tra lỗi giữa chừng (mất mạng, hết phiên) thì kết quả cũ bị ẩn hết — tránh nhìn nhầm hồ sơ trước</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khái niệm đừng nhầm: </a:t>
            </a:r>
            <a:pPr indent="0" marL="0">
              <a:lnSpc>
                <a:spcPts val="1900"/>
              </a:lnSpc>
              <a:buNone/>
            </a:pPr>
            <a:r>
              <a:rPr lang="en-US" sz="1300" dirty="0">
                <a:solidFill>
                  <a:srgbClr val="14233A"/>
                </a:solidFill>
                <a:latin typeface="Arial" pitchFamily="34" charset="0"/>
                <a:ea typeface="Arial" pitchFamily="34" charset="-122"/>
                <a:cs typeface="Arial" pitchFamily="34" charset="-120"/>
              </a:rPr>
              <a:t>"Nơi ĐKBĐ" là cơ sở ghi trên thẻ của người bệnh; "Cơ sở KCB" là nơi đang điều trị. Hai trường này thường khác nhau, dùng nhầm sẽ dẫn tới kết quả đối chiếu sai.</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52 / 79</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bảng lỗi — đọc cột nào</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Sai sót y lệnh</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độ · Luật · Nội dung · Phát hiện lúc · Trạng thái · Xử lý</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bảng khoa hành động được ngay. Cột Xử lý cho đổi trạng thái tại chỗ.</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hiện các vi phạm đã đánh dấu Bỏ qua.</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tra thẻ BHYT</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 Mã kiểm tra · Kết quả · Ghi chú · Mã thẻ · Tra lúc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dòng khi kết quả tra thẻ bất thường. Thẻ hợp lệ thì bảng để trống.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Ý nghĩa mã: xem chương 3.</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XML 3176</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XML · STT · Mã lỗi · Tên lỗi · Mô tả · Ngày YL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sau khi hồ sơ đã được kiểm và cổng đã trả kết quả. Bảng trống KHÔNG có nghĩa là hồ sơ không có lỗi XML.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Xử lý chính: phòng BHYT.</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53 / 79</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5.6 – 5.8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thao tác còn lại trên màn hình này</a:t>
            </a:r>
            <a:endParaRPr lang="en-US" sz="2600" dirty="0"/>
          </a:p>
        </p:txBody>
      </p:sp>
      <p:sp>
        <p:nvSpPr>
          <p:cNvPr id="4" name="Shape 2"/>
          <p:cNvSpPr/>
          <p:nvPr/>
        </p:nvSpPr>
        <p:spPr>
          <a:xfrm>
            <a:off x="566928" y="1325880"/>
            <a:ext cx="11057839" cy="832104"/>
          </a:xfrm>
          <a:prstGeom prst="rect">
            <a:avLst/>
          </a:prstGeom>
          <a:solidFill>
            <a:srgbClr val="EEF3F8"/>
          </a:solidFill>
          <a:ln w="12700">
            <a:solidFill>
              <a:srgbClr val="D6E2EE"/>
            </a:solidFill>
            <a:prstDash val="solid"/>
          </a:ln>
        </p:spPr>
      </p:sp>
      <p:sp>
        <p:nvSpPr>
          <p:cNvPr id="5" name="Shape 3"/>
          <p:cNvSpPr/>
          <p:nvPr/>
        </p:nvSpPr>
        <p:spPr>
          <a:xfrm>
            <a:off x="713232" y="1549908"/>
            <a:ext cx="384048" cy="384048"/>
          </a:xfrm>
          <a:prstGeom prst="ellipse">
            <a:avLst/>
          </a:prstGeom>
          <a:solidFill>
            <a:srgbClr val="1A5EA8"/>
          </a:solidFill>
          <a:ln/>
        </p:spPr>
      </p:sp>
      <p:sp>
        <p:nvSpPr>
          <p:cNvPr id="6" name="Text 4"/>
          <p:cNvSpPr/>
          <p:nvPr/>
        </p:nvSpPr>
        <p:spPr>
          <a:xfrm>
            <a:off x="713232" y="154990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Đổi trạng thái một vi phạm: mở ô chọn ở cột Xử lý, chọn Đã xem / Đã xử lý / Bỏ qua</a:t>
            </a:r>
            <a:endParaRPr lang="en-US" sz="1400" dirty="0"/>
          </a:p>
        </p:txBody>
      </p:sp>
      <p:sp>
        <p:nvSpPr>
          <p:cNvPr id="8" name="Text 6"/>
          <p:cNvSpPr/>
          <p:nvPr/>
        </p:nvSpPr>
        <p:spPr>
          <a:xfrm>
            <a:off x="7085951" y="1325880"/>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ghi nhận và tự tra cứu lại hồ sơ; cột Trạng thái đổi theo</a:t>
            </a:r>
            <a:endParaRPr lang="en-US" sz="1200" dirty="0"/>
          </a:p>
        </p:txBody>
      </p:sp>
      <p:sp>
        <p:nvSpPr>
          <p:cNvPr id="9" name="Shape 7"/>
          <p:cNvSpPr/>
          <p:nvPr/>
        </p:nvSpPr>
        <p:spPr>
          <a:xfrm>
            <a:off x="566928" y="2267712"/>
            <a:ext cx="11057839" cy="832104"/>
          </a:xfrm>
          <a:prstGeom prst="rect">
            <a:avLst/>
          </a:prstGeom>
          <a:solidFill>
            <a:srgbClr val="FFFFFF"/>
          </a:solidFill>
          <a:ln w="12700">
            <a:solidFill>
              <a:srgbClr val="D6E2EE"/>
            </a:solidFill>
            <a:prstDash val="solid"/>
          </a:ln>
        </p:spPr>
      </p:sp>
      <p:sp>
        <p:nvSpPr>
          <p:cNvPr id="10" name="Shape 8"/>
          <p:cNvSpPr/>
          <p:nvPr/>
        </p:nvSpPr>
        <p:spPr>
          <a:xfrm>
            <a:off x="713232" y="2491740"/>
            <a:ext cx="384048" cy="384048"/>
          </a:xfrm>
          <a:prstGeom prst="ellipse">
            <a:avLst/>
          </a:prstGeom>
          <a:solidFill>
            <a:srgbClr val="1A5EA8"/>
          </a:solidFill>
          <a:ln/>
        </p:spPr>
      </p:sp>
      <p:sp>
        <p:nvSpPr>
          <p:cNvPr id="11" name="Text 9"/>
          <p:cNvSpPr/>
          <p:nvPr/>
        </p:nvSpPr>
        <p:spPr>
          <a:xfrm>
            <a:off x="713232" y="249174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2267712"/>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In phiếu lỗi: bấm nút In phiếu lỗi</a:t>
            </a:r>
            <a:endParaRPr lang="en-US" sz="1400" dirty="0"/>
          </a:p>
        </p:txBody>
      </p:sp>
      <p:sp>
        <p:nvSpPr>
          <p:cNvPr id="13" name="Text 11"/>
          <p:cNvSpPr/>
          <p:nvPr/>
        </p:nvSpPr>
        <p:spPr>
          <a:xfrm>
            <a:off x="7085951" y="2267712"/>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Mở trang A4 dọc gồm thông tin hồ sơ và cả ba bảng lỗi, tự gọi hộp thoại in. Mọi tài khoản xem được màn hình đều in được</a:t>
            </a:r>
            <a:endParaRPr lang="en-US" sz="1200" dirty="0"/>
          </a:p>
        </p:txBody>
      </p:sp>
      <p:sp>
        <p:nvSpPr>
          <p:cNvPr id="14" name="Shape 12"/>
          <p:cNvSpPr/>
          <p:nvPr/>
        </p:nvSpPr>
        <p:spPr>
          <a:xfrm>
            <a:off x="566928" y="3209544"/>
            <a:ext cx="11057839" cy="832104"/>
          </a:xfrm>
          <a:prstGeom prst="rect">
            <a:avLst/>
          </a:prstGeom>
          <a:solidFill>
            <a:srgbClr val="EEF3F8"/>
          </a:solidFill>
          <a:ln w="12700">
            <a:solidFill>
              <a:srgbClr val="D6E2EE"/>
            </a:solidFill>
            <a:prstDash val="solid"/>
          </a:ln>
        </p:spPr>
      </p:sp>
      <p:sp>
        <p:nvSpPr>
          <p:cNvPr id="15" name="Shape 13"/>
          <p:cNvSpPr/>
          <p:nvPr/>
        </p:nvSpPr>
        <p:spPr>
          <a:xfrm>
            <a:off x="713232" y="3433572"/>
            <a:ext cx="384048" cy="384048"/>
          </a:xfrm>
          <a:prstGeom prst="ellipse">
            <a:avLst/>
          </a:prstGeom>
          <a:solidFill>
            <a:srgbClr val="1A5EA8"/>
          </a:solidFill>
          <a:ln/>
        </p:spPr>
      </p:sp>
      <p:sp>
        <p:nvSpPr>
          <p:cNvPr id="16" name="Text 14"/>
          <p:cNvSpPr/>
          <p:nvPr/>
        </p:nvSpPr>
        <p:spPr>
          <a:xfrm>
            <a:off x="713232" y="343357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3209544"/>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Tra lại thẻ BHYT: bấm nút Tra lại thẻ BHYT</a:t>
            </a:r>
            <a:endParaRPr lang="en-US" sz="1400" dirty="0"/>
          </a:p>
        </p:txBody>
      </p:sp>
      <p:sp>
        <p:nvSpPr>
          <p:cNvPr id="18" name="Text 16"/>
          <p:cNvSpPr/>
          <p:nvPr/>
        </p:nvSpPr>
        <p:spPr>
          <a:xfrm>
            <a:off x="7085951" y="3209544"/>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chữ xanh báo đã GỬI yêu cầu — chưa phải đã có kết quả</a:t>
            </a:r>
            <a:endParaRPr lang="en-US" sz="1200" dirty="0"/>
          </a:p>
        </p:txBody>
      </p:sp>
      <p:sp>
        <p:nvSpPr>
          <p:cNvPr id="19" name="Shape 17"/>
          <p:cNvSpPr/>
          <p:nvPr/>
        </p:nvSpPr>
        <p:spPr>
          <a:xfrm>
            <a:off x="566928" y="4151376"/>
            <a:ext cx="11057839" cy="832104"/>
          </a:xfrm>
          <a:prstGeom prst="rect">
            <a:avLst/>
          </a:prstGeom>
          <a:solidFill>
            <a:srgbClr val="FFFFFF"/>
          </a:solidFill>
          <a:ln w="12700">
            <a:solidFill>
              <a:srgbClr val="D6E2EE"/>
            </a:solidFill>
            <a:prstDash val="solid"/>
          </a:ln>
        </p:spPr>
      </p:sp>
      <p:sp>
        <p:nvSpPr>
          <p:cNvPr id="20" name="Shape 18"/>
          <p:cNvSpPr/>
          <p:nvPr/>
        </p:nvSpPr>
        <p:spPr>
          <a:xfrm>
            <a:off x="713232" y="4375404"/>
            <a:ext cx="384048" cy="384048"/>
          </a:xfrm>
          <a:prstGeom prst="ellipse">
            <a:avLst/>
          </a:prstGeom>
          <a:solidFill>
            <a:srgbClr val="1A5EA8"/>
          </a:solidFill>
          <a:ln/>
        </p:spPr>
      </p:sp>
      <p:sp>
        <p:nvSpPr>
          <p:cNvPr id="21" name="Text 19"/>
          <p:cNvSpPr/>
          <p:nvPr/>
        </p:nvSpPr>
        <p:spPr>
          <a:xfrm>
            <a:off x="713232" y="43754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4151376"/>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vài giây rồi bấm Tra cứu lại</a:t>
            </a:r>
            <a:endParaRPr lang="en-US" sz="1400" dirty="0"/>
          </a:p>
        </p:txBody>
      </p:sp>
      <p:sp>
        <p:nvSpPr>
          <p:cNvPr id="23" name="Text 21"/>
          <p:cNvSpPr/>
          <p:nvPr/>
        </p:nvSpPr>
        <p:spPr>
          <a:xfrm>
            <a:off x="7085951" y="4151376"/>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Lỗi tra thẻ BHYT hiện kết quả mới</a:t>
            </a:r>
            <a:endParaRPr lang="en-US" sz="1200" dirty="0"/>
          </a:p>
        </p:txBody>
      </p:sp>
      <p:sp>
        <p:nvSpPr>
          <p:cNvPr id="24" name="Shape 22"/>
          <p:cNvSpPr/>
          <p:nvPr/>
        </p:nvSpPr>
        <p:spPr>
          <a:xfrm>
            <a:off x="566928" y="5074920"/>
            <a:ext cx="11057839" cy="1051560"/>
          </a:xfrm>
          <a:prstGeom prst="rect">
            <a:avLst/>
          </a:prstGeom>
          <a:solidFill>
            <a:srgbClr val="FFF4E6"/>
          </a:solidFill>
          <a:ln w="12700">
            <a:solidFill>
              <a:srgbClr val="FFF4E6"/>
            </a:solidFill>
            <a:prstDash val="solid"/>
          </a:ln>
        </p:spPr>
      </p:sp>
      <p:sp>
        <p:nvSpPr>
          <p:cNvPr id="25" name="Shape 23"/>
          <p:cNvSpPr/>
          <p:nvPr/>
        </p:nvSpPr>
        <p:spPr>
          <a:xfrm>
            <a:off x="566928" y="5074920"/>
            <a:ext cx="64008" cy="1051560"/>
          </a:xfrm>
          <a:prstGeom prst="rect">
            <a:avLst/>
          </a:prstGeom>
          <a:solidFill>
            <a:srgbClr val="C96A12"/>
          </a:solidFill>
          <a:ln w="12700">
            <a:solidFill>
              <a:srgbClr val="C96A12"/>
            </a:solidFill>
            <a:prstDash val="solid"/>
          </a:ln>
        </p:spPr>
      </p:sp>
      <p:sp>
        <p:nvSpPr>
          <p:cNvPr id="26" name="Text 2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nút Tra lại thẻ: </a:t>
            </a:r>
            <a:pPr indent="0" marL="0">
              <a:lnSpc>
                <a:spcPts val="1900"/>
              </a:lnSpc>
              <a:buNone/>
            </a:pPr>
            <a:r>
              <a:rPr lang="en-US" sz="1300" dirty="0">
                <a:solidFill>
                  <a:srgbClr val="14233A"/>
                </a:solidFill>
                <a:latin typeface="Arial" pitchFamily="34" charset="0"/>
                <a:ea typeface="Arial" pitchFamily="34" charset="-122"/>
                <a:cs typeface="Arial" pitchFamily="34" charset="-120"/>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lang="en-US" sz="13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54 / 79</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tôi không thấy cột Xử lý?</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hành vi đúng thiết kế, không phải lỗi hiển thị.</a:t>
            </a:r>
            <a:endParaRPr lang="en-US" sz="13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5190414"/>
                <a:gridCol w="2933712"/>
                <a:gridCol w="293371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muốn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Quyền cần có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thường được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hồ sơ, xem ba bảng lỗi, in phiếu lỗi, tra lại thẻ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viên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Đổi trạng thái một vi phạm y lệnh ngay trên màn hình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 + order-check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Điều dưỡng trưởng, đầu mối của khoa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nhìn thấy menu Tra cứu lỗi hồ sơ?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chưa được cấp quyền tra-cuu-loi-ho-so. Đề nghị quản trị hệ thống cấp quyền, sau đó đăng xuất rồi đăng nhập lại.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55 / 79</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07</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Quản lý danh mục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Mười một bộ danh mục · Nguyên tắc chỉ đọc · Nhập khẩu và đọc kết quả · Bốn bộ theo cơ sở</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4.1 – 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danh mục là việc ưu tiên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Danh mục là nền tảng đối chiếu của toàn bộ hai chức năng XML 3176 và kiểm tra y lệnh</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Danh mục sai hoặc thiếu → hồ sơ XML báo lỗi hàng loạt và bộ kiểm y lệnh sinh hàng chục nghìn vi phạm giả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Mười một bộ danh mục, trong đó BỐN bộ phân biệt theo cơ sở</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   Theo cơ sở: Thuốc · Vật tư y tế · Dịch vụ kỹ thuật · Khoa Phòng Giường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Bảy bộ dùng chung: ICD-10 · ICD-YHCT · Nhân viên y tế · Trang thiết bị · Đơn vị hành chính · Cơ sở KCB · Nghề nghiệp</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Cả mười một màn hình danh mục đều CHỈ ĐỌC — không có nút Thêm/Sửa/Xoá từng dòng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   Chủ ý thiết kế: nguồn chuẩn là tệp do BHXH phát hành. Cách cập nhật duy nhất là nhập lại tệp Excel</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Hai cột quyết định tất cả: </a:t>
            </a:r>
            <a:pPr indent="0" marL="0">
              <a:lnSpc>
                <a:spcPts val="1900"/>
              </a:lnSpc>
              <a:buNone/>
            </a:pPr>
            <a:r>
              <a:rPr lang="en-US" sz="1300" dirty="0">
                <a:solidFill>
                  <a:srgbClr val="14233A"/>
                </a:solidFill>
                <a:latin typeface="Arial" pitchFamily="34" charset="0"/>
                <a:ea typeface="Arial" pitchFamily="34" charset="-122"/>
                <a:cs typeface="Arial" pitchFamily="34" charset="-120"/>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57 / 79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nhập khẩu danh mục</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Quản lý danh mục → Nhập khẩu danh mục — cửa duy nhất để cập nhật cả mười một bộ</a:t>
            </a:r>
            <a:endParaRPr lang="en-US" sz="1300" dirty="0"/>
          </a:p>
        </p:txBody>
      </p:sp>
      <p:sp>
        <p:nvSpPr>
          <p:cNvPr id="5" name="Shape 3"/>
          <p:cNvSpPr/>
          <p:nvPr/>
        </p:nvSpPr>
        <p:spPr>
          <a:xfrm>
            <a:off x="566928" y="1709928"/>
            <a:ext cx="11057839" cy="656844"/>
          </a:xfrm>
          <a:prstGeom prst="rect">
            <a:avLst/>
          </a:prstGeom>
          <a:solidFill>
            <a:srgbClr val="EEF3F8"/>
          </a:solidFill>
          <a:ln w="12700">
            <a:solidFill>
              <a:srgbClr val="D6E2EE"/>
            </a:solidFill>
            <a:prstDash val="solid"/>
          </a:ln>
        </p:spPr>
      </p:sp>
      <p:sp>
        <p:nvSpPr>
          <p:cNvPr id="6" name="Shape 4"/>
          <p:cNvSpPr/>
          <p:nvPr/>
        </p:nvSpPr>
        <p:spPr>
          <a:xfrm>
            <a:off x="713232" y="1846326"/>
            <a:ext cx="384048" cy="384048"/>
          </a:xfrm>
          <a:prstGeom prst="ellipse">
            <a:avLst/>
          </a:prstGeom>
          <a:solidFill>
            <a:srgbClr val="1A5EA8"/>
          </a:solidFill>
          <a:ln/>
        </p:spPr>
      </p:sp>
      <p:sp>
        <p:nvSpPr>
          <p:cNvPr id="7" name="Text 5"/>
          <p:cNvSpPr/>
          <p:nvPr/>
        </p:nvSpPr>
        <p:spPr>
          <a:xfrm>
            <a:off x="713232" y="184632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Tải tệp danh mục mới từ cổng giám định BHXH về máy</a:t>
            </a:r>
            <a:endParaRPr lang="en-US" sz="1400" dirty="0"/>
          </a:p>
        </p:txBody>
      </p:sp>
      <p:sp>
        <p:nvSpPr>
          <p:cNvPr id="9" name="Text 7"/>
          <p:cNvSpPr/>
          <p:nvPr/>
        </p:nvSpPr>
        <p:spPr>
          <a:xfrm>
            <a:off x="7085951" y="170992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Có tệp Excel nguồn</a:t>
            </a:r>
            <a:endParaRPr lang="en-US" sz="1200" dirty="0"/>
          </a:p>
        </p:txBody>
      </p:sp>
      <p:sp>
        <p:nvSpPr>
          <p:cNvPr id="10" name="Shape 8"/>
          <p:cNvSpPr/>
          <p:nvPr/>
        </p:nvSpPr>
        <p:spPr>
          <a:xfrm>
            <a:off x="566928" y="2476500"/>
            <a:ext cx="11057839" cy="656844"/>
          </a:xfrm>
          <a:prstGeom prst="rect">
            <a:avLst/>
          </a:prstGeom>
          <a:solidFill>
            <a:srgbClr val="FFFFFF"/>
          </a:solidFill>
          <a:ln w="12700">
            <a:solidFill>
              <a:srgbClr val="D6E2EE"/>
            </a:solidFill>
            <a:prstDash val="solid"/>
          </a:ln>
        </p:spPr>
      </p:sp>
      <p:sp>
        <p:nvSpPr>
          <p:cNvPr id="11" name="Shape 9"/>
          <p:cNvSpPr/>
          <p:nvPr/>
        </p:nvSpPr>
        <p:spPr>
          <a:xfrm>
            <a:off x="713232" y="2612898"/>
            <a:ext cx="384048" cy="384048"/>
          </a:xfrm>
          <a:prstGeom prst="ellipse">
            <a:avLst/>
          </a:prstGeom>
          <a:solidFill>
            <a:srgbClr val="1A5EA8"/>
          </a:solidFill>
          <a:ln/>
        </p:spPr>
      </p:sp>
      <p:sp>
        <p:nvSpPr>
          <p:cNvPr id="12" name="Text 10"/>
          <p:cNvSpPr/>
          <p:nvPr/>
        </p:nvSpPr>
        <p:spPr>
          <a:xfrm>
            <a:off x="713232" y="261289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476500"/>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DÒNG 1 phải là dòng tiêu đề cột — phía trên còn dòng tiêu đề chung thì xoá đi</a:t>
            </a:r>
            <a:endParaRPr lang="en-US" sz="1400" dirty="0"/>
          </a:p>
        </p:txBody>
      </p:sp>
      <p:sp>
        <p:nvSpPr>
          <p:cNvPr id="14" name="Text 12"/>
          <p:cNvSpPr/>
          <p:nvPr/>
        </p:nvSpPr>
        <p:spPr>
          <a:xfrm>
            <a:off x="7085951" y="2476500"/>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Dữ liệu bắt đầu từ dòng 2. Đây là lỗi phổ biến nhất với tệp tải trực tiếp từ cổng</a:t>
            </a:r>
            <a:endParaRPr lang="en-US" sz="1200" dirty="0"/>
          </a:p>
        </p:txBody>
      </p:sp>
      <p:sp>
        <p:nvSpPr>
          <p:cNvPr id="15" name="Shape 13"/>
          <p:cNvSpPr/>
          <p:nvPr/>
        </p:nvSpPr>
        <p:spPr>
          <a:xfrm>
            <a:off x="566928" y="3243072"/>
            <a:ext cx="11057839" cy="656844"/>
          </a:xfrm>
          <a:prstGeom prst="rect">
            <a:avLst/>
          </a:prstGeom>
          <a:solidFill>
            <a:srgbClr val="EEF3F8"/>
          </a:solidFill>
          <a:ln w="12700">
            <a:solidFill>
              <a:srgbClr val="D6E2EE"/>
            </a:solidFill>
            <a:prstDash val="solid"/>
          </a:ln>
        </p:spPr>
      </p:sp>
      <p:sp>
        <p:nvSpPr>
          <p:cNvPr id="16" name="Shape 14"/>
          <p:cNvSpPr/>
          <p:nvPr/>
        </p:nvSpPr>
        <p:spPr>
          <a:xfrm>
            <a:off x="713232" y="3379470"/>
            <a:ext cx="384048" cy="384048"/>
          </a:xfrm>
          <a:prstGeom prst="ellipse">
            <a:avLst/>
          </a:prstGeom>
          <a:solidFill>
            <a:srgbClr val="1A5EA8"/>
          </a:solidFill>
          <a:ln/>
        </p:spPr>
      </p:sp>
      <p:sp>
        <p:nvSpPr>
          <p:cNvPr id="17" name="Text 15"/>
          <p:cNvSpPr/>
          <p:nvPr/>
        </p:nvSpPr>
        <p:spPr>
          <a:xfrm>
            <a:off x="713232" y="33794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243072"/>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Chưa chắc về cấu trúc: chọn loại danh mục ở khu Tải biểu mẫu rồi bấm Tải biểu mẫu</a:t>
            </a:r>
            <a:endParaRPr lang="en-US" sz="1400" dirty="0"/>
          </a:p>
        </p:txBody>
      </p:sp>
      <p:sp>
        <p:nvSpPr>
          <p:cNvPr id="19" name="Text 17"/>
          <p:cNvSpPr/>
          <p:nvPr/>
        </p:nvSpPr>
        <p:spPr>
          <a:xfrm>
            <a:off x="7085951" y="3243072"/>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Tệp mẫu rỗng có đúng tên cột. Cột nền vàng là bắt buộc, cột nền xanh là MA_CSKCB không bắt buộc</a:t>
            </a:r>
            <a:endParaRPr lang="en-US" sz="1200" dirty="0"/>
          </a:p>
        </p:txBody>
      </p:sp>
      <p:sp>
        <p:nvSpPr>
          <p:cNvPr id="20" name="Shape 18"/>
          <p:cNvSpPr/>
          <p:nvPr/>
        </p:nvSpPr>
        <p:spPr>
          <a:xfrm>
            <a:off x="566928" y="4009644"/>
            <a:ext cx="11057839" cy="656844"/>
          </a:xfrm>
          <a:prstGeom prst="rect">
            <a:avLst/>
          </a:prstGeom>
          <a:solidFill>
            <a:srgbClr val="FFFFFF"/>
          </a:solidFill>
          <a:ln w="12700">
            <a:solidFill>
              <a:srgbClr val="D6E2EE"/>
            </a:solidFill>
            <a:prstDash val="solid"/>
          </a:ln>
        </p:spPr>
      </p:sp>
      <p:sp>
        <p:nvSpPr>
          <p:cNvPr id="21" name="Shape 19"/>
          <p:cNvSpPr/>
          <p:nvPr/>
        </p:nvSpPr>
        <p:spPr>
          <a:xfrm>
            <a:off x="713232" y="4146042"/>
            <a:ext cx="384048" cy="384048"/>
          </a:xfrm>
          <a:prstGeom prst="ellipse">
            <a:avLst/>
          </a:prstGeom>
          <a:solidFill>
            <a:srgbClr val="1A5EA8"/>
          </a:solidFill>
          <a:ln/>
        </p:spPr>
      </p:sp>
      <p:sp>
        <p:nvSpPr>
          <p:cNvPr id="22" name="Text 20"/>
          <p:cNvSpPr/>
          <p:nvPr/>
        </p:nvSpPr>
        <p:spPr>
          <a:xfrm>
            <a:off x="713232" y="414604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009644"/>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TRƯỚC khi kéo tệp vào</a:t>
            </a:r>
            <a:endParaRPr lang="en-US" sz="1400" dirty="0"/>
          </a:p>
        </p:txBody>
      </p:sp>
      <p:sp>
        <p:nvSpPr>
          <p:cNvPr id="24" name="Text 22"/>
          <p:cNvSpPr/>
          <p:nvPr/>
        </p:nvSpPr>
        <p:spPr>
          <a:xfrm>
            <a:off x="7085951" y="4009644"/>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Chỉ có ý nghĩa với bốn bộ danh mục theo cơ sở — xem slide sau</a:t>
            </a:r>
            <a:endParaRPr lang="en-US" sz="1200" dirty="0"/>
          </a:p>
        </p:txBody>
      </p:sp>
      <p:sp>
        <p:nvSpPr>
          <p:cNvPr id="25" name="Shape 23"/>
          <p:cNvSpPr/>
          <p:nvPr/>
        </p:nvSpPr>
        <p:spPr>
          <a:xfrm>
            <a:off x="566928" y="4776216"/>
            <a:ext cx="11057839" cy="656844"/>
          </a:xfrm>
          <a:prstGeom prst="rect">
            <a:avLst/>
          </a:prstGeom>
          <a:solidFill>
            <a:srgbClr val="EEF3F8"/>
          </a:solidFill>
          <a:ln w="12700">
            <a:solidFill>
              <a:srgbClr val="D6E2EE"/>
            </a:solidFill>
            <a:prstDash val="solid"/>
          </a:ln>
        </p:spPr>
      </p:sp>
      <p:sp>
        <p:nvSpPr>
          <p:cNvPr id="26" name="Shape 24"/>
          <p:cNvSpPr/>
          <p:nvPr/>
        </p:nvSpPr>
        <p:spPr>
          <a:xfrm>
            <a:off x="713232" y="4912614"/>
            <a:ext cx="384048" cy="384048"/>
          </a:xfrm>
          <a:prstGeom prst="ellipse">
            <a:avLst/>
          </a:prstGeom>
          <a:solidFill>
            <a:srgbClr val="1A5EA8"/>
          </a:solidFill>
          <a:ln/>
        </p:spPr>
      </p:sp>
      <p:sp>
        <p:nvSpPr>
          <p:cNvPr id="27" name="Text 25"/>
          <p:cNvSpPr/>
          <p:nvPr/>
        </p:nvSpPr>
        <p:spPr>
          <a:xfrm>
            <a:off x="713232" y="491261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776216"/>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thả vào khung, chờ xử lý xong</a:t>
            </a:r>
            <a:endParaRPr lang="en-US" sz="1400" dirty="0"/>
          </a:p>
        </p:txBody>
      </p:sp>
      <p:sp>
        <p:nvSpPr>
          <p:cNvPr id="29" name="Text 27"/>
          <p:cNvSpPr/>
          <p:nvPr/>
        </p:nvSpPr>
        <p:spPr>
          <a:xfrm>
            <a:off x="7085951" y="4776216"/>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kết quả với năm con số và 20 dòng lỗi đầu tiên</a:t>
            </a:r>
            <a:endParaRPr lang="en-US" sz="1200" dirty="0"/>
          </a:p>
        </p:txBody>
      </p:sp>
      <p:sp>
        <p:nvSpPr>
          <p:cNvPr id="30" name="Shape 28"/>
          <p:cNvSpPr/>
          <p:nvPr/>
        </p:nvSpPr>
        <p:spPr>
          <a:xfrm>
            <a:off x="566928" y="5542788"/>
            <a:ext cx="11057839" cy="656844"/>
          </a:xfrm>
          <a:prstGeom prst="rect">
            <a:avLst/>
          </a:prstGeom>
          <a:solidFill>
            <a:srgbClr val="FFFFFF"/>
          </a:solidFill>
          <a:ln w="12700">
            <a:solidFill>
              <a:srgbClr val="D6E2EE"/>
            </a:solidFill>
            <a:prstDash val="solid"/>
          </a:ln>
        </p:spPr>
      </p:sp>
      <p:sp>
        <p:nvSpPr>
          <p:cNvPr id="31" name="Shape 29"/>
          <p:cNvSpPr/>
          <p:nvPr/>
        </p:nvSpPr>
        <p:spPr>
          <a:xfrm>
            <a:off x="713232" y="5679186"/>
            <a:ext cx="384048" cy="384048"/>
          </a:xfrm>
          <a:prstGeom prst="ellipse">
            <a:avLst/>
          </a:prstGeom>
          <a:solidFill>
            <a:srgbClr val="1A5EA8"/>
          </a:solidFill>
          <a:ln/>
        </p:spPr>
      </p:sp>
      <p:sp>
        <p:nvSpPr>
          <p:cNvPr id="32" name="Text 30"/>
          <p:cNvSpPr/>
          <p:nvPr/>
        </p:nvSpPr>
        <p:spPr>
          <a:xfrm>
            <a:off x="713232" y="567918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3" name="Text 31"/>
          <p:cNvSpPr/>
          <p:nvPr/>
        </p:nvSpPr>
        <p:spPr>
          <a:xfrm>
            <a:off x="1225296" y="554278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Có dòng lỗi thì bấm nút Chi tiết (n) để tải tệp Excel ba cột: Dòng Excel, Loại, Lý do</a:t>
            </a:r>
            <a:endParaRPr lang="en-US" sz="1400" dirty="0"/>
          </a:p>
        </p:txBody>
      </p:sp>
      <p:sp>
        <p:nvSpPr>
          <p:cNvPr id="34" name="Text 32"/>
          <p:cNvSpPr/>
          <p:nvPr/>
        </p:nvSpPr>
        <p:spPr>
          <a:xfrm>
            <a:off x="7085951" y="554278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Sửa tệp nguồn rồi nhập lại — nhập lại cùng tệp là AN TOÀN, không nhân đôi dữ liệu</a:t>
            </a:r>
            <a:endParaRPr lang="en-US" sz="1200" dirty="0"/>
          </a:p>
        </p:txBody>
      </p:sp>
      <p:sp>
        <p:nvSpPr>
          <p:cNvPr id="36" name="Shape 33"/>
          <p:cNvSpPr/>
          <p:nvPr/>
        </p:nvSpPr>
        <p:spPr>
          <a:xfrm>
            <a:off x="566928" y="6382512"/>
            <a:ext cx="11057839" cy="0"/>
          </a:xfrm>
          <a:prstGeom prst="line">
            <a:avLst/>
          </a:prstGeom>
          <a:noFill/>
          <a:ln w="9525">
            <a:solidFill>
              <a:srgbClr val="D6E2EE"/>
            </a:solidFill>
            <a:prstDash val="solid"/>
          </a:ln>
        </p:spPr>
      </p:sp>
      <p:sp>
        <p:nvSpPr>
          <p:cNvPr id="37" name="Text 3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8" name="Text 3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58 / 79</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năm con số kết quả nhập khẩu</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69254"/>
                <a:gridCol w="4865449"/>
                <a:gridCol w="442313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Phải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Đã thêm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chưa từng có trong hệ thống, được thêm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Cập nhật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nhưng nội dung khác, được ghi đè bằng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Không đổi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và giống hệt, hệ thống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Bình thường khi nhập lại tệp cũ. Con số này lớn không phải là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B26A00"/>
                          </a:solidFill>
                          <a:latin typeface="Arial" pitchFamily="34" charset="0"/>
                          <a:ea typeface="Arial" pitchFamily="34" charset="-122"/>
                          <a:cs typeface="Arial" pitchFamily="34" charset="-120"/>
                        </a:rPr>
                        <a:t>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thiếu ít nhất một cột bắt buộc — gồm cả dòng trống ở cuối trang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Chi tiết, xem là dòng trống hay dòng dữ liệu thật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không ghi được, thường do ô số chứa ký tự lạ hoặc dữ liệu quá dài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tải tệp Chi tiết, sửa tệp nguồn rồi nhập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kỹ thuật: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59 / 79</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bộ theo cơ sở — nơi dễ sai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Cột MA_CSKCB quyết định dòng thuộc cơ sở nào. Ba tình huống:</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4644292"/>
                <a:gridCol w="641354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có cột MA_CSKCB và có giá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Giá trị TRONG TỆP được dùng, bất kể ô Cơ sở KCB trên màn hình chọn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cột MA_CSKCB (hoặc ô trống) và trên màn hình đã chọn một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điền mã cơ sở đã chọn cho những dòng bỏ trống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MA_CSKCB và màn hình để "Dùng chung cho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Dòng được ghi là dùng chung — có hiệu lực với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Hậu quả của việc quên chọn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Toàn bộ dữ liệu vào dạng dùng chung và áp cho tất cả các cơ sở — giá dịch vụ của cơ sở này bị áp nhầm cho cơ sở khác. Luôn chọn đúng Cơ sở KCB TRƯỚC khi kéo tệp vào.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60 / 79</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4.4.2 VÀ 4.7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thao tác có thể gây hậu quả lớn</a:t>
            </a:r>
            <a:endParaRPr lang="en-US" sz="2600" dirty="0"/>
          </a:p>
        </p:txBody>
      </p:sp>
      <p:sp>
        <p:nvSpPr>
          <p:cNvPr id="4" name="Shape 2"/>
          <p:cNvSpPr/>
          <p:nvPr/>
        </p:nvSpPr>
        <p:spPr>
          <a:xfrm>
            <a:off x="566928" y="1325880"/>
            <a:ext cx="5364328" cy="4800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THAY THẾ TRỌN BỘ — Đơn vị hành chính và Cơ sở KCB</a:t>
            </a:r>
            <a:endParaRPr lang="en-US" sz="1500" dirty="0"/>
          </a:p>
        </p:txBody>
      </p:sp>
      <p:sp>
        <p:nvSpPr>
          <p:cNvPr id="7" name="Text 5"/>
          <p:cNvSpPr/>
          <p:nvPr/>
        </p:nvSpPr>
        <p:spPr>
          <a:xfrm>
            <a:off x="768096"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Hai bộ này nhập theo kiểu thay thế trọn bộ: toàn bộ dữ liệu cũ bị vô hiệu hoá, chỉ các dòng có trong tệp mới được kích hoạt lại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Nhập một tệp thiếu dữ liệu → những đơn vị không có trong tệp BIẾN MẤT khỏi hệ thống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Luôn nhập tệp đầy đủ của toàn quốc, không nhập tệp đã cắt bớt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Danh mục hành chính hai cấp (từ 2025): 3.321 xã thuộc 34 tỉnh, không còn cấp huyện. Việc chuyển đổi làm MỘT LẦN bằng lệnh riêng, không nhập qua màn hình này</a:t>
            </a:r>
            <a:endParaRPr lang="en-US" sz="1350" dirty="0"/>
          </a:p>
        </p:txBody>
      </p:sp>
      <p:sp>
        <p:nvSpPr>
          <p:cNvPr id="8" name="Shape 6"/>
          <p:cNvSpPr/>
          <p:nvPr/>
        </p:nvSpPr>
        <p:spPr>
          <a:xfrm>
            <a:off x="6260440" y="1325880"/>
            <a:ext cx="5364328" cy="4800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XOÁ TOÀN BỘ MỘT DANH MỤC</a:t>
            </a:r>
            <a:endParaRPr lang="en-US" sz="1500" dirty="0"/>
          </a:p>
        </p:txBody>
      </p:sp>
      <p:sp>
        <p:nvSpPr>
          <p:cNvPr id="11" name="Text 9"/>
          <p:cNvSpPr/>
          <p:nvPr/>
        </p:nvSpPr>
        <p:spPr>
          <a:xfrm>
            <a:off x="6461608"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Nằm ở cuối màn Nhập khẩu danh mục, trong khung viền đỏ, chỉ hiện với tài khoản quản trị cao nhất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Bốn bước: chọn bộ → bấm Đếm số dòng sẽ xoá → gõ chữ XOA (viết hoa, không dấu) → bấm Xoá</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CHỈ xoá khi tệp thay thế đã sẵn sàng trong tay</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Hậu quả thực tế đã ghi nhận trong lúc danh mục trống: hồ sơ XML báo lỗi hàng loạt và bộ kiểm y lệnh sinh hơn 36.000 vi phạm giả chỉ trong vài lượt quét</a:t>
            </a:r>
            <a:endParaRPr lang="en-US" sz="1350" dirty="0"/>
          </a:p>
        </p:txBody>
      </p:sp>
      <p:sp>
        <p:nvSpPr>
          <p:cNvPr id="13" name="Shape 10"/>
          <p:cNvSpPr/>
          <p:nvPr/>
        </p:nvSpPr>
        <p:spPr>
          <a:xfrm>
            <a:off x="566928" y="6382512"/>
            <a:ext cx="11057839" cy="0"/>
          </a:xfrm>
          <a:prstGeom prst="line">
            <a:avLst/>
          </a:prstGeom>
          <a:noFill/>
          <a:ln w="9525">
            <a:solidFill>
              <a:srgbClr val="D6E2EE"/>
            </a:solidFill>
            <a:prstDash val="solid"/>
          </a:ln>
        </p:spPr>
      </p:sp>
      <p:sp>
        <p:nvSpPr>
          <p:cNvPr id="14" name="Text 1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5" name="Text 1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61 / 79</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08</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Chứng từ điện tử theo Phụ lục 02</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Giấy ra viện, chứng sinh, báo tử, nghỉ hưởng BHXH · Chín trạng thái gửi · Chống gửi trùng</a:t>
            </a:r>
            <a:endParaRPr lang="en-US" sz="1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6.1 – 6.2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Điểm khác biệt quyết định cách dùng màn hình này</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Nhận tệp XML do phần mềm nghiệp vụ sinh ra, kiểm tra dữ liệu, ký số, gửi lên cổng và theo dõi kết quả</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Chứng từ Phụ lục 02 KHÔNG mang mã giao dịch do phần mềm tự sinh khi gửi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gửi hai lần thì cổng ghi nhận thành HAI chứng từ — cổng không có căn cứ nhận ra bản trùng</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Vì vậy toàn bộ màn hình được thiết kế theo hướng "thà không gửi còn hơn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Ba dịch vụ liên thông, ba đầu mối tiếp nhận khác nhau: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   Chứng từ TT25/2025 (giấy nghỉ việc hưởng BHXH, giấy ra viện, giấy chuyển tuyến…) · Giấy chứng sinh · Giấy báo tử</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Quyền cần có: xml-man — cùng quyền với XML 3176</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Không có đường rút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63 / 79</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Chín trạng thái gửi — đọc trước tiên khi hồ sơ chưa lên cổng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Có năm lý do khác nhau khiến hồ sơ chưa được gửi, mỗi lý do cần một người khác nhau xử lý.</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Trạng thái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Nghĩa là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kiểm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Máy chưa kiểm tra dữ liệu của hồ sơ này</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vài phút. Cả loạt đứng ở trạng thái này → báo CNTT kiểm tra tiến trình nền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Còn lỗi chặn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kiểm và phát hiện lỗi mức chặn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xem tab Lỗi, sửa ở phần mềm sinh XML rồi nạp lại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Ký số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thử ký nhưng không ký được</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Xem dòng "Lỗi ký số" ở màn chi tiết. Thường do thiết bị ký chưa cắm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ký số</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Hồ sơ đủ điều kiện nhưng chưa được ký</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và bấm Ký và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Chức năng gửi đang tắt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Cấu hình chặn mọi lượt gửi lên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Báo quản trị hệ thống bật cấu hình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Chờ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ký, đủ điều kiện, đang chờ đến lượt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Quá lâu thì xem khối Ba hàng đợi trên Dashboard</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E7D32"/>
                          </a:solidFill>
                          <a:latin typeface="Arial" pitchFamily="34" charset="0"/>
                          <a:ea typeface="Arial" pitchFamily="34" charset="-122"/>
                          <a:cs typeface="Arial" pitchFamily="34" charset="-120"/>
                        </a:rPr>
                        <a:t>Đã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tiếp nhận thành công, đã có mã giao dịch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Cổng từ chối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trả lời nhưng từ chối tiếp nhận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mã kết quả và phản hồi của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Gửi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gửi được, thường do lỗi mạng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dòng "Lỗi gửi", gửi lại khi đường truyền ổn định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64 / 79</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Bẫy lớn nhất: cột Số lỗi bằng 0</a:t>
            </a:r>
            <a:endParaRPr lang="en-US" sz="2600" dirty="0"/>
          </a:p>
        </p:txBody>
      </p:sp>
      <p:pic>
        <p:nvPicPr>
          <p:cNvPr id="4" name="Image 0" descr="C:\Users\tracnn\qlbv\docs\dao-tao\anh\anh-04-ctdt-so-loi-bang-0.png">    </p:cNvPr>
          <p:cNvPicPr>
            <a:picLocks noChangeAspect="1"/>
          </p:cNvPicPr>
          <p:nvPr/>
        </p:nvPicPr>
        <p:blipFill>
          <a:blip r:embed="rId1"/>
          <a:stretch>
            <a:fillRect/>
          </a:stretch>
        </p:blipFill>
        <p:spPr>
          <a:xfrm>
            <a:off x="566928" y="1325880"/>
            <a:ext cx="7298174" cy="3649087"/>
          </a:xfrm>
          <a:prstGeom prst="rect">
            <a:avLst/>
          </a:prstGeom>
        </p:spPr>
      </p:pic>
      <p:sp>
        <p:nvSpPr>
          <p:cNvPr id="5" name="Shape 2"/>
          <p:cNvSpPr/>
          <p:nvPr/>
        </p:nvSpPr>
        <p:spPr>
          <a:xfrm>
            <a:off x="566928" y="1325880"/>
            <a:ext cx="7298174" cy="3649087"/>
          </a:xfrm>
          <a:prstGeom prst="rect">
            <a:avLst/>
          </a:prstGeom>
          <a:ln w="12700">
            <a:solidFill>
              <a:srgbClr val="D6E2EE"/>
            </a:solidFill>
            <a:prstDash val="solid"/>
          </a:ln>
        </p:spPr>
      </p:sp>
      <p:sp>
        <p:nvSpPr>
          <p:cNvPr id="6" name="Text 3"/>
          <p:cNvSpPr/>
          <p:nvPr/>
        </p:nvSpPr>
        <p:spPr>
          <a:xfrm>
            <a:off x="8139422" y="1325880"/>
            <a:ext cx="3485345"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Số lỗi = 0 KHÔNG có nghĩa là hồ sơ đã sạch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Nó chỉ có nghĩa đó khi cột Trạng thái gửi KHÁC "Chưa kiểm"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vừa nạp chưa được kiểm thì đương nhiên chưa ghi nhận lỗi nào — số 0 lúc đó nghĩa là chưa ai nhìn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Luôn đọc HAI cột này cùng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Số lỗi chỉ đếm lỗi mức CHẶN; nhãn tab Lỗi ở màn chi tiết đếm cả cảnh báo nên thường lớn hơn — lệch nhau là bình thường</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ba nút xuất Excel: </a:t>
            </a:r>
            <a:pPr indent="0" marL="0">
              <a:lnSpc>
                <a:spcPts val="1900"/>
              </a:lnSpc>
              <a:buNone/>
            </a:pPr>
            <a:r>
              <a:rPr lang="en-US" sz="1300" dirty="0">
                <a:solidFill>
                  <a:srgbClr val="14233A"/>
                </a:solidFill>
                <a:latin typeface="Arial" pitchFamily="34" charset="0"/>
                <a:ea typeface="Arial" pitchFamily="34" charset="-122"/>
                <a:cs typeface="Arial" pitchFamily="34" charset="-120"/>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65 / 79</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6.7.1 VÀ 6.7.5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và gửi — một hồ sơ và nhiều hồ sơ</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Một hồ sơ: mở chi tiết, kiểm tra tab Lỗi không còn lỗi mức chặn, đối chiếu nội dung với chứng từ giấy</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nhận hồ sơ sạch</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Bấm Ký và gửi ở góc dưới phải khối thông tin</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Nút chuyển sang đang xử lý và không bấm lại được. Hồ sơ đã có mã giao dịch thì nút mang tên "Ký và gửi lại"</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thông báo, đóng hộp thoại, bấm Tải dữ liệu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Cột Trạng thái gửi đổi theo kết quả</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Nhiều hồ sơ: lọc ra nhóm cần gửi (ví dụ Trạng thái = "Ký số thất bại") rồi bấm Tải dữ liệu</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chỉ còn nhóm cần xử lý</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Tích ô ở đầu từng dòng, hoặc tích ô trên tiêu đề để chọn hết dòng của TRANG ĐANG XEM</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Số trên nút đổi theo, ví dụ "Ký và gửi đã chọn (12)"</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kỹ con số trong hộp thoại rồi xác nhận</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kết quả: số hồ sơ đã xếp hàng + danh sách hồ sơ bị bỏ qua kèm lý do từng cái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Tuyệt đối không bấm nút lần nữa trong lúc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Việc ký và gửi xếp vào hàng đợi nền. Thông báo chỉ có nghĩa yêu cầu đã được nhận, chưa có nghĩa cổng đã tiếp nhận. Mỗi lần bấm là một chứng từ có thể được ghi nhận thêm trên cổng.</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66 / 79</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6.7.6 VÀ 6.7.4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Hồ sơ nào tích được, hồ sơ nào không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bốn trạng thái có ô tích: Chưa ký số · Ký số thất bại · Gửi thất bại · Chờ gửi.</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875038"/>
                <a:gridCol w="4423136"/>
                <a:gridCol w="375966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Trạng thái KHÔNG tích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Xử lý thế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kiểm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Máy chưa kiểm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Chờ rồi tải lại danh sách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Còn lỗi 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sửa dữ liệu ở phần mềm sinh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nguồn rồi nạp lại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Chức năng gửi đang tắt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Cấu hình chặn mọi lượt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Báo quản trị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Đã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Cổng đã tiếp nhận và cấp mã giao dịch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bấm "Ký và gửi lại" — không gửi hàng loạt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Cổng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Luôn cần xác nhận riêng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để xử lý từng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Vì sao hai trạng thái cuối không gửi hàng loạt được: </a:t>
            </a:r>
            <a:pPr indent="0" marL="0">
              <a:lnSpc>
                <a:spcPts val="1900"/>
              </a:lnSpc>
              <a:buNone/>
            </a:pPr>
            <a:r>
              <a:rPr lang="en-US" sz="1300" dirty="0">
                <a:solidFill>
                  <a:srgbClr val="14233A"/>
                </a:solidFill>
                <a:latin typeface="Arial" pitchFamily="34" charset="0"/>
                <a:ea typeface="Arial" pitchFamily="34" charset="-122"/>
                <a:cs typeface="Arial" pitchFamily="34" charset="-120"/>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67 / 79</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lỗi chứng từ điện tử và trường bắt buộc của giấy ra viện</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48097"/>
                <a:gridCol w="7298174"/>
                <a:gridCol w="2211568"/>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trường 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ngày sai định dạng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Giới tính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Loại giấy tờ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cờ ngoài giá trị 0 hoặc 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kết thúc sớm hơn ngày bắt đầu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cơ sở trong chứng từ lệch với mã cơ sở của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mã thẻ bảo hiểm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Giấy ra viện — trường bắt buộc: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68 / 79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09</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Danh mục theo Thông tư 12/2026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mẫu cơ sở tự khai · Nạp và gửi · Đồng bộ sang bộ danh mục · Dashboard độ phủ</a:t>
            </a:r>
            <a:endParaRPr lang="en-US" sz="15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 VÀ 7.3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mẫu danh mục và nơi chúng đi tới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danh mục cơ sở TỰ KHAI về năng lực của mình, khác với danh mục BHXH ban hành ở Phần IV. Mỗi mẫu là một tệp Excel riêng, gửi tới một đầu mối riêng — không gộp nhiều mẫu vào một tệp.</a:t>
            </a:r>
            <a:endParaRPr lang="en-US" sz="13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1548097"/>
                <a:gridCol w="6413547"/>
                <a:gridCol w="309619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Mẫu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 khai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sang bộ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01/DM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Bộ phận chuyên môn KCB BHYT: khoa phòng, số bàn khám, số giường theo từng loại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02/DM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lực thực hiện KCB BHYT: người hành nghề, chứng chỉ, phạm vi hoạt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Nhân viên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03/DM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Thuốc, máu, chế phẩm máu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04/DM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tức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05/DM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khám bệnh, chữa bệnh, kèm bảng con thuốc và vật tư đi theo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06/DM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thực hiện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Thiết bị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Chỉ khi cổng chấp nhận thì dữ liệu mới có hiệu lực: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70 / 79</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Nạp danh mục TT12 vào phần mềm</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có MỘT đường đưa dữ liệu vào: màn hình Nạp danh mục. Không có tiến trình nền quét thư mục.</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Hồ sơ XML → Danh mục TT12 → Nạp danh mục, chọn Mẫu rồi bấm Tải biểu mẫu</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Tải về tệp Excel rỗng có sẵn dòng tiêu đề đúng của mẫu đã chọn</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Điền dữ liệu vào biểu mẫu — KHÔNG đổi tên cột, không chèn thêm cột, không chèn dòng trống phía trên tiêu đề</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nhận diện mẫu bằng chính dòng tiêu đề</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 đây là ô BẮT BUỘC</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cơ sở này quyết định tài khoản dùng để gửi lên cổng</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Excel vào khung; có thể kéo nhiều tệp một lượt</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trở thành một hồ sơ riêng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bảng kết quả nạp; sau đó mở Danh sách hồ sơ xem kết quả kiểm lỗi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dòng cho biết Thành công hay Thất bại, kèm mã hồ sơ và số dòng đọc được</a:t>
            </a:r>
            <a:endParaRPr lang="en-US" sz="1200" dirty="0"/>
          </a:p>
        </p:txBody>
      </p:sp>
      <p:sp>
        <p:nvSpPr>
          <p:cNvPr id="30" name="Shape 28"/>
          <p:cNvSpPr/>
          <p:nvPr/>
        </p:nvSpPr>
        <p:spPr>
          <a:xfrm>
            <a:off x="566928" y="5074920"/>
            <a:ext cx="11057839" cy="1051560"/>
          </a:xfrm>
          <a:prstGeom prst="rect">
            <a:avLst/>
          </a:prstGeom>
          <a:solidFill>
            <a:srgbClr val="FDECEC"/>
          </a:solidFill>
          <a:ln w="12700">
            <a:solidFill>
              <a:srgbClr val="FDECEC"/>
            </a:solidFill>
            <a:prstDash val="solid"/>
          </a:ln>
        </p:spPr>
      </p:sp>
      <p:sp>
        <p:nvSpPr>
          <p:cNvPr id="31" name="Shape 29"/>
          <p:cNvSpPr/>
          <p:nvPr/>
        </p:nvSpPr>
        <p:spPr>
          <a:xfrm>
            <a:off x="566928" y="5074920"/>
            <a:ext cx="64008" cy="1051560"/>
          </a:xfrm>
          <a:prstGeom prst="rect">
            <a:avLst/>
          </a:prstGeom>
          <a:solidFill>
            <a:srgbClr val="C62828"/>
          </a:solidFill>
          <a:ln w="12700">
            <a:solidFill>
              <a:srgbClr val="C62828"/>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Quy tắc khớp mã cơ sở rất chặt: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71 / 79</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7.7 – 7.9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gửi, đồng bộ và hai nút cứu hộ</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"Ký và gửi" MỘT lần là phần mềm chạy trọn cả hai bước: ký số trước, ký xong tự gửi</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Hai bước chạy ở hai hàng đợi riêng nên kết quả xuất hiện dần: cột Đã ký đổi trước, lát sau mới có Mã giao dịch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   Bấm xong không thấy gì đổi ngay là bình thường — chờ vài giây rồi bấm Tải dữ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lại khi lượt trước còn chạy: phần mềm báo "đang xử lý ở một lượt khác" — đây là chốt chống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Gửi nhiều: tích chọn rồi bấm "Ký và gửi đã chọn", tối đa 50 hồ sơ mỗi lượt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   Đọc kỹ danh sách hồ sơ BỊ BỎ QUA trong bảng kết quả — đó chính là những hồ sơ chưa đi</a:t>
            </a:r>
            <a:endParaRPr lang="en-US" sz="1600" dirty="0"/>
          </a:p>
          <a:p>
            <a:pPr marL="342900" indent="-342900">
              <a:lnSpc>
                <a:spcPts val="2400"/>
              </a:lnSpc>
              <a:spcAft>
                <a:spcPts val="1000"/>
              </a:spcAft>
              <a:buSzPct val="100000"/>
              <a:buChar char="▪"/>
            </a:pPr>
            <a:r>
              <a:rPr lang="en-US" sz="1600" b="1" dirty="0">
                <a:solidFill>
                  <a:srgbClr val="2E7D32"/>
                </a:solidFill>
                <a:latin typeface="Arial" pitchFamily="34" charset="0"/>
                <a:ea typeface="Arial" pitchFamily="34" charset="-122"/>
                <a:cs typeface="Arial" pitchFamily="34" charset="-120"/>
              </a:rPr>
              <a:t>Cổng trả mã 200 → phần mềm tự ghi toàn bộ dòng sang bộ danh mục, cột "Đã đồng bộ" chuyển trạng thái</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Hai nút cứu hộ (chỉ tài khoản quản trị cao nhất, chỉ hiện đúng lúc cần):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   "Kiểm lại" khi hồ sơ kẹt ở chưa kiểm · "Đồng bộ lại danh mục" khi cổng đã tiếp nhận nhưng cột Đã đồng bộ vẫn trống — KHÔNG gửi lại lên cổng</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Mã kết quả cổng trả về: </a:t>
            </a:r>
            <a:pPr indent="0" marL="0">
              <a:lnSpc>
                <a:spcPts val="1900"/>
              </a:lnSpc>
              <a:buNone/>
            </a:pPr>
            <a:r>
              <a:rPr lang="en-US" sz="1300" dirty="0">
                <a:solidFill>
                  <a:srgbClr val="14233A"/>
                </a:solidFill>
                <a:latin typeface="Arial" pitchFamily="34" charset="0"/>
                <a:ea typeface="Arial" pitchFamily="34" charset="-122"/>
                <a:cs typeface="Arial" pitchFamily="34" charset="-120"/>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72 / 79</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7.10BIS VÀ 7.12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Xuất XML kèm chữ ký số và Dashboard độ phủ</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Xuất XML: tích chọn hồ sơ (dùng chung ô tích với nút Ký và gửi) rồi bấm "Xuất XML đã chọn"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   Một hồ sơ thì tải thẳng tệp .xml; nhiều hồ sơ thì tải về ZIP. Tối đa 50 hồ sơ mỗi lượt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Đọc TÊN TỆP để phân biệt hai loại bản xuất: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   …-da-ky.xml = bản THẬT đã ký và đã gửi, dùng để đối chiếu với cơ quan bảo hiểm · …-chua-ky.xml = bản dựng lại để xem trước, thẻ chữ ký để trống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Mỗi ZIP luôn kèm tệp _ke-khai.csv liệt kê từng hồ sơ: mã, mẫu, tình trạng và lý do</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   Thiếu tệp XML trong ZIP thì mở tệp kê là biết ngay vì sao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Dashboard độ phủ: lưới 6 hàng (sáu mẫu) × các cột là cơ sở KCB</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Ô "Đã tiếp nhận" kèm ngày và số dòng của LẦN GỬI GẦN NHẤT; ô "Chưa gửi" gộp cả chưa nộp lẫn bị từ chối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   Muốn biết là trường hợp nào thì xem khối "Hồ sơ đang dở dang" bên dưới</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Dashboard không có bộ lọc thời gian — đó là cố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73 / 79</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10</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Phân công, tình huống và giới hạn</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Ai làm gì · Tình huống thường gặp · Những gì phần mềm chưa làm được</a:t>
            </a:r>
            <a:endParaRPr lang="en-US" sz="15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RANH GIỚI TRÁCH NHIỆM</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làm gì</a:t>
            </a:r>
            <a:endParaRPr lang="en-US" sz="2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90317"/>
                <a:gridCol w="4844387"/>
                <a:gridCol w="4423136"/>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Khối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Tự làm</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Báo công nghệ thông tin / cơ quan BHXH</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khoa lâm sàng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Bộ quét dừng (cột "Chạy gần nhất" quá vài phút, cột "Lỗi" khác 0). Thiếu quyền, không thấy menu. "Không lấy được thông tin từ HIS"</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phòng ban chức năng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a:t>
            </a:r>
            <a:pPr indent="0" marL="0">
              <a:lnSpc>
                <a:spcPts val="1900"/>
              </a:lnSpc>
              <a:buNone/>
            </a:pPr>
            <a:r>
              <a:rPr lang="en-US" sz="1300" dirty="0">
                <a:solidFill>
                  <a:srgbClr val="14233A"/>
                </a:solidFill>
                <a:latin typeface="Arial" pitchFamily="34" charset="0"/>
                <a:ea typeface="Arial" pitchFamily="34" charset="-122"/>
                <a:cs typeface="Arial" pitchFamily="34" charset="-120"/>
              </a:rPr>
              <a:t>Gửi kèm nguyên văn thông báo (chụp màn hình), mã điều trị hoặc mã hồ sơ, cơ sở KCB và thời điểm xảy ra. Cột Sub có nút sao chép nguyên văn thông điệp cổng.</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75 / 79</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MỤC 2.8 VÀ 5.9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tại khoa lâm sàng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Bảng trống, không có dòng nào</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Bộ lọc quá hẹp (mặc định chỉ ngày hôm nay), hoặc bộ quét đang dừng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Mở rộng khoảng ngày rồi bấm Tải dữ liệu. Vẫn trống thì mở hộp Thống kê quét, xem cột Chạy gần nhất</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Ba bảng lỗi đều trống nhưng biết chắc hồ sơ có lỗi</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Lỗi chưa được ghi nhận: bộ quét chưa chạy tới, hoặc hồ sơ chưa kiểm XML, hoặc chưa tra thẻ</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khoảng một phút cho bộ quét y lệnh. Lỗi XML chỉ có sau khi hồ sơ đã gửi và cổng trả kết quả</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hồ sơ với mã này trên HIS</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Gõ sai mã điều trị, hoặc hồ sơ thuộc cơ sở khác</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Nếu ba bảng lỗi bên dưới vẫn có dữ liệu thì mã đúng, chỉ là hồ sơ không còn trên HIS</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Bấm Tra lại thẻ BHYT nhưng kết quả không đổi</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chạy ở hàng đợi nền, chưa xong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giây rồi bấm Tra cứu lại. Sau vài phút vẫn không đổi thì báo công nghệ thông tin</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liệu trên màn hình khác số liệu HIS</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Độ trễ của bộ quét, hoặc quy tắc liên quan đang tắt</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tải lại. Nếu nghi ngờ quy tắc bị tắt thì báo phòng ban chức năng</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76 / 79</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TỔNG HỢP MỤC 1.9, 4.9, 6.13, 7.11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ở các phòng ban chức năng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thể xác định loại danh mục. Vui lòng kiểm tra lại cấu trúc file.</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1 không phải dòng tiêu đề cột — phổ biến nhất với tệp tải trực tiếp từ cổng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Xoá các dòng phía trên để tiêu đề về dòng 1. Hoặc tải biểu mẫu và dán dữ liệu vào</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lỗi hiện 0 nhưng hồ sơ vẫn không gửi được</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Hồ sơ chưa được kiểm; số 0 chỉ có nghĩa là chưa ai nhìn</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Đọc cột Trạng thái gửi. Nếu là "Chưa kiểm" thì chờ, không phải hồ sơ đã sạch</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Nạp lại hồ sơ xong thì mã giao dịch biến mất</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Nạp đè xoá kết quả lần gửi trước, vì nội dung đã đổi</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Đúng thiết kế. Dấu vết lần gửi cũ nằm ở khối Lịch sử gửi trong màn chi tiết</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đã tiếp nhận nhưng cột Đã đồng bộ vẫn trống (TT12)</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Bước ghi sang danh mục hỏng giữa chừng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Dùng nút "Đồng bộ lại danh mục". KHÔNG bấm gửi lại</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Tệp Excel xuất ra khác với bảng đang xem</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Đã đổi ô lọc nhưng chưa bấm Tải dữ liệu</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Bấm Tải dữ liệu rồi xuất lại. Tệp luôn theo bộ lọc của lần tải gần nhất</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77 / 79</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GIỚI HẠN</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gì phần mềm chưa làm được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Chưa đồng nhất với toàn bộ quy tắc giám định của BHXH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   Hồ sơ qua được Tiền giám định vẫn có thể bị cổng trả về — luôn đọc kết quả ở bước 05</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Chỉ bắt được lỗi đã có trong bộ quy tắc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   Quy định mới ban hành thì luôn có độ trễ cập nhật. Đề xuất quy tắc mới: gửi đủ điều kiện sai, mức độ, trường hợp loại trừ và căn cứ pháp lý</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Kết quả phụ thuộc danh mục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   Danh mục thiếu hoặc sai ngày hiệu lực sẽ sinh lỗi giả hàng loạt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Kiểm tra y lệnh có độ trễ và không quét lùi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   Phiếu đã quét không được đánh giá lại trừ khi chính phiếu đó bị sửa trên HIS</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Nguyên tắc cuối cùng: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là công cụ hỗ trợ, không thay thế quyết định chuyên môn. Trách nhiệm cuối cùng vẫn thuộc về đơn vị tạo lập và kiểm soát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78 / 79</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1097280"/>
            <a:ext cx="10545775" cy="73152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Tóm lại — năm điều mang về</a:t>
            </a:r>
            <a:endParaRPr lang="en-US" sz="3200" dirty="0"/>
          </a:p>
        </p:txBody>
      </p:sp>
      <p:sp>
        <p:nvSpPr>
          <p:cNvPr id="4" name="Shape 2"/>
          <p:cNvSpPr/>
          <p:nvPr/>
        </p:nvSpPr>
        <p:spPr>
          <a:xfrm>
            <a:off x="822960" y="1920240"/>
            <a:ext cx="2926080" cy="0"/>
          </a:xfrm>
          <a:prstGeom prst="line">
            <a:avLst/>
          </a:prstGeom>
          <a:noFill/>
          <a:ln w="38100">
            <a:solidFill>
              <a:srgbClr val="2A9FD8"/>
            </a:solidFill>
            <a:prstDash val="solid"/>
          </a:ln>
        </p:spPr>
      </p:sp>
      <p:sp>
        <p:nvSpPr>
          <p:cNvPr id="5" name="Text 3"/>
          <p:cNvSpPr/>
          <p:nvPr/>
        </p:nvSpPr>
        <p:spPr>
          <a:xfrm>
            <a:off x="822960" y="2240280"/>
            <a:ext cx="10545775" cy="2743200"/>
          </a:xfrm>
          <a:prstGeom prst="rect">
            <a:avLst/>
          </a:prstGeom>
          <a:noFill/>
          <a:ln/>
        </p:spPr>
        <p:txBody>
          <a:bodyPr wrap="square" rtlCol="0" anchor="t"/>
          <a:lstStyle/>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Tiền giám định là điểm kiểm soát trước khi ký số và gửi cổng — lỗi phải sửa tại đơn vị phát sinh, trên HIS.</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Năm bước: Nạp hồ sơ → Kiểm tra dữ liệu → Ký số → Gửi cổng → Theo dõi kết quả. Sửa xong phải nạp lại.</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Lỗi Nghiêm trọng chặn hồ sơ; "Bỏ qua" là vĩnh viễn và luôn phải ghi lý do.</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Cổng nhận là nhận thật. Chứng từ điện tử gửi hai lần là hai chứng từ.</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Đủ ngưỡng tiền cùng chi trả mới là một nửa điều kiện miễn; luôn đọc mốc "tính đến …".</a:t>
            </a:r>
            <a:endParaRPr lang="en-US" sz="1600" dirty="0"/>
          </a:p>
        </p:txBody>
      </p:sp>
      <p:sp>
        <p:nvSpPr>
          <p:cNvPr id="6" name="Text 4"/>
          <p:cNvSpPr/>
          <p:nvPr/>
        </p:nvSpPr>
        <p:spPr>
          <a:xfrm>
            <a:off x="822960" y="5394960"/>
            <a:ext cx="10545775" cy="822960"/>
          </a:xfrm>
          <a:prstGeom prst="rect">
            <a:avLst/>
          </a:prstGeom>
          <a:noFill/>
          <a:ln/>
        </p:spPr>
        <p:txBody>
          <a:bodyPr wrap="square" rtlCol="0" anchor="ctr"/>
          <a:lstStyle/>
          <a:p>
            <a:pPr indent="0" marL="0">
              <a:lnSpc>
                <a:spcPts val="2000"/>
              </a:lnSpc>
              <a:buNone/>
            </a:pPr>
            <a:r>
              <a:rPr lang="en-US" sz="1300" dirty="0">
                <a:solidFill>
                  <a:srgbClr val="A9C4DC"/>
                </a:solidFill>
                <a:latin typeface="Arial" pitchFamily="34" charset="0"/>
                <a:ea typeface="Arial" pitchFamily="34" charset="-122"/>
                <a:cs typeface="Arial" pitchFamily="34" charset="-120"/>
              </a:rPr>
              <a:t>Tra cứu chi tiết: HDSD XML3176 – OrderCheck – Thẻ BHYT – Danh mục (Phần I – VII, Phụ lục A, B) · HDSD tra cứu MCCT</a:t>
            </a:r>
            <a:endParaRPr lang="en-US" sz="1300" dirty="0"/>
          </a:p>
          <a:p>
            <a:pPr indent="0" marL="0">
              <a:lnSpc>
                <a:spcPts val="2000"/>
              </a:lnSpc>
              <a:buNone/>
            </a:pPr>
            <a:r>
              <a:rPr lang="en-US" sz="1300" dirty="0">
                <a:solidFill>
                  <a:srgbClr val="A9C4DC"/>
                </a:solidFill>
                <a:latin typeface="Arial" pitchFamily="34" charset="0"/>
                <a:ea typeface="Arial" pitchFamily="34" charset="-122"/>
                <a:cs typeface="Arial" pitchFamily="34" charset="-120"/>
              </a:rPr>
              <a:t>Hỗ trợ: Phòng Công nghệ thông tin — số máy lẻ: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Phần mềm quản lý bệnh viện qlbv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Tài liệu đào tạo người dùng</dc:title>
  <dc:subject>Hướng dẫn sử dụng phần mềm qlbv cho các khoa lâm sàng và các phòng ban chức năng</dc:subject>
  <dc:creator>Phòng Công nghệ thông tin</dc:creator>
  <cp:lastModifiedBy>Phòng Công nghệ thông tin</cp:lastModifiedBy>
  <cp:revision>1</cp:revision>
  <dcterms:created xsi:type="dcterms:W3CDTF">2026-09-23T07:07:34Z</dcterms:created>
  <dcterms:modified xsi:type="dcterms:W3CDTF">2026-09-23T07:07:34Z</dcterms:modified>
</cp:coreProperties>
</file>