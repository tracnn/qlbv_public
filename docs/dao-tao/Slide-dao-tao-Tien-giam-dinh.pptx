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Lst>
  <p:notesMasterIdLst>
    <p:notesMasterId r:id="rId8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notesMaster" Target="notesMasters/notesMaster1.xml"/><Relationship Id="rId83" Type="http://schemas.openxmlformats.org/officeDocument/2006/relationships/presProps" Target="presProps.xml"/><Relationship Id="rId84" Type="http://schemas.openxmlformats.org/officeDocument/2006/relationships/viewProps" Target="viewProps.xml"/><Relationship Id="rId85" Type="http://schemas.openxmlformats.org/officeDocument/2006/relationships/theme" Target="theme/theme1.xml"/><Relationship Id="rId8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chung 120 phút đi hết 10 phần theo bảng. Nếu tách buổi theo khối: các khoa lâm sàng học phần ● mất khoảng 74 phút (thêm phần ○ thì khoảng 94 phút); các phòng ban chức năng học phần ● mất khoảng 102 phút. Thực hành cần: mỗi học viên một máy, tài khoản đã cấp quyền, và vài mã điều trị mẫu có lỗi để quét. Phần 02 thực hành lọc vi phạm theo khoa và đánh dấu Đã xử lý / Bỏ qua; phần 03 lọc "Lỗi critical", mở chi tiết, đọc tab Lỗi XML; phần 06 quét mã vạch trên phiếu và in phiếu lỗi; phần 10 giải tình huống và hỏi đáp. Phần 01 thực hành là đăng nhập Cổng bằng tài khoản đào tạo (slide 3). Phần 05 chỉ cần cho Phòng TCKT (viện phí) và Phòng BHYT.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cả lớp đăng nhập NGAY lúc này, trước khi giảng, để xử lý sớm máy nào không vào được — đừng để tới phần thực hành. Nhấn: tài khoản dùng chung, không ai đổi mật khẩu; Cổng chạy trên dữ liệu người bệnh thật nên không chụp màn hình, không chia sẻ; trong lúc thực hành chỉ xem và lọc, không bấm Ký và gửi, Xoá hay nhập danh mục. Tài khoản này chỉ thấy những menu đã được cấp quyền — học viên không thấy một menu nào đó là bình thường.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lấy từ báo cáo Hội đồng KHCN (trang 2). Nhấn hai điểm kiểm soát: điểm sớm ở y lệnh (phần 02) và điểm chính trước khi ký số (phần 03). Vòng màu cam là điều quan trọng nhất với người dùng: lỗi được sửa ở nơi phát sinh, trên HIS, rồi nạp lại — phần mềm không sửa hộ.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02 tô sáng vì đây là chỗ Tiền giám định tạo giá trị. Bước 03 và 04 hoàn toàn tự động — không có nút bấm cho người dùng ở luồng XML 3176. Ở luồng chứng từ điện tử và TT12 thì khác, xem slide kế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đối chiếu này giúp phòng ban hiểu vì sao cùng là "gửi cổng" mà ba màn hình hành xử khác nhau. Không cần đi sâu, chi tiết nằm ở phần 03, 08,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Lấy từ trang 3 báo cáo Hội đồng. Chứng từ điện tử (phần 08) không nằm trong 7 nhóm nhưng dùng chung hạ tầng ký số và gửi cổng nên học cùng.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nguyên tắc này trả lời trước phần lớn thắc mắc trong các phần sau. Nếu thời gian ít, dừng ở đây rồi chuyển thẳng sang phần của khối mình.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Gạch đầu dòng thứ 4 là điều khoa thích nghe nhất: làm xong là xong. Gạch thứ 3 là điều khoa hay quên nhất. Nhấn mạnh độ trễ 60 giây để không ai than "tôi vừa sửa mà vẫn thấy lỗi".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vì sao hồ sơ nội trú dài ngày vẫn được theo dõi đầy đủ. Dùng ví dụ một bệnh nhân hồi sức nằm 3 tuần.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nguồn gây tranh cãi lớn nhất giữa khoa và phòng BHYT. Dạy khoa cách ghi chú đúng, vì ghi chú chính là căn cứ giải trình khi giám định hỏi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màn hình thật trên máy chiếu nếu được. Nhấn hai điều: (1) mặc định chỉ hiện hôm nay — nhiều người tưởng không có lỗi; (2) phải bấm Tải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Biến thành một thói quen 4 bước để khoa nhớ được. Có thể in nhỏ dán ở buồng trực.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thứ tự: SỬA TRÊN HIS TRƯỚC, đánh dấu SAU. Bấm Đã xử lý trước khi sửa là tự xoá việc của mình mà dữ liệu vẫn sai. Cho học viên nhắc lại thứ tự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chỗ dễ lạm dụng nhất. Kể một tình huống thật: giám định hỏi vì sao 40 dòng bị bỏ qua trong cùng một buổi chiều mà ghi chú đều để trống.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cả phòng: khoa mình thường ra y lệnh và ghi nhận thực hiện theo thứ tự nào? Đây là chỗ dễ giảm lỗi nhất bằng kỷ luật ghi chép.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quy tắc liều nhân ngày bằng ví dụ cụ thể: 1 viên x 3 lần x 5 ngày = 15 viên, cấp 20 viên thì máy báo. Mức Thông tin nên không chặn gì, chỉ để rà soát.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để trả lời câu hỏi kinh điển "sao ca kia sai mà máy không báo". Không cần học thuộc, chỉ cần biết là có bảng này trong tài liệu, mục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Hiểu nhầm về nút Xuất XML3176 là hiểu nhầm phổ biến nhất của cả module. Hỏi lại cả phòng để chắc chắn ai cũng nghe rõ.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đóng trình duyệt khi đang tải sẽ có hộp hỏi "Bạn có muốn rời trang không?" — chọn ở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tính im lặng của đường tự động. Đề nghị phòng ban đặt lịch kiểm tra thư mục "loi" hằng tuần.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"phạm vi xem" giải thích được rất nhiều cuộc gọi hỗ trợ. Nhấn mạnh.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bẫy của ô Mã điều trị: nhập vào là mọi bộ lọc khác bị vô hiệu. Nhiều người tưởng đang lọc theo cơ sở mà thực ra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trả lời câu hỏi hay gặp nhất của phòng BHYT. Dạy họ đi lần lượt 5 điều kiện thay vì gọi điện hỏi ngay.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là công cụ họp giao ban, không phải màn làm việc. Gợi ý: mỗi tuần chụp lại phễu để thấy điểm nghẽn dịch chuyển.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màn hình quyền lực nhất của module — một ô tích sai có thể chặn hàng nghìn hồ sơ. Đề nghị đơn vị quy định ai được đụng vào.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khô nhất của buổi. Rút gọn: mã tra cứu = việc của bảo hiểm; mã kiểm tra = việc của mình. Nhắc lại đúng một câu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mã 08 và 09: hai mã này nhỏ nhưng hậu quả lớn. Giới tính sai nghe rất vô lý nhưng thực tế phát sinh nhiều, chủ yếu do nhập nhanh lúc tiếp đón.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quy trình hằng ngày ở gạch đầu dòng cuối — đó là phần việc lặp lại của phòng ban.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Kể tình huống thực tế: chọn cả năm rồi hàng đợi tắc một ngày, làm mọi chức năng tra thẻ khác đứng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Chia nhóm: 000 là xong; 003/004/060/070 là sửa trên HIS; 010/110 là làm việc với người bệnh; 054/055/401 là việc của CNTT. Bốn nhóm, dễ nhớ hơn 23 mã.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quan trọng nhất của buổi. Câu phải nhắc lại nhiều lần: đạt ngưỡng tiền MỚI LÀ MỘT NỬA điều kiện. Hỏi cả phòng cách kiểm tra vế 5 năm liên tục tại đơn vị mình.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giải thích trước ba hiểu nhầm lớn nhất, để phần sau không phải dừng lại giải thích từng cái.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đây là cách nên dùng mặc định khi người bệnh đang ở quầy. Cách 2 chỉ dùng khi cần tra độc lập.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Nhiều người không biết có nút này nên vẫn sang màn hình riêng gõ lại từ đầu. Chỉ rõ vị trí trên ảnh.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Thanh địa chỉ trình duyệt tự cập nhật theo thẻ đang tra — sao chép được đường dẫn gửi cho người khác, hoặc F5 để mở lại. Nhưng nhớ: mở lại đường dẫn CŨNG là một lần tra mới trên cổng.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Lỗi nhập ngày sinh thiếu số 0 là lỗi gặp nhiều nhất. Cho học viên gõ thử 1/1/1964 để thấy thông báo.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Dừng lâu ở đây. Dạy học viên thói quen: đọc mốc thời gian TRƯỚC khi nói con số cho người bệnh. Câu mẫu: "Theo số liệu cổng bảo hiểm tính đến ngày …, bác đã cùng chi trả … đồng".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bắt học viên thuộc công thức. Mục tiêu duy nhất: hiểu vì sao con số ngưỡng trên màn hình lại khác 15.180.000, để không cãi nhau với người bệnh hoặc với đồng nghiệp.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cột Mã CSKCB: lũy kế bao gồm cả các đợt khám ở cơ sở khác. Đây là điều người bệnh hay không hiểu và cán bộ cần giải thích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giải quyết hành vi xấu phổ biến nhất: sốt ruột nên bấm đi bấm lại. Giải thích hậu quả thật: tài khoản của cơ sở có thể bị cổng hạn chế tra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thông báo này chiếm phần lớn số lần gọi hỗ trợ. Nếu học viên thuộc năm dòng này thì phòng CNTT đỡ được rất nhiều.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Dạy học viên chụp màn hình thông báo thay vì mô tả bằng lời. Một ảnh chụp tiết kiệm được cả buổi hỏi đi hỏi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bảng nên in ra dán tại quầy. Nhắc: mỗi lần Nhà nước điều chỉnh lương cơ sở, phòng CNTT phải bổ sung mốc mới vào cấu hình phần mềm.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nên đọc chậm từng dòng. Đây là ranh giới giữa "cung cấp thông tin" và "kết luận quyền lợi" — cán bộ tra cứu chỉ làm việc thứ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màn hình khoa thích nhất vì nhanh. Nhấn vị trí menu, vì nó nằm khác chỗ với mọi thứ khác.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Máy quét cầm tay hoạt động như bàn phím: gõ chuỗi rồi tự gửi Enter — không cần cài đặt gì. Nếu có máy quét, demo ngay tại chỗ, đây là phần gây ấn tượng nhất buổi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hành vi ẩn kết quả cũ khi lỗi: đó là chủ ý, để khi quét liên tiếp nhiều phiếu không ai nhìn nhầm kết quả của hồ sơ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câu cuối của bảng thứ ba: bảng trống không có nghĩa là sạch. Hồ sơ chưa gửi thì đương nhiên chưa có lỗi XML.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Phiếu lỗi in ra đánh dấu dòng nghiêm trọng bằng chữ đậm và vạch dọc đầu dòng, không chỉ bằng màu — in đen trắng vẫn phân biệt được. Đây là chi tiết khoa hay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vì sao tách quyền: để nhân viên khoa tra cứu được hồ sơ của mình mà không phải mở quyền quản trị toàn bộ danh sách vi phạm.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Đặt câu hỏi mở đầu: đơn vị mình cập nhật danh mục bao lâu một lần, ai làm? Câu trả lời thường cho thấy đây là việc không có chủ.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2 là chỗ mất thời gian nhất của mọi đơn vị. Tệp tải thẳng từ cổng thường có tiêu đề ở dòng 5. Có ghi chú riêng về việc này trong tài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"Không đổi" lớn là bình thường, nhiều người tưởng nhập hỏng. "Lỗi" khác 0 là bắt buộc phải mở tệp chi tiết.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đơn vị chỉ có một cơ sở thì bỏ qua nhanh. Nếu nhiều cơ sở/chi nhánh thì dừng lại lâu, đây là lỗi âm thầm và chỉ lộ khi đối chiếu giá.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việc này nên có quy trình nội bộ: ai được làm, làm lúc nào (ngoài giờ), ai xác nhận. Đề nghị đơn vị ghi thành quy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bản lề của chương. Mọi hành vi "khó chịu" của màn hình sau này (hỏi xác nhận, không cho tích chọn, trần 50 hồ sơ) đều quay về đúng lý do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một hồ sơ vừa còn lỗi vừa chưa ký sẽ hiện "Còn lỗi chặn", vì việc phải làm trước là sửa lỗi. Thứ tự hiển thị ưu tiên lý do gần nhất cần xử lý.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Dừng lâu ở slide này. Đây là chỗ một người có thể báo cáo "sạch hết rồi" trong khi chưa có gì được kiểm.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vì sao ô tích chỉ chọn được TRANG ĐANG XEM: chọn cả trang chưa xem nghĩa là gửi hồ sơ mình chưa từng nhìn. Trần mỗi lượt 50 hồ sơ; chọn quá thì cả lượt bị từ chối chứ không gửi 50 cái đầu.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ví dụ tốt về "phần mềm cố tình làm khó". Giải thích lý do thì người dùng chấp nhận, không giải thích thì họ coi là lỗi.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Phương pháp điều trị (PP_DIEUTRI) mới thành bắt buộc từ 07/09/2026 sau khi cổng từ chối một hồ sơ. Khoảng 7% giấy ra viện đang bỏ trống trường này — sẽ chuyển sang "Còn lỗi chặn" sau khi nạp lại. Luật mới chỉ áp cho hồ sơ nạp từ thời điểm nâng cấp trở 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mối liên hệ ngược về Phần I: gửi TT12 xong là danh mục dùng để kiểm XML 3176 cũng đổi theo. Hai việc không tách rời.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luôn tải biểu mẫu từ phần mềm thay vì tự tạo tệp. Sửa một tên cột là bị từ chối ngay khi nạp.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Nút "Đồng bộ lại danh mục" là đường thoát cho một trạng thái hiếm nhưng gây hoang mang: đã gửi thành công mà danh mục chưa đổi. Nhấn: KHÔNG bấm gửi lại trong tình huống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độ phủ là màn hình để trả lời lãnh đạo "đã khai đủ chưa". Bấm vào ô nào sẽ mở Danh sách hồ sơ đã lọc sẵn theo mẫu và cơ sở.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Gộp ba slide "ranh giới trách nhiệm" của ba deck cũ. Mục tiêu: không ai mất thời gian với việc không phải của mình, và không gọi hỗ trợ sai địa chỉ.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nhanh, mỗi tình huống 30 giây. Nhấn rằng toàn bộ bảng xử lý sự cố đầy đủ nằm ở mục 2.8, 5.9 và Phụ lục A của tài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tình huống 30 giây. Bảng xử lý sự cố đầy đủ nằm ở cuối mỗi phần và ở Phụ lục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Lấy từ trang 6 báo cáo Hội đồng, chuyển sang góc nhìn người dùng. Nói thẳng giới hạn giúp người dùng không tin tuyệt đối vào màu xanh trên màn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A9FD8"/>
          </a:solidFill>
          <a:ln w="12700">
            <a:solidFill>
              <a:srgbClr val="2A9FD8"/>
            </a:solidFill>
            <a:prstDash val="solid"/>
          </a:ln>
        </p:spPr>
      </p:sp>
      <p:sp>
        <p:nvSpPr>
          <p:cNvPr id="3" name="Text 1"/>
          <p:cNvSpPr/>
          <p:nvPr/>
        </p:nvSpPr>
        <p:spPr>
          <a:xfrm>
            <a:off x="658368" y="457200"/>
            <a:ext cx="10820095" cy="274320"/>
          </a:xfrm>
          <a:prstGeom prst="rect">
            <a:avLst/>
          </a:prstGeom>
          <a:noFill/>
          <a:ln/>
        </p:spPr>
        <p:txBody>
          <a:bodyPr wrap="square" rtlCol="0" anchor="ctr"/>
          <a:lstStyle/>
          <a:p>
            <a:pPr indent="0" marL="0">
              <a:buNone/>
            </a:pPr>
            <a:r>
              <a:rPr lang="en-US" sz="1100" b="1" spc="100" kern="0" dirty="0">
                <a:solidFill>
                  <a:srgbClr val="8FC8EC"/>
                </a:solidFill>
                <a:latin typeface="Arial" pitchFamily="34" charset="0"/>
                <a:ea typeface="Arial" pitchFamily="34" charset="-122"/>
                <a:cs typeface="Arial" pitchFamily="34" charset="-120"/>
              </a:rPr>
              <a:t>TÀI LIỆU ĐÀO TẠO NGƯỜI DÙNG</a:t>
            </a:r>
            <a:endParaRPr lang="en-US" sz="1100" dirty="0"/>
          </a:p>
        </p:txBody>
      </p:sp>
      <p:sp>
        <p:nvSpPr>
          <p:cNvPr id="4" name="Text 2"/>
          <p:cNvSpPr/>
          <p:nvPr/>
        </p:nvSpPr>
        <p:spPr>
          <a:xfrm>
            <a:off x="658368" y="868680"/>
            <a:ext cx="9905695" cy="1325880"/>
          </a:xfrm>
          <a:prstGeom prst="rect">
            <a:avLst/>
          </a:prstGeom>
          <a:noFill/>
          <a:ln/>
        </p:spPr>
        <p:txBody>
          <a:bodyPr wrap="square" rtlCol="0" anchor="b"/>
          <a:lstStyle/>
          <a:p>
            <a:pPr indent="0" marL="0">
              <a:buNone/>
            </a:pPr>
            <a:r>
              <a:rPr lang="en-US" sz="3800" b="1" dirty="0">
                <a:solidFill>
                  <a:srgbClr val="FFFFFF"/>
                </a:solidFill>
                <a:latin typeface="Arial" pitchFamily="34" charset="0"/>
                <a:ea typeface="Arial" pitchFamily="34" charset="-122"/>
                <a:cs typeface="Arial" pitchFamily="34" charset="-120"/>
              </a:rPr>
              <a:t>Giải pháp Tiền giám định</a:t>
            </a:r>
            <a:endParaRPr lang="en-US" sz="3800" dirty="0"/>
          </a:p>
          <a:p>
            <a:pPr indent="0" marL="0">
              <a:buNone/>
            </a:pPr>
            <a:r>
              <a:rPr lang="en-US" sz="3800" b="1" dirty="0">
                <a:solidFill>
                  <a:srgbClr val="FFFFFF"/>
                </a:solidFill>
                <a:latin typeface="Arial" pitchFamily="34" charset="0"/>
                <a:ea typeface="Arial" pitchFamily="34" charset="-122"/>
                <a:cs typeface="Arial" pitchFamily="34" charset="-120"/>
              </a:rPr>
              <a:t>hồ sơ BHYT</a:t>
            </a:r>
            <a:endParaRPr lang="en-US" sz="3800" dirty="0"/>
          </a:p>
        </p:txBody>
      </p:sp>
      <p:sp>
        <p:nvSpPr>
          <p:cNvPr id="5" name="Text 3"/>
          <p:cNvSpPr/>
          <p:nvPr/>
        </p:nvSpPr>
        <p:spPr>
          <a:xfrm>
            <a:off x="658368" y="2240280"/>
            <a:ext cx="9448495" cy="685800"/>
          </a:xfrm>
          <a:prstGeom prst="rect">
            <a:avLst/>
          </a:prstGeom>
          <a:noFill/>
          <a:ln/>
        </p:spPr>
        <p:txBody>
          <a:bodyPr wrap="square" rtlCol="0" anchor="t"/>
          <a:lstStyle/>
          <a:p>
            <a:pPr indent="0" marL="0">
              <a:lnSpc>
                <a:spcPts val="2400"/>
              </a:lnSpc>
              <a:buNone/>
            </a:pPr>
            <a:r>
              <a:rPr lang="en-US" sz="1800" dirty="0">
                <a:solidFill>
                  <a:srgbClr val="C9DDF0"/>
                </a:solidFill>
                <a:latin typeface="Arial" pitchFamily="34" charset="0"/>
                <a:ea typeface="Arial" pitchFamily="34" charset="-122"/>
                <a:cs typeface="Arial" pitchFamily="34" charset="-120"/>
              </a:rPr>
              <a:t>Đưa phát hiện lỗi về trước khi hồ sơ BHYT rời bệnh viện —</a:t>
            </a:r>
            <a:endParaRPr lang="en-US" sz="1800" dirty="0"/>
          </a:p>
          <a:p>
            <a:pPr indent="0" marL="0">
              <a:lnSpc>
                <a:spcPts val="2400"/>
              </a:lnSpc>
              <a:buNone/>
            </a:pPr>
            <a:r>
              <a:rPr lang="en-US" sz="1800" dirty="0">
                <a:solidFill>
                  <a:srgbClr val="C9DDF0"/>
                </a:solidFill>
                <a:latin typeface="Arial" pitchFamily="34" charset="0"/>
                <a:ea typeface="Arial" pitchFamily="34" charset="-122"/>
                <a:cs typeface="Arial" pitchFamily="34" charset="-120"/>
              </a:rPr>
              <a:t>hướng dẫn sử dụng cho khoa lâm sàng và phòng ban chức năng</a:t>
            </a:r>
            <a:endParaRPr lang="en-US" sz="1800" dirty="0"/>
          </a:p>
        </p:txBody>
      </p:sp>
      <p:sp>
        <p:nvSpPr>
          <p:cNvPr id="6" name="Shape 4"/>
          <p:cNvSpPr/>
          <p:nvPr/>
        </p:nvSpPr>
        <p:spPr>
          <a:xfrm>
            <a:off x="658368" y="3246120"/>
            <a:ext cx="3063240" cy="1005840"/>
          </a:xfrm>
          <a:prstGeom prst="roundRect">
            <a:avLst>
              <a:gd name="adj" fmla="val 5455"/>
            </a:avLst>
          </a:prstGeom>
          <a:solidFill>
            <a:srgbClr val="17385F"/>
          </a:solidFill>
          <a:ln w="12700">
            <a:solidFill>
              <a:srgbClr val="2B5580"/>
            </a:solidFill>
            <a:prstDash val="solid"/>
          </a:ln>
        </p:spPr>
      </p:sp>
      <p:sp>
        <p:nvSpPr>
          <p:cNvPr id="7" name="Text 5"/>
          <p:cNvSpPr/>
          <p:nvPr/>
        </p:nvSpPr>
        <p:spPr>
          <a:xfrm>
            <a:off x="804672" y="3337560"/>
            <a:ext cx="2788920" cy="274320"/>
          </a:xfrm>
          <a:prstGeom prst="rect">
            <a:avLst/>
          </a:prstGeom>
          <a:noFill/>
          <a:ln/>
        </p:spPr>
        <p:txBody>
          <a:bodyPr wrap="square" rtlCol="0" anchor="ctr"/>
          <a:lstStyle/>
          <a:p>
            <a:pPr indent="0" marL="0">
              <a:buNone/>
            </a:pPr>
            <a:r>
              <a:rPr lang="en-US" sz="900" b="1" dirty="0">
                <a:solidFill>
                  <a:srgbClr val="8FC8EC"/>
                </a:solidFill>
                <a:latin typeface="Arial" pitchFamily="34" charset="0"/>
                <a:ea typeface="Arial" pitchFamily="34" charset="-122"/>
                <a:cs typeface="Arial" pitchFamily="34" charset="-120"/>
              </a:rPr>
              <a:t>ĐỐI TƯỢNG</a:t>
            </a:r>
            <a:endParaRPr lang="en-US" sz="900" dirty="0"/>
          </a:p>
        </p:txBody>
      </p:sp>
      <p:sp>
        <p:nvSpPr>
          <p:cNvPr id="8" name="Text 6"/>
          <p:cNvSpPr/>
          <p:nvPr/>
        </p:nvSpPr>
        <p:spPr>
          <a:xfrm>
            <a:off x="804672" y="3575304"/>
            <a:ext cx="2788920" cy="603504"/>
          </a:xfrm>
          <a:prstGeom prst="rect">
            <a:avLst/>
          </a:prstGeom>
          <a:noFill/>
          <a:ln/>
        </p:spPr>
        <p:txBody>
          <a:bodyPr wrap="square" rtlCol="0" anchor="ctr"/>
          <a:lstStyle/>
          <a:p>
            <a:pPr indent="0" marL="0">
              <a:lnSpc>
                <a:spcPts val="1700"/>
              </a:lnSpc>
              <a:buNone/>
            </a:pPr>
            <a:r>
              <a:rPr lang="en-US" sz="1300" b="1" dirty="0">
                <a:solidFill>
                  <a:srgbClr val="FFFFFF"/>
                </a:solidFill>
                <a:latin typeface="Arial" pitchFamily="34" charset="0"/>
                <a:ea typeface="Arial" pitchFamily="34" charset="-122"/>
                <a:cs typeface="Arial" pitchFamily="34" charset="-120"/>
              </a:rPr>
              <a:t>Các khoa lâm sàng</a:t>
            </a:r>
            <a:endParaRPr lang="en-US" sz="1300" dirty="0"/>
          </a:p>
          <a:p>
            <a:pPr indent="0" marL="0">
              <a:lnSpc>
                <a:spcPts val="1700"/>
              </a:lnSpc>
              <a:buNone/>
            </a:pPr>
            <a:r>
              <a:rPr lang="en-US" sz="1300" b="1" dirty="0">
                <a:solidFill>
                  <a:srgbClr val="FFFFFF"/>
                </a:solidFill>
                <a:latin typeface="Arial" pitchFamily="34" charset="0"/>
                <a:ea typeface="Arial" pitchFamily="34" charset="-122"/>
                <a:cs typeface="Arial" pitchFamily="34" charset="-120"/>
              </a:rPr>
              <a:t>Các phòng ban chức năng</a:t>
            </a:r>
            <a:endParaRPr lang="en-US" sz="1300" dirty="0"/>
          </a:p>
        </p:txBody>
      </p:sp>
      <p:sp>
        <p:nvSpPr>
          <p:cNvPr id="9" name="Shape 7"/>
          <p:cNvSpPr/>
          <p:nvPr/>
        </p:nvSpPr>
        <p:spPr>
          <a:xfrm>
            <a:off x="3904488" y="3246120"/>
            <a:ext cx="3063240" cy="1005840"/>
          </a:xfrm>
          <a:prstGeom prst="roundRect">
            <a:avLst>
              <a:gd name="adj" fmla="val 5455"/>
            </a:avLst>
          </a:prstGeom>
          <a:solidFill>
            <a:srgbClr val="17385F"/>
          </a:solidFill>
          <a:ln w="12700">
            <a:solidFill>
              <a:srgbClr val="2B5580"/>
            </a:solidFill>
            <a:prstDash val="solid"/>
          </a:ln>
        </p:spPr>
      </p:sp>
      <p:sp>
        <p:nvSpPr>
          <p:cNvPr id="10" name="Text 8"/>
          <p:cNvSpPr/>
          <p:nvPr/>
        </p:nvSpPr>
        <p:spPr>
          <a:xfrm>
            <a:off x="4050792" y="3337560"/>
            <a:ext cx="2788920" cy="274320"/>
          </a:xfrm>
          <a:prstGeom prst="rect">
            <a:avLst/>
          </a:prstGeom>
          <a:noFill/>
          <a:ln/>
        </p:spPr>
        <p:txBody>
          <a:bodyPr wrap="square" rtlCol="0" anchor="ctr"/>
          <a:lstStyle/>
          <a:p>
            <a:pPr indent="0" marL="0">
              <a:buNone/>
            </a:pPr>
            <a:r>
              <a:rPr lang="en-US" sz="900" b="1" dirty="0">
                <a:solidFill>
                  <a:srgbClr val="8FC8EC"/>
                </a:solidFill>
                <a:latin typeface="Arial" pitchFamily="34" charset="0"/>
                <a:ea typeface="Arial" pitchFamily="34" charset="-122"/>
                <a:cs typeface="Arial" pitchFamily="34" charset="-120"/>
              </a:rPr>
              <a:t>CÁCH HỌC</a:t>
            </a:r>
            <a:endParaRPr lang="en-US" sz="900" dirty="0"/>
          </a:p>
        </p:txBody>
      </p:sp>
      <p:sp>
        <p:nvSpPr>
          <p:cNvPr id="11" name="Text 9"/>
          <p:cNvSpPr/>
          <p:nvPr/>
        </p:nvSpPr>
        <p:spPr>
          <a:xfrm>
            <a:off x="4050792" y="3575304"/>
            <a:ext cx="2788920" cy="603504"/>
          </a:xfrm>
          <a:prstGeom prst="rect">
            <a:avLst/>
          </a:prstGeom>
          <a:noFill/>
          <a:ln/>
        </p:spPr>
        <p:txBody>
          <a:bodyPr wrap="square" rtlCol="0" anchor="ctr"/>
          <a:lstStyle/>
          <a:p>
            <a:pPr indent="0" marL="0">
              <a:lnSpc>
                <a:spcPts val="1700"/>
              </a:lnSpc>
              <a:buNone/>
            </a:pPr>
            <a:r>
              <a:rPr lang="en-US" sz="1300" b="1" dirty="0">
                <a:solidFill>
                  <a:srgbClr val="FFFFFF"/>
                </a:solidFill>
                <a:latin typeface="Arial" pitchFamily="34" charset="0"/>
                <a:ea typeface="Arial" pitchFamily="34" charset="-122"/>
                <a:cs typeface="Arial" pitchFamily="34" charset="-120"/>
              </a:rPr>
              <a:t>Trọn bộ, hoặc theo</a:t>
            </a:r>
            <a:endParaRPr lang="en-US" sz="1300" dirty="0"/>
          </a:p>
          <a:p>
            <a:pPr indent="0" marL="0">
              <a:lnSpc>
                <a:spcPts val="1700"/>
              </a:lnSpc>
              <a:buNone/>
            </a:pPr>
            <a:r>
              <a:rPr lang="en-US" sz="1300" b="1" dirty="0">
                <a:solidFill>
                  <a:srgbClr val="FFFFFF"/>
                </a:solidFill>
                <a:latin typeface="Arial" pitchFamily="34" charset="0"/>
                <a:ea typeface="Arial" pitchFamily="34" charset="-122"/>
                <a:cs typeface="Arial" pitchFamily="34" charset="-120"/>
              </a:rPr>
              <a:t>phần của khối mình</a:t>
            </a:r>
            <a:endParaRPr lang="en-US" sz="1300" dirty="0"/>
          </a:p>
        </p:txBody>
      </p:sp>
      <p:sp>
        <p:nvSpPr>
          <p:cNvPr id="12" name="Shape 10"/>
          <p:cNvSpPr/>
          <p:nvPr/>
        </p:nvSpPr>
        <p:spPr>
          <a:xfrm>
            <a:off x="7150608" y="3246120"/>
            <a:ext cx="3063240" cy="1005840"/>
          </a:xfrm>
          <a:prstGeom prst="roundRect">
            <a:avLst>
              <a:gd name="adj" fmla="val 5455"/>
            </a:avLst>
          </a:prstGeom>
          <a:solidFill>
            <a:srgbClr val="17385F"/>
          </a:solidFill>
          <a:ln w="12700">
            <a:solidFill>
              <a:srgbClr val="2B5580"/>
            </a:solidFill>
            <a:prstDash val="solid"/>
          </a:ln>
        </p:spPr>
      </p:sp>
      <p:sp>
        <p:nvSpPr>
          <p:cNvPr id="13" name="Text 11"/>
          <p:cNvSpPr/>
          <p:nvPr/>
        </p:nvSpPr>
        <p:spPr>
          <a:xfrm>
            <a:off x="7296912" y="3337560"/>
            <a:ext cx="2788920" cy="274320"/>
          </a:xfrm>
          <a:prstGeom prst="rect">
            <a:avLst/>
          </a:prstGeom>
          <a:noFill/>
          <a:ln/>
        </p:spPr>
        <p:txBody>
          <a:bodyPr wrap="square" rtlCol="0" anchor="ctr"/>
          <a:lstStyle/>
          <a:p>
            <a:pPr indent="0" marL="0">
              <a:buNone/>
            </a:pPr>
            <a:r>
              <a:rPr lang="en-US" sz="900" b="1" dirty="0">
                <a:solidFill>
                  <a:srgbClr val="8FC8EC"/>
                </a:solidFill>
                <a:latin typeface="Arial" pitchFamily="34" charset="0"/>
                <a:ea typeface="Arial" pitchFamily="34" charset="-122"/>
                <a:cs typeface="Arial" pitchFamily="34" charset="-120"/>
              </a:rPr>
              <a:t>TÀI LIỆU GỐC</a:t>
            </a:r>
            <a:endParaRPr lang="en-US" sz="900" dirty="0"/>
          </a:p>
        </p:txBody>
      </p:sp>
      <p:sp>
        <p:nvSpPr>
          <p:cNvPr id="14" name="Text 12"/>
          <p:cNvSpPr/>
          <p:nvPr/>
        </p:nvSpPr>
        <p:spPr>
          <a:xfrm>
            <a:off x="7296912" y="3575304"/>
            <a:ext cx="2788920" cy="603504"/>
          </a:xfrm>
          <a:prstGeom prst="rect">
            <a:avLst/>
          </a:prstGeom>
          <a:noFill/>
          <a:ln/>
        </p:spPr>
        <p:txBody>
          <a:bodyPr wrap="square" rtlCol="0" anchor="ctr"/>
          <a:lstStyle/>
          <a:p>
            <a:pPr indent="0" marL="0">
              <a:lnSpc>
                <a:spcPts val="1700"/>
              </a:lnSpc>
              <a:buNone/>
            </a:pPr>
            <a:r>
              <a:rPr lang="en-US" sz="1300" b="1" dirty="0">
                <a:solidFill>
                  <a:srgbClr val="FFFFFF"/>
                </a:solidFill>
                <a:latin typeface="Arial" pitchFamily="34" charset="0"/>
                <a:ea typeface="Arial" pitchFamily="34" charset="-122"/>
                <a:cs typeface="Arial" pitchFamily="34" charset="-120"/>
              </a:rPr>
              <a:t>HDSD XML3176 – OrderCheck</a:t>
            </a:r>
            <a:endParaRPr lang="en-US" sz="1300" dirty="0"/>
          </a:p>
          <a:p>
            <a:pPr indent="0" marL="0">
              <a:lnSpc>
                <a:spcPts val="1700"/>
              </a:lnSpc>
              <a:buNone/>
            </a:pPr>
            <a:r>
              <a:rPr lang="en-US" sz="1300" b="1" dirty="0">
                <a:solidFill>
                  <a:srgbClr val="FFFFFF"/>
                </a:solidFill>
                <a:latin typeface="Arial" pitchFamily="34" charset="0"/>
                <a:ea typeface="Arial" pitchFamily="34" charset="-122"/>
                <a:cs typeface="Arial" pitchFamily="34" charset="-120"/>
              </a:rPr>
              <a:t>HDSD tra cứu MCCT</a:t>
            </a:r>
            <a:endParaRPr lang="en-US" sz="1300" dirty="0"/>
          </a:p>
        </p:txBody>
      </p:sp>
      <p:sp>
        <p:nvSpPr>
          <p:cNvPr id="15" name="Shape 13"/>
          <p:cNvSpPr/>
          <p:nvPr/>
        </p:nvSpPr>
        <p:spPr>
          <a:xfrm>
            <a:off x="658368" y="4526280"/>
            <a:ext cx="9555480" cy="868680"/>
          </a:xfrm>
          <a:prstGeom prst="roundRect">
            <a:avLst>
              <a:gd name="adj" fmla="val 6316"/>
            </a:avLst>
          </a:prstGeom>
          <a:solidFill>
            <a:srgbClr val="14365C"/>
          </a:solidFill>
          <a:ln w="12700">
            <a:solidFill>
              <a:srgbClr val="2B5580"/>
            </a:solidFill>
            <a:prstDash val="solid"/>
          </a:ln>
        </p:spPr>
      </p:sp>
      <p:sp>
        <p:nvSpPr>
          <p:cNvPr id="16" name="Text 14"/>
          <p:cNvSpPr/>
          <p:nvPr/>
        </p:nvSpPr>
        <p:spPr>
          <a:xfrm>
            <a:off x="859536" y="4526280"/>
            <a:ext cx="9189720" cy="868680"/>
          </a:xfrm>
          <a:prstGeom prst="rect">
            <a:avLst/>
          </a:prstGeom>
          <a:noFill/>
          <a:ln/>
        </p:spPr>
        <p:txBody>
          <a:bodyPr wrap="square" rtlCol="0" anchor="ctr"/>
          <a:lstStyle/>
          <a:p>
            <a:pPr indent="0" marL="0">
              <a:lnSpc>
                <a:spcPts val="2100"/>
              </a:lnSpc>
              <a:buNone/>
            </a:pPr>
            <a:r>
              <a:rPr lang="en-US" sz="1500" b="1" dirty="0">
                <a:solidFill>
                  <a:srgbClr val="FFFFFF"/>
                </a:solidFill>
                <a:latin typeface="Arial" pitchFamily="34" charset="0"/>
                <a:ea typeface="Arial" pitchFamily="34" charset="-122"/>
                <a:cs typeface="Arial" pitchFamily="34" charset="-120"/>
              </a:rPr>
              <a:t>Phần lớn lỗi có thể phát hiện ngay từ thời điểm bác sĩ ra y lệnh — trước khi hồ sơ rời bệnh viện hàng tuần lễ.</a:t>
            </a:r>
            <a:endParaRPr lang="en-US" sz="1500" dirty="0"/>
          </a:p>
        </p:txBody>
      </p:sp>
      <p:sp>
        <p:nvSpPr>
          <p:cNvPr id="17" name="Text 15"/>
          <p:cNvSpPr/>
          <p:nvPr/>
        </p:nvSpPr>
        <p:spPr>
          <a:xfrm>
            <a:off x="658368" y="6355080"/>
            <a:ext cx="10820095" cy="274320"/>
          </a:xfrm>
          <a:prstGeom prst="rect">
            <a:avLst/>
          </a:prstGeom>
          <a:noFill/>
          <a:ln/>
        </p:spPr>
        <p:txBody>
          <a:bodyPr wrap="square" rtlCol="0" anchor="ctr"/>
          <a:lstStyle/>
          <a:p>
            <a:pPr indent="0" marL="0">
              <a:buNone/>
            </a:pPr>
            <a:r>
              <a:rPr lang="en-US" sz="1000" b="1" dirty="0">
                <a:solidFill>
                  <a:srgbClr val="A9C4DC"/>
                </a:solidFill>
                <a:latin typeface="Arial" pitchFamily="34" charset="0"/>
                <a:ea typeface="Arial" pitchFamily="34" charset="-122"/>
                <a:cs typeface="Arial" pitchFamily="34" charset="-120"/>
              </a:rPr>
              <a:t>Bệnh viện Bạch Mai  |  Phần mềm Tiền giám định BHYT  |  Tài liệu đào tạo tháng 9/2026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01 / LỘ TRÌNH</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Ai học phần nào, trong bao lâu</a:t>
            </a:r>
            <a:endParaRPr lang="en-US" sz="2600" dirty="0"/>
          </a:p>
        </p:txBody>
      </p:sp>
      <p:sp>
        <p:nvSpPr>
          <p:cNvPr id="4" name="Text 2"/>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B6B7F"/>
                </a:solidFill>
                <a:latin typeface="Arial" pitchFamily="34" charset="0"/>
                <a:ea typeface="Arial" pitchFamily="34" charset="-122"/>
                <a:cs typeface="Arial" pitchFamily="34" charset="-120"/>
              </a:rPr>
              <a:t>Một buổi 120 phút: 30 phút lý thuyết, 90 phút thực hành trên phần mềm. ● bắt buộc với khối đó · ○ nên biết để phối hợp.</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603155"/>
                <a:gridCol w="4925765"/>
                <a:gridCol w="1306836"/>
                <a:gridCol w="1206310"/>
                <a:gridCol w="1055521"/>
                <a:gridCol w="1105784"/>
                <a:gridCol w="854469"/>
              </a:tblGrid>
              <a:tr h="0">
                <a:tc>
                  <a:txBody>
                    <a:bodyPr/>
                    <a:lstStyle/>
                    <a:p>
                      <a:pPr indent="0" marL="0">
                        <a:buNone/>
                      </a:pPr>
                      <a:r>
                        <a:rPr lang="en-US" sz="1250" b="1" dirty="0">
                          <a:solidFill>
                            <a:srgbClr val="FFFFFF"/>
                          </a:solidFill>
                          <a:latin typeface="Arial" pitchFamily="34" charset="0"/>
                          <a:ea typeface="Arial" pitchFamily="34" charset="-122"/>
                          <a:cs typeface="Arial" pitchFamily="34" charset="-120"/>
                        </a:rPr>
                        <a:t>Phần</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Nội dung</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Khoa lâm sàng</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Phòng ban</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Lý thuyết</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Thực hành</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Tổng</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r>
              <a:tr h="0">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01</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50" dirty="0">
                          <a:solidFill>
                            <a:srgbClr val="14233A"/>
                          </a:solidFill>
                          <a:latin typeface="Arial" pitchFamily="34" charset="0"/>
                          <a:ea typeface="Arial" pitchFamily="34" charset="-122"/>
                          <a:cs typeface="Arial" pitchFamily="34" charset="-120"/>
                        </a:rPr>
                        <a:t>Tổng quan: vị trí Tiền giám định, quy trình 5 bước, 7 nhóm chức năng</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algn="ctr" indent="0" marL="0">
                        <a:buNone/>
                      </a:pPr>
                      <a:r>
                        <a:rPr lang="en-US" sz="1250" b="1" dirty="0">
                          <a:solidFill>
                            <a:srgbClr val="1A5EA8"/>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algn="ctr" indent="0" marL="0">
                        <a:buNone/>
                      </a:pPr>
                      <a:r>
                        <a:rPr lang="en-US" sz="1250" b="1" dirty="0">
                          <a:solidFill>
                            <a:srgbClr val="1A5EA8"/>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5'</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5'</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algn="ctr" indent="0" marL="0">
                        <a:buNone/>
                      </a:pPr>
                      <a:r>
                        <a:rPr lang="en-US" sz="1250" b="1" dirty="0">
                          <a:solidFill>
                            <a:srgbClr val="14233A"/>
                          </a:solidFill>
                          <a:latin typeface="Arial" pitchFamily="34" charset="0"/>
                          <a:ea typeface="Arial" pitchFamily="34" charset="-122"/>
                          <a:cs typeface="Arial" pitchFamily="34" charset="-120"/>
                        </a:rPr>
                        <a:t>10'</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02</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50" dirty="0">
                          <a:solidFill>
                            <a:srgbClr val="14233A"/>
                          </a:solidFill>
                          <a:latin typeface="Arial" pitchFamily="34" charset="0"/>
                          <a:ea typeface="Arial" pitchFamily="34" charset="-122"/>
                          <a:cs typeface="Arial" pitchFamily="34" charset="-120"/>
                        </a:rPr>
                        <a:t>Kiểm tra sai sót y lệnh</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A5EA8"/>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B6B7F"/>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4'</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14'</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233A"/>
                          </a:solidFill>
                          <a:latin typeface="Arial" pitchFamily="34" charset="0"/>
                          <a:ea typeface="Arial" pitchFamily="34" charset="-122"/>
                          <a:cs typeface="Arial" pitchFamily="34" charset="-120"/>
                        </a:rPr>
                        <a:t>18'</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03</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50" dirty="0">
                          <a:solidFill>
                            <a:srgbClr val="14233A"/>
                          </a:solidFill>
                          <a:latin typeface="Arial" pitchFamily="34" charset="0"/>
                          <a:ea typeface="Arial" pitchFamily="34" charset="-122"/>
                          <a:cs typeface="Arial" pitchFamily="34" charset="-120"/>
                        </a:rPr>
                        <a:t>Hồ sơ XML 3176: nạp, kiểm tra, ký số, gửi, theo dõi</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algn="ctr" indent="0" marL="0">
                        <a:buNone/>
                      </a:pPr>
                      <a:r>
                        <a:rPr lang="en-US" sz="1250" dirty="0">
                          <a:solidFill>
                            <a:srgbClr val="5B6B7F"/>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algn="ctr" indent="0" marL="0">
                        <a:buNone/>
                      </a:pPr>
                      <a:r>
                        <a:rPr lang="en-US" sz="1250" b="1" dirty="0">
                          <a:solidFill>
                            <a:srgbClr val="1A5EA8"/>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4'</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16'</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algn="ctr" indent="0" marL="0">
                        <a:buNone/>
                      </a:pPr>
                      <a:r>
                        <a:rPr lang="en-US" sz="1250" b="1" dirty="0">
                          <a:solidFill>
                            <a:srgbClr val="14233A"/>
                          </a:solidFill>
                          <a:latin typeface="Arial" pitchFamily="34" charset="0"/>
                          <a:ea typeface="Arial" pitchFamily="34" charset="-122"/>
                          <a:cs typeface="Arial" pitchFamily="34" charset="-120"/>
                        </a:rPr>
                        <a:t>20'</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04</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50" dirty="0">
                          <a:solidFill>
                            <a:srgbClr val="14233A"/>
                          </a:solidFill>
                          <a:latin typeface="Arial" pitchFamily="34" charset="0"/>
                          <a:ea typeface="Arial" pitchFamily="34" charset="-122"/>
                          <a:cs typeface="Arial" pitchFamily="34" charset="-120"/>
                        </a:rPr>
                        <a:t>Thẻ BHYT: đọc mã kết quả, tra hàng loạt</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A5EA8"/>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A5EA8"/>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2'</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8'</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233A"/>
                          </a:solidFill>
                          <a:latin typeface="Arial" pitchFamily="34" charset="0"/>
                          <a:ea typeface="Arial" pitchFamily="34" charset="-122"/>
                          <a:cs typeface="Arial" pitchFamily="34" charset="-120"/>
                        </a:rPr>
                        <a:t>10'</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05</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50" dirty="0">
                          <a:solidFill>
                            <a:srgbClr val="14233A"/>
                          </a:solidFill>
                          <a:latin typeface="Arial" pitchFamily="34" charset="0"/>
                          <a:ea typeface="Arial" pitchFamily="34" charset="-122"/>
                          <a:cs typeface="Arial" pitchFamily="34" charset="-120"/>
                        </a:rPr>
                        <a:t>Tra cứu tiền cùng chi trả (MCCT) — Phòng TCKT, Phòng BHYT</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algn="ctr" indent="0" marL="0">
                        <a:buNone/>
                      </a:pPr>
                      <a:r>
                        <a:rPr lang="en-US" sz="1250" b="1" dirty="0">
                          <a:solidFill>
                            <a:srgbClr val="1A5EA8"/>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algn="ctr" indent="0" marL="0">
                        <a:buNone/>
                      </a:pPr>
                      <a:r>
                        <a:rPr lang="en-US" sz="1250" b="1" dirty="0">
                          <a:solidFill>
                            <a:srgbClr val="1A5EA8"/>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2'</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6'</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algn="ctr" indent="0" marL="0">
                        <a:buNone/>
                      </a:pPr>
                      <a:r>
                        <a:rPr lang="en-US" sz="1250" b="1" dirty="0">
                          <a:solidFill>
                            <a:srgbClr val="14233A"/>
                          </a:solidFill>
                          <a:latin typeface="Arial" pitchFamily="34" charset="0"/>
                          <a:ea typeface="Arial" pitchFamily="34" charset="-122"/>
                          <a:cs typeface="Arial" pitchFamily="34" charset="-120"/>
                        </a:rPr>
                        <a:t>8'</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06</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50" dirty="0">
                          <a:solidFill>
                            <a:srgbClr val="14233A"/>
                          </a:solidFill>
                          <a:latin typeface="Arial" pitchFamily="34" charset="0"/>
                          <a:ea typeface="Arial" pitchFamily="34" charset="-122"/>
                          <a:cs typeface="Arial" pitchFamily="34" charset="-120"/>
                        </a:rPr>
                        <a:t>Tra cứu lỗi hồ sơ theo mã điều trị</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A5EA8"/>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A5EA8"/>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2'</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10'</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233A"/>
                          </a:solidFill>
                          <a:latin typeface="Arial" pitchFamily="34" charset="0"/>
                          <a:ea typeface="Arial" pitchFamily="34" charset="-122"/>
                          <a:cs typeface="Arial" pitchFamily="34" charset="-120"/>
                        </a:rPr>
                        <a:t>12'</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07</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50" dirty="0">
                          <a:solidFill>
                            <a:srgbClr val="14233A"/>
                          </a:solidFill>
                          <a:latin typeface="Arial" pitchFamily="34" charset="0"/>
                          <a:ea typeface="Arial" pitchFamily="34" charset="-122"/>
                          <a:cs typeface="Arial" pitchFamily="34" charset="-120"/>
                        </a:rPr>
                        <a:t>Quản lý danh mục BHYT</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algn="ctr" indent="0" marL="0">
                        <a:buNone/>
                      </a:pP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algn="ctr" indent="0" marL="0">
                        <a:buNone/>
                      </a:pPr>
                      <a:r>
                        <a:rPr lang="en-US" sz="1250" b="1" dirty="0">
                          <a:solidFill>
                            <a:srgbClr val="1A5EA8"/>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2'</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6'</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algn="ctr" indent="0" marL="0">
                        <a:buNone/>
                      </a:pPr>
                      <a:r>
                        <a:rPr lang="en-US" sz="1250" b="1" dirty="0">
                          <a:solidFill>
                            <a:srgbClr val="14233A"/>
                          </a:solidFill>
                          <a:latin typeface="Arial" pitchFamily="34" charset="0"/>
                          <a:ea typeface="Arial" pitchFamily="34" charset="-122"/>
                          <a:cs typeface="Arial" pitchFamily="34" charset="-120"/>
                        </a:rPr>
                        <a:t>8'</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08</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50" dirty="0">
                          <a:solidFill>
                            <a:srgbClr val="14233A"/>
                          </a:solidFill>
                          <a:latin typeface="Arial" pitchFamily="34" charset="0"/>
                          <a:ea typeface="Arial" pitchFamily="34" charset="-122"/>
                          <a:cs typeface="Arial" pitchFamily="34" charset="-120"/>
                        </a:rPr>
                        <a:t>Chứng từ điện tử theo Phụ lục 02</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algn="ctr" indent="0" marL="0">
                        <a:buNone/>
                      </a:pP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A5EA8"/>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3'</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7'</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233A"/>
                          </a:solidFill>
                          <a:latin typeface="Arial" pitchFamily="34" charset="0"/>
                          <a:ea typeface="Arial" pitchFamily="34" charset="-122"/>
                          <a:cs typeface="Arial" pitchFamily="34" charset="-120"/>
                        </a:rPr>
                        <a:t>10'</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09</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50" dirty="0">
                          <a:solidFill>
                            <a:srgbClr val="14233A"/>
                          </a:solidFill>
                          <a:latin typeface="Arial" pitchFamily="34" charset="0"/>
                          <a:ea typeface="Arial" pitchFamily="34" charset="-122"/>
                          <a:cs typeface="Arial" pitchFamily="34" charset="-120"/>
                        </a:rPr>
                        <a:t>Danh mục theo Thông tư 12/2026</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algn="ctr" indent="0" marL="0">
                        <a:buNone/>
                      </a:pP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algn="ctr" indent="0" marL="0">
                        <a:buNone/>
                      </a:pPr>
                      <a:r>
                        <a:rPr lang="en-US" sz="1250" b="1" dirty="0">
                          <a:solidFill>
                            <a:srgbClr val="1A5EA8"/>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2'</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6'</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algn="ctr" indent="0" marL="0">
                        <a:buNone/>
                      </a:pPr>
                      <a:r>
                        <a:rPr lang="en-US" sz="1250" b="1" dirty="0">
                          <a:solidFill>
                            <a:srgbClr val="14233A"/>
                          </a:solidFill>
                          <a:latin typeface="Arial" pitchFamily="34" charset="0"/>
                          <a:ea typeface="Arial" pitchFamily="34" charset="-122"/>
                          <a:cs typeface="Arial" pitchFamily="34" charset="-120"/>
                        </a:rPr>
                        <a:t>8'</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10</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50" dirty="0">
                          <a:solidFill>
                            <a:srgbClr val="14233A"/>
                          </a:solidFill>
                          <a:latin typeface="Arial" pitchFamily="34" charset="0"/>
                          <a:ea typeface="Arial" pitchFamily="34" charset="-122"/>
                          <a:cs typeface="Arial" pitchFamily="34" charset="-120"/>
                        </a:rPr>
                        <a:t>Phân công, tình huống thường gặp, giới hạn · Hỏi đáp</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A5EA8"/>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A5EA8"/>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4'</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4233A"/>
                          </a:solidFill>
                          <a:latin typeface="Arial" pitchFamily="34" charset="0"/>
                          <a:ea typeface="Arial" pitchFamily="34" charset="-122"/>
                          <a:cs typeface="Arial" pitchFamily="34" charset="-120"/>
                        </a:rPr>
                        <a:t>12'</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233A"/>
                          </a:solidFill>
                          <a:latin typeface="Arial" pitchFamily="34" charset="0"/>
                          <a:ea typeface="Arial" pitchFamily="34" charset="-122"/>
                          <a:cs typeface="Arial" pitchFamily="34" charset="-120"/>
                        </a:rPr>
                        <a:t>16'</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6F1FA"/>
                    </a:solidFill>
                  </a:tcPr>
                </a:tc>
                <a:tc>
                  <a:txBody>
                    <a:bodyPr/>
                    <a:lstStyle/>
                    <a:p>
                      <a:pPr indent="0" marL="0">
                        <a:buNone/>
                      </a:pPr>
                      <a:r>
                        <a:rPr lang="en-US" sz="1250" b="1" dirty="0">
                          <a:solidFill>
                            <a:srgbClr val="14233A"/>
                          </a:solidFill>
                          <a:latin typeface="Arial" pitchFamily="34" charset="0"/>
                          <a:ea typeface="Arial" pitchFamily="34" charset="-122"/>
                          <a:cs typeface="Arial" pitchFamily="34" charset="-120"/>
                        </a:rPr>
                        <a:t>TỔNG</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6F1FA"/>
                    </a:solidFill>
                  </a:tcPr>
                </a:tc>
                <a:tc>
                  <a:txBody>
                    <a:bodyPr/>
                    <a:lstStyle/>
                    <a:p>
                      <a:pPr indent="0" marL="0">
                        <a:buNone/>
                      </a:pP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6F1FA"/>
                    </a:solidFill>
                  </a:tcPr>
                </a:tc>
                <a:tc>
                  <a:txBody>
                    <a:bodyPr/>
                    <a:lstStyle/>
                    <a:p>
                      <a:pPr indent="0" marL="0">
                        <a:buNone/>
                      </a:pP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6F1FA"/>
                    </a:solidFill>
                  </a:tcPr>
                </a:tc>
                <a:tc>
                  <a:txBody>
                    <a:bodyPr/>
                    <a:lstStyle/>
                    <a:p>
                      <a:pPr algn="ctr" indent="0" marL="0">
                        <a:buNone/>
                      </a:pPr>
                      <a:r>
                        <a:rPr lang="en-US" sz="1250" b="1" dirty="0">
                          <a:solidFill>
                            <a:srgbClr val="14233A"/>
                          </a:solidFill>
                          <a:latin typeface="Arial" pitchFamily="34" charset="0"/>
                          <a:ea typeface="Arial" pitchFamily="34" charset="-122"/>
                          <a:cs typeface="Arial" pitchFamily="34" charset="-120"/>
                        </a:rPr>
                        <a:t>30'</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6F1FA"/>
                    </a:solidFill>
                  </a:tcPr>
                </a:tc>
                <a:tc>
                  <a:txBody>
                    <a:bodyPr/>
                    <a:lstStyle/>
                    <a:p>
                      <a:pPr algn="ctr" indent="0" marL="0">
                        <a:buNone/>
                      </a:pPr>
                      <a:r>
                        <a:rPr lang="en-US" sz="1250" b="1" dirty="0">
                          <a:solidFill>
                            <a:srgbClr val="14233A"/>
                          </a:solidFill>
                          <a:latin typeface="Arial" pitchFamily="34" charset="0"/>
                          <a:ea typeface="Arial" pitchFamily="34" charset="-122"/>
                          <a:cs typeface="Arial" pitchFamily="34" charset="-120"/>
                        </a:rPr>
                        <a:t>90'</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6F1FA"/>
                    </a:solidFill>
                  </a:tcPr>
                </a:tc>
                <a:tc>
                  <a:txBody>
                    <a:bodyPr/>
                    <a:lstStyle/>
                    <a:p>
                      <a:pPr algn="ctr" indent="0" marL="0">
                        <a:buNone/>
                      </a:pPr>
                      <a:r>
                        <a:rPr lang="en-US" sz="1250" b="1" dirty="0">
                          <a:solidFill>
                            <a:srgbClr val="1A5EA8"/>
                          </a:solidFill>
                          <a:latin typeface="Arial" pitchFamily="34" charset="0"/>
                          <a:ea typeface="Arial" pitchFamily="34" charset="-122"/>
                          <a:cs typeface="Arial" pitchFamily="34" charset="-120"/>
                        </a:rPr>
                        <a:t>120'</a:t>
                      </a:r>
                      <a:endParaRPr lang="en-US" sz="12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6F1FA"/>
                    </a:solidFill>
                  </a:tcPr>
                </a:tc>
              </a:tr>
            </a:tbl>
          </a:graphicData>
        </a:graphic>
      </p:graphicFrame>
      <p:sp>
        <p:nvSpPr>
          <p:cNvPr id="7" name="Shape 3"/>
          <p:cNvSpPr/>
          <p:nvPr/>
        </p:nvSpPr>
        <p:spPr>
          <a:xfrm>
            <a:off x="566928" y="6382512"/>
            <a:ext cx="11057839" cy="0"/>
          </a:xfrm>
          <a:prstGeom prst="line">
            <a:avLst/>
          </a:prstGeom>
          <a:noFill/>
          <a:ln w="9525">
            <a:solidFill>
              <a:srgbClr val="D6E2EE"/>
            </a:solidFill>
            <a:prstDash val="solid"/>
          </a:ln>
        </p:spPr>
      </p:sp>
      <p:sp>
        <p:nvSpPr>
          <p:cNvPr id="8" name="Text 4"/>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9" name="Text 5"/>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02 / 80</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01 / CHUẨN BỊ THỰC HÀNH</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Truy cập Cổng Tiền giám định</a:t>
            </a:r>
            <a:endParaRPr lang="en-US" sz="2600" dirty="0"/>
          </a:p>
        </p:txBody>
      </p:sp>
      <p:sp>
        <p:nvSpPr>
          <p:cNvPr id="4" name="Text 2"/>
          <p:cNvSpPr/>
          <p:nvPr/>
        </p:nvSpPr>
        <p:spPr>
          <a:xfrm>
            <a:off x="566928" y="1078992"/>
            <a:ext cx="11057839" cy="274320"/>
          </a:xfrm>
          <a:prstGeom prst="rect">
            <a:avLst/>
          </a:prstGeom>
          <a:noFill/>
          <a:ln/>
        </p:spPr>
        <p:txBody>
          <a:bodyPr wrap="square" rtlCol="0" anchor="ctr"/>
          <a:lstStyle/>
          <a:p>
            <a:pPr indent="0" marL="0">
              <a:buNone/>
            </a:pPr>
            <a:r>
              <a:rPr lang="en-US" sz="1300" dirty="0">
                <a:solidFill>
                  <a:srgbClr val="5B6B7F"/>
                </a:solidFill>
                <a:latin typeface="Arial" pitchFamily="34" charset="0"/>
                <a:ea typeface="Arial" pitchFamily="34" charset="-122"/>
                <a:cs typeface="Arial" pitchFamily="34" charset="-120"/>
              </a:rPr>
              <a:t>Mỗi học viên đăng nhập trước khi vào phần thực hành. Dùng tài khoản đào tạo dưới đây.</a:t>
            </a:r>
            <a:endParaRPr lang="en-US" sz="1300" dirty="0"/>
          </a:p>
        </p:txBody>
      </p:sp>
      <p:sp>
        <p:nvSpPr>
          <p:cNvPr id="5" name="Shape 3"/>
          <p:cNvSpPr/>
          <p:nvPr/>
        </p:nvSpPr>
        <p:spPr>
          <a:xfrm>
            <a:off x="566928" y="1554480"/>
            <a:ext cx="4846320" cy="3063240"/>
          </a:xfrm>
          <a:prstGeom prst="roundRect">
            <a:avLst>
              <a:gd name="adj" fmla="val 1791"/>
            </a:avLst>
          </a:prstGeom>
          <a:solidFill>
            <a:srgbClr val="ECF0F5"/>
          </a:solidFill>
          <a:ln w="12700">
            <a:solidFill>
              <a:srgbClr val="D6E2EE"/>
            </a:solidFill>
            <a:prstDash val="solid"/>
          </a:ln>
        </p:spPr>
      </p:sp>
      <p:sp>
        <p:nvSpPr>
          <p:cNvPr id="6" name="Text 4"/>
          <p:cNvSpPr/>
          <p:nvPr/>
        </p:nvSpPr>
        <p:spPr>
          <a:xfrm>
            <a:off x="566928" y="1719072"/>
            <a:ext cx="4846320" cy="411480"/>
          </a:xfrm>
          <a:prstGeom prst="rect">
            <a:avLst/>
          </a:prstGeom>
          <a:noFill/>
          <a:ln/>
        </p:spPr>
        <p:txBody>
          <a:bodyPr wrap="square" rtlCol="0" anchor="ctr"/>
          <a:lstStyle/>
          <a:p>
            <a:pPr algn="ctr" indent="0" marL="0">
              <a:buNone/>
            </a:pPr>
            <a:r>
              <a:rPr lang="en-US" sz="2000" b="1" dirty="0">
                <a:solidFill>
                  <a:srgbClr val="0B1F3A"/>
                </a:solidFill>
                <a:latin typeface="Arial" pitchFamily="34" charset="0"/>
                <a:ea typeface="Arial" pitchFamily="34" charset="-122"/>
                <a:cs typeface="Arial" pitchFamily="34" charset="-120"/>
              </a:rPr>
              <a:t>GĐBHYT</a:t>
            </a:r>
            <a:endParaRPr lang="en-US" sz="2000" dirty="0"/>
          </a:p>
        </p:txBody>
      </p:sp>
      <p:sp>
        <p:nvSpPr>
          <p:cNvPr id="7" name="Shape 5"/>
          <p:cNvSpPr/>
          <p:nvPr/>
        </p:nvSpPr>
        <p:spPr>
          <a:xfrm>
            <a:off x="978408" y="2212848"/>
            <a:ext cx="4023360" cy="2194560"/>
          </a:xfrm>
          <a:prstGeom prst="rect">
            <a:avLst/>
          </a:prstGeom>
          <a:solidFill>
            <a:srgbClr val="FFFFFF"/>
          </a:solidFill>
          <a:ln w="12700">
            <a:solidFill>
              <a:srgbClr val="D2D6DE"/>
            </a:solidFill>
            <a:prstDash val="solid"/>
          </a:ln>
        </p:spPr>
      </p:sp>
      <p:sp>
        <p:nvSpPr>
          <p:cNvPr id="8" name="Text 6"/>
          <p:cNvSpPr/>
          <p:nvPr/>
        </p:nvSpPr>
        <p:spPr>
          <a:xfrm>
            <a:off x="978408" y="2286000"/>
            <a:ext cx="4023360" cy="320040"/>
          </a:xfrm>
          <a:prstGeom prst="rect">
            <a:avLst/>
          </a:prstGeom>
          <a:noFill/>
          <a:ln/>
        </p:spPr>
        <p:txBody>
          <a:bodyPr wrap="square" rtlCol="0" anchor="ctr"/>
          <a:lstStyle/>
          <a:p>
            <a:pPr algn="ctr" indent="0" marL="0">
              <a:buNone/>
            </a:pPr>
            <a:r>
              <a:rPr lang="en-US" sz="1100" dirty="0">
                <a:solidFill>
                  <a:srgbClr val="5B6B7F"/>
                </a:solidFill>
                <a:latin typeface="Arial" pitchFamily="34" charset="0"/>
                <a:ea typeface="Arial" pitchFamily="34" charset="-122"/>
                <a:cs typeface="Arial" pitchFamily="34" charset="-120"/>
              </a:rPr>
              <a:t>Đăng nhập để bắt đầu phiên làm việc</a:t>
            </a:r>
            <a:endParaRPr lang="en-US" sz="1100" dirty="0"/>
          </a:p>
        </p:txBody>
      </p:sp>
      <p:sp>
        <p:nvSpPr>
          <p:cNvPr id="9" name="Shape 7"/>
          <p:cNvSpPr/>
          <p:nvPr/>
        </p:nvSpPr>
        <p:spPr>
          <a:xfrm>
            <a:off x="1207008" y="2697480"/>
            <a:ext cx="3566160" cy="402336"/>
          </a:xfrm>
          <a:prstGeom prst="rect">
            <a:avLst/>
          </a:prstGeom>
          <a:solidFill>
            <a:srgbClr val="FFFFFF"/>
          </a:solidFill>
          <a:ln w="12700">
            <a:solidFill>
              <a:srgbClr val="C9CFD8"/>
            </a:solidFill>
            <a:prstDash val="solid"/>
          </a:ln>
        </p:spPr>
      </p:sp>
      <p:sp>
        <p:nvSpPr>
          <p:cNvPr id="10" name="Text 8"/>
          <p:cNvSpPr/>
          <p:nvPr/>
        </p:nvSpPr>
        <p:spPr>
          <a:xfrm>
            <a:off x="1316736" y="2697480"/>
            <a:ext cx="3383280" cy="402336"/>
          </a:xfrm>
          <a:prstGeom prst="rect">
            <a:avLst/>
          </a:prstGeom>
          <a:noFill/>
          <a:ln/>
        </p:spPr>
        <p:txBody>
          <a:bodyPr wrap="square" rtlCol="0" anchor="ctr"/>
          <a:lstStyle/>
          <a:p>
            <a:pPr indent="0" marL="0">
              <a:buNone/>
            </a:pPr>
            <a:r>
              <a:rPr lang="en-US" sz="1100" dirty="0">
                <a:solidFill>
                  <a:srgbClr val="5B6B7F"/>
                </a:solidFill>
                <a:latin typeface="Arial" pitchFamily="34" charset="0"/>
                <a:ea typeface="Arial" pitchFamily="34" charset="-122"/>
                <a:cs typeface="Arial" pitchFamily="34" charset="-120"/>
              </a:rPr>
              <a:t>Tên đăng nhập:  </a:t>
            </a:r>
            <a:pPr indent="0" marL="0">
              <a:buNone/>
            </a:pPr>
            <a:r>
              <a:rPr lang="en-US" sz="1400" b="1" dirty="0">
                <a:solidFill>
                  <a:srgbClr val="14233A"/>
                </a:solidFill>
                <a:latin typeface="Consolas" pitchFamily="34" charset="0"/>
                <a:ea typeface="Consolas" pitchFamily="34" charset="-122"/>
                <a:cs typeface="Consolas" pitchFamily="34" charset="-120"/>
              </a:rPr>
              <a:t>tndaotao</a:t>
            </a:r>
            <a:endParaRPr lang="en-US" sz="1100" dirty="0"/>
          </a:p>
        </p:txBody>
      </p:sp>
      <p:sp>
        <p:nvSpPr>
          <p:cNvPr id="11" name="Shape 9"/>
          <p:cNvSpPr/>
          <p:nvPr/>
        </p:nvSpPr>
        <p:spPr>
          <a:xfrm>
            <a:off x="1207008" y="3218688"/>
            <a:ext cx="3566160" cy="402336"/>
          </a:xfrm>
          <a:prstGeom prst="rect">
            <a:avLst/>
          </a:prstGeom>
          <a:solidFill>
            <a:srgbClr val="FFFFFF"/>
          </a:solidFill>
          <a:ln w="12700">
            <a:solidFill>
              <a:srgbClr val="C9CFD8"/>
            </a:solidFill>
            <a:prstDash val="solid"/>
          </a:ln>
        </p:spPr>
      </p:sp>
      <p:sp>
        <p:nvSpPr>
          <p:cNvPr id="12" name="Text 10"/>
          <p:cNvSpPr/>
          <p:nvPr/>
        </p:nvSpPr>
        <p:spPr>
          <a:xfrm>
            <a:off x="1316736" y="3218688"/>
            <a:ext cx="3383280" cy="402336"/>
          </a:xfrm>
          <a:prstGeom prst="rect">
            <a:avLst/>
          </a:prstGeom>
          <a:noFill/>
          <a:ln/>
        </p:spPr>
        <p:txBody>
          <a:bodyPr wrap="square" rtlCol="0" anchor="ctr"/>
          <a:lstStyle/>
          <a:p>
            <a:pPr indent="0" marL="0">
              <a:buNone/>
            </a:pPr>
            <a:r>
              <a:rPr lang="en-US" sz="1100" dirty="0">
                <a:solidFill>
                  <a:srgbClr val="5B6B7F"/>
                </a:solidFill>
                <a:latin typeface="Arial" pitchFamily="34" charset="0"/>
                <a:ea typeface="Arial" pitchFamily="34" charset="-122"/>
                <a:cs typeface="Arial" pitchFamily="34" charset="-120"/>
              </a:rPr>
              <a:t>Mật khẩu:  </a:t>
            </a:r>
            <a:pPr indent="0" marL="0">
              <a:buNone/>
            </a:pPr>
            <a:r>
              <a:rPr lang="en-US" sz="1400" b="1" dirty="0">
                <a:solidFill>
                  <a:srgbClr val="14233A"/>
                </a:solidFill>
                <a:latin typeface="Consolas" pitchFamily="34" charset="0"/>
                <a:ea typeface="Consolas" pitchFamily="34" charset="-122"/>
                <a:cs typeface="Consolas" pitchFamily="34" charset="-120"/>
              </a:rPr>
              <a:t>tndaotao</a:t>
            </a:r>
            <a:endParaRPr lang="en-US" sz="1100" dirty="0"/>
          </a:p>
        </p:txBody>
      </p:sp>
      <p:sp>
        <p:nvSpPr>
          <p:cNvPr id="13" name="Shape 11"/>
          <p:cNvSpPr/>
          <p:nvPr/>
        </p:nvSpPr>
        <p:spPr>
          <a:xfrm>
            <a:off x="1225296" y="3822192"/>
            <a:ext cx="155448" cy="155448"/>
          </a:xfrm>
          <a:prstGeom prst="rect">
            <a:avLst/>
          </a:prstGeom>
          <a:solidFill>
            <a:srgbClr val="FFFFFF"/>
          </a:solidFill>
          <a:ln w="12700">
            <a:solidFill>
              <a:srgbClr val="5B6B7F"/>
            </a:solidFill>
            <a:prstDash val="solid"/>
          </a:ln>
        </p:spPr>
      </p:sp>
      <p:sp>
        <p:nvSpPr>
          <p:cNvPr id="14" name="Text 12"/>
          <p:cNvSpPr/>
          <p:nvPr/>
        </p:nvSpPr>
        <p:spPr>
          <a:xfrm>
            <a:off x="1435608" y="3749040"/>
            <a:ext cx="2011680" cy="292608"/>
          </a:xfrm>
          <a:prstGeom prst="rect">
            <a:avLst/>
          </a:prstGeom>
          <a:noFill/>
          <a:ln/>
        </p:spPr>
        <p:txBody>
          <a:bodyPr wrap="square" rtlCol="0" anchor="ctr"/>
          <a:lstStyle/>
          <a:p>
            <a:pPr indent="0" marL="0">
              <a:buNone/>
            </a:pPr>
            <a:r>
              <a:rPr lang="en-US" sz="1100" dirty="0">
                <a:solidFill>
                  <a:srgbClr val="14233A"/>
                </a:solidFill>
                <a:latin typeface="Arial" pitchFamily="34" charset="0"/>
                <a:ea typeface="Arial" pitchFamily="34" charset="-122"/>
                <a:cs typeface="Arial" pitchFamily="34" charset="-120"/>
              </a:rPr>
              <a:t>Ghi nhớ thông tin</a:t>
            </a:r>
            <a:endParaRPr lang="en-US" sz="1100" dirty="0"/>
          </a:p>
        </p:txBody>
      </p:sp>
      <p:sp>
        <p:nvSpPr>
          <p:cNvPr id="15" name="Shape 13"/>
          <p:cNvSpPr/>
          <p:nvPr/>
        </p:nvSpPr>
        <p:spPr>
          <a:xfrm>
            <a:off x="3538728" y="3730752"/>
            <a:ext cx="1234440" cy="365760"/>
          </a:xfrm>
          <a:prstGeom prst="rect">
            <a:avLst/>
          </a:prstGeom>
          <a:solidFill>
            <a:srgbClr val="3C8DBC"/>
          </a:solidFill>
          <a:ln w="12700">
            <a:solidFill>
              <a:srgbClr val="367FA9"/>
            </a:solidFill>
            <a:prstDash val="solid"/>
          </a:ln>
        </p:spPr>
      </p:sp>
      <p:sp>
        <p:nvSpPr>
          <p:cNvPr id="16" name="Text 14"/>
          <p:cNvSpPr/>
          <p:nvPr/>
        </p:nvSpPr>
        <p:spPr>
          <a:xfrm>
            <a:off x="3538728" y="3730752"/>
            <a:ext cx="123444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Đăng nhập</a:t>
            </a:r>
            <a:endParaRPr lang="en-US" sz="1200" dirty="0"/>
          </a:p>
        </p:txBody>
      </p:sp>
      <p:sp>
        <p:nvSpPr>
          <p:cNvPr id="17" name="Text 15"/>
          <p:cNvSpPr/>
          <p:nvPr/>
        </p:nvSpPr>
        <p:spPr>
          <a:xfrm>
            <a:off x="566928" y="4663440"/>
            <a:ext cx="4846320" cy="256032"/>
          </a:xfrm>
          <a:prstGeom prst="rect">
            <a:avLst/>
          </a:prstGeom>
          <a:noFill/>
          <a:ln/>
        </p:spPr>
        <p:txBody>
          <a:bodyPr wrap="square" rtlCol="0" anchor="ctr"/>
          <a:lstStyle/>
          <a:p>
            <a:pPr algn="ctr" indent="0" marL="0">
              <a:buNone/>
            </a:pPr>
            <a:r>
              <a:rPr lang="en-US" sz="950" i="1" dirty="0">
                <a:solidFill>
                  <a:srgbClr val="5B6B7F"/>
                </a:solidFill>
                <a:latin typeface="Arial" pitchFamily="34" charset="0"/>
                <a:ea typeface="Arial" pitchFamily="34" charset="-122"/>
                <a:cs typeface="Arial" pitchFamily="34" charset="-120"/>
              </a:rPr>
              <a:t>Hình vẽ lại trang đăng nhập — trên màn hình thật, mật khẩu hiện dạng ••••••••</a:t>
            </a:r>
            <a:endParaRPr lang="en-US" sz="950" dirty="0"/>
          </a:p>
        </p:txBody>
      </p:sp>
      <p:sp>
        <p:nvSpPr>
          <p:cNvPr id="18" name="Shape 16"/>
          <p:cNvSpPr/>
          <p:nvPr/>
        </p:nvSpPr>
        <p:spPr>
          <a:xfrm>
            <a:off x="5779008" y="1554480"/>
            <a:ext cx="5845759" cy="868680"/>
          </a:xfrm>
          <a:prstGeom prst="roundRect">
            <a:avLst>
              <a:gd name="adj" fmla="val 6316"/>
            </a:avLst>
          </a:prstGeom>
          <a:solidFill>
            <a:srgbClr val="0B1F3A"/>
          </a:solidFill>
          <a:ln w="12700">
            <a:solidFill>
              <a:srgbClr val="0B1F3A"/>
            </a:solidFill>
            <a:prstDash val="solid"/>
          </a:ln>
        </p:spPr>
      </p:sp>
      <p:sp>
        <p:nvSpPr>
          <p:cNvPr id="19" name="Text 17"/>
          <p:cNvSpPr/>
          <p:nvPr/>
        </p:nvSpPr>
        <p:spPr>
          <a:xfrm>
            <a:off x="6007608" y="1554480"/>
            <a:ext cx="5479999" cy="868680"/>
          </a:xfrm>
          <a:prstGeom prst="rect">
            <a:avLst/>
          </a:prstGeom>
          <a:noFill/>
          <a:ln/>
        </p:spPr>
        <p:txBody>
          <a:bodyPr wrap="square" rtlCol="0" anchor="ctr"/>
          <a:lstStyle/>
          <a:p>
            <a:pPr indent="0" marL="0">
              <a:buNone/>
            </a:pPr>
            <a:r>
              <a:rPr lang="en-US" sz="950" b="1" dirty="0">
                <a:solidFill>
                  <a:srgbClr val="8FC8EC"/>
                </a:solidFill>
                <a:latin typeface="Arial" pitchFamily="34" charset="0"/>
                <a:ea typeface="Arial" pitchFamily="34" charset="-122"/>
                <a:cs typeface="Arial" pitchFamily="34" charset="-120"/>
              </a:rPr>
              <a:t>ĐỊA CHỈ CỔNG</a:t>
            </a:r>
            <a:endParaRPr lang="en-US" sz="950" dirty="0"/>
          </a:p>
          <a:p>
            <a:pPr indent="0" marL="0">
              <a:buNone/>
            </a:pPr>
            <a:r>
              <a:rPr lang="en-US" sz="1900" b="1" dirty="0">
                <a:solidFill>
                  <a:srgbClr val="FFFFFF"/>
                </a:solidFill>
                <a:latin typeface="Arial" pitchFamily="34" charset="0"/>
                <a:ea typeface="Arial" pitchFamily="34" charset="-122"/>
                <a:cs typeface="Arial" pitchFamily="34" charset="-120"/>
              </a:rPr>
              <a:t>https://tgdbhyt.bachmai.edu.vn</a:t>
            </a:r>
            <a:endParaRPr lang="en-US" sz="950" dirty="0"/>
          </a:p>
        </p:txBody>
      </p:sp>
      <p:sp>
        <p:nvSpPr>
          <p:cNvPr id="20" name="Shape 18"/>
          <p:cNvSpPr/>
          <p:nvPr/>
        </p:nvSpPr>
        <p:spPr>
          <a:xfrm>
            <a:off x="5779008" y="2560320"/>
            <a:ext cx="2831440" cy="731520"/>
          </a:xfrm>
          <a:prstGeom prst="roundRect">
            <a:avLst>
              <a:gd name="adj" fmla="val 7500"/>
            </a:avLst>
          </a:prstGeom>
          <a:solidFill>
            <a:srgbClr val="E6F1FA"/>
          </a:solidFill>
          <a:ln w="12700">
            <a:solidFill>
              <a:srgbClr val="2A9FD8"/>
            </a:solidFill>
            <a:prstDash val="solid"/>
          </a:ln>
        </p:spPr>
      </p:sp>
      <p:sp>
        <p:nvSpPr>
          <p:cNvPr id="21" name="Text 19"/>
          <p:cNvSpPr/>
          <p:nvPr/>
        </p:nvSpPr>
        <p:spPr>
          <a:xfrm>
            <a:off x="5961888" y="2560320"/>
            <a:ext cx="2557120" cy="731520"/>
          </a:xfrm>
          <a:prstGeom prst="rect">
            <a:avLst/>
          </a:prstGeom>
          <a:noFill/>
          <a:ln/>
        </p:spPr>
        <p:txBody>
          <a:bodyPr wrap="square" rtlCol="0" anchor="ctr"/>
          <a:lstStyle/>
          <a:p>
            <a:pPr indent="0" marL="0">
              <a:buNone/>
            </a:pPr>
            <a:r>
              <a:rPr lang="en-US" sz="950" b="1" dirty="0">
                <a:solidFill>
                  <a:srgbClr val="1A5EA8"/>
                </a:solidFill>
                <a:latin typeface="Arial" pitchFamily="34" charset="0"/>
                <a:ea typeface="Arial" pitchFamily="34" charset="-122"/>
                <a:cs typeface="Arial" pitchFamily="34" charset="-120"/>
              </a:rPr>
              <a:t>TÊN ĐĂNG NHẬP</a:t>
            </a:r>
            <a:endParaRPr lang="en-US" sz="950" dirty="0"/>
          </a:p>
          <a:p>
            <a:pPr indent="0" marL="0">
              <a:buNone/>
            </a:pPr>
            <a:r>
              <a:rPr lang="en-US" sz="2000" b="1" dirty="0">
                <a:solidFill>
                  <a:srgbClr val="0B1F3A"/>
                </a:solidFill>
                <a:latin typeface="Consolas" pitchFamily="34" charset="0"/>
                <a:ea typeface="Consolas" pitchFamily="34" charset="-122"/>
                <a:cs typeface="Consolas" pitchFamily="34" charset="-120"/>
              </a:rPr>
              <a:t>tndaotao</a:t>
            </a:r>
            <a:endParaRPr lang="en-US" sz="950" dirty="0"/>
          </a:p>
        </p:txBody>
      </p:sp>
      <p:sp>
        <p:nvSpPr>
          <p:cNvPr id="22" name="Shape 20"/>
          <p:cNvSpPr/>
          <p:nvPr/>
        </p:nvSpPr>
        <p:spPr>
          <a:xfrm>
            <a:off x="8793328" y="2560320"/>
            <a:ext cx="2831440" cy="731520"/>
          </a:xfrm>
          <a:prstGeom prst="roundRect">
            <a:avLst>
              <a:gd name="adj" fmla="val 7500"/>
            </a:avLst>
          </a:prstGeom>
          <a:solidFill>
            <a:srgbClr val="E6F1FA"/>
          </a:solidFill>
          <a:ln w="12700">
            <a:solidFill>
              <a:srgbClr val="2A9FD8"/>
            </a:solidFill>
            <a:prstDash val="solid"/>
          </a:ln>
        </p:spPr>
      </p:sp>
      <p:sp>
        <p:nvSpPr>
          <p:cNvPr id="23" name="Text 21"/>
          <p:cNvSpPr/>
          <p:nvPr/>
        </p:nvSpPr>
        <p:spPr>
          <a:xfrm>
            <a:off x="8976208" y="2560320"/>
            <a:ext cx="2557120" cy="731520"/>
          </a:xfrm>
          <a:prstGeom prst="rect">
            <a:avLst/>
          </a:prstGeom>
          <a:noFill/>
          <a:ln/>
        </p:spPr>
        <p:txBody>
          <a:bodyPr wrap="square" rtlCol="0" anchor="ctr"/>
          <a:lstStyle/>
          <a:p>
            <a:pPr indent="0" marL="0">
              <a:buNone/>
            </a:pPr>
            <a:r>
              <a:rPr lang="en-US" sz="950" b="1" dirty="0">
                <a:solidFill>
                  <a:srgbClr val="1A5EA8"/>
                </a:solidFill>
                <a:latin typeface="Arial" pitchFamily="34" charset="0"/>
                <a:ea typeface="Arial" pitchFamily="34" charset="-122"/>
                <a:cs typeface="Arial" pitchFamily="34" charset="-120"/>
              </a:rPr>
              <a:t>MẬT KHẨU</a:t>
            </a:r>
            <a:endParaRPr lang="en-US" sz="950" dirty="0"/>
          </a:p>
          <a:p>
            <a:pPr indent="0" marL="0">
              <a:buNone/>
            </a:pPr>
            <a:r>
              <a:rPr lang="en-US" sz="2000" b="1" dirty="0">
                <a:solidFill>
                  <a:srgbClr val="0B1F3A"/>
                </a:solidFill>
                <a:latin typeface="Consolas" pitchFamily="34" charset="0"/>
                <a:ea typeface="Consolas" pitchFamily="34" charset="-122"/>
                <a:cs typeface="Consolas" pitchFamily="34" charset="-120"/>
              </a:rPr>
              <a:t>tndaotao</a:t>
            </a:r>
            <a:endParaRPr lang="en-US" sz="950" dirty="0"/>
          </a:p>
        </p:txBody>
      </p:sp>
      <p:sp>
        <p:nvSpPr>
          <p:cNvPr id="24" name="Shape 22"/>
          <p:cNvSpPr/>
          <p:nvPr/>
        </p:nvSpPr>
        <p:spPr>
          <a:xfrm>
            <a:off x="5779008" y="3447288"/>
            <a:ext cx="310896" cy="310896"/>
          </a:xfrm>
          <a:prstGeom prst="ellipse">
            <a:avLst/>
          </a:prstGeom>
          <a:solidFill>
            <a:srgbClr val="1A5EA8"/>
          </a:solidFill>
          <a:ln w="12700">
            <a:solidFill>
              <a:srgbClr val="1A5EA8"/>
            </a:solidFill>
            <a:prstDash val="solid"/>
          </a:ln>
        </p:spPr>
      </p:sp>
      <p:sp>
        <p:nvSpPr>
          <p:cNvPr id="25" name="Text 23"/>
          <p:cNvSpPr/>
          <p:nvPr/>
        </p:nvSpPr>
        <p:spPr>
          <a:xfrm>
            <a:off x="5779008" y="3447288"/>
            <a:ext cx="310896" cy="310896"/>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6" name="Text 24"/>
          <p:cNvSpPr/>
          <p:nvPr/>
        </p:nvSpPr>
        <p:spPr>
          <a:xfrm>
            <a:off x="6190488" y="3401568"/>
            <a:ext cx="5434279" cy="365760"/>
          </a:xfrm>
          <a:prstGeom prst="rect">
            <a:avLst/>
          </a:prstGeom>
          <a:noFill/>
          <a:ln/>
        </p:spPr>
        <p:txBody>
          <a:bodyPr wrap="square" rtlCol="0" anchor="ctr"/>
          <a:lstStyle/>
          <a:p>
            <a:pPr indent="0" marL="0">
              <a:lnSpc>
                <a:spcPts val="1500"/>
              </a:lnSpc>
              <a:buNone/>
            </a:pPr>
            <a:r>
              <a:rPr lang="en-US" sz="1250" b="1" dirty="0">
                <a:solidFill>
                  <a:srgbClr val="14233A"/>
                </a:solidFill>
                <a:latin typeface="Arial" pitchFamily="34" charset="0"/>
                <a:ea typeface="Arial" pitchFamily="34" charset="-122"/>
                <a:cs typeface="Arial" pitchFamily="34" charset="-120"/>
              </a:rPr>
              <a:t>Mở Chrome hoặc Edge, gõ địa chỉ Cổng vào thanh địa chỉ</a:t>
            </a:r>
            <a:endParaRPr lang="en-US" sz="1250" dirty="0"/>
          </a:p>
          <a:p>
            <a:pPr indent="0" marL="0">
              <a:lnSpc>
                <a:spcPts val="1500"/>
              </a:lnSpc>
              <a:buNone/>
            </a:pPr>
            <a:r>
              <a:rPr lang="en-US" sz="1050" dirty="0">
                <a:solidFill>
                  <a:srgbClr val="5B6B7F"/>
                </a:solidFill>
                <a:latin typeface="Arial" pitchFamily="34" charset="0"/>
                <a:ea typeface="Arial" pitchFamily="34" charset="-122"/>
                <a:cs typeface="Arial" pitchFamily="34" charset="-120"/>
              </a:rPr>
              <a:t>Trang đăng nhập GĐBHYT hiện ra</a:t>
            </a:r>
            <a:endParaRPr lang="en-US" sz="1250" dirty="0"/>
          </a:p>
        </p:txBody>
      </p:sp>
      <p:sp>
        <p:nvSpPr>
          <p:cNvPr id="27" name="Shape 25"/>
          <p:cNvSpPr/>
          <p:nvPr/>
        </p:nvSpPr>
        <p:spPr>
          <a:xfrm>
            <a:off x="5779008" y="3849624"/>
            <a:ext cx="310896" cy="310896"/>
          </a:xfrm>
          <a:prstGeom prst="ellipse">
            <a:avLst/>
          </a:prstGeom>
          <a:solidFill>
            <a:srgbClr val="1A5EA8"/>
          </a:solidFill>
          <a:ln w="12700">
            <a:solidFill>
              <a:srgbClr val="1A5EA8"/>
            </a:solidFill>
            <a:prstDash val="solid"/>
          </a:ln>
        </p:spPr>
      </p:sp>
      <p:sp>
        <p:nvSpPr>
          <p:cNvPr id="28" name="Text 26"/>
          <p:cNvSpPr/>
          <p:nvPr/>
        </p:nvSpPr>
        <p:spPr>
          <a:xfrm>
            <a:off x="5779008" y="3849624"/>
            <a:ext cx="310896" cy="310896"/>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9" name="Text 27"/>
          <p:cNvSpPr/>
          <p:nvPr/>
        </p:nvSpPr>
        <p:spPr>
          <a:xfrm>
            <a:off x="6190488" y="3803904"/>
            <a:ext cx="5434279" cy="365760"/>
          </a:xfrm>
          <a:prstGeom prst="rect">
            <a:avLst/>
          </a:prstGeom>
          <a:noFill/>
          <a:ln/>
        </p:spPr>
        <p:txBody>
          <a:bodyPr wrap="square" rtlCol="0" anchor="ctr"/>
          <a:lstStyle/>
          <a:p>
            <a:pPr indent="0" marL="0">
              <a:lnSpc>
                <a:spcPts val="1500"/>
              </a:lnSpc>
              <a:buNone/>
            </a:pPr>
            <a:r>
              <a:rPr lang="en-US" sz="1250" b="1" dirty="0">
                <a:solidFill>
                  <a:srgbClr val="14233A"/>
                </a:solidFill>
                <a:latin typeface="Arial" pitchFamily="34" charset="0"/>
                <a:ea typeface="Arial" pitchFamily="34" charset="-122"/>
                <a:cs typeface="Arial" pitchFamily="34" charset="-120"/>
              </a:rPr>
              <a:t>Nhập Tên đăng nhập: tndaotao</a:t>
            </a:r>
            <a:endParaRPr lang="en-US" sz="1250" dirty="0"/>
          </a:p>
          <a:p>
            <a:pPr indent="0" marL="0">
              <a:lnSpc>
                <a:spcPts val="1500"/>
              </a:lnSpc>
              <a:buNone/>
            </a:pPr>
            <a:r>
              <a:rPr lang="en-US" sz="1050" dirty="0">
                <a:solidFill>
                  <a:srgbClr val="5B6B7F"/>
                </a:solidFill>
                <a:latin typeface="Arial" pitchFamily="34" charset="0"/>
                <a:ea typeface="Arial" pitchFamily="34" charset="-122"/>
                <a:cs typeface="Arial" pitchFamily="34" charset="-120"/>
              </a:rPr>
              <a:t>Không phân biệt chữ hoa, chữ thường</a:t>
            </a:r>
            <a:endParaRPr lang="en-US" sz="1250" dirty="0"/>
          </a:p>
        </p:txBody>
      </p:sp>
      <p:sp>
        <p:nvSpPr>
          <p:cNvPr id="30" name="Shape 28"/>
          <p:cNvSpPr/>
          <p:nvPr/>
        </p:nvSpPr>
        <p:spPr>
          <a:xfrm>
            <a:off x="5779008" y="4251960"/>
            <a:ext cx="310896" cy="310896"/>
          </a:xfrm>
          <a:prstGeom prst="ellipse">
            <a:avLst/>
          </a:prstGeom>
          <a:solidFill>
            <a:srgbClr val="1A5EA8"/>
          </a:solidFill>
          <a:ln w="12700">
            <a:solidFill>
              <a:srgbClr val="1A5EA8"/>
            </a:solidFill>
            <a:prstDash val="solid"/>
          </a:ln>
        </p:spPr>
      </p:sp>
      <p:sp>
        <p:nvSpPr>
          <p:cNvPr id="31" name="Text 29"/>
          <p:cNvSpPr/>
          <p:nvPr/>
        </p:nvSpPr>
        <p:spPr>
          <a:xfrm>
            <a:off x="5779008" y="4251960"/>
            <a:ext cx="310896" cy="310896"/>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32" name="Text 30"/>
          <p:cNvSpPr/>
          <p:nvPr/>
        </p:nvSpPr>
        <p:spPr>
          <a:xfrm>
            <a:off x="6190488" y="4206240"/>
            <a:ext cx="5434279" cy="365760"/>
          </a:xfrm>
          <a:prstGeom prst="rect">
            <a:avLst/>
          </a:prstGeom>
          <a:noFill/>
          <a:ln/>
        </p:spPr>
        <p:txBody>
          <a:bodyPr wrap="square" rtlCol="0" anchor="ctr"/>
          <a:lstStyle/>
          <a:p>
            <a:pPr indent="0" marL="0">
              <a:lnSpc>
                <a:spcPts val="1500"/>
              </a:lnSpc>
              <a:buNone/>
            </a:pPr>
            <a:r>
              <a:rPr lang="en-US" sz="1250" b="1" dirty="0">
                <a:solidFill>
                  <a:srgbClr val="14233A"/>
                </a:solidFill>
                <a:latin typeface="Arial" pitchFamily="34" charset="0"/>
                <a:ea typeface="Arial" pitchFamily="34" charset="-122"/>
                <a:cs typeface="Arial" pitchFamily="34" charset="-120"/>
              </a:rPr>
              <a:t>Nhập Mật khẩu: tndaotao, bấm Đăng nhập</a:t>
            </a:r>
            <a:endParaRPr lang="en-US" sz="1250" dirty="0"/>
          </a:p>
          <a:p>
            <a:pPr indent="0" marL="0">
              <a:lnSpc>
                <a:spcPts val="1500"/>
              </a:lnSpc>
              <a:buNone/>
            </a:pPr>
            <a:r>
              <a:rPr lang="en-US" sz="1050" dirty="0">
                <a:solidFill>
                  <a:srgbClr val="5B6B7F"/>
                </a:solidFill>
                <a:latin typeface="Arial" pitchFamily="34" charset="0"/>
                <a:ea typeface="Arial" pitchFamily="34" charset="-122"/>
                <a:cs typeface="Arial" pitchFamily="34" charset="-120"/>
              </a:rPr>
              <a:t>Không tích "Ghi nhớ thông tin" trên máy dùng chung</a:t>
            </a:r>
            <a:endParaRPr lang="en-US" sz="1250" dirty="0"/>
          </a:p>
        </p:txBody>
      </p:sp>
      <p:sp>
        <p:nvSpPr>
          <p:cNvPr id="33" name="Shape 31"/>
          <p:cNvSpPr/>
          <p:nvPr/>
        </p:nvSpPr>
        <p:spPr>
          <a:xfrm>
            <a:off x="5779008" y="4654296"/>
            <a:ext cx="310896" cy="310896"/>
          </a:xfrm>
          <a:prstGeom prst="ellipse">
            <a:avLst/>
          </a:prstGeom>
          <a:solidFill>
            <a:srgbClr val="1A5EA8"/>
          </a:solidFill>
          <a:ln w="12700">
            <a:solidFill>
              <a:srgbClr val="1A5EA8"/>
            </a:solidFill>
            <a:prstDash val="solid"/>
          </a:ln>
        </p:spPr>
      </p:sp>
      <p:sp>
        <p:nvSpPr>
          <p:cNvPr id="34" name="Text 32"/>
          <p:cNvSpPr/>
          <p:nvPr/>
        </p:nvSpPr>
        <p:spPr>
          <a:xfrm>
            <a:off x="5779008" y="4654296"/>
            <a:ext cx="310896" cy="310896"/>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35" name="Text 33"/>
          <p:cNvSpPr/>
          <p:nvPr/>
        </p:nvSpPr>
        <p:spPr>
          <a:xfrm>
            <a:off x="6190488" y="4608576"/>
            <a:ext cx="5434279" cy="365760"/>
          </a:xfrm>
          <a:prstGeom prst="rect">
            <a:avLst/>
          </a:prstGeom>
          <a:noFill/>
          <a:ln/>
        </p:spPr>
        <p:txBody>
          <a:bodyPr wrap="square" rtlCol="0" anchor="ctr"/>
          <a:lstStyle/>
          <a:p>
            <a:pPr indent="0" marL="0">
              <a:lnSpc>
                <a:spcPts val="1500"/>
              </a:lnSpc>
              <a:buNone/>
            </a:pPr>
            <a:r>
              <a:rPr lang="en-US" sz="1250" b="1" dirty="0">
                <a:solidFill>
                  <a:srgbClr val="14233A"/>
                </a:solidFill>
                <a:latin typeface="Arial" pitchFamily="34" charset="0"/>
                <a:ea typeface="Arial" pitchFamily="34" charset="-122"/>
                <a:cs typeface="Arial" pitchFamily="34" charset="-120"/>
              </a:rPr>
              <a:t>Vào được: menu chức năng hiện ở cột bên trái</a:t>
            </a:r>
            <a:endParaRPr lang="en-US" sz="1250" dirty="0"/>
          </a:p>
          <a:p>
            <a:pPr indent="0" marL="0">
              <a:lnSpc>
                <a:spcPts val="1500"/>
              </a:lnSpc>
              <a:buNone/>
            </a:pPr>
            <a:r>
              <a:rPr lang="en-US" sz="1050" dirty="0">
                <a:solidFill>
                  <a:srgbClr val="5B6B7F"/>
                </a:solidFill>
                <a:latin typeface="Arial" pitchFamily="34" charset="0"/>
                <a:ea typeface="Arial" pitchFamily="34" charset="-122"/>
                <a:cs typeface="Arial" pitchFamily="34" charset="-120"/>
              </a:rPr>
              <a:t>Chỉ thấy những menu tài khoản được cấp quyền</a:t>
            </a:r>
            <a:endParaRPr lang="en-US" sz="1250" dirty="0"/>
          </a:p>
        </p:txBody>
      </p:sp>
      <p:sp>
        <p:nvSpPr>
          <p:cNvPr id="36" name="Shape 34"/>
          <p:cNvSpPr/>
          <p:nvPr/>
        </p:nvSpPr>
        <p:spPr>
          <a:xfrm>
            <a:off x="566928" y="5074920"/>
            <a:ext cx="11057839" cy="1051560"/>
          </a:xfrm>
          <a:prstGeom prst="rect">
            <a:avLst/>
          </a:prstGeom>
          <a:solidFill>
            <a:srgbClr val="FDECEC"/>
          </a:solidFill>
          <a:ln w="12700">
            <a:solidFill>
              <a:srgbClr val="FDECEC"/>
            </a:solidFill>
            <a:prstDash val="solid"/>
          </a:ln>
        </p:spPr>
      </p:sp>
      <p:sp>
        <p:nvSpPr>
          <p:cNvPr id="37" name="Shape 35"/>
          <p:cNvSpPr/>
          <p:nvPr/>
        </p:nvSpPr>
        <p:spPr>
          <a:xfrm>
            <a:off x="566928" y="5074920"/>
            <a:ext cx="64008" cy="1051560"/>
          </a:xfrm>
          <a:prstGeom prst="rect">
            <a:avLst/>
          </a:prstGeom>
          <a:solidFill>
            <a:srgbClr val="C62828"/>
          </a:solidFill>
          <a:ln w="12700">
            <a:solidFill>
              <a:srgbClr val="C62828"/>
            </a:solidFill>
            <a:prstDash val="solid"/>
          </a:ln>
        </p:spPr>
      </p:sp>
      <p:sp>
        <p:nvSpPr>
          <p:cNvPr id="38" name="Text 36"/>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Tài khoản đào tạo dùng chung: </a:t>
            </a:r>
            <a:pPr indent="0" marL="0">
              <a:lnSpc>
                <a:spcPts val="1900"/>
              </a:lnSpc>
              <a:buNone/>
            </a:pPr>
            <a:r>
              <a:rPr lang="en-US" sz="1300" dirty="0">
                <a:solidFill>
                  <a:srgbClr val="14233A"/>
                </a:solidFill>
                <a:latin typeface="Arial" pitchFamily="34" charset="0"/>
                <a:ea typeface="Arial" pitchFamily="34" charset="-122"/>
                <a:cs typeface="Arial" pitchFamily="34" charset="-120"/>
              </a:rPr>
              <a:t>không đổi mật khẩu (sẽ khoá cả lớp); không bấm Ký và gửi, Xoá hay nhập danh mục trong lúc thực hành; dữ liệu trên Cổng là dữ liệu người bệnh thật — không chụp, không chia sẻ ra ngoài; đăng xuất khi kết thúc buổi học. Không vào được trang thì báo Phòng Công nghệ thông tin.</a:t>
            </a:r>
            <a:endParaRPr lang="en-US" sz="1300" dirty="0"/>
          </a:p>
        </p:txBody>
      </p:sp>
      <p:sp>
        <p:nvSpPr>
          <p:cNvPr id="40" name="Shape 37"/>
          <p:cNvSpPr/>
          <p:nvPr/>
        </p:nvSpPr>
        <p:spPr>
          <a:xfrm>
            <a:off x="566928" y="6382512"/>
            <a:ext cx="11057839" cy="0"/>
          </a:xfrm>
          <a:prstGeom prst="line">
            <a:avLst/>
          </a:prstGeom>
          <a:noFill/>
          <a:ln w="9525">
            <a:solidFill>
              <a:srgbClr val="D6E2EE"/>
            </a:solidFill>
            <a:prstDash val="solid"/>
          </a:ln>
        </p:spPr>
      </p:sp>
      <p:sp>
        <p:nvSpPr>
          <p:cNvPr id="41" name="Text 38"/>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42" name="Text 39"/>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03 / 80</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01 / VỊ TRÍ TRONG QUY TRÌNH</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Tiền giám định đặt điểm kiểm soát trước khi hồ sơ được gửi</a:t>
            </a:r>
            <a:endParaRPr lang="en-US" sz="2600" dirty="0"/>
          </a:p>
        </p:txBody>
      </p:sp>
      <p:sp>
        <p:nvSpPr>
          <p:cNvPr id="4" name="Text 2"/>
          <p:cNvSpPr/>
          <p:nvPr/>
        </p:nvSpPr>
        <p:spPr>
          <a:xfrm>
            <a:off x="566928" y="1078992"/>
            <a:ext cx="11057839" cy="274320"/>
          </a:xfrm>
          <a:prstGeom prst="rect">
            <a:avLst/>
          </a:prstGeom>
          <a:noFill/>
          <a:ln/>
        </p:spPr>
        <p:txBody>
          <a:bodyPr wrap="square" rtlCol="0" anchor="ctr"/>
          <a:lstStyle/>
          <a:p>
            <a:pPr indent="0" marL="0">
              <a:buNone/>
            </a:pPr>
            <a:r>
              <a:rPr lang="en-US" sz="1300" dirty="0">
                <a:solidFill>
                  <a:srgbClr val="5B6B7F"/>
                </a:solidFill>
                <a:latin typeface="Arial" pitchFamily="34" charset="0"/>
                <a:ea typeface="Arial" pitchFamily="34" charset="-122"/>
                <a:cs typeface="Arial" pitchFamily="34" charset="-120"/>
              </a:rPr>
              <a:t>Một điểm kiểm soát mới, nằm giữa lập hồ sơ và ký số — cộng một điểm kiểm soát sớm ngay khi bác sĩ ra y lệnh.</a:t>
            </a:r>
            <a:endParaRPr lang="en-US" sz="1300" dirty="0"/>
          </a:p>
        </p:txBody>
      </p:sp>
      <p:sp>
        <p:nvSpPr>
          <p:cNvPr id="5" name="Shape 3"/>
          <p:cNvSpPr/>
          <p:nvPr/>
        </p:nvSpPr>
        <p:spPr>
          <a:xfrm>
            <a:off x="566928" y="2011680"/>
            <a:ext cx="1962851" cy="1188720"/>
          </a:xfrm>
          <a:prstGeom prst="roundRect">
            <a:avLst>
              <a:gd name="adj" fmla="val 5385"/>
            </a:avLst>
          </a:prstGeom>
          <a:solidFill>
            <a:srgbClr val="EEF3F8"/>
          </a:solidFill>
          <a:ln w="12700">
            <a:solidFill>
              <a:srgbClr val="D6E2EE"/>
            </a:solidFill>
            <a:prstDash val="solid"/>
          </a:ln>
        </p:spPr>
      </p:sp>
      <p:sp>
        <p:nvSpPr>
          <p:cNvPr id="6" name="Text 4"/>
          <p:cNvSpPr/>
          <p:nvPr/>
        </p:nvSpPr>
        <p:spPr>
          <a:xfrm>
            <a:off x="694944" y="2066544"/>
            <a:ext cx="1725107" cy="1078992"/>
          </a:xfrm>
          <a:prstGeom prst="rect">
            <a:avLst/>
          </a:prstGeom>
          <a:noFill/>
          <a:ln/>
        </p:spPr>
        <p:txBody>
          <a:bodyPr wrap="square" rtlCol="0" anchor="t"/>
          <a:lstStyle/>
          <a:p>
            <a:pPr indent="0" marL="0">
              <a:lnSpc>
                <a:spcPts val="1600"/>
              </a:lnSpc>
              <a:buNone/>
            </a:pPr>
            <a:r>
              <a:rPr lang="en-US" sz="1000" b="1" dirty="0">
                <a:solidFill>
                  <a:srgbClr val="1A5EA8"/>
                </a:solidFill>
                <a:latin typeface="Arial" pitchFamily="34" charset="0"/>
                <a:ea typeface="Arial" pitchFamily="34" charset="-122"/>
                <a:cs typeface="Arial" pitchFamily="34" charset="-120"/>
              </a:rPr>
              <a:t>01</a:t>
            </a:r>
            <a:endParaRPr lang="en-US" sz="1000" dirty="0"/>
          </a:p>
          <a:p>
            <a:pPr indent="0" marL="0">
              <a:lnSpc>
                <a:spcPts val="1600"/>
              </a:lnSpc>
              <a:buNone/>
            </a:pPr>
            <a:r>
              <a:rPr lang="en-US" sz="1500" b="1" dirty="0">
                <a:solidFill>
                  <a:srgbClr val="0B1F3A"/>
                </a:solidFill>
                <a:latin typeface="Arial" pitchFamily="34" charset="0"/>
                <a:ea typeface="Arial" pitchFamily="34" charset="-122"/>
                <a:cs typeface="Arial" pitchFamily="34" charset="-120"/>
              </a:rPr>
              <a:t>Y lệnh</a:t>
            </a:r>
            <a:endParaRPr lang="en-US" sz="1000" dirty="0"/>
          </a:p>
          <a:p>
            <a:pPr indent="0" marL="0">
              <a:lnSpc>
                <a:spcPts val="1600"/>
              </a:lnSpc>
              <a:buNone/>
            </a:pPr>
            <a:r>
              <a:rPr lang="en-US" sz="1000" dirty="0">
                <a:solidFill>
                  <a:srgbClr val="5B6B7F"/>
                </a:solidFill>
                <a:latin typeface="Arial" pitchFamily="34" charset="0"/>
                <a:ea typeface="Arial" pitchFamily="34" charset="-122"/>
                <a:cs typeface="Arial" pitchFamily="34" charset="-120"/>
              </a:rPr>
              <a:t>Bác sĩ chỉ định, điều dưỡng thực hiện trên HIS</a:t>
            </a:r>
            <a:endParaRPr lang="en-US" sz="1000" dirty="0"/>
          </a:p>
        </p:txBody>
      </p:sp>
      <p:sp>
        <p:nvSpPr>
          <p:cNvPr id="7" name="Text 5"/>
          <p:cNvSpPr/>
          <p:nvPr/>
        </p:nvSpPr>
        <p:spPr>
          <a:xfrm>
            <a:off x="2529779" y="2423160"/>
            <a:ext cx="310896" cy="365760"/>
          </a:xfrm>
          <a:prstGeom prst="rect">
            <a:avLst/>
          </a:prstGeom>
          <a:noFill/>
          <a:ln/>
        </p:spPr>
        <p:txBody>
          <a:bodyPr wrap="square" rtlCol="0" anchor="ctr"/>
          <a:lstStyle/>
          <a:p>
            <a:pPr algn="ctr" indent="0" marL="0">
              <a:buNone/>
            </a:pPr>
            <a:r>
              <a:rPr lang="en-US" sz="1800" b="1" dirty="0">
                <a:solidFill>
                  <a:srgbClr val="2A9FD8"/>
                </a:solidFill>
                <a:latin typeface="Arial" pitchFamily="34" charset="0"/>
                <a:ea typeface="Arial" pitchFamily="34" charset="-122"/>
                <a:cs typeface="Arial" pitchFamily="34" charset="-120"/>
              </a:rPr>
              <a:t>→</a:t>
            </a:r>
            <a:endParaRPr lang="en-US" sz="1800" dirty="0"/>
          </a:p>
        </p:txBody>
      </p:sp>
      <p:sp>
        <p:nvSpPr>
          <p:cNvPr id="8" name="Shape 6"/>
          <p:cNvSpPr/>
          <p:nvPr/>
        </p:nvSpPr>
        <p:spPr>
          <a:xfrm>
            <a:off x="2840675" y="2011680"/>
            <a:ext cx="1962851" cy="1188720"/>
          </a:xfrm>
          <a:prstGeom prst="roundRect">
            <a:avLst>
              <a:gd name="adj" fmla="val 5385"/>
            </a:avLst>
          </a:prstGeom>
          <a:solidFill>
            <a:srgbClr val="EEF3F8"/>
          </a:solidFill>
          <a:ln w="12700">
            <a:solidFill>
              <a:srgbClr val="D6E2EE"/>
            </a:solidFill>
            <a:prstDash val="solid"/>
          </a:ln>
        </p:spPr>
      </p:sp>
      <p:sp>
        <p:nvSpPr>
          <p:cNvPr id="9" name="Text 7"/>
          <p:cNvSpPr/>
          <p:nvPr/>
        </p:nvSpPr>
        <p:spPr>
          <a:xfrm>
            <a:off x="2968691" y="2066544"/>
            <a:ext cx="1725107" cy="1078992"/>
          </a:xfrm>
          <a:prstGeom prst="rect">
            <a:avLst/>
          </a:prstGeom>
          <a:noFill/>
          <a:ln/>
        </p:spPr>
        <p:txBody>
          <a:bodyPr wrap="square" rtlCol="0" anchor="t"/>
          <a:lstStyle/>
          <a:p>
            <a:pPr indent="0" marL="0">
              <a:lnSpc>
                <a:spcPts val="1600"/>
              </a:lnSpc>
              <a:buNone/>
            </a:pPr>
            <a:r>
              <a:rPr lang="en-US" sz="1000" b="1" dirty="0">
                <a:solidFill>
                  <a:srgbClr val="1A5EA8"/>
                </a:solidFill>
                <a:latin typeface="Arial" pitchFamily="34" charset="0"/>
                <a:ea typeface="Arial" pitchFamily="34" charset="-122"/>
                <a:cs typeface="Arial" pitchFamily="34" charset="-120"/>
              </a:rPr>
              <a:t>02</a:t>
            </a:r>
            <a:endParaRPr lang="en-US" sz="1000" dirty="0"/>
          </a:p>
          <a:p>
            <a:pPr indent="0" marL="0">
              <a:lnSpc>
                <a:spcPts val="1600"/>
              </a:lnSpc>
              <a:buNone/>
            </a:pPr>
            <a:r>
              <a:rPr lang="en-US" sz="1500" b="1" dirty="0">
                <a:solidFill>
                  <a:srgbClr val="0B1F3A"/>
                </a:solidFill>
                <a:latin typeface="Arial" pitchFamily="34" charset="0"/>
                <a:ea typeface="Arial" pitchFamily="34" charset="-122"/>
                <a:cs typeface="Arial" pitchFamily="34" charset="-120"/>
              </a:rPr>
              <a:t>Hồ sơ XML 3176</a:t>
            </a:r>
            <a:endParaRPr lang="en-US" sz="1000" dirty="0"/>
          </a:p>
          <a:p>
            <a:pPr indent="0" marL="0">
              <a:lnSpc>
                <a:spcPts val="1600"/>
              </a:lnSpc>
              <a:buNone/>
            </a:pPr>
            <a:r>
              <a:rPr lang="en-US" sz="1000" dirty="0">
                <a:solidFill>
                  <a:srgbClr val="5B6B7F"/>
                </a:solidFill>
                <a:latin typeface="Arial" pitchFamily="34" charset="0"/>
                <a:ea typeface="Arial" pitchFamily="34" charset="-122"/>
                <a:cs typeface="Arial" pitchFamily="34" charset="-120"/>
              </a:rPr>
              <a:t>Kết xuất từ HIS, nạp vào phần mềm</a:t>
            </a:r>
            <a:endParaRPr lang="en-US" sz="1000" dirty="0"/>
          </a:p>
        </p:txBody>
      </p:sp>
      <p:sp>
        <p:nvSpPr>
          <p:cNvPr id="10" name="Text 8"/>
          <p:cNvSpPr/>
          <p:nvPr/>
        </p:nvSpPr>
        <p:spPr>
          <a:xfrm>
            <a:off x="4803526" y="2423160"/>
            <a:ext cx="310896" cy="365760"/>
          </a:xfrm>
          <a:prstGeom prst="rect">
            <a:avLst/>
          </a:prstGeom>
          <a:noFill/>
          <a:ln/>
        </p:spPr>
        <p:txBody>
          <a:bodyPr wrap="square" rtlCol="0" anchor="ctr"/>
          <a:lstStyle/>
          <a:p>
            <a:pPr algn="ctr" indent="0" marL="0">
              <a:buNone/>
            </a:pPr>
            <a:r>
              <a:rPr lang="en-US" sz="1800" b="1" dirty="0">
                <a:solidFill>
                  <a:srgbClr val="2A9FD8"/>
                </a:solidFill>
                <a:latin typeface="Arial" pitchFamily="34" charset="0"/>
                <a:ea typeface="Arial" pitchFamily="34" charset="-122"/>
                <a:cs typeface="Arial" pitchFamily="34" charset="-120"/>
              </a:rPr>
              <a:t>→</a:t>
            </a:r>
            <a:endParaRPr lang="en-US" sz="1800" dirty="0"/>
          </a:p>
        </p:txBody>
      </p:sp>
      <p:sp>
        <p:nvSpPr>
          <p:cNvPr id="11" name="Shape 9"/>
          <p:cNvSpPr/>
          <p:nvPr/>
        </p:nvSpPr>
        <p:spPr>
          <a:xfrm>
            <a:off x="5114422" y="2011680"/>
            <a:ext cx="1962851" cy="1188720"/>
          </a:xfrm>
          <a:prstGeom prst="roundRect">
            <a:avLst>
              <a:gd name="adj" fmla="val 5385"/>
            </a:avLst>
          </a:prstGeom>
          <a:solidFill>
            <a:srgbClr val="1A5EA8"/>
          </a:solidFill>
          <a:ln w="12700">
            <a:solidFill>
              <a:srgbClr val="1A5EA8"/>
            </a:solidFill>
            <a:prstDash val="solid"/>
          </a:ln>
        </p:spPr>
      </p:sp>
      <p:sp>
        <p:nvSpPr>
          <p:cNvPr id="12" name="Text 10"/>
          <p:cNvSpPr/>
          <p:nvPr/>
        </p:nvSpPr>
        <p:spPr>
          <a:xfrm>
            <a:off x="5242438" y="2066544"/>
            <a:ext cx="1725107" cy="1078992"/>
          </a:xfrm>
          <a:prstGeom prst="rect">
            <a:avLst/>
          </a:prstGeom>
          <a:noFill/>
          <a:ln/>
        </p:spPr>
        <p:txBody>
          <a:bodyPr wrap="square" rtlCol="0" anchor="t"/>
          <a:lstStyle/>
          <a:p>
            <a:pPr indent="0" marL="0">
              <a:lnSpc>
                <a:spcPts val="1600"/>
              </a:lnSpc>
              <a:buNone/>
            </a:pPr>
            <a:r>
              <a:rPr lang="en-US" sz="1000" b="1" dirty="0">
                <a:solidFill>
                  <a:srgbClr val="BFE0F7"/>
                </a:solidFill>
                <a:latin typeface="Arial" pitchFamily="34" charset="0"/>
                <a:ea typeface="Arial" pitchFamily="34" charset="-122"/>
                <a:cs typeface="Arial" pitchFamily="34" charset="-120"/>
              </a:rPr>
              <a:t>03</a:t>
            </a:r>
            <a:endParaRPr lang="en-US" sz="1000" dirty="0"/>
          </a:p>
          <a:p>
            <a:pPr indent="0" marL="0">
              <a:lnSpc>
                <a:spcPts val="1600"/>
              </a:lnSpc>
              <a:buNone/>
            </a:pPr>
            <a:r>
              <a:rPr lang="en-US" sz="1500" b="1" dirty="0">
                <a:solidFill>
                  <a:srgbClr val="FFFFFF"/>
                </a:solidFill>
                <a:latin typeface="Arial" pitchFamily="34" charset="0"/>
                <a:ea typeface="Arial" pitchFamily="34" charset="-122"/>
                <a:cs typeface="Arial" pitchFamily="34" charset="-120"/>
              </a:rPr>
              <a:t>Kiểm lỗi tại Bệnh viện</a:t>
            </a:r>
            <a:endParaRPr lang="en-US" sz="1000" dirty="0"/>
          </a:p>
          <a:p>
            <a:pPr indent="0" marL="0">
              <a:lnSpc>
                <a:spcPts val="1600"/>
              </a:lnSpc>
              <a:buNone/>
            </a:pPr>
            <a:r>
              <a:rPr lang="en-US" sz="1000" dirty="0">
                <a:solidFill>
                  <a:srgbClr val="DCEBF8"/>
                </a:solidFill>
                <a:latin typeface="Arial" pitchFamily="34" charset="0"/>
                <a:ea typeface="Arial" pitchFamily="34" charset="-122"/>
                <a:cs typeface="Arial" pitchFamily="34" charset="-120"/>
              </a:rPr>
              <a:t>Bộ quy tắc kiểm từng XML, tra thẻ, đối chiếu danh mục</a:t>
            </a:r>
            <a:endParaRPr lang="en-US" sz="1000" dirty="0"/>
          </a:p>
        </p:txBody>
      </p:sp>
      <p:sp>
        <p:nvSpPr>
          <p:cNvPr id="13" name="Text 11"/>
          <p:cNvSpPr/>
          <p:nvPr/>
        </p:nvSpPr>
        <p:spPr>
          <a:xfrm>
            <a:off x="7077273" y="2423160"/>
            <a:ext cx="310896" cy="365760"/>
          </a:xfrm>
          <a:prstGeom prst="rect">
            <a:avLst/>
          </a:prstGeom>
          <a:noFill/>
          <a:ln/>
        </p:spPr>
        <p:txBody>
          <a:bodyPr wrap="square" rtlCol="0" anchor="ctr"/>
          <a:lstStyle/>
          <a:p>
            <a:pPr algn="ctr" indent="0" marL="0">
              <a:buNone/>
            </a:pPr>
            <a:r>
              <a:rPr lang="en-US" sz="1800" b="1" dirty="0">
                <a:solidFill>
                  <a:srgbClr val="2A9FD8"/>
                </a:solidFill>
                <a:latin typeface="Arial" pitchFamily="34" charset="0"/>
                <a:ea typeface="Arial" pitchFamily="34" charset="-122"/>
                <a:cs typeface="Arial" pitchFamily="34" charset="-120"/>
              </a:rPr>
              <a:t>→</a:t>
            </a:r>
            <a:endParaRPr lang="en-US" sz="1800" dirty="0"/>
          </a:p>
        </p:txBody>
      </p:sp>
      <p:sp>
        <p:nvSpPr>
          <p:cNvPr id="14" name="Shape 12"/>
          <p:cNvSpPr/>
          <p:nvPr/>
        </p:nvSpPr>
        <p:spPr>
          <a:xfrm>
            <a:off x="7388169" y="2011680"/>
            <a:ext cx="1962851" cy="1188720"/>
          </a:xfrm>
          <a:prstGeom prst="roundRect">
            <a:avLst>
              <a:gd name="adj" fmla="val 5385"/>
            </a:avLst>
          </a:prstGeom>
          <a:solidFill>
            <a:srgbClr val="EEF3F8"/>
          </a:solidFill>
          <a:ln w="12700">
            <a:solidFill>
              <a:srgbClr val="D6E2EE"/>
            </a:solidFill>
            <a:prstDash val="solid"/>
          </a:ln>
        </p:spPr>
      </p:sp>
      <p:sp>
        <p:nvSpPr>
          <p:cNvPr id="15" name="Text 13"/>
          <p:cNvSpPr/>
          <p:nvPr/>
        </p:nvSpPr>
        <p:spPr>
          <a:xfrm>
            <a:off x="7516185" y="2066544"/>
            <a:ext cx="1725107" cy="1078992"/>
          </a:xfrm>
          <a:prstGeom prst="rect">
            <a:avLst/>
          </a:prstGeom>
          <a:noFill/>
          <a:ln/>
        </p:spPr>
        <p:txBody>
          <a:bodyPr wrap="square" rtlCol="0" anchor="t"/>
          <a:lstStyle/>
          <a:p>
            <a:pPr indent="0" marL="0">
              <a:lnSpc>
                <a:spcPts val="1600"/>
              </a:lnSpc>
              <a:buNone/>
            </a:pPr>
            <a:r>
              <a:rPr lang="en-US" sz="1000" b="1" dirty="0">
                <a:solidFill>
                  <a:srgbClr val="1A5EA8"/>
                </a:solidFill>
                <a:latin typeface="Arial" pitchFamily="34" charset="0"/>
                <a:ea typeface="Arial" pitchFamily="34" charset="-122"/>
                <a:cs typeface="Arial" pitchFamily="34" charset="-120"/>
              </a:rPr>
              <a:t>04</a:t>
            </a:r>
            <a:endParaRPr lang="en-US" sz="1000" dirty="0"/>
          </a:p>
          <a:p>
            <a:pPr indent="0" marL="0">
              <a:lnSpc>
                <a:spcPts val="1600"/>
              </a:lnSpc>
              <a:buNone/>
            </a:pPr>
            <a:r>
              <a:rPr lang="en-US" sz="1500" b="1" dirty="0">
                <a:solidFill>
                  <a:srgbClr val="0B1F3A"/>
                </a:solidFill>
                <a:latin typeface="Arial" pitchFamily="34" charset="0"/>
                <a:ea typeface="Arial" pitchFamily="34" charset="-122"/>
                <a:cs typeface="Arial" pitchFamily="34" charset="-120"/>
              </a:rPr>
              <a:t>Ký số</a:t>
            </a:r>
            <a:endParaRPr lang="en-US" sz="1000" dirty="0"/>
          </a:p>
          <a:p>
            <a:pPr indent="0" marL="0">
              <a:lnSpc>
                <a:spcPts val="1600"/>
              </a:lnSpc>
              <a:buNone/>
            </a:pPr>
            <a:r>
              <a:rPr lang="en-US" sz="1000" dirty="0">
                <a:solidFill>
                  <a:srgbClr val="5B6B7F"/>
                </a:solidFill>
                <a:latin typeface="Arial" pitchFamily="34" charset="0"/>
                <a:ea typeface="Arial" pitchFamily="34" charset="-122"/>
                <a:cs typeface="Arial" pitchFamily="34" charset="-120"/>
              </a:rPr>
              <a:t>HSM hoặc USB Token</a:t>
            </a:r>
            <a:endParaRPr lang="en-US" sz="1000" dirty="0"/>
          </a:p>
        </p:txBody>
      </p:sp>
      <p:sp>
        <p:nvSpPr>
          <p:cNvPr id="16" name="Text 14"/>
          <p:cNvSpPr/>
          <p:nvPr/>
        </p:nvSpPr>
        <p:spPr>
          <a:xfrm>
            <a:off x="9351020" y="2423160"/>
            <a:ext cx="310896" cy="365760"/>
          </a:xfrm>
          <a:prstGeom prst="rect">
            <a:avLst/>
          </a:prstGeom>
          <a:noFill/>
          <a:ln/>
        </p:spPr>
        <p:txBody>
          <a:bodyPr wrap="square" rtlCol="0" anchor="ctr"/>
          <a:lstStyle/>
          <a:p>
            <a:pPr algn="ctr" indent="0" marL="0">
              <a:buNone/>
            </a:pPr>
            <a:r>
              <a:rPr lang="en-US" sz="1800" b="1" dirty="0">
                <a:solidFill>
                  <a:srgbClr val="2A9FD8"/>
                </a:solidFill>
                <a:latin typeface="Arial" pitchFamily="34" charset="0"/>
                <a:ea typeface="Arial" pitchFamily="34" charset="-122"/>
                <a:cs typeface="Arial" pitchFamily="34" charset="-120"/>
              </a:rPr>
              <a:t>→</a:t>
            </a:r>
            <a:endParaRPr lang="en-US" sz="1800" dirty="0"/>
          </a:p>
        </p:txBody>
      </p:sp>
      <p:sp>
        <p:nvSpPr>
          <p:cNvPr id="17" name="Shape 15"/>
          <p:cNvSpPr/>
          <p:nvPr/>
        </p:nvSpPr>
        <p:spPr>
          <a:xfrm>
            <a:off x="9661916" y="2011680"/>
            <a:ext cx="1962851" cy="1188720"/>
          </a:xfrm>
          <a:prstGeom prst="roundRect">
            <a:avLst>
              <a:gd name="adj" fmla="val 5385"/>
            </a:avLst>
          </a:prstGeom>
          <a:solidFill>
            <a:srgbClr val="EEF3F8"/>
          </a:solidFill>
          <a:ln w="12700">
            <a:solidFill>
              <a:srgbClr val="D6E2EE"/>
            </a:solidFill>
            <a:prstDash val="solid"/>
          </a:ln>
        </p:spPr>
      </p:sp>
      <p:sp>
        <p:nvSpPr>
          <p:cNvPr id="18" name="Text 16"/>
          <p:cNvSpPr/>
          <p:nvPr/>
        </p:nvSpPr>
        <p:spPr>
          <a:xfrm>
            <a:off x="9789932" y="2066544"/>
            <a:ext cx="1725107" cy="1078992"/>
          </a:xfrm>
          <a:prstGeom prst="rect">
            <a:avLst/>
          </a:prstGeom>
          <a:noFill/>
          <a:ln/>
        </p:spPr>
        <p:txBody>
          <a:bodyPr wrap="square" rtlCol="0" anchor="t"/>
          <a:lstStyle/>
          <a:p>
            <a:pPr indent="0" marL="0">
              <a:lnSpc>
                <a:spcPts val="1600"/>
              </a:lnSpc>
              <a:buNone/>
            </a:pPr>
            <a:r>
              <a:rPr lang="en-US" sz="1000" b="1" dirty="0">
                <a:solidFill>
                  <a:srgbClr val="1A5EA8"/>
                </a:solidFill>
                <a:latin typeface="Arial" pitchFamily="34" charset="0"/>
                <a:ea typeface="Arial" pitchFamily="34" charset="-122"/>
                <a:cs typeface="Arial" pitchFamily="34" charset="-120"/>
              </a:rPr>
              <a:t>05</a:t>
            </a:r>
            <a:endParaRPr lang="en-US" sz="1000" dirty="0"/>
          </a:p>
          <a:p>
            <a:pPr indent="0" marL="0">
              <a:lnSpc>
                <a:spcPts val="1600"/>
              </a:lnSpc>
              <a:buNone/>
            </a:pPr>
            <a:r>
              <a:rPr lang="en-US" sz="1500" b="1" dirty="0">
                <a:solidFill>
                  <a:srgbClr val="0B1F3A"/>
                </a:solidFill>
                <a:latin typeface="Arial" pitchFamily="34" charset="0"/>
                <a:ea typeface="Arial" pitchFamily="34" charset="-122"/>
                <a:cs typeface="Arial" pitchFamily="34" charset="-120"/>
              </a:rPr>
              <a:t>Gửi Cổng tiếp nhận</a:t>
            </a:r>
            <a:endParaRPr lang="en-US" sz="1000" dirty="0"/>
          </a:p>
          <a:p>
            <a:pPr indent="0" marL="0">
              <a:lnSpc>
                <a:spcPts val="1600"/>
              </a:lnSpc>
              <a:buNone/>
            </a:pPr>
            <a:r>
              <a:rPr lang="en-US" sz="1000" dirty="0">
                <a:solidFill>
                  <a:srgbClr val="5B6B7F"/>
                </a:solidFill>
                <a:latin typeface="Arial" pitchFamily="34" charset="0"/>
                <a:ea typeface="Arial" pitchFamily="34" charset="-122"/>
                <a:cs typeface="Arial" pitchFamily="34" charset="-120"/>
              </a:rPr>
              <a:t>Cổng giám định BHXH</a:t>
            </a:r>
            <a:endParaRPr lang="en-US" sz="1000" dirty="0"/>
          </a:p>
        </p:txBody>
      </p:sp>
      <p:sp>
        <p:nvSpPr>
          <p:cNvPr id="19" name="Shape 17"/>
          <p:cNvSpPr/>
          <p:nvPr/>
        </p:nvSpPr>
        <p:spPr>
          <a:xfrm>
            <a:off x="5022982" y="1572768"/>
            <a:ext cx="2145731" cy="329184"/>
          </a:xfrm>
          <a:prstGeom prst="roundRect">
            <a:avLst>
              <a:gd name="adj" fmla="val 50000"/>
            </a:avLst>
          </a:prstGeom>
          <a:solidFill>
            <a:srgbClr val="2A9FD8"/>
          </a:solidFill>
          <a:ln w="12700">
            <a:solidFill>
              <a:srgbClr val="2A9FD8"/>
            </a:solidFill>
            <a:prstDash val="solid"/>
          </a:ln>
        </p:spPr>
      </p:sp>
      <p:sp>
        <p:nvSpPr>
          <p:cNvPr id="20" name="Text 18"/>
          <p:cNvSpPr/>
          <p:nvPr/>
        </p:nvSpPr>
        <p:spPr>
          <a:xfrm>
            <a:off x="5022982" y="1572768"/>
            <a:ext cx="2145731" cy="329184"/>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ĐIỂM KIỂM SOÁT MỚI</a:t>
            </a:r>
            <a:endParaRPr lang="en-US" sz="1000" dirty="0"/>
          </a:p>
        </p:txBody>
      </p:sp>
      <p:sp>
        <p:nvSpPr>
          <p:cNvPr id="21" name="Shape 19"/>
          <p:cNvSpPr/>
          <p:nvPr/>
        </p:nvSpPr>
        <p:spPr>
          <a:xfrm>
            <a:off x="566928" y="1572768"/>
            <a:ext cx="1962851" cy="329184"/>
          </a:xfrm>
          <a:prstGeom prst="roundRect">
            <a:avLst>
              <a:gd name="adj" fmla="val 50000"/>
            </a:avLst>
          </a:prstGeom>
          <a:solidFill>
            <a:srgbClr val="E6F1FA"/>
          </a:solidFill>
          <a:ln w="12700">
            <a:solidFill>
              <a:srgbClr val="2A9FD8"/>
            </a:solidFill>
            <a:prstDash val="solid"/>
          </a:ln>
        </p:spPr>
      </p:sp>
      <p:sp>
        <p:nvSpPr>
          <p:cNvPr id="22" name="Text 20"/>
          <p:cNvSpPr/>
          <p:nvPr/>
        </p:nvSpPr>
        <p:spPr>
          <a:xfrm>
            <a:off x="566928" y="1572768"/>
            <a:ext cx="1962851" cy="329184"/>
          </a:xfrm>
          <a:prstGeom prst="rect">
            <a:avLst/>
          </a:prstGeom>
          <a:noFill/>
          <a:ln/>
        </p:spPr>
        <p:txBody>
          <a:bodyPr wrap="square" rtlCol="0" anchor="ctr"/>
          <a:lstStyle/>
          <a:p>
            <a:pPr algn="ctr" indent="0" marL="0">
              <a:buNone/>
            </a:pPr>
            <a:r>
              <a:rPr lang="en-US" sz="1000" b="1" dirty="0">
                <a:solidFill>
                  <a:srgbClr val="1A5EA8"/>
                </a:solidFill>
                <a:latin typeface="Arial" pitchFamily="34" charset="0"/>
                <a:ea typeface="Arial" pitchFamily="34" charset="-122"/>
                <a:cs typeface="Arial" pitchFamily="34" charset="-120"/>
              </a:rPr>
              <a:t>KIỂM SOÁT SỚM</a:t>
            </a:r>
            <a:endParaRPr lang="en-US" sz="1000" dirty="0"/>
          </a:p>
        </p:txBody>
      </p:sp>
      <p:sp>
        <p:nvSpPr>
          <p:cNvPr id="23" name="Shape 21"/>
          <p:cNvSpPr/>
          <p:nvPr/>
        </p:nvSpPr>
        <p:spPr>
          <a:xfrm>
            <a:off x="6095848" y="3200400"/>
            <a:ext cx="0" cy="411480"/>
          </a:xfrm>
          <a:prstGeom prst="line">
            <a:avLst/>
          </a:prstGeom>
          <a:noFill/>
          <a:ln w="19050">
            <a:solidFill>
              <a:srgbClr val="C96A12"/>
            </a:solidFill>
            <a:prstDash val="solid"/>
            <a:tailEnd type="triangle"/>
          </a:ln>
        </p:spPr>
      </p:sp>
      <p:sp>
        <p:nvSpPr>
          <p:cNvPr id="24" name="Shape 22"/>
          <p:cNvSpPr/>
          <p:nvPr/>
        </p:nvSpPr>
        <p:spPr>
          <a:xfrm>
            <a:off x="2137209" y="3611880"/>
            <a:ext cx="5421679" cy="457200"/>
          </a:xfrm>
          <a:prstGeom prst="roundRect">
            <a:avLst>
              <a:gd name="adj" fmla="val 12000"/>
            </a:avLst>
          </a:prstGeom>
          <a:solidFill>
            <a:srgbClr val="FFF4E6"/>
          </a:solidFill>
          <a:ln w="12700">
            <a:solidFill>
              <a:srgbClr val="F1C58E"/>
            </a:solidFill>
            <a:prstDash val="solid"/>
          </a:ln>
        </p:spPr>
      </p:sp>
      <p:sp>
        <p:nvSpPr>
          <p:cNvPr id="25" name="Text 23"/>
          <p:cNvSpPr/>
          <p:nvPr/>
        </p:nvSpPr>
        <p:spPr>
          <a:xfrm>
            <a:off x="2137209" y="3611880"/>
            <a:ext cx="5421679" cy="457200"/>
          </a:xfrm>
          <a:prstGeom prst="rect">
            <a:avLst/>
          </a:prstGeom>
          <a:noFill/>
          <a:ln/>
        </p:spPr>
        <p:txBody>
          <a:bodyPr wrap="square" rtlCol="0" anchor="ctr"/>
          <a:lstStyle/>
          <a:p>
            <a:pPr algn="ctr" indent="0" marL="0">
              <a:buNone/>
            </a:pPr>
            <a:r>
              <a:rPr lang="en-US" sz="1150" b="1" dirty="0">
                <a:solidFill>
                  <a:srgbClr val="C96A12"/>
                </a:solidFill>
                <a:latin typeface="Arial" pitchFamily="34" charset="0"/>
                <a:ea typeface="Arial" pitchFamily="34" charset="-122"/>
                <a:cs typeface="Arial" pitchFamily="34" charset="-120"/>
              </a:rPr>
              <a:t>Sửa tại đơn vị phát sinh trên HIS  →  nạp lại  →  quay lại kiểm tra</a:t>
            </a:r>
            <a:endParaRPr lang="en-US" sz="1150" dirty="0"/>
          </a:p>
        </p:txBody>
      </p:sp>
      <p:sp>
        <p:nvSpPr>
          <p:cNvPr id="26" name="Shape 24"/>
          <p:cNvSpPr/>
          <p:nvPr/>
        </p:nvSpPr>
        <p:spPr>
          <a:xfrm flipV="1">
            <a:off x="1548354" y="3200400"/>
            <a:ext cx="0" cy="640080"/>
          </a:xfrm>
          <a:prstGeom prst="line">
            <a:avLst/>
          </a:prstGeom>
          <a:noFill/>
          <a:ln w="19050">
            <a:solidFill>
              <a:srgbClr val="C96A12"/>
            </a:solidFill>
            <a:prstDash val="solid"/>
            <a:tailEnd type="triangle"/>
          </a:ln>
        </p:spPr>
      </p:sp>
      <p:sp>
        <p:nvSpPr>
          <p:cNvPr id="27" name="Shape 25"/>
          <p:cNvSpPr/>
          <p:nvPr/>
        </p:nvSpPr>
        <p:spPr>
          <a:xfrm>
            <a:off x="1548354" y="3840480"/>
            <a:ext cx="588855" cy="0"/>
          </a:xfrm>
          <a:prstGeom prst="line">
            <a:avLst/>
          </a:prstGeom>
          <a:noFill/>
          <a:ln w="19050">
            <a:solidFill>
              <a:srgbClr val="C96A12"/>
            </a:solidFill>
            <a:prstDash val="solid"/>
          </a:ln>
        </p:spPr>
      </p:sp>
      <p:sp>
        <p:nvSpPr>
          <p:cNvPr id="28" name="Shape 26"/>
          <p:cNvSpPr/>
          <p:nvPr/>
        </p:nvSpPr>
        <p:spPr>
          <a:xfrm>
            <a:off x="566928" y="4315968"/>
            <a:ext cx="3594506" cy="932688"/>
          </a:xfrm>
          <a:prstGeom prst="rect">
            <a:avLst/>
          </a:prstGeom>
          <a:solidFill>
            <a:srgbClr val="EEF3F8"/>
          </a:solidFill>
          <a:ln w="12700">
            <a:solidFill>
              <a:srgbClr val="D6E2EE"/>
            </a:solidFill>
            <a:prstDash val="solid"/>
          </a:ln>
        </p:spPr>
      </p:sp>
      <p:sp>
        <p:nvSpPr>
          <p:cNvPr id="29" name="Shape 27"/>
          <p:cNvSpPr/>
          <p:nvPr/>
        </p:nvSpPr>
        <p:spPr>
          <a:xfrm>
            <a:off x="566928" y="4315968"/>
            <a:ext cx="64008" cy="932688"/>
          </a:xfrm>
          <a:prstGeom prst="rect">
            <a:avLst/>
          </a:prstGeom>
          <a:solidFill>
            <a:srgbClr val="C62828"/>
          </a:solidFill>
          <a:ln w="12700">
            <a:solidFill>
              <a:srgbClr val="C62828"/>
            </a:solidFill>
            <a:prstDash val="solid"/>
          </a:ln>
        </p:spPr>
      </p:sp>
      <p:sp>
        <p:nvSpPr>
          <p:cNvPr id="30" name="Text 28"/>
          <p:cNvSpPr/>
          <p:nvPr/>
        </p:nvSpPr>
        <p:spPr>
          <a:xfrm>
            <a:off x="768096" y="4361688"/>
            <a:ext cx="3283610" cy="841248"/>
          </a:xfrm>
          <a:prstGeom prst="rect">
            <a:avLst/>
          </a:prstGeom>
          <a:noFill/>
          <a:ln/>
        </p:spPr>
        <p:txBody>
          <a:bodyPr wrap="square" rtlCol="0" anchor="ctr"/>
          <a:lstStyle/>
          <a:p>
            <a:pPr indent="0" marL="0">
              <a:lnSpc>
                <a:spcPts val="1700"/>
              </a:lnSpc>
              <a:buNone/>
            </a:pPr>
            <a:r>
              <a:rPr lang="en-US" sz="1400" b="1" dirty="0">
                <a:solidFill>
                  <a:srgbClr val="C62828"/>
                </a:solidFill>
                <a:latin typeface="Arial" pitchFamily="34" charset="0"/>
                <a:ea typeface="Arial" pitchFamily="34" charset="-122"/>
                <a:cs typeface="Arial" pitchFamily="34" charset="-120"/>
              </a:rPr>
              <a:t>Lỗi nghiêm trọng</a:t>
            </a:r>
            <a:endParaRPr lang="en-US" sz="1400" dirty="0"/>
          </a:p>
          <a:p>
            <a:pPr indent="0" marL="0">
              <a:lnSpc>
                <a:spcPts val="1700"/>
              </a:lnSpc>
              <a:buNone/>
            </a:pPr>
            <a:r>
              <a:rPr lang="en-US" sz="1150" dirty="0">
                <a:solidFill>
                  <a:srgbClr val="14233A"/>
                </a:solidFill>
                <a:latin typeface="Arial" pitchFamily="34" charset="0"/>
                <a:ea typeface="Arial" pitchFamily="34" charset="-122"/>
                <a:cs typeface="Arial" pitchFamily="34" charset="-120"/>
              </a:rPr>
              <a:t>Chặn xuất và chặn gửi hồ sơ cho tới khi được sửa.</a:t>
            </a:r>
            <a:endParaRPr lang="en-US" sz="1400" dirty="0"/>
          </a:p>
        </p:txBody>
      </p:sp>
      <p:sp>
        <p:nvSpPr>
          <p:cNvPr id="31" name="Shape 29"/>
          <p:cNvSpPr/>
          <p:nvPr/>
        </p:nvSpPr>
        <p:spPr>
          <a:xfrm>
            <a:off x="4298594" y="4315968"/>
            <a:ext cx="3594506" cy="932688"/>
          </a:xfrm>
          <a:prstGeom prst="rect">
            <a:avLst/>
          </a:prstGeom>
          <a:solidFill>
            <a:srgbClr val="EEF3F8"/>
          </a:solidFill>
          <a:ln w="12700">
            <a:solidFill>
              <a:srgbClr val="D6E2EE"/>
            </a:solidFill>
            <a:prstDash val="solid"/>
          </a:ln>
        </p:spPr>
      </p:sp>
      <p:sp>
        <p:nvSpPr>
          <p:cNvPr id="32" name="Shape 30"/>
          <p:cNvSpPr/>
          <p:nvPr/>
        </p:nvSpPr>
        <p:spPr>
          <a:xfrm>
            <a:off x="4298594" y="4315968"/>
            <a:ext cx="64008" cy="932688"/>
          </a:xfrm>
          <a:prstGeom prst="rect">
            <a:avLst/>
          </a:prstGeom>
          <a:solidFill>
            <a:srgbClr val="C96A12"/>
          </a:solidFill>
          <a:ln w="12700">
            <a:solidFill>
              <a:srgbClr val="C96A12"/>
            </a:solidFill>
            <a:prstDash val="solid"/>
          </a:ln>
        </p:spPr>
      </p:sp>
      <p:sp>
        <p:nvSpPr>
          <p:cNvPr id="33" name="Text 31"/>
          <p:cNvSpPr/>
          <p:nvPr/>
        </p:nvSpPr>
        <p:spPr>
          <a:xfrm>
            <a:off x="4499762" y="4361688"/>
            <a:ext cx="3283610" cy="841248"/>
          </a:xfrm>
          <a:prstGeom prst="rect">
            <a:avLst/>
          </a:prstGeom>
          <a:noFill/>
          <a:ln/>
        </p:spPr>
        <p:txBody>
          <a:bodyPr wrap="square" rtlCol="0" anchor="ctr"/>
          <a:lstStyle/>
          <a:p>
            <a:pPr indent="0" marL="0">
              <a:lnSpc>
                <a:spcPts val="1700"/>
              </a:lnSpc>
              <a:buNone/>
            </a:pPr>
            <a:r>
              <a:rPr lang="en-US" sz="1400" b="1" dirty="0">
                <a:solidFill>
                  <a:srgbClr val="C96A12"/>
                </a:solidFill>
                <a:latin typeface="Arial" pitchFamily="34" charset="0"/>
                <a:ea typeface="Arial" pitchFamily="34" charset="-122"/>
                <a:cs typeface="Arial" pitchFamily="34" charset="-120"/>
              </a:rPr>
              <a:t>Lỗi cảnh báo</a:t>
            </a:r>
            <a:endParaRPr lang="en-US" sz="1400" dirty="0"/>
          </a:p>
          <a:p>
            <a:pPr indent="0" marL="0">
              <a:lnSpc>
                <a:spcPts val="1700"/>
              </a:lnSpc>
              <a:buNone/>
            </a:pPr>
            <a:r>
              <a:rPr lang="en-US" sz="1150" dirty="0">
                <a:solidFill>
                  <a:srgbClr val="14233A"/>
                </a:solidFill>
                <a:latin typeface="Arial" pitchFamily="34" charset="0"/>
                <a:ea typeface="Arial" pitchFamily="34" charset="-122"/>
                <a:cs typeface="Arial" pitchFamily="34" charset="-120"/>
              </a:rPr>
              <a:t>Cho hồ sơ đi, kèm ghi nhận để theo dõi.</a:t>
            </a:r>
            <a:endParaRPr lang="en-US" sz="1400" dirty="0"/>
          </a:p>
        </p:txBody>
      </p:sp>
      <p:sp>
        <p:nvSpPr>
          <p:cNvPr id="34" name="Shape 32"/>
          <p:cNvSpPr/>
          <p:nvPr/>
        </p:nvSpPr>
        <p:spPr>
          <a:xfrm>
            <a:off x="8030261" y="4315968"/>
            <a:ext cx="3594506" cy="932688"/>
          </a:xfrm>
          <a:prstGeom prst="rect">
            <a:avLst/>
          </a:prstGeom>
          <a:solidFill>
            <a:srgbClr val="EEF3F8"/>
          </a:solidFill>
          <a:ln w="12700">
            <a:solidFill>
              <a:srgbClr val="D6E2EE"/>
            </a:solidFill>
            <a:prstDash val="solid"/>
          </a:ln>
        </p:spPr>
      </p:sp>
      <p:sp>
        <p:nvSpPr>
          <p:cNvPr id="35" name="Shape 33"/>
          <p:cNvSpPr/>
          <p:nvPr/>
        </p:nvSpPr>
        <p:spPr>
          <a:xfrm>
            <a:off x="8030261" y="4315968"/>
            <a:ext cx="64008" cy="932688"/>
          </a:xfrm>
          <a:prstGeom prst="rect">
            <a:avLst/>
          </a:prstGeom>
          <a:solidFill>
            <a:srgbClr val="1A5EA8"/>
          </a:solidFill>
          <a:ln w="12700">
            <a:solidFill>
              <a:srgbClr val="1A5EA8"/>
            </a:solidFill>
            <a:prstDash val="solid"/>
          </a:ln>
        </p:spPr>
      </p:sp>
      <p:sp>
        <p:nvSpPr>
          <p:cNvPr id="36" name="Text 34"/>
          <p:cNvSpPr/>
          <p:nvPr/>
        </p:nvSpPr>
        <p:spPr>
          <a:xfrm>
            <a:off x="8231429" y="4361688"/>
            <a:ext cx="3283610" cy="841248"/>
          </a:xfrm>
          <a:prstGeom prst="rect">
            <a:avLst/>
          </a:prstGeom>
          <a:noFill/>
          <a:ln/>
        </p:spPr>
        <p:txBody>
          <a:bodyPr wrap="square" rtlCol="0" anchor="ctr"/>
          <a:lstStyle/>
          <a:p>
            <a:pPr indent="0" marL="0">
              <a:lnSpc>
                <a:spcPts val="1700"/>
              </a:lnSpc>
              <a:buNone/>
            </a:pPr>
            <a:r>
              <a:rPr lang="en-US" sz="1400" b="1" dirty="0">
                <a:solidFill>
                  <a:srgbClr val="1A5EA8"/>
                </a:solidFill>
                <a:latin typeface="Arial" pitchFamily="34" charset="0"/>
                <a:ea typeface="Arial" pitchFamily="34" charset="-122"/>
                <a:cs typeface="Arial" pitchFamily="34" charset="-120"/>
              </a:rPr>
              <a:t>Kiểm soát sớm</a:t>
            </a:r>
            <a:endParaRPr lang="en-US" sz="1400" dirty="0"/>
          </a:p>
          <a:p>
            <a:pPr indent="0" marL="0">
              <a:lnSpc>
                <a:spcPts val="1700"/>
              </a:lnSpc>
              <a:buNone/>
            </a:pPr>
            <a:r>
              <a:rPr lang="en-US" sz="1150" dirty="0">
                <a:solidFill>
                  <a:srgbClr val="14233A"/>
                </a:solidFill>
                <a:latin typeface="Arial" pitchFamily="34" charset="0"/>
                <a:ea typeface="Arial" pitchFamily="34" charset="-122"/>
                <a:cs typeface="Arial" pitchFamily="34" charset="-120"/>
              </a:rPr>
              <a:t>Sai sót y lệnh được bắt khoảng 60 giây sau khi phát sinh — trước khi hồ sơ được lập.</a:t>
            </a:r>
            <a:endParaRPr lang="en-US" sz="1400" dirty="0"/>
          </a:p>
        </p:txBody>
      </p:sp>
      <p:sp>
        <p:nvSpPr>
          <p:cNvPr id="37" name="Shape 35"/>
          <p:cNvSpPr/>
          <p:nvPr/>
        </p:nvSpPr>
        <p:spPr>
          <a:xfrm>
            <a:off x="566928" y="5468112"/>
            <a:ext cx="11057839" cy="457200"/>
          </a:xfrm>
          <a:prstGeom prst="roundRect">
            <a:avLst>
              <a:gd name="adj" fmla="val 12000"/>
            </a:avLst>
          </a:prstGeom>
          <a:solidFill>
            <a:srgbClr val="0B1F3A"/>
          </a:solidFill>
          <a:ln w="12700">
            <a:solidFill>
              <a:srgbClr val="0B1F3A"/>
            </a:solidFill>
            <a:prstDash val="solid"/>
          </a:ln>
        </p:spPr>
      </p:sp>
      <p:sp>
        <p:nvSpPr>
          <p:cNvPr id="38" name="Text 36"/>
          <p:cNvSpPr/>
          <p:nvPr/>
        </p:nvSpPr>
        <p:spPr>
          <a:xfrm>
            <a:off x="566928" y="5468112"/>
            <a:ext cx="11057839" cy="457200"/>
          </a:xfrm>
          <a:prstGeom prst="rect">
            <a:avLst/>
          </a:prstGeom>
          <a:noFill/>
          <a:ln/>
        </p:spPr>
        <p:txBody>
          <a:bodyPr wrap="square"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Tiền giám định không thay thế quyết định chuyên môn; đây là lớp kiểm soát dữ liệu trước khi gửi.</a:t>
            </a:r>
            <a:endParaRPr lang="en-US" sz="1350" dirty="0"/>
          </a:p>
        </p:txBody>
      </p:sp>
      <p:sp>
        <p:nvSpPr>
          <p:cNvPr id="40" name="Shape 37"/>
          <p:cNvSpPr/>
          <p:nvPr/>
        </p:nvSpPr>
        <p:spPr>
          <a:xfrm>
            <a:off x="566928" y="6382512"/>
            <a:ext cx="11057839" cy="0"/>
          </a:xfrm>
          <a:prstGeom prst="line">
            <a:avLst/>
          </a:prstGeom>
          <a:noFill/>
          <a:ln w="9525">
            <a:solidFill>
              <a:srgbClr val="D6E2EE"/>
            </a:solidFill>
            <a:prstDash val="solid"/>
          </a:ln>
        </p:spPr>
      </p:sp>
      <p:sp>
        <p:nvSpPr>
          <p:cNvPr id="41" name="Text 38"/>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42" name="Text 39"/>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04 / 80</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01 / QUY TRÌNH VẬN HÀNH</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Năm bước hồ sơ đi qua trước khi tới cổng BHXH</a:t>
            </a:r>
            <a:endParaRPr lang="en-US" sz="2600" dirty="0"/>
          </a:p>
        </p:txBody>
      </p:sp>
      <p:sp>
        <p:nvSpPr>
          <p:cNvPr id="4" name="Text 2"/>
          <p:cNvSpPr/>
          <p:nvPr/>
        </p:nvSpPr>
        <p:spPr>
          <a:xfrm>
            <a:off x="566928" y="1078992"/>
            <a:ext cx="11057839" cy="274320"/>
          </a:xfrm>
          <a:prstGeom prst="rect">
            <a:avLst/>
          </a:prstGeom>
          <a:noFill/>
          <a:ln/>
        </p:spPr>
        <p:txBody>
          <a:bodyPr wrap="square" rtlCol="0" anchor="ctr"/>
          <a:lstStyle/>
          <a:p>
            <a:pPr indent="0" marL="0">
              <a:buNone/>
            </a:pPr>
            <a:r>
              <a:rPr lang="en-US" sz="1300" dirty="0">
                <a:solidFill>
                  <a:srgbClr val="5B6B7F"/>
                </a:solidFill>
                <a:latin typeface="Arial" pitchFamily="34" charset="0"/>
                <a:ea typeface="Arial" pitchFamily="34" charset="-122"/>
                <a:cs typeface="Arial" pitchFamily="34" charset="-120"/>
              </a:rPr>
              <a:t>Nạp hồ sơ → Kiểm tra dữ liệu → Ký số → Gửi cổng → Theo dõi kết quả. Ví dụ theo luồng XML 3176.</a:t>
            </a:r>
            <a:endParaRPr lang="en-US" sz="1300" dirty="0"/>
          </a:p>
        </p:txBody>
      </p:sp>
      <p:sp>
        <p:nvSpPr>
          <p:cNvPr id="5" name="Shape 3"/>
          <p:cNvSpPr/>
          <p:nvPr/>
        </p:nvSpPr>
        <p:spPr>
          <a:xfrm>
            <a:off x="566928" y="1508760"/>
            <a:ext cx="2215225" cy="658368"/>
          </a:xfrm>
          <a:prstGeom prst="homePlate">
            <a:avLst/>
          </a:prstGeom>
          <a:solidFill>
            <a:srgbClr val="0B1F3A"/>
          </a:solidFill>
          <a:ln w="12700">
            <a:solidFill>
              <a:srgbClr val="FFFFFF"/>
            </a:solidFill>
            <a:prstDash val="solid"/>
          </a:ln>
        </p:spPr>
      </p:sp>
      <p:sp>
        <p:nvSpPr>
          <p:cNvPr id="6" name="Text 4"/>
          <p:cNvSpPr/>
          <p:nvPr/>
        </p:nvSpPr>
        <p:spPr>
          <a:xfrm>
            <a:off x="694944" y="1508760"/>
            <a:ext cx="1758025" cy="658368"/>
          </a:xfrm>
          <a:prstGeom prst="rect">
            <a:avLst/>
          </a:prstGeom>
          <a:noFill/>
          <a:ln/>
        </p:spPr>
        <p:txBody>
          <a:bodyPr wrap="square" rtlCol="0" anchor="ctr"/>
          <a:lstStyle/>
          <a:p>
            <a:pPr indent="0" marL="0">
              <a:buNone/>
            </a:pPr>
            <a:r>
              <a:rPr lang="en-US" sz="1100" b="1" dirty="0">
                <a:solidFill>
                  <a:srgbClr val="8FC8EC"/>
                </a:solidFill>
                <a:latin typeface="Arial" pitchFamily="34" charset="0"/>
                <a:ea typeface="Arial" pitchFamily="34" charset="-122"/>
                <a:cs typeface="Arial" pitchFamily="34" charset="-120"/>
              </a:rPr>
              <a:t>01  </a:t>
            </a:r>
            <a:pPr indent="0" marL="0">
              <a:buNone/>
            </a:pPr>
            <a:r>
              <a:rPr lang="en-US" sz="1300" b="1" dirty="0">
                <a:solidFill>
                  <a:srgbClr val="FFFFFF"/>
                </a:solidFill>
                <a:latin typeface="Arial" pitchFamily="34" charset="0"/>
                <a:ea typeface="Arial" pitchFamily="34" charset="-122"/>
                <a:cs typeface="Arial" pitchFamily="34" charset="-120"/>
              </a:rPr>
              <a:t>Nạp hồ sơ</a:t>
            </a:r>
            <a:endParaRPr lang="en-US" sz="1100" dirty="0"/>
          </a:p>
        </p:txBody>
      </p:sp>
      <p:sp>
        <p:nvSpPr>
          <p:cNvPr id="7" name="Shape 5"/>
          <p:cNvSpPr/>
          <p:nvPr/>
        </p:nvSpPr>
        <p:spPr>
          <a:xfrm>
            <a:off x="566928" y="2295144"/>
            <a:ext cx="2123785" cy="3218688"/>
          </a:xfrm>
          <a:prstGeom prst="rect">
            <a:avLst/>
          </a:prstGeom>
          <a:solidFill>
            <a:srgbClr val="EEF3F8"/>
          </a:solidFill>
          <a:ln w="12700">
            <a:solidFill>
              <a:srgbClr val="D6E2EE"/>
            </a:solidFill>
            <a:prstDash val="solid"/>
          </a:ln>
        </p:spPr>
      </p:sp>
      <p:sp>
        <p:nvSpPr>
          <p:cNvPr id="8" name="Text 6"/>
          <p:cNvSpPr/>
          <p:nvPr/>
        </p:nvSpPr>
        <p:spPr>
          <a:xfrm>
            <a:off x="676656" y="2368296"/>
            <a:ext cx="1922617" cy="3090672"/>
          </a:xfrm>
          <a:prstGeom prst="rect">
            <a:avLst/>
          </a:prstGeom>
          <a:noFill/>
          <a:ln/>
        </p:spPr>
        <p:txBody>
          <a:bodyPr wrap="square" rtlCol="0" anchor="t"/>
          <a:lstStyle/>
          <a:p>
            <a:pPr indent="0" marL="0">
              <a:lnSpc>
                <a:spcPts val="1400"/>
              </a:lnSpc>
              <a:buNone/>
            </a:pPr>
            <a:r>
              <a:rPr lang="en-US" sz="850" b="1" dirty="0">
                <a:solidFill>
                  <a:srgbClr val="1A5EA8"/>
                </a:solidFill>
                <a:latin typeface="Arial" pitchFamily="34" charset="0"/>
                <a:ea typeface="Arial" pitchFamily="34" charset="-122"/>
                <a:cs typeface="Arial" pitchFamily="34" charset="-120"/>
              </a:rPr>
              <a:t>AI LÀM</a:t>
            </a:r>
            <a:endParaRPr lang="en-US" sz="850" dirty="0"/>
          </a:p>
          <a:p>
            <a:pPr indent="0" marL="0">
              <a:lnSpc>
                <a:spcPts val="1400"/>
              </a:lnSpc>
              <a:buNone/>
            </a:pPr>
            <a:r>
              <a:rPr lang="en-US" sz="1000" dirty="0">
                <a:solidFill>
                  <a:srgbClr val="14233A"/>
                </a:solidFill>
                <a:latin typeface="Arial" pitchFamily="34" charset="0"/>
                <a:ea typeface="Arial" pitchFamily="34" charset="-122"/>
                <a:cs typeface="Arial" pitchFamily="34" charset="-120"/>
              </a:rPr>
              <a:t>Phòng BHYT, hoặc hệ thống tự quét thư mục</a:t>
            </a:r>
            <a:endParaRPr lang="en-US" sz="850" dirty="0"/>
          </a:p>
          <a:p>
            <a:pPr indent="0" marL="0">
              <a:lnSpc>
                <a:spcPts val="1400"/>
              </a:lnSpc>
              <a:spcBef>
                <a:spcPts val="600"/>
              </a:spcBef>
              <a:buNone/>
            </a:pPr>
            <a:r>
              <a:rPr lang="en-US" sz="850" b="1" dirty="0">
                <a:solidFill>
                  <a:srgbClr val="1A5EA8"/>
                </a:solidFill>
                <a:latin typeface="Arial" pitchFamily="34" charset="0"/>
                <a:ea typeface="Arial" pitchFamily="34" charset="-122"/>
                <a:cs typeface="Arial" pitchFamily="34" charset="-120"/>
              </a:rPr>
              <a:t>CHẠY THẾ NÀO</a:t>
            </a:r>
            <a:endParaRPr lang="en-US" sz="850" dirty="0"/>
          </a:p>
          <a:p>
            <a:pPr indent="0" marL="0">
              <a:lnSpc>
                <a:spcPts val="1400"/>
              </a:lnSpc>
              <a:buNone/>
            </a:pPr>
            <a:r>
              <a:rPr lang="en-US" sz="1000" dirty="0">
                <a:solidFill>
                  <a:srgbClr val="14233A"/>
                </a:solidFill>
                <a:latin typeface="Arial" pitchFamily="34" charset="0"/>
                <a:ea typeface="Arial" pitchFamily="34" charset="-122"/>
                <a:cs typeface="Arial" pitchFamily="34" charset="-120"/>
              </a:rPr>
              <a:t>Kéo thả tệp .xml (tối đa 100 MB), hoặc đặt tệp vào thư mục theo dõi — nhận trong vài giây</a:t>
            </a:r>
            <a:endParaRPr lang="en-US" sz="850" dirty="0"/>
          </a:p>
          <a:p>
            <a:pPr indent="0" marL="0">
              <a:lnSpc>
                <a:spcPts val="1400"/>
              </a:lnSpc>
              <a:spcBef>
                <a:spcPts val="600"/>
              </a:spcBef>
              <a:buNone/>
            </a:pPr>
            <a:r>
              <a:rPr lang="en-US" sz="850" b="1" dirty="0">
                <a:solidFill>
                  <a:srgbClr val="1A5EA8"/>
                </a:solidFill>
                <a:latin typeface="Arial" pitchFamily="34" charset="0"/>
                <a:ea typeface="Arial" pitchFamily="34" charset="-122"/>
                <a:cs typeface="Arial" pitchFamily="34" charset="-120"/>
              </a:rPr>
              <a:t>XEM Ở ĐÂU</a:t>
            </a:r>
            <a:endParaRPr lang="en-US" sz="850" dirty="0"/>
          </a:p>
          <a:p>
            <a:pPr indent="0" marL="0">
              <a:lnSpc>
                <a:spcPts val="1400"/>
              </a:lnSpc>
              <a:buNone/>
            </a:pPr>
            <a:r>
              <a:rPr lang="en-US" sz="1000" dirty="0">
                <a:solidFill>
                  <a:srgbClr val="14233A"/>
                </a:solidFill>
                <a:latin typeface="Arial" pitchFamily="34" charset="0"/>
                <a:ea typeface="Arial" pitchFamily="34" charset="-122"/>
                <a:cs typeface="Arial" pitchFamily="34" charset="-120"/>
              </a:rPr>
              <a:t>Hồ sơ XML → Xml 3176 → Nhập khẩu hồ sơ</a:t>
            </a:r>
            <a:endParaRPr lang="en-US" sz="850" dirty="0"/>
          </a:p>
          <a:p>
            <a:pPr indent="0" marL="0">
              <a:lnSpc>
                <a:spcPts val="1400"/>
              </a:lnSpc>
              <a:spcBef>
                <a:spcPts val="600"/>
              </a:spcBef>
              <a:buNone/>
            </a:pPr>
            <a:r>
              <a:rPr lang="en-US" sz="850" b="1" dirty="0">
                <a:solidFill>
                  <a:srgbClr val="1A5EA8"/>
                </a:solidFill>
                <a:latin typeface="Arial" pitchFamily="34" charset="0"/>
                <a:ea typeface="Arial" pitchFamily="34" charset="-122"/>
                <a:cs typeface="Arial" pitchFamily="34" charset="-120"/>
              </a:rPr>
              <a:t>XONG KHI</a:t>
            </a:r>
            <a:endParaRPr lang="en-US" sz="850" dirty="0"/>
          </a:p>
          <a:p>
            <a:pPr indent="0" marL="0">
              <a:lnSpc>
                <a:spcPts val="1400"/>
              </a:lnSpc>
              <a:buNone/>
            </a:pPr>
            <a:r>
              <a:rPr lang="en-US" sz="1000" dirty="0">
                <a:solidFill>
                  <a:srgbClr val="14233A"/>
                </a:solidFill>
                <a:latin typeface="Arial" pitchFamily="34" charset="0"/>
                <a:ea typeface="Arial" pitchFamily="34" charset="-122"/>
                <a:cs typeface="Arial" pitchFamily="34" charset="-120"/>
              </a:rPr>
              <a:t>Hồ sơ hiện ở Danh sách hồ sơ. Tệp hỏng nằm trong thư mục con "loi"</a:t>
            </a:r>
            <a:endParaRPr lang="en-US" sz="850" dirty="0"/>
          </a:p>
        </p:txBody>
      </p:sp>
      <p:sp>
        <p:nvSpPr>
          <p:cNvPr id="9" name="Shape 7"/>
          <p:cNvSpPr/>
          <p:nvPr/>
        </p:nvSpPr>
        <p:spPr>
          <a:xfrm>
            <a:off x="2800441" y="1508760"/>
            <a:ext cx="2215225" cy="658368"/>
          </a:xfrm>
          <a:prstGeom prst="chevron">
            <a:avLst/>
          </a:prstGeom>
          <a:solidFill>
            <a:srgbClr val="1A5EA8"/>
          </a:solidFill>
          <a:ln w="12700">
            <a:solidFill>
              <a:srgbClr val="FFFFFF"/>
            </a:solidFill>
            <a:prstDash val="solid"/>
          </a:ln>
        </p:spPr>
      </p:sp>
      <p:sp>
        <p:nvSpPr>
          <p:cNvPr id="10" name="Text 8"/>
          <p:cNvSpPr/>
          <p:nvPr/>
        </p:nvSpPr>
        <p:spPr>
          <a:xfrm>
            <a:off x="3074761" y="1508760"/>
            <a:ext cx="1758025" cy="658368"/>
          </a:xfrm>
          <a:prstGeom prst="rect">
            <a:avLst/>
          </a:prstGeom>
          <a:noFill/>
          <a:ln/>
        </p:spPr>
        <p:txBody>
          <a:bodyPr wrap="square" rtlCol="0" anchor="ctr"/>
          <a:lstStyle/>
          <a:p>
            <a:pPr indent="0" marL="0">
              <a:buNone/>
            </a:pPr>
            <a:r>
              <a:rPr lang="en-US" sz="1100" b="1" dirty="0">
                <a:solidFill>
                  <a:srgbClr val="8FC8EC"/>
                </a:solidFill>
                <a:latin typeface="Arial" pitchFamily="34" charset="0"/>
                <a:ea typeface="Arial" pitchFamily="34" charset="-122"/>
                <a:cs typeface="Arial" pitchFamily="34" charset="-120"/>
              </a:rPr>
              <a:t>02  </a:t>
            </a:r>
            <a:pPr indent="0" marL="0">
              <a:buNone/>
            </a:pPr>
            <a:r>
              <a:rPr lang="en-US" sz="1300" b="1" dirty="0">
                <a:solidFill>
                  <a:srgbClr val="FFFFFF"/>
                </a:solidFill>
                <a:latin typeface="Arial" pitchFamily="34" charset="0"/>
                <a:ea typeface="Arial" pitchFamily="34" charset="-122"/>
                <a:cs typeface="Arial" pitchFamily="34" charset="-120"/>
              </a:rPr>
              <a:t>Kiểm tra dữ liệu</a:t>
            </a:r>
            <a:endParaRPr lang="en-US" sz="1100" dirty="0"/>
          </a:p>
        </p:txBody>
      </p:sp>
      <p:sp>
        <p:nvSpPr>
          <p:cNvPr id="11" name="Shape 9"/>
          <p:cNvSpPr/>
          <p:nvPr/>
        </p:nvSpPr>
        <p:spPr>
          <a:xfrm>
            <a:off x="2800441" y="2295144"/>
            <a:ext cx="2123785" cy="3218688"/>
          </a:xfrm>
          <a:prstGeom prst="rect">
            <a:avLst/>
          </a:prstGeom>
          <a:solidFill>
            <a:srgbClr val="E6F1FA"/>
          </a:solidFill>
          <a:ln w="12700">
            <a:solidFill>
              <a:srgbClr val="D6E2EE"/>
            </a:solidFill>
            <a:prstDash val="solid"/>
          </a:ln>
        </p:spPr>
      </p:sp>
      <p:sp>
        <p:nvSpPr>
          <p:cNvPr id="12" name="Text 10"/>
          <p:cNvSpPr/>
          <p:nvPr/>
        </p:nvSpPr>
        <p:spPr>
          <a:xfrm>
            <a:off x="2910169" y="2368296"/>
            <a:ext cx="1922617" cy="3090672"/>
          </a:xfrm>
          <a:prstGeom prst="rect">
            <a:avLst/>
          </a:prstGeom>
          <a:noFill/>
          <a:ln/>
        </p:spPr>
        <p:txBody>
          <a:bodyPr wrap="square" rtlCol="0" anchor="t"/>
          <a:lstStyle/>
          <a:p>
            <a:pPr indent="0" marL="0">
              <a:lnSpc>
                <a:spcPts val="1400"/>
              </a:lnSpc>
              <a:buNone/>
            </a:pPr>
            <a:r>
              <a:rPr lang="en-US" sz="850" b="1" dirty="0">
                <a:solidFill>
                  <a:srgbClr val="1A5EA8"/>
                </a:solidFill>
                <a:latin typeface="Arial" pitchFamily="34" charset="0"/>
                <a:ea typeface="Arial" pitchFamily="34" charset="-122"/>
                <a:cs typeface="Arial" pitchFamily="34" charset="-120"/>
              </a:rPr>
              <a:t>AI LÀM</a:t>
            </a:r>
            <a:endParaRPr lang="en-US" sz="850" dirty="0"/>
          </a:p>
          <a:p>
            <a:pPr indent="0" marL="0">
              <a:lnSpc>
                <a:spcPts val="1400"/>
              </a:lnSpc>
              <a:buNone/>
            </a:pPr>
            <a:r>
              <a:rPr lang="en-US" sz="1000" dirty="0">
                <a:solidFill>
                  <a:srgbClr val="14233A"/>
                </a:solidFill>
                <a:latin typeface="Arial" pitchFamily="34" charset="0"/>
                <a:ea typeface="Arial" pitchFamily="34" charset="-122"/>
                <a:cs typeface="Arial" pitchFamily="34" charset="-120"/>
              </a:rPr>
              <a:t>Hệ thống chạy nền; người dùng đọc lỗi, phối hợp khoa sửa</a:t>
            </a:r>
            <a:endParaRPr lang="en-US" sz="850" dirty="0"/>
          </a:p>
          <a:p>
            <a:pPr indent="0" marL="0">
              <a:lnSpc>
                <a:spcPts val="1400"/>
              </a:lnSpc>
              <a:spcBef>
                <a:spcPts val="600"/>
              </a:spcBef>
              <a:buNone/>
            </a:pPr>
            <a:r>
              <a:rPr lang="en-US" sz="850" b="1" dirty="0">
                <a:solidFill>
                  <a:srgbClr val="1A5EA8"/>
                </a:solidFill>
                <a:latin typeface="Arial" pitchFamily="34" charset="0"/>
                <a:ea typeface="Arial" pitchFamily="34" charset="-122"/>
                <a:cs typeface="Arial" pitchFamily="34" charset="-120"/>
              </a:rPr>
              <a:t>CHẠY THẾ NÀO</a:t>
            </a:r>
            <a:endParaRPr lang="en-US" sz="850" dirty="0"/>
          </a:p>
          <a:p>
            <a:pPr indent="0" marL="0">
              <a:lnSpc>
                <a:spcPts val="1400"/>
              </a:lnSpc>
              <a:buNone/>
            </a:pPr>
            <a:r>
              <a:rPr lang="en-US" sz="1000" dirty="0">
                <a:solidFill>
                  <a:srgbClr val="14233A"/>
                </a:solidFill>
                <a:latin typeface="Arial" pitchFamily="34" charset="0"/>
                <a:ea typeface="Arial" pitchFamily="34" charset="-122"/>
                <a:cs typeface="Arial" pitchFamily="34" charset="-120"/>
              </a:rPr>
              <a:t>Kiểm từng XML, tra thẻ BHYT, đối chiếu chéo và đối chiếu danh mục</a:t>
            </a:r>
            <a:endParaRPr lang="en-US" sz="850" dirty="0"/>
          </a:p>
          <a:p>
            <a:pPr indent="0" marL="0">
              <a:lnSpc>
                <a:spcPts val="1400"/>
              </a:lnSpc>
              <a:spcBef>
                <a:spcPts val="600"/>
              </a:spcBef>
              <a:buNone/>
            </a:pPr>
            <a:r>
              <a:rPr lang="en-US" sz="850" b="1" dirty="0">
                <a:solidFill>
                  <a:srgbClr val="1A5EA8"/>
                </a:solidFill>
                <a:latin typeface="Arial" pitchFamily="34" charset="0"/>
                <a:ea typeface="Arial" pitchFamily="34" charset="-122"/>
                <a:cs typeface="Arial" pitchFamily="34" charset="-120"/>
              </a:rPr>
              <a:t>XEM Ở ĐÂU</a:t>
            </a:r>
            <a:endParaRPr lang="en-US" sz="850" dirty="0"/>
          </a:p>
          <a:p>
            <a:pPr indent="0" marL="0">
              <a:lnSpc>
                <a:spcPts val="1400"/>
              </a:lnSpc>
              <a:buNone/>
            </a:pPr>
            <a:r>
              <a:rPr lang="en-US" sz="1000" dirty="0">
                <a:solidFill>
                  <a:srgbClr val="14233A"/>
                </a:solidFill>
                <a:latin typeface="Arial" pitchFamily="34" charset="0"/>
                <a:ea typeface="Arial" pitchFamily="34" charset="-122"/>
                <a:cs typeface="Arial" pitchFamily="34" charset="-120"/>
              </a:rPr>
              <a:t>Danh sách hồ sơ (dòng đỏ), tab Lỗi XML, Tra cứu lỗi hồ sơ</a:t>
            </a:r>
            <a:endParaRPr lang="en-US" sz="850" dirty="0"/>
          </a:p>
          <a:p>
            <a:pPr indent="0" marL="0">
              <a:lnSpc>
                <a:spcPts val="1400"/>
              </a:lnSpc>
              <a:spcBef>
                <a:spcPts val="600"/>
              </a:spcBef>
              <a:buNone/>
            </a:pPr>
            <a:r>
              <a:rPr lang="en-US" sz="850" b="1" dirty="0">
                <a:solidFill>
                  <a:srgbClr val="1A5EA8"/>
                </a:solidFill>
                <a:latin typeface="Arial" pitchFamily="34" charset="0"/>
                <a:ea typeface="Arial" pitchFamily="34" charset="-122"/>
                <a:cs typeface="Arial" pitchFamily="34" charset="-120"/>
              </a:rPr>
              <a:t>XONG KHI</a:t>
            </a:r>
            <a:endParaRPr lang="en-US" sz="850" dirty="0"/>
          </a:p>
          <a:p>
            <a:pPr indent="0" marL="0">
              <a:lnSpc>
                <a:spcPts val="1400"/>
              </a:lnSpc>
              <a:buNone/>
            </a:pPr>
            <a:r>
              <a:rPr lang="en-US" sz="1000" dirty="0">
                <a:solidFill>
                  <a:srgbClr val="14233A"/>
                </a:solidFill>
                <a:latin typeface="Arial" pitchFamily="34" charset="0"/>
                <a:ea typeface="Arial" pitchFamily="34" charset="-122"/>
                <a:cs typeface="Arial" pitchFamily="34" charset="-120"/>
              </a:rPr>
              <a:t>Số hàng đợi ở góc dưới phải về 0 và hồ sơ hết lỗi Nghiêm trọng</a:t>
            </a:r>
            <a:endParaRPr lang="en-US" sz="850" dirty="0"/>
          </a:p>
        </p:txBody>
      </p:sp>
      <p:sp>
        <p:nvSpPr>
          <p:cNvPr id="13" name="Shape 11"/>
          <p:cNvSpPr/>
          <p:nvPr/>
        </p:nvSpPr>
        <p:spPr>
          <a:xfrm>
            <a:off x="5033955" y="1508760"/>
            <a:ext cx="2215225" cy="658368"/>
          </a:xfrm>
          <a:prstGeom prst="chevron">
            <a:avLst/>
          </a:prstGeom>
          <a:solidFill>
            <a:srgbClr val="0B1F3A"/>
          </a:solidFill>
          <a:ln w="12700">
            <a:solidFill>
              <a:srgbClr val="FFFFFF"/>
            </a:solidFill>
            <a:prstDash val="solid"/>
          </a:ln>
        </p:spPr>
      </p:sp>
      <p:sp>
        <p:nvSpPr>
          <p:cNvPr id="14" name="Text 12"/>
          <p:cNvSpPr/>
          <p:nvPr/>
        </p:nvSpPr>
        <p:spPr>
          <a:xfrm>
            <a:off x="5308275" y="1508760"/>
            <a:ext cx="1758025" cy="658368"/>
          </a:xfrm>
          <a:prstGeom prst="rect">
            <a:avLst/>
          </a:prstGeom>
          <a:noFill/>
          <a:ln/>
        </p:spPr>
        <p:txBody>
          <a:bodyPr wrap="square" rtlCol="0" anchor="ctr"/>
          <a:lstStyle/>
          <a:p>
            <a:pPr indent="0" marL="0">
              <a:buNone/>
            </a:pPr>
            <a:r>
              <a:rPr lang="en-US" sz="1100" b="1" dirty="0">
                <a:solidFill>
                  <a:srgbClr val="8FC8EC"/>
                </a:solidFill>
                <a:latin typeface="Arial" pitchFamily="34" charset="0"/>
                <a:ea typeface="Arial" pitchFamily="34" charset="-122"/>
                <a:cs typeface="Arial" pitchFamily="34" charset="-120"/>
              </a:rPr>
              <a:t>03  </a:t>
            </a:r>
            <a:pPr indent="0" marL="0">
              <a:buNone/>
            </a:pPr>
            <a:r>
              <a:rPr lang="en-US" sz="1300" b="1" dirty="0">
                <a:solidFill>
                  <a:srgbClr val="FFFFFF"/>
                </a:solidFill>
                <a:latin typeface="Arial" pitchFamily="34" charset="0"/>
                <a:ea typeface="Arial" pitchFamily="34" charset="-122"/>
                <a:cs typeface="Arial" pitchFamily="34" charset="-120"/>
              </a:rPr>
              <a:t>Ký số</a:t>
            </a:r>
            <a:endParaRPr lang="en-US" sz="1100" dirty="0"/>
          </a:p>
        </p:txBody>
      </p:sp>
      <p:sp>
        <p:nvSpPr>
          <p:cNvPr id="15" name="Shape 13"/>
          <p:cNvSpPr/>
          <p:nvPr/>
        </p:nvSpPr>
        <p:spPr>
          <a:xfrm>
            <a:off x="5033955" y="2295144"/>
            <a:ext cx="2123785" cy="3218688"/>
          </a:xfrm>
          <a:prstGeom prst="rect">
            <a:avLst/>
          </a:prstGeom>
          <a:solidFill>
            <a:srgbClr val="EEF3F8"/>
          </a:solidFill>
          <a:ln w="12700">
            <a:solidFill>
              <a:srgbClr val="D6E2EE"/>
            </a:solidFill>
            <a:prstDash val="solid"/>
          </a:ln>
        </p:spPr>
      </p:sp>
      <p:sp>
        <p:nvSpPr>
          <p:cNvPr id="16" name="Text 14"/>
          <p:cNvSpPr/>
          <p:nvPr/>
        </p:nvSpPr>
        <p:spPr>
          <a:xfrm>
            <a:off x="5143683" y="2368296"/>
            <a:ext cx="1922617" cy="3090672"/>
          </a:xfrm>
          <a:prstGeom prst="rect">
            <a:avLst/>
          </a:prstGeom>
          <a:noFill/>
          <a:ln/>
        </p:spPr>
        <p:txBody>
          <a:bodyPr wrap="square" rtlCol="0" anchor="t"/>
          <a:lstStyle/>
          <a:p>
            <a:pPr indent="0" marL="0">
              <a:lnSpc>
                <a:spcPts val="1400"/>
              </a:lnSpc>
              <a:buNone/>
            </a:pPr>
            <a:r>
              <a:rPr lang="en-US" sz="850" b="1" dirty="0">
                <a:solidFill>
                  <a:srgbClr val="1A5EA8"/>
                </a:solidFill>
                <a:latin typeface="Arial" pitchFamily="34" charset="0"/>
                <a:ea typeface="Arial" pitchFamily="34" charset="-122"/>
                <a:cs typeface="Arial" pitchFamily="34" charset="-120"/>
              </a:rPr>
              <a:t>AI LÀM</a:t>
            </a:r>
            <a:endParaRPr lang="en-US" sz="850" dirty="0"/>
          </a:p>
          <a:p>
            <a:pPr indent="0" marL="0">
              <a:lnSpc>
                <a:spcPts val="1400"/>
              </a:lnSpc>
              <a:buNone/>
            </a:pPr>
            <a:r>
              <a:rPr lang="en-US" sz="1000" dirty="0">
                <a:solidFill>
                  <a:srgbClr val="14233A"/>
                </a:solidFill>
                <a:latin typeface="Arial" pitchFamily="34" charset="0"/>
                <a:ea typeface="Arial" pitchFamily="34" charset="-122"/>
                <a:cs typeface="Arial" pitchFamily="34" charset="-120"/>
              </a:rPr>
              <a:t>Hệ thống, bằng HSM hoặc USB Token</a:t>
            </a:r>
            <a:endParaRPr lang="en-US" sz="850" dirty="0"/>
          </a:p>
          <a:p>
            <a:pPr indent="0" marL="0">
              <a:lnSpc>
                <a:spcPts val="1400"/>
              </a:lnSpc>
              <a:spcBef>
                <a:spcPts val="600"/>
              </a:spcBef>
              <a:buNone/>
            </a:pPr>
            <a:r>
              <a:rPr lang="en-US" sz="850" b="1" dirty="0">
                <a:solidFill>
                  <a:srgbClr val="1A5EA8"/>
                </a:solidFill>
                <a:latin typeface="Arial" pitchFamily="34" charset="0"/>
                <a:ea typeface="Arial" pitchFamily="34" charset="-122"/>
                <a:cs typeface="Arial" pitchFamily="34" charset="-120"/>
              </a:rPr>
              <a:t>CHẠY THẾ NÀO</a:t>
            </a:r>
            <a:endParaRPr lang="en-US" sz="850" dirty="0"/>
          </a:p>
          <a:p>
            <a:pPr indent="0" marL="0">
              <a:lnSpc>
                <a:spcPts val="1400"/>
              </a:lnSpc>
              <a:buNone/>
            </a:pPr>
            <a:r>
              <a:rPr lang="en-US" sz="1000" dirty="0">
                <a:solidFill>
                  <a:srgbClr val="14233A"/>
                </a:solidFill>
                <a:latin typeface="Arial" pitchFamily="34" charset="0"/>
                <a:ea typeface="Arial" pitchFamily="34" charset="-122"/>
                <a:cs typeface="Arial" pitchFamily="34" charset="-120"/>
              </a:rPr>
              <a:t>Tự động khi hết lỗi Nghiêm trọng và ngày ra viện không ở tương lai</a:t>
            </a:r>
            <a:endParaRPr lang="en-US" sz="850" dirty="0"/>
          </a:p>
          <a:p>
            <a:pPr indent="0" marL="0">
              <a:lnSpc>
                <a:spcPts val="1400"/>
              </a:lnSpc>
              <a:spcBef>
                <a:spcPts val="600"/>
              </a:spcBef>
              <a:buNone/>
            </a:pPr>
            <a:r>
              <a:rPr lang="en-US" sz="850" b="1" dirty="0">
                <a:solidFill>
                  <a:srgbClr val="1A5EA8"/>
                </a:solidFill>
                <a:latin typeface="Arial" pitchFamily="34" charset="0"/>
                <a:ea typeface="Arial" pitchFamily="34" charset="-122"/>
                <a:cs typeface="Arial" pitchFamily="34" charset="-120"/>
              </a:rPr>
              <a:t>XEM Ở ĐÂU</a:t>
            </a:r>
            <a:endParaRPr lang="en-US" sz="850" dirty="0"/>
          </a:p>
          <a:p>
            <a:pPr indent="0" marL="0">
              <a:lnSpc>
                <a:spcPts val="1400"/>
              </a:lnSpc>
              <a:buNone/>
            </a:pPr>
            <a:r>
              <a:rPr lang="en-US" sz="1000" dirty="0">
                <a:solidFill>
                  <a:srgbClr val="14233A"/>
                </a:solidFill>
                <a:latin typeface="Arial" pitchFamily="34" charset="0"/>
                <a:ea typeface="Arial" pitchFamily="34" charset="-122"/>
                <a:cs typeface="Arial" pitchFamily="34" charset="-120"/>
              </a:rPr>
              <a:t>Cột Ký XML</a:t>
            </a:r>
            <a:endParaRPr lang="en-US" sz="850" dirty="0"/>
          </a:p>
          <a:p>
            <a:pPr indent="0" marL="0">
              <a:lnSpc>
                <a:spcPts val="1400"/>
              </a:lnSpc>
              <a:spcBef>
                <a:spcPts val="600"/>
              </a:spcBef>
              <a:buNone/>
            </a:pPr>
            <a:r>
              <a:rPr lang="en-US" sz="850" b="1" dirty="0">
                <a:solidFill>
                  <a:srgbClr val="1A5EA8"/>
                </a:solidFill>
                <a:latin typeface="Arial" pitchFamily="34" charset="0"/>
                <a:ea typeface="Arial" pitchFamily="34" charset="-122"/>
                <a:cs typeface="Arial" pitchFamily="34" charset="-120"/>
              </a:rPr>
              <a:t>XONG KHI</a:t>
            </a:r>
            <a:endParaRPr lang="en-US" sz="850" dirty="0"/>
          </a:p>
          <a:p>
            <a:pPr indent="0" marL="0">
              <a:lnSpc>
                <a:spcPts val="1400"/>
              </a:lnSpc>
              <a:buNone/>
            </a:pPr>
            <a:r>
              <a:rPr lang="en-US" sz="1000" dirty="0">
                <a:solidFill>
                  <a:srgbClr val="14233A"/>
                </a:solidFill>
                <a:latin typeface="Arial" pitchFamily="34" charset="0"/>
                <a:ea typeface="Arial" pitchFamily="34" charset="-122"/>
                <a:cs typeface="Arial" pitchFamily="34" charset="-120"/>
              </a:rPr>
              <a:t>"Đã ký số (HSM)" hoặc "Đã ký số (USB Token)"</a:t>
            </a:r>
            <a:endParaRPr lang="en-US" sz="850" dirty="0"/>
          </a:p>
        </p:txBody>
      </p:sp>
      <p:sp>
        <p:nvSpPr>
          <p:cNvPr id="17" name="Shape 15"/>
          <p:cNvSpPr/>
          <p:nvPr/>
        </p:nvSpPr>
        <p:spPr>
          <a:xfrm>
            <a:off x="7267468" y="1508760"/>
            <a:ext cx="2215225" cy="658368"/>
          </a:xfrm>
          <a:prstGeom prst="chevron">
            <a:avLst/>
          </a:prstGeom>
          <a:solidFill>
            <a:srgbClr val="0B1F3A"/>
          </a:solidFill>
          <a:ln w="12700">
            <a:solidFill>
              <a:srgbClr val="FFFFFF"/>
            </a:solidFill>
            <a:prstDash val="solid"/>
          </a:ln>
        </p:spPr>
      </p:sp>
      <p:sp>
        <p:nvSpPr>
          <p:cNvPr id="18" name="Text 16"/>
          <p:cNvSpPr/>
          <p:nvPr/>
        </p:nvSpPr>
        <p:spPr>
          <a:xfrm>
            <a:off x="7541788" y="1508760"/>
            <a:ext cx="1758025" cy="658368"/>
          </a:xfrm>
          <a:prstGeom prst="rect">
            <a:avLst/>
          </a:prstGeom>
          <a:noFill/>
          <a:ln/>
        </p:spPr>
        <p:txBody>
          <a:bodyPr wrap="square" rtlCol="0" anchor="ctr"/>
          <a:lstStyle/>
          <a:p>
            <a:pPr indent="0" marL="0">
              <a:buNone/>
            </a:pPr>
            <a:r>
              <a:rPr lang="en-US" sz="1100" b="1" dirty="0">
                <a:solidFill>
                  <a:srgbClr val="8FC8EC"/>
                </a:solidFill>
                <a:latin typeface="Arial" pitchFamily="34" charset="0"/>
                <a:ea typeface="Arial" pitchFamily="34" charset="-122"/>
                <a:cs typeface="Arial" pitchFamily="34" charset="-120"/>
              </a:rPr>
              <a:t>04  </a:t>
            </a:r>
            <a:pPr indent="0" marL="0">
              <a:buNone/>
            </a:pPr>
            <a:r>
              <a:rPr lang="en-US" sz="1300" b="1" dirty="0">
                <a:solidFill>
                  <a:srgbClr val="FFFFFF"/>
                </a:solidFill>
                <a:latin typeface="Arial" pitchFamily="34" charset="0"/>
                <a:ea typeface="Arial" pitchFamily="34" charset="-122"/>
                <a:cs typeface="Arial" pitchFamily="34" charset="-120"/>
              </a:rPr>
              <a:t>Gửi cổng</a:t>
            </a:r>
            <a:endParaRPr lang="en-US" sz="1100" dirty="0"/>
          </a:p>
        </p:txBody>
      </p:sp>
      <p:sp>
        <p:nvSpPr>
          <p:cNvPr id="19" name="Shape 17"/>
          <p:cNvSpPr/>
          <p:nvPr/>
        </p:nvSpPr>
        <p:spPr>
          <a:xfrm>
            <a:off x="7267468" y="2295144"/>
            <a:ext cx="2123785" cy="3218688"/>
          </a:xfrm>
          <a:prstGeom prst="rect">
            <a:avLst/>
          </a:prstGeom>
          <a:solidFill>
            <a:srgbClr val="EEF3F8"/>
          </a:solidFill>
          <a:ln w="12700">
            <a:solidFill>
              <a:srgbClr val="D6E2EE"/>
            </a:solidFill>
            <a:prstDash val="solid"/>
          </a:ln>
        </p:spPr>
      </p:sp>
      <p:sp>
        <p:nvSpPr>
          <p:cNvPr id="20" name="Text 18"/>
          <p:cNvSpPr/>
          <p:nvPr/>
        </p:nvSpPr>
        <p:spPr>
          <a:xfrm>
            <a:off x="7377196" y="2368296"/>
            <a:ext cx="1922617" cy="3090672"/>
          </a:xfrm>
          <a:prstGeom prst="rect">
            <a:avLst/>
          </a:prstGeom>
          <a:noFill/>
          <a:ln/>
        </p:spPr>
        <p:txBody>
          <a:bodyPr wrap="square" rtlCol="0" anchor="t"/>
          <a:lstStyle/>
          <a:p>
            <a:pPr indent="0" marL="0">
              <a:lnSpc>
                <a:spcPts val="1400"/>
              </a:lnSpc>
              <a:buNone/>
            </a:pPr>
            <a:r>
              <a:rPr lang="en-US" sz="850" b="1" dirty="0">
                <a:solidFill>
                  <a:srgbClr val="1A5EA8"/>
                </a:solidFill>
                <a:latin typeface="Arial" pitchFamily="34" charset="0"/>
                <a:ea typeface="Arial" pitchFamily="34" charset="-122"/>
                <a:cs typeface="Arial" pitchFamily="34" charset="-120"/>
              </a:rPr>
              <a:t>AI LÀM</a:t>
            </a:r>
            <a:endParaRPr lang="en-US" sz="850" dirty="0"/>
          </a:p>
          <a:p>
            <a:pPr indent="0" marL="0">
              <a:lnSpc>
                <a:spcPts val="1400"/>
              </a:lnSpc>
              <a:buNone/>
            </a:pPr>
            <a:r>
              <a:rPr lang="en-US" sz="1000" dirty="0">
                <a:solidFill>
                  <a:srgbClr val="14233A"/>
                </a:solidFill>
                <a:latin typeface="Arial" pitchFamily="34" charset="0"/>
                <a:ea typeface="Arial" pitchFamily="34" charset="-122"/>
                <a:cs typeface="Arial" pitchFamily="34" charset="-120"/>
              </a:rPr>
              <a:t>Hệ thống — chức năng tự gửi phải được bật cho từng cơ sở (mặc định TẮT)</a:t>
            </a:r>
            <a:endParaRPr lang="en-US" sz="850" dirty="0"/>
          </a:p>
          <a:p>
            <a:pPr indent="0" marL="0">
              <a:lnSpc>
                <a:spcPts val="1400"/>
              </a:lnSpc>
              <a:spcBef>
                <a:spcPts val="600"/>
              </a:spcBef>
              <a:buNone/>
            </a:pPr>
            <a:r>
              <a:rPr lang="en-US" sz="850" b="1" dirty="0">
                <a:solidFill>
                  <a:srgbClr val="1A5EA8"/>
                </a:solidFill>
                <a:latin typeface="Arial" pitchFamily="34" charset="0"/>
                <a:ea typeface="Arial" pitchFamily="34" charset="-122"/>
                <a:cs typeface="Arial" pitchFamily="34" charset="-120"/>
              </a:rPr>
              <a:t>CHẠY THẾ NÀO</a:t>
            </a:r>
            <a:endParaRPr lang="en-US" sz="850" dirty="0"/>
          </a:p>
          <a:p>
            <a:pPr indent="0" marL="0">
              <a:lnSpc>
                <a:spcPts val="1400"/>
              </a:lnSpc>
              <a:buNone/>
            </a:pPr>
            <a:r>
              <a:rPr lang="en-US" sz="1000" dirty="0">
                <a:solidFill>
                  <a:srgbClr val="14233A"/>
                </a:solidFill>
                <a:latin typeface="Arial" pitchFamily="34" charset="0"/>
                <a:ea typeface="Arial" pitchFamily="34" charset="-122"/>
                <a:cs typeface="Arial" pitchFamily="34" charset="-120"/>
              </a:rPr>
              <a:t>Chỉ gửi hồ sơ đã ký. Lỗi mạng thì tự thử lại tối đa 3 lần</a:t>
            </a:r>
            <a:endParaRPr lang="en-US" sz="850" dirty="0"/>
          </a:p>
          <a:p>
            <a:pPr indent="0" marL="0">
              <a:lnSpc>
                <a:spcPts val="1400"/>
              </a:lnSpc>
              <a:spcBef>
                <a:spcPts val="600"/>
              </a:spcBef>
              <a:buNone/>
            </a:pPr>
            <a:r>
              <a:rPr lang="en-US" sz="850" b="1" dirty="0">
                <a:solidFill>
                  <a:srgbClr val="1A5EA8"/>
                </a:solidFill>
                <a:latin typeface="Arial" pitchFamily="34" charset="0"/>
                <a:ea typeface="Arial" pitchFamily="34" charset="-122"/>
                <a:cs typeface="Arial" pitchFamily="34" charset="-120"/>
              </a:rPr>
              <a:t>XEM Ở ĐÂU</a:t>
            </a:r>
            <a:endParaRPr lang="en-US" sz="850" dirty="0"/>
          </a:p>
          <a:p>
            <a:pPr indent="0" marL="0">
              <a:lnSpc>
                <a:spcPts val="1400"/>
              </a:lnSpc>
              <a:buNone/>
            </a:pPr>
            <a:r>
              <a:rPr lang="en-US" sz="1000" dirty="0">
                <a:solidFill>
                  <a:srgbClr val="14233A"/>
                </a:solidFill>
                <a:latin typeface="Arial" pitchFamily="34" charset="0"/>
                <a:ea typeface="Arial" pitchFamily="34" charset="-122"/>
                <a:cs typeface="Arial" pitchFamily="34" charset="-120"/>
              </a:rPr>
              <a:t>Cột Sub (rê chuột xem thông điệp)</a:t>
            </a:r>
            <a:endParaRPr lang="en-US" sz="850" dirty="0"/>
          </a:p>
          <a:p>
            <a:pPr indent="0" marL="0">
              <a:lnSpc>
                <a:spcPts val="1400"/>
              </a:lnSpc>
              <a:spcBef>
                <a:spcPts val="600"/>
              </a:spcBef>
              <a:buNone/>
            </a:pPr>
            <a:r>
              <a:rPr lang="en-US" sz="850" b="1" dirty="0">
                <a:solidFill>
                  <a:srgbClr val="1A5EA8"/>
                </a:solidFill>
                <a:latin typeface="Arial" pitchFamily="34" charset="0"/>
                <a:ea typeface="Arial" pitchFamily="34" charset="-122"/>
                <a:cs typeface="Arial" pitchFamily="34" charset="-120"/>
              </a:rPr>
              <a:t>XONG KHI</a:t>
            </a:r>
            <a:endParaRPr lang="en-US" sz="850" dirty="0"/>
          </a:p>
          <a:p>
            <a:pPr indent="0" marL="0">
              <a:lnSpc>
                <a:spcPts val="1400"/>
              </a:lnSpc>
              <a:buNone/>
            </a:pPr>
            <a:r>
              <a:rPr lang="en-US" sz="1000" dirty="0">
                <a:solidFill>
                  <a:srgbClr val="14233A"/>
                </a:solidFill>
                <a:latin typeface="Arial" pitchFamily="34" charset="0"/>
                <a:ea typeface="Arial" pitchFamily="34" charset="-122"/>
                <a:cs typeface="Arial" pitchFamily="34" charset="-120"/>
              </a:rPr>
              <a:t>Có thời điểm gửi, không kèm thông điệp lỗi</a:t>
            </a:r>
            <a:endParaRPr lang="en-US" sz="850" dirty="0"/>
          </a:p>
        </p:txBody>
      </p:sp>
      <p:sp>
        <p:nvSpPr>
          <p:cNvPr id="21" name="Shape 19"/>
          <p:cNvSpPr/>
          <p:nvPr/>
        </p:nvSpPr>
        <p:spPr>
          <a:xfrm>
            <a:off x="9500982" y="1508760"/>
            <a:ext cx="2123785" cy="658368"/>
          </a:xfrm>
          <a:prstGeom prst="chevron">
            <a:avLst/>
          </a:prstGeom>
          <a:solidFill>
            <a:srgbClr val="0B1F3A"/>
          </a:solidFill>
          <a:ln w="12700">
            <a:solidFill>
              <a:srgbClr val="FFFFFF"/>
            </a:solidFill>
            <a:prstDash val="solid"/>
          </a:ln>
        </p:spPr>
      </p:sp>
      <p:sp>
        <p:nvSpPr>
          <p:cNvPr id="22" name="Text 20"/>
          <p:cNvSpPr/>
          <p:nvPr/>
        </p:nvSpPr>
        <p:spPr>
          <a:xfrm>
            <a:off x="9775302" y="1508760"/>
            <a:ext cx="1758025" cy="658368"/>
          </a:xfrm>
          <a:prstGeom prst="rect">
            <a:avLst/>
          </a:prstGeom>
          <a:noFill/>
          <a:ln/>
        </p:spPr>
        <p:txBody>
          <a:bodyPr wrap="square" rtlCol="0" anchor="ctr"/>
          <a:lstStyle/>
          <a:p>
            <a:pPr indent="0" marL="0">
              <a:buNone/>
            </a:pPr>
            <a:r>
              <a:rPr lang="en-US" sz="1100" b="1" dirty="0">
                <a:solidFill>
                  <a:srgbClr val="8FC8EC"/>
                </a:solidFill>
                <a:latin typeface="Arial" pitchFamily="34" charset="0"/>
                <a:ea typeface="Arial" pitchFamily="34" charset="-122"/>
                <a:cs typeface="Arial" pitchFamily="34" charset="-120"/>
              </a:rPr>
              <a:t>05  </a:t>
            </a:r>
            <a:pPr indent="0" marL="0">
              <a:buNone/>
            </a:pPr>
            <a:r>
              <a:rPr lang="en-US" sz="1300" b="1" dirty="0">
                <a:solidFill>
                  <a:srgbClr val="FFFFFF"/>
                </a:solidFill>
                <a:latin typeface="Arial" pitchFamily="34" charset="0"/>
                <a:ea typeface="Arial" pitchFamily="34" charset="-122"/>
                <a:cs typeface="Arial" pitchFamily="34" charset="-120"/>
              </a:rPr>
              <a:t>Theo dõi kết quả</a:t>
            </a:r>
            <a:endParaRPr lang="en-US" sz="1100" dirty="0"/>
          </a:p>
        </p:txBody>
      </p:sp>
      <p:sp>
        <p:nvSpPr>
          <p:cNvPr id="23" name="Shape 21"/>
          <p:cNvSpPr/>
          <p:nvPr/>
        </p:nvSpPr>
        <p:spPr>
          <a:xfrm>
            <a:off x="9500982" y="2295144"/>
            <a:ext cx="2123785" cy="3218688"/>
          </a:xfrm>
          <a:prstGeom prst="rect">
            <a:avLst/>
          </a:prstGeom>
          <a:solidFill>
            <a:srgbClr val="EEF3F8"/>
          </a:solidFill>
          <a:ln w="12700">
            <a:solidFill>
              <a:srgbClr val="D6E2EE"/>
            </a:solidFill>
            <a:prstDash val="solid"/>
          </a:ln>
        </p:spPr>
      </p:sp>
      <p:sp>
        <p:nvSpPr>
          <p:cNvPr id="24" name="Text 22"/>
          <p:cNvSpPr/>
          <p:nvPr/>
        </p:nvSpPr>
        <p:spPr>
          <a:xfrm>
            <a:off x="9610710" y="2368296"/>
            <a:ext cx="1922617" cy="3090672"/>
          </a:xfrm>
          <a:prstGeom prst="rect">
            <a:avLst/>
          </a:prstGeom>
          <a:noFill/>
          <a:ln/>
        </p:spPr>
        <p:txBody>
          <a:bodyPr wrap="square" rtlCol="0" anchor="t"/>
          <a:lstStyle/>
          <a:p>
            <a:pPr indent="0" marL="0">
              <a:lnSpc>
                <a:spcPts val="1400"/>
              </a:lnSpc>
              <a:buNone/>
            </a:pPr>
            <a:r>
              <a:rPr lang="en-US" sz="850" b="1" dirty="0">
                <a:solidFill>
                  <a:srgbClr val="1A5EA8"/>
                </a:solidFill>
                <a:latin typeface="Arial" pitchFamily="34" charset="0"/>
                <a:ea typeface="Arial" pitchFamily="34" charset="-122"/>
                <a:cs typeface="Arial" pitchFamily="34" charset="-120"/>
              </a:rPr>
              <a:t>AI LÀM</a:t>
            </a:r>
            <a:endParaRPr lang="en-US" sz="850" dirty="0"/>
          </a:p>
          <a:p>
            <a:pPr indent="0" marL="0">
              <a:lnSpc>
                <a:spcPts val="1400"/>
              </a:lnSpc>
              <a:buNone/>
            </a:pPr>
            <a:r>
              <a:rPr lang="en-US" sz="1000" dirty="0">
                <a:solidFill>
                  <a:srgbClr val="14233A"/>
                </a:solidFill>
                <a:latin typeface="Arial" pitchFamily="34" charset="0"/>
                <a:ea typeface="Arial" pitchFamily="34" charset="-122"/>
                <a:cs typeface="Arial" pitchFamily="34" charset="-120"/>
              </a:rPr>
              <a:t>Phòng BHYT / Giám định</a:t>
            </a:r>
            <a:endParaRPr lang="en-US" sz="850" dirty="0"/>
          </a:p>
          <a:p>
            <a:pPr indent="0" marL="0">
              <a:lnSpc>
                <a:spcPts val="1400"/>
              </a:lnSpc>
              <a:spcBef>
                <a:spcPts val="600"/>
              </a:spcBef>
              <a:buNone/>
            </a:pPr>
            <a:r>
              <a:rPr lang="en-US" sz="850" b="1" dirty="0">
                <a:solidFill>
                  <a:srgbClr val="1A5EA8"/>
                </a:solidFill>
                <a:latin typeface="Arial" pitchFamily="34" charset="0"/>
                <a:ea typeface="Arial" pitchFamily="34" charset="-122"/>
                <a:cs typeface="Arial" pitchFamily="34" charset="-120"/>
              </a:rPr>
              <a:t>CHẠY THẾ NÀO</a:t>
            </a:r>
            <a:endParaRPr lang="en-US" sz="850" dirty="0"/>
          </a:p>
          <a:p>
            <a:pPr indent="0" marL="0">
              <a:lnSpc>
                <a:spcPts val="1400"/>
              </a:lnSpc>
              <a:buNone/>
            </a:pPr>
            <a:r>
              <a:rPr lang="en-US" sz="1000" dirty="0">
                <a:solidFill>
                  <a:srgbClr val="14233A"/>
                </a:solidFill>
                <a:latin typeface="Arial" pitchFamily="34" charset="0"/>
                <a:ea typeface="Arial" pitchFamily="34" charset="-122"/>
                <a:cs typeface="Arial" pitchFamily="34" charset="-120"/>
              </a:rPr>
              <a:t>Lọc "Gửi có lỗi", đọc thông điệp cổng, xem phễu và Pareto mã lỗi</a:t>
            </a:r>
            <a:endParaRPr lang="en-US" sz="850" dirty="0"/>
          </a:p>
          <a:p>
            <a:pPr indent="0" marL="0">
              <a:lnSpc>
                <a:spcPts val="1400"/>
              </a:lnSpc>
              <a:spcBef>
                <a:spcPts val="600"/>
              </a:spcBef>
              <a:buNone/>
            </a:pPr>
            <a:r>
              <a:rPr lang="en-US" sz="850" b="1" dirty="0">
                <a:solidFill>
                  <a:srgbClr val="1A5EA8"/>
                </a:solidFill>
                <a:latin typeface="Arial" pitchFamily="34" charset="0"/>
                <a:ea typeface="Arial" pitchFamily="34" charset="-122"/>
                <a:cs typeface="Arial" pitchFamily="34" charset="-120"/>
              </a:rPr>
              <a:t>XEM Ở ĐÂU</a:t>
            </a:r>
            <a:endParaRPr lang="en-US" sz="850" dirty="0"/>
          </a:p>
          <a:p>
            <a:pPr indent="0" marL="0">
              <a:lnSpc>
                <a:spcPts val="1400"/>
              </a:lnSpc>
              <a:buNone/>
            </a:pPr>
            <a:r>
              <a:rPr lang="en-US" sz="1000" dirty="0">
                <a:solidFill>
                  <a:srgbClr val="14233A"/>
                </a:solidFill>
                <a:latin typeface="Arial" pitchFamily="34" charset="0"/>
                <a:ea typeface="Arial" pitchFamily="34" charset="-122"/>
                <a:cs typeface="Arial" pitchFamily="34" charset="-120"/>
              </a:rPr>
              <a:t>Cột Sub, Dashboard lỗi XML</a:t>
            </a:r>
            <a:endParaRPr lang="en-US" sz="850" dirty="0"/>
          </a:p>
          <a:p>
            <a:pPr indent="0" marL="0">
              <a:lnSpc>
                <a:spcPts val="1400"/>
              </a:lnSpc>
              <a:spcBef>
                <a:spcPts val="600"/>
              </a:spcBef>
              <a:buNone/>
            </a:pPr>
            <a:r>
              <a:rPr lang="en-US" sz="850" b="1" dirty="0">
                <a:solidFill>
                  <a:srgbClr val="1A5EA8"/>
                </a:solidFill>
                <a:latin typeface="Arial" pitchFamily="34" charset="0"/>
                <a:ea typeface="Arial" pitchFamily="34" charset="-122"/>
                <a:cs typeface="Arial" pitchFamily="34" charset="-120"/>
              </a:rPr>
              <a:t>XONG KHI</a:t>
            </a:r>
            <a:endParaRPr lang="en-US" sz="850" dirty="0"/>
          </a:p>
          <a:p>
            <a:pPr indent="0" marL="0">
              <a:lnSpc>
                <a:spcPts val="1400"/>
              </a:lnSpc>
              <a:buNone/>
            </a:pPr>
            <a:r>
              <a:rPr lang="en-US" sz="1000" dirty="0">
                <a:solidFill>
                  <a:srgbClr val="14233A"/>
                </a:solidFill>
                <a:latin typeface="Arial" pitchFamily="34" charset="0"/>
                <a:ea typeface="Arial" pitchFamily="34" charset="-122"/>
                <a:cs typeface="Arial" pitchFamily="34" charset="-120"/>
              </a:rPr>
              <a:t>Lỗi cổng trả về đã sửa trên HIS và nạp lại; phễu không còn bậc tụt</a:t>
            </a:r>
            <a:endParaRPr lang="en-US" sz="850" dirty="0"/>
          </a:p>
        </p:txBody>
      </p:sp>
      <p:sp>
        <p:nvSpPr>
          <p:cNvPr id="25" name="Shape 23"/>
          <p:cNvSpPr/>
          <p:nvPr/>
        </p:nvSpPr>
        <p:spPr>
          <a:xfrm>
            <a:off x="566928" y="5614416"/>
            <a:ext cx="11057839" cy="475488"/>
          </a:xfrm>
          <a:prstGeom prst="roundRect">
            <a:avLst>
              <a:gd name="adj" fmla="val 11538"/>
            </a:avLst>
          </a:prstGeom>
          <a:solidFill>
            <a:srgbClr val="FFF4E6"/>
          </a:solidFill>
          <a:ln w="12700">
            <a:solidFill>
              <a:srgbClr val="F1C58E"/>
            </a:solidFill>
            <a:prstDash val="solid"/>
          </a:ln>
        </p:spPr>
      </p:sp>
      <p:sp>
        <p:nvSpPr>
          <p:cNvPr id="26" name="Text 24"/>
          <p:cNvSpPr/>
          <p:nvPr/>
        </p:nvSpPr>
        <p:spPr>
          <a:xfrm>
            <a:off x="749808" y="5614416"/>
            <a:ext cx="10692079" cy="475488"/>
          </a:xfrm>
          <a:prstGeom prst="rect">
            <a:avLst/>
          </a:prstGeom>
          <a:noFill/>
          <a:ln/>
        </p:spPr>
        <p:txBody>
          <a:bodyPr wrap="square" rtlCol="0" anchor="ctr"/>
          <a:lstStyle/>
          <a:p>
            <a:pPr algn="ctr" indent="0" marL="0">
              <a:buNone/>
            </a:pPr>
            <a:r>
              <a:rPr lang="en-US" sz="1200" b="1" dirty="0">
                <a:solidFill>
                  <a:srgbClr val="C96A12"/>
                </a:solidFill>
                <a:latin typeface="Arial" pitchFamily="34" charset="0"/>
                <a:ea typeface="Arial" pitchFamily="34" charset="-122"/>
                <a:cs typeface="Arial" pitchFamily="34" charset="-120"/>
              </a:rPr>
              <a:t>Sửa trên HIS xong phải NẠP LẠI (quay về bước 01) thì kết quả mới đổi. Nút "Xuất XML3176" chỉ tải ZIP về máy — không phải bước 04.</a:t>
            </a:r>
            <a:endParaRPr lang="en-US" sz="1200" dirty="0"/>
          </a:p>
        </p:txBody>
      </p:sp>
      <p:sp>
        <p:nvSpPr>
          <p:cNvPr id="28" name="Shape 25"/>
          <p:cNvSpPr/>
          <p:nvPr/>
        </p:nvSpPr>
        <p:spPr>
          <a:xfrm>
            <a:off x="566928" y="6382512"/>
            <a:ext cx="11057839" cy="0"/>
          </a:xfrm>
          <a:prstGeom prst="line">
            <a:avLst/>
          </a:prstGeom>
          <a:noFill/>
          <a:ln w="9525">
            <a:solidFill>
              <a:srgbClr val="D6E2EE"/>
            </a:solidFill>
            <a:prstDash val="solid"/>
          </a:ln>
        </p:spPr>
      </p:sp>
      <p:sp>
        <p:nvSpPr>
          <p:cNvPr id="29" name="Text 26"/>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30" name="Text 27"/>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05 / 80</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01 / QUY TRÌNH VẬN HÀNH</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Cùng năm bước, ba luồng chạy khác nhau</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57839" cy="914400"/>
        </p:xfrm>
        <a:graphic>
          <a:graphicData uri="http://schemas.openxmlformats.org/drawingml/2006/table">
            <a:tbl>
              <a:tblPr/>
              <a:tblGrid>
                <a:gridCol w="1579691"/>
                <a:gridCol w="3159383"/>
                <a:gridCol w="3159383"/>
                <a:gridCol w="3159383"/>
              </a:tblGrid>
              <a:tr h="0">
                <a:tc>
                  <a:txBody>
                    <a:bodyPr/>
                    <a:lstStyle/>
                    <a:p>
                      <a:pPr indent="0" marL="0">
                        <a:buNone/>
                      </a:pPr>
                      <a:r>
                        <a:rPr lang="en-US" sz="1350" b="1" dirty="0">
                          <a:solidFill>
                            <a:srgbClr val="FFFFFF"/>
                          </a:solidFill>
                          <a:latin typeface="Arial" pitchFamily="34" charset="0"/>
                          <a:ea typeface="Arial" pitchFamily="34" charset="-122"/>
                          <a:cs typeface="Arial" pitchFamily="34" charset="-120"/>
                        </a:rPr>
                        <a:t>Bước</a:t>
                      </a:r>
                      <a:endParaRPr lang="en-US" sz="13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350" b="1" dirty="0">
                          <a:solidFill>
                            <a:srgbClr val="FFFFFF"/>
                          </a:solidFill>
                          <a:latin typeface="Arial" pitchFamily="34" charset="0"/>
                          <a:ea typeface="Arial" pitchFamily="34" charset="-122"/>
                          <a:cs typeface="Arial" pitchFamily="34" charset="-120"/>
                        </a:rPr>
                        <a:t>Hồ sơ XML 3176 (phần 03)</a:t>
                      </a:r>
                      <a:endParaRPr lang="en-US" sz="13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350" b="1" dirty="0">
                          <a:solidFill>
                            <a:srgbClr val="FFFFFF"/>
                          </a:solidFill>
                          <a:latin typeface="Arial" pitchFamily="34" charset="0"/>
                          <a:ea typeface="Arial" pitchFamily="34" charset="-122"/>
                          <a:cs typeface="Arial" pitchFamily="34" charset="-120"/>
                        </a:rPr>
                        <a:t>Chứng từ điện tử PL02 (phần 08)</a:t>
                      </a:r>
                      <a:endParaRPr lang="en-US" sz="13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350" b="1" dirty="0">
                          <a:solidFill>
                            <a:srgbClr val="FFFFFF"/>
                          </a:solidFill>
                          <a:latin typeface="Arial" pitchFamily="34" charset="0"/>
                          <a:ea typeface="Arial" pitchFamily="34" charset="-122"/>
                          <a:cs typeface="Arial" pitchFamily="34" charset="-120"/>
                        </a:rPr>
                        <a:t>Danh mục TT12/2026 (phần 09)</a:t>
                      </a:r>
                      <a:endParaRPr lang="en-US" sz="13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r>
              <a:tr h="0">
                <a:tc>
                  <a:txBody>
                    <a:bodyPr/>
                    <a:lstStyle/>
                    <a:p>
                      <a:pPr indent="0" marL="0">
                        <a:buNone/>
                      </a:pPr>
                      <a:r>
                        <a:rPr lang="en-US" sz="1350" b="1" dirty="0">
                          <a:solidFill>
                            <a:srgbClr val="14233A"/>
                          </a:solidFill>
                          <a:latin typeface="Arial" pitchFamily="34" charset="0"/>
                          <a:ea typeface="Arial" pitchFamily="34" charset="-122"/>
                          <a:cs typeface="Arial" pitchFamily="34" charset="-120"/>
                        </a:rPr>
                        <a:t>01 Nạp hồ sơ</a:t>
                      </a:r>
                      <a:endParaRPr lang="en-US" sz="13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350" dirty="0">
                          <a:solidFill>
                            <a:srgbClr val="14233A"/>
                          </a:solidFill>
                          <a:latin typeface="Arial" pitchFamily="34" charset="0"/>
                          <a:ea typeface="Arial" pitchFamily="34" charset="-122"/>
                          <a:cs typeface="Arial" pitchFamily="34" charset="-120"/>
                        </a:rPr>
                        <a:t>Kéo thả tệp .xml, hoặc tự quét thư mục</a:t>
                      </a:r>
                      <a:endParaRPr lang="en-US" sz="13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350" dirty="0">
                          <a:solidFill>
                            <a:srgbClr val="14233A"/>
                          </a:solidFill>
                          <a:latin typeface="Arial" pitchFamily="34" charset="0"/>
                          <a:ea typeface="Arial" pitchFamily="34" charset="-122"/>
                          <a:cs typeface="Arial" pitchFamily="34" charset="-120"/>
                        </a:rPr>
                        <a:t>Kéo thả ở màn Nạp hồ sơ, hoặc tiến trình quét thư mục</a:t>
                      </a:r>
                      <a:endParaRPr lang="en-US" sz="13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350" dirty="0">
                          <a:solidFill>
                            <a:srgbClr val="14233A"/>
                          </a:solidFill>
                          <a:latin typeface="Arial" pitchFamily="34" charset="0"/>
                          <a:ea typeface="Arial" pitchFamily="34" charset="-122"/>
                          <a:cs typeface="Arial" pitchFamily="34" charset="-120"/>
                        </a:rPr>
                        <a:t>Chỉ qua màn Nạp danh mục, bằng biểu mẫu Excel tải từ phần mềm</a:t>
                      </a:r>
                      <a:endParaRPr lang="en-US" sz="13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350" b="1" dirty="0">
                          <a:solidFill>
                            <a:srgbClr val="14233A"/>
                          </a:solidFill>
                          <a:latin typeface="Arial" pitchFamily="34" charset="0"/>
                          <a:ea typeface="Arial" pitchFamily="34" charset="-122"/>
                          <a:cs typeface="Arial" pitchFamily="34" charset="-120"/>
                        </a:rPr>
                        <a:t>02 Kiểm tra dữ liệu</a:t>
                      </a:r>
                      <a:endParaRPr lang="en-US" sz="13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350" dirty="0">
                          <a:solidFill>
                            <a:srgbClr val="14233A"/>
                          </a:solidFill>
                          <a:latin typeface="Arial" pitchFamily="34" charset="0"/>
                          <a:ea typeface="Arial" pitchFamily="34" charset="-122"/>
                          <a:cs typeface="Arial" pitchFamily="34" charset="-120"/>
                        </a:rPr>
                        <a:t>Tự động: bộ kiểm XML1–XML15 và kiểm chéo. Lỗi Nghiêm trọng chặn xuất</a:t>
                      </a:r>
                      <a:endParaRPr lang="en-US" sz="13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350" dirty="0">
                          <a:solidFill>
                            <a:srgbClr val="14233A"/>
                          </a:solidFill>
                          <a:latin typeface="Arial" pitchFamily="34" charset="0"/>
                          <a:ea typeface="Arial" pitchFamily="34" charset="-122"/>
                          <a:cs typeface="Arial" pitchFamily="34" charset="-120"/>
                        </a:rPr>
                        <a:t>Tự động: mã CTDT001–008, mức Chặn / Cảnh báo. "Chưa kiểm" chưa phải là sạch</a:t>
                      </a:r>
                      <a:endParaRPr lang="en-US" sz="13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350" dirty="0">
                          <a:solidFill>
                            <a:srgbClr val="14233A"/>
                          </a:solidFill>
                          <a:latin typeface="Arial" pitchFamily="34" charset="0"/>
                          <a:ea typeface="Arial" pitchFamily="34" charset="-122"/>
                          <a:cs typeface="Arial" pitchFamily="34" charset="-120"/>
                        </a:rPr>
                        <a:t>Tự động sau khi nạp. MA_CSKCB lệch một dòng là từ chối cả tệp</a:t>
                      </a:r>
                      <a:endParaRPr lang="en-US" sz="13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14233A"/>
                          </a:solidFill>
                          <a:latin typeface="Arial" pitchFamily="34" charset="0"/>
                          <a:ea typeface="Arial" pitchFamily="34" charset="-122"/>
                          <a:cs typeface="Arial" pitchFamily="34" charset="-120"/>
                        </a:rPr>
                        <a:t>03 Ký số</a:t>
                      </a:r>
                      <a:endParaRPr lang="en-US" sz="13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350" dirty="0">
                          <a:solidFill>
                            <a:srgbClr val="14233A"/>
                          </a:solidFill>
                          <a:latin typeface="Arial" pitchFamily="34" charset="0"/>
                          <a:ea typeface="Arial" pitchFamily="34" charset="-122"/>
                          <a:cs typeface="Arial" pitchFamily="34" charset="-120"/>
                        </a:rPr>
                        <a:t>Tự động khi hết lỗi Nghiêm trọng</a:t>
                      </a:r>
                      <a:endParaRPr lang="en-US" sz="13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350" dirty="0">
                          <a:solidFill>
                            <a:srgbClr val="14233A"/>
                          </a:solidFill>
                          <a:latin typeface="Arial" pitchFamily="34" charset="0"/>
                          <a:ea typeface="Arial" pitchFamily="34" charset="-122"/>
                          <a:cs typeface="Arial" pitchFamily="34" charset="-120"/>
                        </a:rPr>
                        <a:t>Người bấm "Ký và gửi" — một hồ sơ, hoặc tối đa 50 hồ sơ mỗi lượt</a:t>
                      </a:r>
                      <a:endParaRPr lang="en-US" sz="13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350" dirty="0">
                          <a:solidFill>
                            <a:srgbClr val="14233A"/>
                          </a:solidFill>
                          <a:latin typeface="Arial" pitchFamily="34" charset="0"/>
                          <a:ea typeface="Arial" pitchFamily="34" charset="-122"/>
                          <a:cs typeface="Arial" pitchFamily="34" charset="-120"/>
                        </a:rPr>
                        <a:t>Một lần bấm "Ký và gửi" chạy cả ký và gửi</a:t>
                      </a:r>
                      <a:endParaRPr lang="en-US" sz="13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350" b="1" dirty="0">
                          <a:solidFill>
                            <a:srgbClr val="14233A"/>
                          </a:solidFill>
                          <a:latin typeface="Arial" pitchFamily="34" charset="0"/>
                          <a:ea typeface="Arial" pitchFamily="34" charset="-122"/>
                          <a:cs typeface="Arial" pitchFamily="34" charset="-120"/>
                        </a:rPr>
                        <a:t>04 Gửi cổng</a:t>
                      </a:r>
                      <a:endParaRPr lang="en-US" sz="13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350" dirty="0">
                          <a:solidFill>
                            <a:srgbClr val="14233A"/>
                          </a:solidFill>
                          <a:latin typeface="Arial" pitchFamily="34" charset="0"/>
                          <a:ea typeface="Arial" pitchFamily="34" charset="-122"/>
                          <a:cs typeface="Arial" pitchFamily="34" charset="-120"/>
                        </a:rPr>
                        <a:t>Tự động nếu cơ sở bật (mặc định tắt). Tự thử lại 3 lần</a:t>
                      </a:r>
                      <a:endParaRPr lang="en-US" sz="13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350" dirty="0">
                          <a:solidFill>
                            <a:srgbClr val="14233A"/>
                          </a:solidFill>
                          <a:latin typeface="Arial" pitchFamily="34" charset="0"/>
                          <a:ea typeface="Arial" pitchFamily="34" charset="-122"/>
                          <a:cs typeface="Arial" pitchFamily="34" charset="-120"/>
                        </a:rPr>
                        <a:t>Người bấm. Tự gửi là công tắc riêng; mỗi hồ sơ chỉ tự gửi đúng 1 lần</a:t>
                      </a:r>
                      <a:endParaRPr lang="en-US" sz="13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350" dirty="0">
                          <a:solidFill>
                            <a:srgbClr val="14233A"/>
                          </a:solidFill>
                          <a:latin typeface="Arial" pitchFamily="34" charset="0"/>
                          <a:ea typeface="Arial" pitchFamily="34" charset="-122"/>
                          <a:cs typeface="Arial" pitchFamily="34" charset="-120"/>
                        </a:rPr>
                        <a:t>Cùng lượt với ký số. Mã 200 = cổng tiếp nhận</a:t>
                      </a:r>
                      <a:endParaRPr lang="en-US" sz="13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14233A"/>
                          </a:solidFill>
                          <a:latin typeface="Arial" pitchFamily="34" charset="0"/>
                          <a:ea typeface="Arial" pitchFamily="34" charset="-122"/>
                          <a:cs typeface="Arial" pitchFamily="34" charset="-120"/>
                        </a:rPr>
                        <a:t>05 Theo dõi kết quả</a:t>
                      </a:r>
                      <a:endParaRPr lang="en-US" sz="13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350" dirty="0">
                          <a:solidFill>
                            <a:srgbClr val="14233A"/>
                          </a:solidFill>
                          <a:latin typeface="Arial" pitchFamily="34" charset="0"/>
                          <a:ea typeface="Arial" pitchFamily="34" charset="-122"/>
                          <a:cs typeface="Arial" pitchFamily="34" charset="-120"/>
                        </a:rPr>
                        <a:t>Cột Sub, lọc "Gửi có lỗi", Dashboard lỗi XML</a:t>
                      </a:r>
                      <a:endParaRPr lang="en-US" sz="13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350" dirty="0">
                          <a:solidFill>
                            <a:srgbClr val="14233A"/>
                          </a:solidFill>
                          <a:latin typeface="Arial" pitchFamily="34" charset="0"/>
                          <a:ea typeface="Arial" pitchFamily="34" charset="-122"/>
                          <a:cs typeface="Arial" pitchFamily="34" charset="-120"/>
                        </a:rPr>
                        <a:t>Chín trạng thái gửi, khối Lịch sử gửi, Dashboard chứng từ</a:t>
                      </a:r>
                      <a:endParaRPr lang="en-US" sz="13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350" dirty="0">
                          <a:solidFill>
                            <a:srgbClr val="14233A"/>
                          </a:solidFill>
                          <a:latin typeface="Arial" pitchFamily="34" charset="0"/>
                          <a:ea typeface="Arial" pitchFamily="34" charset="-122"/>
                          <a:cs typeface="Arial" pitchFamily="34" charset="-120"/>
                        </a:rPr>
                        <a:t>Mã giao dịch, cột Đã đồng bộ, Dashboard độ phủ</a:t>
                      </a:r>
                      <a:endParaRPr lang="en-US" sz="13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bl>
          </a:graphicData>
        </a:graphic>
      </p:graphicFrame>
      <p:sp>
        <p:nvSpPr>
          <p:cNvPr id="5" name="Shape 2"/>
          <p:cNvSpPr/>
          <p:nvPr/>
        </p:nvSpPr>
        <p:spPr>
          <a:xfrm>
            <a:off x="566928" y="5074920"/>
            <a:ext cx="11057839" cy="1051560"/>
          </a:xfrm>
          <a:prstGeom prst="rect">
            <a:avLst/>
          </a:prstGeom>
          <a:solidFill>
            <a:srgbClr val="FDECEC"/>
          </a:solidFill>
          <a:ln w="12700">
            <a:solidFill>
              <a:srgbClr val="FDECEC"/>
            </a:solidFill>
            <a:prstDash val="solid"/>
          </a:ln>
        </p:spPr>
      </p:sp>
      <p:sp>
        <p:nvSpPr>
          <p:cNvPr id="6" name="Shape 3"/>
          <p:cNvSpPr/>
          <p:nvPr/>
        </p:nvSpPr>
        <p:spPr>
          <a:xfrm>
            <a:off x="566928" y="5074920"/>
            <a:ext cx="64008" cy="1051560"/>
          </a:xfrm>
          <a:prstGeom prst="rect">
            <a:avLst/>
          </a:prstGeom>
          <a:solidFill>
            <a:srgbClr val="C62828"/>
          </a:solidFill>
          <a:ln w="12700">
            <a:solidFill>
              <a:srgbClr val="C62828"/>
            </a:solidFill>
            <a:prstDash val="solid"/>
          </a:ln>
        </p:spPr>
      </p:sp>
      <p:sp>
        <p:nvSpPr>
          <p:cNvPr id="7" name="Text 4"/>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Khác biệt phải nhớ: </a:t>
            </a:r>
            <a:pPr indent="0" marL="0">
              <a:lnSpc>
                <a:spcPts val="1900"/>
              </a:lnSpc>
              <a:buNone/>
            </a:pPr>
            <a:r>
              <a:rPr lang="en-US" sz="1300" dirty="0">
                <a:solidFill>
                  <a:srgbClr val="14233A"/>
                </a:solidFill>
                <a:latin typeface="Arial" pitchFamily="34" charset="0"/>
                <a:ea typeface="Arial" pitchFamily="34" charset="-122"/>
                <a:cs typeface="Arial" pitchFamily="34" charset="-120"/>
              </a:rPr>
              <a:t>Chứng từ điện tử PL02 không có mã giao dịch chống trùng — gửi hai lần là hai chứng từ trên cổng, không rút lại được. Vì thế luồng này để người bấm gửi, còn XML 3176 thì máy tự gửi.</a:t>
            </a:r>
            <a:endParaRPr lang="en-US" sz="1300" dirty="0"/>
          </a:p>
        </p:txBody>
      </p:sp>
      <p:sp>
        <p:nvSpPr>
          <p:cNvPr id="9" name="Shape 5"/>
          <p:cNvSpPr/>
          <p:nvPr/>
        </p:nvSpPr>
        <p:spPr>
          <a:xfrm>
            <a:off x="566928" y="6382512"/>
            <a:ext cx="11057839" cy="0"/>
          </a:xfrm>
          <a:prstGeom prst="line">
            <a:avLst/>
          </a:prstGeom>
          <a:noFill/>
          <a:ln w="9525">
            <a:solidFill>
              <a:srgbClr val="D6E2EE"/>
            </a:solidFill>
            <a:prstDash val="solid"/>
          </a:ln>
        </p:spPr>
      </p:sp>
      <p:sp>
        <p:nvSpPr>
          <p:cNvPr id="10" name="Text 6"/>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1" name="Text 7"/>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06 / 80</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01 / CÁCH VẬN HÀNH</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Bảy nhóm chức năng, hai trọng tâm tạo giá trị lớn nhất</a:t>
            </a:r>
            <a:endParaRPr lang="en-US" sz="2600" dirty="0"/>
          </a:p>
        </p:txBody>
      </p:sp>
      <p:sp>
        <p:nvSpPr>
          <p:cNvPr id="4" name="Text 2"/>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B6B7F"/>
                </a:solidFill>
                <a:latin typeface="Arial" pitchFamily="34" charset="0"/>
                <a:ea typeface="Arial" pitchFamily="34" charset="-122"/>
                <a:cs typeface="Arial" pitchFamily="34" charset="-120"/>
              </a:rPr>
              <a:t>Phát hiện tại nguồn → phân mức lỗi → sửa trước khi ký số → gửi hồ sơ sạch hơn.</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625915"/>
                <a:gridCol w="4381408"/>
                <a:gridCol w="1460469"/>
                <a:gridCol w="4590046"/>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Nhóm chức năng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Học ở phần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Màn hình chính</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r>
              <a:tr h="0">
                <a:tc>
                  <a:txBody>
                    <a:bodyPr/>
                    <a:lstStyle/>
                    <a:p>
                      <a:pPr indent="0" marL="0">
                        <a:buNone/>
                      </a:pPr>
                      <a:r>
                        <a:rPr lang="en-US" sz="1200" b="1" dirty="0">
                          <a:solidFill>
                            <a:srgbClr val="1A5EA8"/>
                          </a:solidFill>
                          <a:latin typeface="Arial" pitchFamily="34" charset="0"/>
                          <a:ea typeface="Arial" pitchFamily="34" charset="-122"/>
                          <a:cs typeface="Arial" pitchFamily="34" charset="-120"/>
                        </a:rPr>
                        <a:t>01</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b="1" dirty="0">
                          <a:solidFill>
                            <a:srgbClr val="1A5EA8"/>
                          </a:solidFill>
                          <a:latin typeface="Arial" pitchFamily="34" charset="0"/>
                          <a:ea typeface="Arial" pitchFamily="34" charset="-122"/>
                          <a:cs typeface="Arial" pitchFamily="34" charset="-120"/>
                        </a:rPr>
                        <a:t>Kiểm tra sai sót y lệnh — TRỌNG TÂM</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02</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Kiểm tra sai sót y lệnh → Danh sách vi phạm</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b="1" dirty="0">
                          <a:solidFill>
                            <a:srgbClr val="1A5EA8"/>
                          </a:solidFill>
                          <a:latin typeface="Arial" pitchFamily="34" charset="0"/>
                          <a:ea typeface="Arial" pitchFamily="34" charset="-122"/>
                          <a:cs typeface="Arial" pitchFamily="34" charset="-120"/>
                        </a:rPr>
                        <a:t>02</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b="1" dirty="0">
                          <a:solidFill>
                            <a:srgbClr val="1A5EA8"/>
                          </a:solidFill>
                          <a:latin typeface="Arial" pitchFamily="34" charset="0"/>
                          <a:ea typeface="Arial" pitchFamily="34" charset="-122"/>
                          <a:cs typeface="Arial" pitchFamily="34" charset="-120"/>
                        </a:rPr>
                        <a:t>Kiểm hồ sơ XML 3176 — TRỌNG TÂM</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03</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Hồ sơ XML → Xml 3176 → Danh sách hồ sơ</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03</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Đối chiếu thẻ, mức hưởng và quyền lợi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04, 05</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Thẻ BHYT → Tra cứu thẻ BHYT / Tra cứu tiền cùng chi trả</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04</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Đối chiếu mã và tên thuốc, VTYT, DVKT</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02, 03</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Quy tắc đối chiếu danh mục; mã lỗi XML2, XML3</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05</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Đối chiếu danh mục và giá còn hiệu lực</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07, 09</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Quản lý danh mục → Nhập khẩu danh mục; Danh mục TT12</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06</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Phản hồi lỗi tới đơn vị phát sinh theo mã điều trị</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06</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Tra cứu lỗi hồ sơ (quét mã vạch trên phiếu)</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07</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Tổng hợp chỉ số và báo cáo</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03, 08, 09</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Dashboard lỗi XML · Dashboard chứng từ · Dashboard danh mục</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bl>
          </a:graphicData>
        </a:graphic>
      </p:graphicFrame>
      <p:sp>
        <p:nvSpPr>
          <p:cNvPr id="6" name="Shape 3"/>
          <p:cNvSpPr/>
          <p:nvPr/>
        </p:nvSpPr>
        <p:spPr>
          <a:xfrm>
            <a:off x="566928" y="5074920"/>
            <a:ext cx="11057839" cy="1051560"/>
          </a:xfrm>
          <a:prstGeom prst="rect">
            <a:avLst/>
          </a:prstGeom>
          <a:solidFill>
            <a:srgbClr val="FFF4E6"/>
          </a:solidFill>
          <a:ln w="12700">
            <a:solidFill>
              <a:srgbClr val="FFF4E6"/>
            </a:solidFill>
            <a:prstDash val="solid"/>
          </a:ln>
        </p:spPr>
      </p:sp>
      <p:sp>
        <p:nvSpPr>
          <p:cNvPr id="7" name="Shape 4"/>
          <p:cNvSpPr/>
          <p:nvPr/>
        </p:nvSpPr>
        <p:spPr>
          <a:xfrm>
            <a:off x="566928" y="5074920"/>
            <a:ext cx="64008" cy="1051560"/>
          </a:xfrm>
          <a:prstGeom prst="rect">
            <a:avLst/>
          </a:prstGeom>
          <a:solidFill>
            <a:srgbClr val="C96A12"/>
          </a:solidFill>
          <a:ln w="12700">
            <a:solidFill>
              <a:srgbClr val="C96A12"/>
            </a:solidFill>
            <a:prstDash val="solid"/>
          </a:ln>
        </p:spPr>
      </p:sp>
      <p:sp>
        <p:nvSpPr>
          <p:cNvPr id="8" name="Text 5"/>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Hai mức lỗi xuyên suốt: </a:t>
            </a:r>
            <a:pPr indent="0" marL="0">
              <a:lnSpc>
                <a:spcPts val="1900"/>
              </a:lnSpc>
              <a:buNone/>
            </a:pPr>
            <a:r>
              <a:rPr lang="en-US" sz="1300" dirty="0">
                <a:solidFill>
                  <a:srgbClr val="14233A"/>
                </a:solidFill>
                <a:latin typeface="Arial" pitchFamily="34" charset="0"/>
                <a:ea typeface="Arial" pitchFamily="34" charset="-122"/>
                <a:cs typeface="Arial" pitchFamily="34" charset="-120"/>
              </a:rPr>
              <a:t>NGHIÊM TRỌNG = chặn xuất và gửi. CẢNH BÁO = cho đi, ghi nhận để theo dõi. Mã lỗi mới chưa có trong danh mục được mặc định coi là NGHIÊM TRỌNG.</a:t>
            </a:r>
            <a:endParaRPr lang="en-US" sz="1300" dirty="0"/>
          </a:p>
        </p:txBody>
      </p:sp>
      <p:sp>
        <p:nvSpPr>
          <p:cNvPr id="10" name="Shape 6"/>
          <p:cNvSpPr/>
          <p:nvPr/>
        </p:nvSpPr>
        <p:spPr>
          <a:xfrm>
            <a:off x="566928" y="6382512"/>
            <a:ext cx="11057839" cy="0"/>
          </a:xfrm>
          <a:prstGeom prst="line">
            <a:avLst/>
          </a:prstGeom>
          <a:noFill/>
          <a:ln w="9525">
            <a:solidFill>
              <a:srgbClr val="D6E2EE"/>
            </a:solidFill>
            <a:prstDash val="solid"/>
          </a:ln>
        </p:spPr>
      </p:sp>
      <p:sp>
        <p:nvSpPr>
          <p:cNvPr id="11" name="Text 7"/>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2" name="Text 8"/>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07 / 80</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01 / NGUYÊN TẮC</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Ba nguyên tắc cần hiểu trước khi dùng</a:t>
            </a:r>
            <a:endParaRPr lang="en-US" sz="2600" dirty="0"/>
          </a:p>
        </p:txBody>
      </p:sp>
      <p:sp>
        <p:nvSpPr>
          <p:cNvPr id="4" name="Shape 2"/>
          <p:cNvSpPr/>
          <p:nvPr/>
        </p:nvSpPr>
        <p:spPr>
          <a:xfrm>
            <a:off x="566928" y="1325880"/>
            <a:ext cx="3527450" cy="4800600"/>
          </a:xfrm>
          <a:prstGeom prst="rect">
            <a:avLst/>
          </a:prstGeom>
          <a:solidFill>
            <a:srgbClr val="EEF3F8"/>
          </a:solidFill>
          <a:ln w="12700">
            <a:solidFill>
              <a:srgbClr val="D6E2EE"/>
            </a:solidFill>
            <a:prstDash val="solid"/>
          </a:ln>
        </p:spPr>
      </p:sp>
      <p:sp>
        <p:nvSpPr>
          <p:cNvPr id="5" name="Shape 3"/>
          <p:cNvSpPr/>
          <p:nvPr/>
        </p:nvSpPr>
        <p:spPr>
          <a:xfrm>
            <a:off x="566928" y="1325880"/>
            <a:ext cx="3527450" cy="91440"/>
          </a:xfrm>
          <a:prstGeom prst="rect">
            <a:avLst/>
          </a:prstGeom>
          <a:solidFill>
            <a:srgbClr val="C62828"/>
          </a:solidFill>
          <a:ln w="12700">
            <a:solidFill>
              <a:srgbClr val="C62828"/>
            </a:solidFill>
            <a:prstDash val="solid"/>
          </a:ln>
        </p:spPr>
      </p:sp>
      <p:sp>
        <p:nvSpPr>
          <p:cNvPr id="6" name="Text 4"/>
          <p:cNvSpPr/>
          <p:nvPr/>
        </p:nvSpPr>
        <p:spPr>
          <a:xfrm>
            <a:off x="768096" y="1600200"/>
            <a:ext cx="3125114" cy="685800"/>
          </a:xfrm>
          <a:prstGeom prst="rect">
            <a:avLst/>
          </a:prstGeom>
          <a:noFill/>
          <a:ln/>
        </p:spPr>
        <p:txBody>
          <a:bodyPr wrap="square" rtlCol="0" anchor="t"/>
          <a:lstStyle/>
          <a:p>
            <a:pPr indent="0" marL="0">
              <a:lnSpc>
                <a:spcPts val="2100"/>
              </a:lnSpc>
              <a:buNone/>
            </a:pPr>
            <a:r>
              <a:rPr lang="en-US" sz="1600" b="1" dirty="0">
                <a:solidFill>
                  <a:srgbClr val="1A5EA8"/>
                </a:solidFill>
                <a:latin typeface="Arial" pitchFamily="34" charset="0"/>
                <a:ea typeface="Arial" pitchFamily="34" charset="-122"/>
                <a:cs typeface="Arial" pitchFamily="34" charset="-120"/>
              </a:rPr>
              <a:t>Chỉ đọc HIS — sửa tại HIS</a:t>
            </a:r>
            <a:endParaRPr lang="en-US" sz="1600" dirty="0"/>
          </a:p>
        </p:txBody>
      </p:sp>
      <p:sp>
        <p:nvSpPr>
          <p:cNvPr id="7" name="Text 5"/>
          <p:cNvSpPr/>
          <p:nvPr/>
        </p:nvSpPr>
        <p:spPr>
          <a:xfrm>
            <a:off x="768096" y="2313432"/>
            <a:ext cx="3125114" cy="3611880"/>
          </a:xfrm>
          <a:prstGeom prst="rect">
            <a:avLst/>
          </a:prstGeom>
          <a:noFill/>
          <a:ln/>
        </p:spPr>
        <p:txBody>
          <a:bodyPr wrap="square" rtlCol="0" anchor="t"/>
          <a:lstStyle/>
          <a:p>
            <a:pPr indent="0" marL="0">
              <a:lnSpc>
                <a:spcPts val="1900"/>
              </a:lnSpc>
              <a:buNone/>
            </a:pPr>
            <a:r>
              <a:rPr lang="en-US" sz="1300" dirty="0">
                <a:solidFill>
                  <a:srgbClr val="14233A"/>
                </a:solidFill>
                <a:latin typeface="Arial" pitchFamily="34" charset="0"/>
                <a:ea typeface="Arial" pitchFamily="34" charset="-122"/>
                <a:cs typeface="Arial" pitchFamily="34" charset="-120"/>
              </a:rPr>
              <a:t>Phần mềm đọc dữ liệu HIS, không bao giờ ghi hay sửa HIS.</a:t>
            </a:r>
            <a:endParaRPr lang="en-US" sz="1300" dirty="0"/>
          </a:p>
          <a:p>
            <a:pPr indent="0" marL="0">
              <a:lnSpc>
                <a:spcPts val="1900"/>
              </a:lnSpc>
              <a:buNone/>
            </a:pPr>
            <a:endParaRPr lang="en-US" sz="1300" dirty="0"/>
          </a:p>
          <a:p>
            <a:pPr indent="0" marL="0">
              <a:lnSpc>
                <a:spcPts val="1900"/>
              </a:lnSpc>
              <a:buNone/>
            </a:pPr>
            <a:r>
              <a:rPr lang="en-US" sz="1300" dirty="0">
                <a:solidFill>
                  <a:srgbClr val="14233A"/>
                </a:solidFill>
                <a:latin typeface="Arial" pitchFamily="34" charset="0"/>
                <a:ea typeface="Arial" pitchFamily="34" charset="-122"/>
                <a:cs typeface="Arial" pitchFamily="34" charset="-120"/>
              </a:rPr>
              <a:t>Mọi sai sót phải sửa trên HIS, tại đơn vị phát sinh. Bấm "Đã xử lý" không sửa được dữ liệu.</a:t>
            </a:r>
            <a:endParaRPr lang="en-US" sz="1300" dirty="0"/>
          </a:p>
          <a:p>
            <a:pPr indent="0" marL="0">
              <a:lnSpc>
                <a:spcPts val="1900"/>
              </a:lnSpc>
              <a:buNone/>
            </a:pPr>
            <a:endParaRPr lang="en-US" sz="1300" dirty="0"/>
          </a:p>
          <a:p>
            <a:pPr indent="0" marL="0">
              <a:lnSpc>
                <a:spcPts val="1900"/>
              </a:lnSpc>
              <a:buNone/>
            </a:pPr>
            <a:r>
              <a:rPr lang="en-US" sz="1300" dirty="0">
                <a:solidFill>
                  <a:srgbClr val="14233A"/>
                </a:solidFill>
                <a:latin typeface="Arial" pitchFamily="34" charset="0"/>
                <a:ea typeface="Arial" pitchFamily="34" charset="-122"/>
                <a:cs typeface="Arial" pitchFamily="34" charset="-120"/>
              </a:rPr>
              <a:t>Sửa xong phải nạp lại hồ sơ thì kết quả kiểm mới đổi.</a:t>
            </a:r>
            <a:endParaRPr lang="en-US" sz="1300" dirty="0"/>
          </a:p>
        </p:txBody>
      </p:sp>
      <p:sp>
        <p:nvSpPr>
          <p:cNvPr id="8" name="Shape 6"/>
          <p:cNvSpPr/>
          <p:nvPr/>
        </p:nvSpPr>
        <p:spPr>
          <a:xfrm>
            <a:off x="4332122" y="1325880"/>
            <a:ext cx="3527450" cy="4800600"/>
          </a:xfrm>
          <a:prstGeom prst="rect">
            <a:avLst/>
          </a:prstGeom>
          <a:solidFill>
            <a:srgbClr val="EEF3F8"/>
          </a:solidFill>
          <a:ln w="12700">
            <a:solidFill>
              <a:srgbClr val="D6E2EE"/>
            </a:solidFill>
            <a:prstDash val="solid"/>
          </a:ln>
        </p:spPr>
      </p:sp>
      <p:sp>
        <p:nvSpPr>
          <p:cNvPr id="9" name="Shape 7"/>
          <p:cNvSpPr/>
          <p:nvPr/>
        </p:nvSpPr>
        <p:spPr>
          <a:xfrm>
            <a:off x="4332122" y="1325880"/>
            <a:ext cx="3527450" cy="91440"/>
          </a:xfrm>
          <a:prstGeom prst="rect">
            <a:avLst/>
          </a:prstGeom>
          <a:solidFill>
            <a:srgbClr val="C96A12"/>
          </a:solidFill>
          <a:ln w="12700">
            <a:solidFill>
              <a:srgbClr val="C96A12"/>
            </a:solidFill>
            <a:prstDash val="solid"/>
          </a:ln>
        </p:spPr>
      </p:sp>
      <p:sp>
        <p:nvSpPr>
          <p:cNvPr id="10" name="Text 8"/>
          <p:cNvSpPr/>
          <p:nvPr/>
        </p:nvSpPr>
        <p:spPr>
          <a:xfrm>
            <a:off x="4533290" y="1600200"/>
            <a:ext cx="3125114" cy="685800"/>
          </a:xfrm>
          <a:prstGeom prst="rect">
            <a:avLst/>
          </a:prstGeom>
          <a:noFill/>
          <a:ln/>
        </p:spPr>
        <p:txBody>
          <a:bodyPr wrap="square" rtlCol="0" anchor="t"/>
          <a:lstStyle/>
          <a:p>
            <a:pPr indent="0" marL="0">
              <a:lnSpc>
                <a:spcPts val="2100"/>
              </a:lnSpc>
              <a:buNone/>
            </a:pPr>
            <a:r>
              <a:rPr lang="en-US" sz="1600" b="1" dirty="0">
                <a:solidFill>
                  <a:srgbClr val="1A5EA8"/>
                </a:solidFill>
                <a:latin typeface="Arial" pitchFamily="34" charset="0"/>
                <a:ea typeface="Arial" pitchFamily="34" charset="-122"/>
                <a:cs typeface="Arial" pitchFamily="34" charset="-120"/>
              </a:rPr>
              <a:t>Hai mức lỗi</a:t>
            </a:r>
            <a:endParaRPr lang="en-US" sz="1600" dirty="0"/>
          </a:p>
        </p:txBody>
      </p:sp>
      <p:sp>
        <p:nvSpPr>
          <p:cNvPr id="11" name="Text 9"/>
          <p:cNvSpPr/>
          <p:nvPr/>
        </p:nvSpPr>
        <p:spPr>
          <a:xfrm>
            <a:off x="4533290" y="2313432"/>
            <a:ext cx="3125114" cy="3611880"/>
          </a:xfrm>
          <a:prstGeom prst="rect">
            <a:avLst/>
          </a:prstGeom>
          <a:noFill/>
          <a:ln/>
        </p:spPr>
        <p:txBody>
          <a:bodyPr wrap="square" rtlCol="0" anchor="t"/>
          <a:lstStyle/>
          <a:p>
            <a:pPr indent="0" marL="0">
              <a:lnSpc>
                <a:spcPts val="1900"/>
              </a:lnSpc>
              <a:buNone/>
            </a:pPr>
            <a:r>
              <a:rPr lang="en-US" sz="1300" dirty="0">
                <a:solidFill>
                  <a:srgbClr val="14233A"/>
                </a:solidFill>
                <a:latin typeface="Arial" pitchFamily="34" charset="0"/>
                <a:ea typeface="Arial" pitchFamily="34" charset="-122"/>
                <a:cs typeface="Arial" pitchFamily="34" charset="-120"/>
              </a:rPr>
              <a:t>Nghiêm trọng: hồ sơ không được xuất, không được gửi.</a:t>
            </a:r>
            <a:endParaRPr lang="en-US" sz="1300" dirty="0"/>
          </a:p>
          <a:p>
            <a:pPr indent="0" marL="0">
              <a:lnSpc>
                <a:spcPts val="1900"/>
              </a:lnSpc>
              <a:buNone/>
            </a:pPr>
            <a:endParaRPr lang="en-US" sz="1300" dirty="0"/>
          </a:p>
          <a:p>
            <a:pPr indent="0" marL="0">
              <a:lnSpc>
                <a:spcPts val="1900"/>
              </a:lnSpc>
              <a:buNone/>
            </a:pPr>
            <a:r>
              <a:rPr lang="en-US" sz="1300" dirty="0">
                <a:solidFill>
                  <a:srgbClr val="14233A"/>
                </a:solidFill>
                <a:latin typeface="Arial" pitchFamily="34" charset="0"/>
                <a:ea typeface="Arial" pitchFamily="34" charset="-122"/>
                <a:cs typeface="Arial" pitchFamily="34" charset="-120"/>
              </a:rPr>
              <a:t>Cảnh báo: hồ sơ vẫn đi, lỗi được ghi nhận.</a:t>
            </a:r>
            <a:endParaRPr lang="en-US" sz="1300" dirty="0"/>
          </a:p>
          <a:p>
            <a:pPr indent="0" marL="0">
              <a:lnSpc>
                <a:spcPts val="1900"/>
              </a:lnSpc>
              <a:buNone/>
            </a:pPr>
            <a:endParaRPr lang="en-US" sz="1300" dirty="0"/>
          </a:p>
          <a:p>
            <a:pPr indent="0" marL="0">
              <a:lnSpc>
                <a:spcPts val="1900"/>
              </a:lnSpc>
              <a:buNone/>
            </a:pPr>
            <a:r>
              <a:rPr lang="en-US" sz="1300" dirty="0">
                <a:solidFill>
                  <a:srgbClr val="14233A"/>
                </a:solidFill>
                <a:latin typeface="Arial" pitchFamily="34" charset="0"/>
                <a:ea typeface="Arial" pitchFamily="34" charset="-122"/>
                <a:cs typeface="Arial" pitchFamily="34" charset="-120"/>
              </a:rPr>
              <a:t>Mức của từng mã lỗi do phòng ban đặt ở danh mục mã lỗi — một ô tích sai có thể chặn hàng nghìn hồ sơ.</a:t>
            </a:r>
            <a:endParaRPr lang="en-US" sz="1300" dirty="0"/>
          </a:p>
        </p:txBody>
      </p:sp>
      <p:sp>
        <p:nvSpPr>
          <p:cNvPr id="12" name="Shape 10"/>
          <p:cNvSpPr/>
          <p:nvPr/>
        </p:nvSpPr>
        <p:spPr>
          <a:xfrm>
            <a:off x="8097317" y="1325880"/>
            <a:ext cx="3527450" cy="4800600"/>
          </a:xfrm>
          <a:prstGeom prst="rect">
            <a:avLst/>
          </a:prstGeom>
          <a:solidFill>
            <a:srgbClr val="EEF3F8"/>
          </a:solidFill>
          <a:ln w="12700">
            <a:solidFill>
              <a:srgbClr val="D6E2EE"/>
            </a:solidFill>
            <a:prstDash val="solid"/>
          </a:ln>
        </p:spPr>
      </p:sp>
      <p:sp>
        <p:nvSpPr>
          <p:cNvPr id="13" name="Shape 11"/>
          <p:cNvSpPr/>
          <p:nvPr/>
        </p:nvSpPr>
        <p:spPr>
          <a:xfrm>
            <a:off x="8097317" y="1325880"/>
            <a:ext cx="3527450" cy="91440"/>
          </a:xfrm>
          <a:prstGeom prst="rect">
            <a:avLst/>
          </a:prstGeom>
          <a:solidFill>
            <a:srgbClr val="2A9FD8"/>
          </a:solidFill>
          <a:ln w="12700">
            <a:solidFill>
              <a:srgbClr val="2A9FD8"/>
            </a:solidFill>
            <a:prstDash val="solid"/>
          </a:ln>
        </p:spPr>
      </p:sp>
      <p:sp>
        <p:nvSpPr>
          <p:cNvPr id="14" name="Text 12"/>
          <p:cNvSpPr/>
          <p:nvPr/>
        </p:nvSpPr>
        <p:spPr>
          <a:xfrm>
            <a:off x="8298485" y="1600200"/>
            <a:ext cx="3125114" cy="685800"/>
          </a:xfrm>
          <a:prstGeom prst="rect">
            <a:avLst/>
          </a:prstGeom>
          <a:noFill/>
          <a:ln/>
        </p:spPr>
        <p:txBody>
          <a:bodyPr wrap="square" rtlCol="0" anchor="t"/>
          <a:lstStyle/>
          <a:p>
            <a:pPr indent="0" marL="0">
              <a:lnSpc>
                <a:spcPts val="2100"/>
              </a:lnSpc>
              <a:buNone/>
            </a:pPr>
            <a:r>
              <a:rPr lang="en-US" sz="1600" b="1" dirty="0">
                <a:solidFill>
                  <a:srgbClr val="1A5EA8"/>
                </a:solidFill>
                <a:latin typeface="Arial" pitchFamily="34" charset="0"/>
                <a:ea typeface="Arial" pitchFamily="34" charset="-122"/>
                <a:cs typeface="Arial" pitchFamily="34" charset="-120"/>
              </a:rPr>
              <a:t>Cổng nhận là nhận thật</a:t>
            </a:r>
            <a:endParaRPr lang="en-US" sz="1600" dirty="0"/>
          </a:p>
        </p:txBody>
      </p:sp>
      <p:sp>
        <p:nvSpPr>
          <p:cNvPr id="15" name="Text 13"/>
          <p:cNvSpPr/>
          <p:nvPr/>
        </p:nvSpPr>
        <p:spPr>
          <a:xfrm>
            <a:off x="8298485" y="2313432"/>
            <a:ext cx="3125114" cy="3611880"/>
          </a:xfrm>
          <a:prstGeom prst="rect">
            <a:avLst/>
          </a:prstGeom>
          <a:noFill/>
          <a:ln/>
        </p:spPr>
        <p:txBody>
          <a:bodyPr wrap="square" rtlCol="0" anchor="t"/>
          <a:lstStyle/>
          <a:p>
            <a:pPr indent="0" marL="0">
              <a:lnSpc>
                <a:spcPts val="1900"/>
              </a:lnSpc>
              <a:buNone/>
            </a:pPr>
            <a:r>
              <a:rPr lang="en-US" sz="1300" dirty="0">
                <a:solidFill>
                  <a:srgbClr val="14233A"/>
                </a:solidFill>
                <a:latin typeface="Arial" pitchFamily="34" charset="0"/>
                <a:ea typeface="Arial" pitchFamily="34" charset="-122"/>
                <a:cs typeface="Arial" pitchFamily="34" charset="-120"/>
              </a:rPr>
              <a:t>Không có đường rút lại hồ sơ đã được cổng tiếp nhận.</a:t>
            </a:r>
            <a:endParaRPr lang="en-US" sz="1300" dirty="0"/>
          </a:p>
          <a:p>
            <a:pPr indent="0" marL="0">
              <a:lnSpc>
                <a:spcPts val="1900"/>
              </a:lnSpc>
              <a:buNone/>
            </a:pPr>
            <a:endParaRPr lang="en-US" sz="1300" dirty="0"/>
          </a:p>
          <a:p>
            <a:pPr indent="0" marL="0">
              <a:lnSpc>
                <a:spcPts val="1900"/>
              </a:lnSpc>
              <a:buNone/>
            </a:pPr>
            <a:r>
              <a:rPr lang="en-US" sz="1300" dirty="0">
                <a:solidFill>
                  <a:srgbClr val="14233A"/>
                </a:solidFill>
                <a:latin typeface="Arial" pitchFamily="34" charset="0"/>
                <a:ea typeface="Arial" pitchFamily="34" charset="-122"/>
                <a:cs typeface="Arial" pitchFamily="34" charset="-120"/>
              </a:rPr>
              <a:t>Sửa sai sau đó phải theo quy trình nghiệp vụ với cơ quan BHXH.</a:t>
            </a:r>
            <a:endParaRPr lang="en-US" sz="1300" dirty="0"/>
          </a:p>
          <a:p>
            <a:pPr indent="0" marL="0">
              <a:lnSpc>
                <a:spcPts val="1900"/>
              </a:lnSpc>
              <a:buNone/>
            </a:pPr>
            <a:endParaRPr lang="en-US" sz="1300" dirty="0"/>
          </a:p>
          <a:p>
            <a:pPr indent="0" marL="0">
              <a:lnSpc>
                <a:spcPts val="1900"/>
              </a:lnSpc>
              <a:buNone/>
            </a:pPr>
            <a:r>
              <a:rPr lang="en-US" sz="1300" dirty="0">
                <a:solidFill>
                  <a:srgbClr val="14233A"/>
                </a:solidFill>
                <a:latin typeface="Arial" pitchFamily="34" charset="0"/>
                <a:ea typeface="Arial" pitchFamily="34" charset="-122"/>
                <a:cs typeface="Arial" pitchFamily="34" charset="-120"/>
              </a:rPr>
              <a:t>Đối chiếu kỹ trước khi bấm gửi — đặc biệt với chứng từ điện tử.</a:t>
            </a:r>
            <a:endParaRPr lang="en-US" sz="1300" dirty="0"/>
          </a:p>
        </p:txBody>
      </p:sp>
      <p:sp>
        <p:nvSpPr>
          <p:cNvPr id="17" name="Shape 14"/>
          <p:cNvSpPr/>
          <p:nvPr/>
        </p:nvSpPr>
        <p:spPr>
          <a:xfrm>
            <a:off x="566928" y="6382512"/>
            <a:ext cx="11057839" cy="0"/>
          </a:xfrm>
          <a:prstGeom prst="line">
            <a:avLst/>
          </a:prstGeom>
          <a:noFill/>
          <a:ln w="9525">
            <a:solidFill>
              <a:srgbClr val="D6E2EE"/>
            </a:solidFill>
            <a:prstDash val="solid"/>
          </a:ln>
        </p:spPr>
      </p:sp>
      <p:sp>
        <p:nvSpPr>
          <p:cNvPr id="18" name="Text 15"/>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9" name="Text 16"/>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08 / 80</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A9FD8"/>
          </a:solidFill>
          <a:ln w="12700">
            <a:solidFill>
              <a:srgbClr val="2A9FD8"/>
            </a:solidFill>
            <a:prstDash val="solid"/>
          </a:ln>
        </p:spPr>
      </p:sp>
      <p:sp>
        <p:nvSpPr>
          <p:cNvPr id="3" name="Text 1"/>
          <p:cNvSpPr/>
          <p:nvPr/>
        </p:nvSpPr>
        <p:spPr>
          <a:xfrm>
            <a:off x="822960" y="2011680"/>
            <a:ext cx="1828800" cy="1371600"/>
          </a:xfrm>
          <a:prstGeom prst="rect">
            <a:avLst/>
          </a:prstGeom>
          <a:noFill/>
          <a:ln/>
        </p:spPr>
        <p:txBody>
          <a:bodyPr wrap="square" rtlCol="0" anchor="ctr"/>
          <a:lstStyle/>
          <a:p>
            <a:pPr indent="0" marL="0">
              <a:buNone/>
            </a:pPr>
            <a:r>
              <a:rPr lang="en-US" sz="8000" b="1" dirty="0">
                <a:solidFill>
                  <a:srgbClr val="2A9FD8"/>
                </a:solidFill>
                <a:latin typeface="Arial" pitchFamily="34" charset="0"/>
                <a:ea typeface="Arial" pitchFamily="34" charset="-122"/>
                <a:cs typeface="Arial" pitchFamily="34" charset="-120"/>
              </a:rPr>
              <a:t>02</a:t>
            </a:r>
            <a:endParaRPr lang="en-US" sz="8000" dirty="0"/>
          </a:p>
        </p:txBody>
      </p:sp>
      <p:sp>
        <p:nvSpPr>
          <p:cNvPr id="4" name="Text 2"/>
          <p:cNvSpPr/>
          <p:nvPr/>
        </p:nvSpPr>
        <p:spPr>
          <a:xfrm>
            <a:off x="2651760" y="2148840"/>
            <a:ext cx="8808415" cy="9144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Kiểm tra sai sót y lệnh</a:t>
            </a:r>
            <a:endParaRPr lang="en-US" sz="3200" dirty="0"/>
          </a:p>
        </p:txBody>
      </p:sp>
      <p:sp>
        <p:nvSpPr>
          <p:cNvPr id="5" name="Text 3"/>
          <p:cNvSpPr/>
          <p:nvPr/>
        </p:nvSpPr>
        <p:spPr>
          <a:xfrm>
            <a:off x="2651760" y="3108960"/>
            <a:ext cx="8808415" cy="822960"/>
          </a:xfrm>
          <a:prstGeom prst="rect">
            <a:avLst/>
          </a:prstGeom>
          <a:noFill/>
          <a:ln/>
        </p:spPr>
        <p:txBody>
          <a:bodyPr wrap="square" rtlCol="0" anchor="t"/>
          <a:lstStyle/>
          <a:p>
            <a:pPr indent="0" marL="0">
              <a:lnSpc>
                <a:spcPts val="2200"/>
              </a:lnSpc>
              <a:buNone/>
            </a:pPr>
            <a:r>
              <a:rPr lang="en-US" sz="1500" dirty="0">
                <a:solidFill>
                  <a:srgbClr val="A9C4DC"/>
                </a:solidFill>
                <a:latin typeface="Arial" pitchFamily="34" charset="0"/>
                <a:ea typeface="Arial" pitchFamily="34" charset="-122"/>
                <a:cs typeface="Arial" pitchFamily="34" charset="-120"/>
              </a:rPr>
              <a:t>Máy rà soát cái gì · Đọc một dòng vi phạm · Xử lý dứt điểm · Các quy tắc hay gặp</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02 / MỤC 2.1</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Máy rà soát như thế nào — 5 điều phải hiểu trước</a:t>
            </a:r>
            <a:endParaRPr lang="en-US" sz="2600" dirty="0"/>
          </a:p>
        </p:txBody>
      </p:sp>
      <p:sp>
        <p:nvSpPr>
          <p:cNvPr id="4" name="Text 2"/>
          <p:cNvSpPr/>
          <p:nvPr/>
        </p:nvSpPr>
        <p:spPr>
          <a:xfrm>
            <a:off x="566928" y="1325880"/>
            <a:ext cx="11057839" cy="4892040"/>
          </a:xfrm>
          <a:prstGeom prst="rect">
            <a:avLst/>
          </a:prstGeom>
          <a:noFill/>
          <a:ln/>
        </p:spPr>
        <p:txBody>
          <a:bodyPr wrap="square" rtlCol="0" anchor="t"/>
          <a:lstStyle/>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Bộ quét chạy thường trực trên máy chủ, không phụ thuộc việc có ai mở màn hình hay không</a:t>
            </a:r>
            <a:endParaRPr lang="en-US" sz="1600" dirty="0"/>
          </a:p>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Chu kỳ khoảng 60 giây một lượt; dữ liệu HIS phát sinh nhiều thì độ trễ có thể vài phút</a:t>
            </a:r>
            <a:endParaRPr lang="en-US" sz="1600" dirty="0"/>
          </a:p>
          <a:p>
            <a:pPr marL="342900" indent="-342900">
              <a:lnSpc>
                <a:spcPts val="2400"/>
              </a:lnSpc>
              <a:spcAft>
                <a:spcPts val="1000"/>
              </a:spcAft>
              <a:buSzPct val="100000"/>
              <a:buChar char="▪"/>
            </a:pPr>
            <a:r>
              <a:rPr lang="en-US" sz="1600" b="1" dirty="0">
                <a:solidFill>
                  <a:srgbClr val="C62828"/>
                </a:solidFill>
                <a:latin typeface="Arial" pitchFamily="34" charset="0"/>
                <a:ea typeface="Arial" pitchFamily="34" charset="-122"/>
                <a:cs typeface="Arial" pitchFamily="34" charset="-120"/>
              </a:rPr>
              <a:t>Hệ thống chỉ đọc dữ liệu HIS, không bao giờ ghi hay sửa. Việc sửa vẫn do khoa làm trên HIS</a:t>
            </a:r>
            <a:endParaRPr lang="en-US" sz="1600" dirty="0"/>
          </a:p>
          <a:p>
            <a:pPr marL="342900" indent="-342900">
              <a:lnSpc>
                <a:spcPts val="2400"/>
              </a:lnSpc>
              <a:spcAft>
                <a:spcPts val="200"/>
              </a:spcAft>
              <a:buSzPct val="100000"/>
              <a:buChar char="▪"/>
            </a:pPr>
            <a:r>
              <a:rPr lang="en-US" sz="1600" b="1" dirty="0">
                <a:solidFill>
                  <a:srgbClr val="14233A"/>
                </a:solidFill>
                <a:latin typeface="Arial" pitchFamily="34" charset="0"/>
                <a:ea typeface="Arial" pitchFamily="34" charset="-122"/>
                <a:cs typeface="Arial" pitchFamily="34" charset="-120"/>
              </a:rPr>
              <a:t>Vi phạm đã đánh dấu "Đã xử lý" hoặc "Bỏ qua" sẽ không bao giờ bị dựng lại ở lượt quét sau</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   Nghĩa là có thể yên tâm xử lý dứt điểm từng dòng, không sợ làm đi làm lại</a:t>
            </a:r>
            <a:endParaRPr lang="en-US" sz="1600" dirty="0"/>
          </a:p>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Quy tắc bị tắt sẽ không sinh vi phạm mới, nhưng vi phạm cũ vẫn còn trong danh sách</a:t>
            </a:r>
            <a:endParaRPr lang="en-US" sz="1600" dirty="0"/>
          </a:p>
        </p:txBody>
      </p:sp>
      <p:sp>
        <p:nvSpPr>
          <p:cNvPr id="6" name="Shape 3"/>
          <p:cNvSpPr/>
          <p:nvPr/>
        </p:nvSpPr>
        <p:spPr>
          <a:xfrm>
            <a:off x="566928" y="6382512"/>
            <a:ext cx="11057839" cy="0"/>
          </a:xfrm>
          <a:prstGeom prst="line">
            <a:avLst/>
          </a:prstGeom>
          <a:noFill/>
          <a:ln w="9525">
            <a:solidFill>
              <a:srgbClr val="D6E2EE"/>
            </a:solidFill>
            <a:prstDash val="solid"/>
          </a:ln>
        </p:spPr>
      </p:sp>
      <p:sp>
        <p:nvSpPr>
          <p:cNvPr id="7" name="Text 4"/>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8" name="Text 5"/>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10 / 80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02 / MỤC 2.2.1</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Bốn nguồn dữ liệu được quét</a:t>
            </a:r>
            <a:endParaRPr lang="en-US" sz="2600" dirty="0"/>
          </a:p>
        </p:txBody>
      </p:sp>
      <p:sp>
        <p:nvSpPr>
          <p:cNvPr id="4" name="Text 2"/>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B6B7F"/>
                </a:solidFill>
                <a:latin typeface="Arial" pitchFamily="34" charset="0"/>
                <a:ea typeface="Arial" pitchFamily="34" charset="-122"/>
                <a:cs typeface="Arial" pitchFamily="34" charset="-120"/>
              </a:rPr>
              <a:t>Bộ quét không làm việc theo "hồ sơ" mà theo từng dòng dữ liệu mới. Bệnh nhân nằm viện 30 ngày thì y lệnh ngày thứ 30 vẫn được quét như ngày đầu.</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2588005"/>
                <a:gridCol w="3529098"/>
                <a:gridCol w="4940737"/>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Nguồn dữ liệu</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Nội dung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Cách theo dõi dữ liệu mới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Phiếu chỉ định</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Toàn bộ chỉ định dịch vụ, thuốc, cận lâm sàng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Theo thời điểm sửa đổi — phiếu sửa lại sau khi tạo sẽ được quét lại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Nhật ký tương tác thuốc</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Cảnh báo tương tác do HIS phát hiện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Theo số thứ tự bản ghi tăng dần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Chi tiết thuốc cấp phát</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Liều dùng và số lượng thuốc</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Theo số thứ tự bản ghi tăng dần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Chi tiết dịch vụ</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Dịch vụ đã chỉ định — kiểm giới hạn giới tính và tuổi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Theo số thứ tự bản ghi tăng dần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5074920"/>
            <a:ext cx="11057839" cy="1051560"/>
          </a:xfrm>
          <a:prstGeom prst="rect">
            <a:avLst/>
          </a:prstGeom>
          <a:solidFill>
            <a:srgbClr val="EAF5EC"/>
          </a:solidFill>
          <a:ln w="12700">
            <a:solidFill>
              <a:srgbClr val="EAF5EC"/>
            </a:solidFill>
            <a:prstDash val="solid"/>
          </a:ln>
        </p:spPr>
      </p:sp>
      <p:sp>
        <p:nvSpPr>
          <p:cNvPr id="7" name="Shape 4"/>
          <p:cNvSpPr/>
          <p:nvPr/>
        </p:nvSpPr>
        <p:spPr>
          <a:xfrm>
            <a:off x="566928" y="5074920"/>
            <a:ext cx="64008" cy="1051560"/>
          </a:xfrm>
          <a:prstGeom prst="rect">
            <a:avLst/>
          </a:prstGeom>
          <a:solidFill>
            <a:srgbClr val="2E7D32"/>
          </a:solidFill>
          <a:ln w="12700">
            <a:solidFill>
              <a:srgbClr val="2E7D32"/>
            </a:solidFill>
            <a:prstDash val="solid"/>
          </a:ln>
        </p:spPr>
      </p:sp>
      <p:sp>
        <p:nvSpPr>
          <p:cNvPr id="8" name="Text 5"/>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2E7D32"/>
                </a:solidFill>
                <a:latin typeface="Arial" pitchFamily="34" charset="0"/>
                <a:ea typeface="Arial" pitchFamily="34" charset="-122"/>
                <a:cs typeface="Arial" pitchFamily="34" charset="-120"/>
              </a:rPr>
              <a:t>Điểm có lợi cho khoa: </a:t>
            </a:r>
            <a:pPr indent="0" marL="0">
              <a:lnSpc>
                <a:spcPts val="1900"/>
              </a:lnSpc>
              <a:buNone/>
            </a:pPr>
            <a:r>
              <a:rPr lang="en-US" sz="1300" dirty="0">
                <a:solidFill>
                  <a:srgbClr val="14233A"/>
                </a:solidFill>
                <a:latin typeface="Arial" pitchFamily="34" charset="0"/>
                <a:ea typeface="Arial" pitchFamily="34" charset="-122"/>
                <a:cs typeface="Arial" pitchFamily="34" charset="-120"/>
              </a:rPr>
              <a:t>Phiếu chỉ định được theo dõi theo thời điểm sửa đổi. Vì vậy khi khoa gán người thực hiện vào lúc thực hiện dịch vụ, phiếu đó sẽ được quét lại — sửa đúng là hết lỗi cho lần sau.</a:t>
            </a:r>
            <a:endParaRPr lang="en-US" sz="1300" dirty="0"/>
          </a:p>
        </p:txBody>
      </p:sp>
      <p:sp>
        <p:nvSpPr>
          <p:cNvPr id="10" name="Shape 6"/>
          <p:cNvSpPr/>
          <p:nvPr/>
        </p:nvSpPr>
        <p:spPr>
          <a:xfrm>
            <a:off x="566928" y="6382512"/>
            <a:ext cx="11057839" cy="0"/>
          </a:xfrm>
          <a:prstGeom prst="line">
            <a:avLst/>
          </a:prstGeom>
          <a:noFill/>
          <a:ln w="9525">
            <a:solidFill>
              <a:srgbClr val="D6E2EE"/>
            </a:solidFill>
            <a:prstDash val="solid"/>
          </a:ln>
        </p:spPr>
      </p:sp>
      <p:sp>
        <p:nvSpPr>
          <p:cNvPr id="11" name="Text 7"/>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2" name="Text 8"/>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11 / 80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02 / MỤC 2.2.2</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Giới hạn phải biết: con trỏ quét chỉ tiến, không lùi</a:t>
            </a:r>
            <a:endParaRPr lang="en-US" sz="2600" dirty="0"/>
          </a:p>
        </p:txBody>
      </p:sp>
      <p:sp>
        <p:nvSpPr>
          <p:cNvPr id="4" name="Text 2"/>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B6B7F"/>
                </a:solidFill>
                <a:latin typeface="Arial" pitchFamily="34" charset="0"/>
                <a:ea typeface="Arial" pitchFamily="34" charset="-122"/>
                <a:cs typeface="Arial" pitchFamily="34" charset="-120"/>
              </a:rPr>
              <a:t>Một phiếu đã quét sẽ không được đánh giá lại, trừ khi chính phiếu đó bị sửa trên HIS. Ba tình huống dưới đây khiến kết quả tự động chưa phản ánh đúng thực tế.</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2764460"/>
                <a:gridCol w="4837805"/>
                <a:gridCol w="3455575"/>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Tình huống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Hệ quả</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Khoa làm gì</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Y lệnh sau giờ ra viện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Lúc quét, bệnh nhân còn nằm viện nên chưa có giờ ra viện; khi ra viện các phiếu cũ không được quét lại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Không cần làm gì. Phòng BHYT sẽ đối chiếu lại bằng kiểm tra hồ sơ XML 3176 sau khi hồ sơ kết thúc</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Chẩn đoán nhập bổ sung sau</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Phiếu lúc quét chưa có mã ICD bị ghi vi phạm "thiếu chẩn đoán"; bổ sung ICD sau thì vi phạm cũ vẫn còn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Đánh dấu "Bỏ qua", ghi chú rõ: đã bổ sung ICD ngày …</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Danh mục BHYT cập nhật sau</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Phiếu bị báo "mã không có trong danh mục" do lúc quét danh mục chưa nhập</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Đánh dấu "Bỏ qua". Việc nhập danh mục là của phòng ban chức năng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bl>
          </a:graphicData>
        </a:graphic>
      </p:graphicFrame>
      <p:sp>
        <p:nvSpPr>
          <p:cNvPr id="6" name="Shape 3"/>
          <p:cNvSpPr/>
          <p:nvPr/>
        </p:nvSpPr>
        <p:spPr>
          <a:xfrm>
            <a:off x="566928" y="5074920"/>
            <a:ext cx="11057839" cy="1051560"/>
          </a:xfrm>
          <a:prstGeom prst="rect">
            <a:avLst/>
          </a:prstGeom>
          <a:solidFill>
            <a:srgbClr val="FFF4E6"/>
          </a:solidFill>
          <a:ln w="12700">
            <a:solidFill>
              <a:srgbClr val="FFF4E6"/>
            </a:solidFill>
            <a:prstDash val="solid"/>
          </a:ln>
        </p:spPr>
      </p:sp>
      <p:sp>
        <p:nvSpPr>
          <p:cNvPr id="7" name="Shape 4"/>
          <p:cNvSpPr/>
          <p:nvPr/>
        </p:nvSpPr>
        <p:spPr>
          <a:xfrm>
            <a:off x="566928" y="5074920"/>
            <a:ext cx="64008" cy="1051560"/>
          </a:xfrm>
          <a:prstGeom prst="rect">
            <a:avLst/>
          </a:prstGeom>
          <a:solidFill>
            <a:srgbClr val="C96A12"/>
          </a:solidFill>
          <a:ln w="12700">
            <a:solidFill>
              <a:srgbClr val="C96A12"/>
            </a:solidFill>
            <a:prstDash val="solid"/>
          </a:ln>
        </p:spPr>
      </p:sp>
      <p:sp>
        <p:nvSpPr>
          <p:cNvPr id="8" name="Text 5"/>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Đừng kết luận vội: </a:t>
            </a:r>
            <a:pPr indent="0" marL="0">
              <a:lnSpc>
                <a:spcPts val="1900"/>
              </a:lnSpc>
              <a:buNone/>
            </a:pPr>
            <a:r>
              <a:rPr lang="en-US" sz="1300" dirty="0">
                <a:solidFill>
                  <a:srgbClr val="14233A"/>
                </a:solidFill>
                <a:latin typeface="Arial" pitchFamily="34" charset="0"/>
                <a:ea typeface="Arial" pitchFamily="34" charset="-122"/>
                <a:cs typeface="Arial" pitchFamily="34" charset="-120"/>
              </a:rPr>
              <a:t>Thấy một vi phạm mà biết chắc mình đã sửa rồi — hãy đối chiếu ba tình huống trên trước khi báo là lỗi phần mềm. Đa số trường hợp rơi vào dòng thứ hai.</a:t>
            </a:r>
            <a:endParaRPr lang="en-US" sz="1300" dirty="0"/>
          </a:p>
        </p:txBody>
      </p:sp>
      <p:sp>
        <p:nvSpPr>
          <p:cNvPr id="10" name="Shape 6"/>
          <p:cNvSpPr/>
          <p:nvPr/>
        </p:nvSpPr>
        <p:spPr>
          <a:xfrm>
            <a:off x="566928" y="6382512"/>
            <a:ext cx="11057839" cy="0"/>
          </a:xfrm>
          <a:prstGeom prst="line">
            <a:avLst/>
          </a:prstGeom>
          <a:noFill/>
          <a:ln w="9525">
            <a:solidFill>
              <a:srgbClr val="D6E2EE"/>
            </a:solidFill>
            <a:prstDash val="solid"/>
          </a:ln>
        </p:spPr>
      </p:sp>
      <p:sp>
        <p:nvSpPr>
          <p:cNvPr id="11" name="Text 7"/>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2" name="Text 8"/>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12 / 80</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02 / MỤC 2.3</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Màn hình Danh sách vi phạm</a:t>
            </a:r>
            <a:endParaRPr lang="en-US" sz="2600" dirty="0"/>
          </a:p>
        </p:txBody>
      </p:sp>
      <p:pic>
        <p:nvPicPr>
          <p:cNvPr id="4" name="Image 0" descr="C:\Users\tracnn\qlbv\docs\dao-tao\anh\anh-01-danh-sach-vi-pham.png">    </p:cNvPr>
          <p:cNvPicPr>
            <a:picLocks noChangeAspect="1"/>
          </p:cNvPicPr>
          <p:nvPr/>
        </p:nvPicPr>
        <p:blipFill>
          <a:blip r:embed="rId1"/>
          <a:stretch>
            <a:fillRect/>
          </a:stretch>
        </p:blipFill>
        <p:spPr>
          <a:xfrm>
            <a:off x="566928" y="1325880"/>
            <a:ext cx="7298174" cy="4105223"/>
          </a:xfrm>
          <a:prstGeom prst="rect">
            <a:avLst/>
          </a:prstGeom>
        </p:spPr>
      </p:pic>
      <p:sp>
        <p:nvSpPr>
          <p:cNvPr id="5" name="Shape 2"/>
          <p:cNvSpPr/>
          <p:nvPr/>
        </p:nvSpPr>
        <p:spPr>
          <a:xfrm>
            <a:off x="566928" y="1325880"/>
            <a:ext cx="7298174" cy="4105223"/>
          </a:xfrm>
          <a:prstGeom prst="rect">
            <a:avLst/>
          </a:prstGeom>
          <a:ln w="12700">
            <a:solidFill>
              <a:srgbClr val="D6E2EE"/>
            </a:solidFill>
            <a:prstDash val="solid"/>
          </a:ln>
        </p:spPr>
      </p:sp>
      <p:sp>
        <p:nvSpPr>
          <p:cNvPr id="6" name="Text 3"/>
          <p:cNvSpPr/>
          <p:nvPr/>
        </p:nvSpPr>
        <p:spPr>
          <a:xfrm>
            <a:off x="8139422" y="1325880"/>
            <a:ext cx="3485345" cy="4800600"/>
          </a:xfrm>
          <a:prstGeom prst="rect">
            <a:avLst/>
          </a:prstGeom>
          <a:noFill/>
          <a:ln/>
        </p:spPr>
        <p:txBody>
          <a:bodyPr wrap="square" rtlCol="0" anchor="t"/>
          <a:lstStyle/>
          <a:p>
            <a:pPr marL="342900" indent="-342900">
              <a:lnSpc>
                <a:spcPts val="1900"/>
              </a:lnSpc>
              <a:spcAft>
                <a:spcPts val="900"/>
              </a:spcAft>
              <a:buSzPct val="100000"/>
              <a:buChar char="▪"/>
            </a:pPr>
            <a:r>
              <a:rPr lang="en-US" sz="1300" dirty="0">
                <a:solidFill>
                  <a:srgbClr val="14233A"/>
                </a:solidFill>
                <a:latin typeface="Arial" pitchFamily="34" charset="0"/>
                <a:ea typeface="Arial" pitchFamily="34" charset="-122"/>
                <a:cs typeface="Arial" pitchFamily="34" charset="-120"/>
              </a:rPr>
              <a:t>Màn hình tự tải dữ liệu NGÀY HÔM NAY ngay khi mở</a:t>
            </a:r>
            <a:endParaRPr lang="en-US" sz="1300" dirty="0"/>
          </a:p>
          <a:p>
            <a:pPr marL="342900" indent="-342900">
              <a:lnSpc>
                <a:spcPts val="1900"/>
              </a:lnSpc>
              <a:spcAft>
                <a:spcPts val="900"/>
              </a:spcAft>
              <a:buSzPct val="100000"/>
              <a:buChar char="▪"/>
            </a:pPr>
            <a:r>
              <a:rPr lang="en-US" sz="1300" dirty="0">
                <a:solidFill>
                  <a:srgbClr val="14233A"/>
                </a:solidFill>
                <a:latin typeface="Arial" pitchFamily="34" charset="0"/>
                <a:ea typeface="Arial" pitchFamily="34" charset="-122"/>
                <a:cs typeface="Arial" pitchFamily="34" charset="-120"/>
              </a:rPr>
              <a:t>Đổi bộ lọc xong phải bấm Tải dữ liệu, bảng không tự đổi</a:t>
            </a:r>
            <a:endParaRPr lang="en-US" sz="1300" dirty="0"/>
          </a:p>
          <a:p>
            <a:pPr marL="342900" indent="-342900">
              <a:lnSpc>
                <a:spcPts val="1900"/>
              </a:lnSpc>
              <a:spcAft>
                <a:spcPts val="900"/>
              </a:spcAft>
              <a:buSzPct val="100000"/>
              <a:buChar char="▪"/>
            </a:pPr>
            <a:r>
              <a:rPr lang="en-US" sz="1300" dirty="0">
                <a:solidFill>
                  <a:srgbClr val="14233A"/>
                </a:solidFill>
                <a:latin typeface="Arial" pitchFamily="34" charset="0"/>
                <a:ea typeface="Arial" pitchFamily="34" charset="-122"/>
                <a:cs typeface="Arial" pitchFamily="34" charset="-120"/>
              </a:rPr>
              <a:t>Bốn ô chỉ số: Tổng · Nghiêm trọng · Cảnh báo · Chưa xử lý — tính theo bộ lọc đang áp</a:t>
            </a:r>
            <a:endParaRPr lang="en-US" sz="1300" dirty="0"/>
          </a:p>
          <a:p>
            <a:pPr marL="342900" indent="-342900">
              <a:lnSpc>
                <a:spcPts val="1900"/>
              </a:lnSpc>
              <a:spcAft>
                <a:spcPts val="900"/>
              </a:spcAft>
              <a:buSzPct val="100000"/>
              <a:buChar char="▪"/>
            </a:pPr>
            <a:r>
              <a:rPr lang="en-US" sz="1300" dirty="0">
                <a:solidFill>
                  <a:srgbClr val="14233A"/>
                </a:solidFill>
                <a:latin typeface="Arial" pitchFamily="34" charset="0"/>
                <a:ea typeface="Arial" pitchFamily="34" charset="-122"/>
                <a:cs typeface="Arial" pitchFamily="34" charset="-120"/>
              </a:rPr>
              <a:t>Nút Xuất Excel xuất đúng phạm vi bộ lọc đang chọn</a:t>
            </a:r>
            <a:endParaRPr lang="en-US" sz="1300" dirty="0"/>
          </a:p>
          <a:p>
            <a:pPr marL="342900" indent="-342900">
              <a:lnSpc>
                <a:spcPts val="1900"/>
              </a:lnSpc>
              <a:spcAft>
                <a:spcPts val="900"/>
              </a:spcAft>
              <a:buSzPct val="100000"/>
              <a:buChar char="▪"/>
            </a:pPr>
            <a:r>
              <a:rPr lang="en-US" sz="1300" dirty="0">
                <a:solidFill>
                  <a:srgbClr val="14233A"/>
                </a:solidFill>
                <a:latin typeface="Arial" pitchFamily="34" charset="0"/>
                <a:ea typeface="Arial" pitchFamily="34" charset="-122"/>
                <a:cs typeface="Arial" pitchFamily="34" charset="-120"/>
              </a:rPr>
              <a:t>Dòng nghiêm trọng gắn nhãn đỏ ở cột Mức độ</a:t>
            </a:r>
            <a:endParaRPr lang="en-US" sz="1300" dirty="0"/>
          </a:p>
        </p:txBody>
      </p:sp>
      <p:sp>
        <p:nvSpPr>
          <p:cNvPr id="8" name="Shape 4"/>
          <p:cNvSpPr/>
          <p:nvPr/>
        </p:nvSpPr>
        <p:spPr>
          <a:xfrm>
            <a:off x="566928" y="6382512"/>
            <a:ext cx="11057839" cy="0"/>
          </a:xfrm>
          <a:prstGeom prst="line">
            <a:avLst/>
          </a:prstGeom>
          <a:noFill/>
          <a:ln w="9525">
            <a:solidFill>
              <a:srgbClr val="D6E2EE"/>
            </a:solidFill>
            <a:prstDash val="solid"/>
          </a:ln>
        </p:spPr>
      </p:sp>
      <p:sp>
        <p:nvSpPr>
          <p:cNvPr id="9" name="Text 5"/>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0" name="Text 6"/>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13 / 80</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02 / MỤC 2.3.1</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Bộ lọc khoa lâm sàng dùng hằng ngày</a:t>
            </a:r>
            <a:endParaRPr lang="en-US" sz="2600" dirty="0"/>
          </a:p>
        </p:txBody>
      </p:sp>
      <p:sp>
        <p:nvSpPr>
          <p:cNvPr id="4" name="Text 2"/>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B6B7F"/>
                </a:solidFill>
                <a:latin typeface="Arial" pitchFamily="34" charset="0"/>
                <a:ea typeface="Arial" pitchFamily="34" charset="-122"/>
                <a:cs typeface="Arial" pitchFamily="34" charset="-120"/>
              </a:rPr>
              <a:t>Toàn màn có 8 ô lọc. Khoa chỉ cần thuộc 4 ô dưới đây.</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2352732"/>
                <a:gridCol w="3529098"/>
                <a:gridCol w="517601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Ô lọc</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Đặt giá trị gì</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Vì sao</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Khoa thực hiện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Khoa của mình</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Lọc ra đúng phần việc của khoa, bỏ qua vi phạm của khoa khác</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Trạng thái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"Mới"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Chỉ còn việc chưa ai đụng tới. Làm hết là sạch việc trong ngày</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Mức độ</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"Nghiêm trọng" trước, sau đó mới tới Cảnh báo</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Nghiêm trọng là nhóm chặn hồ sơ; xử lý trước sẽ gỡ được hồ sơ đang treo</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Từ ngày / Đến ngày</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Mặc định hôm nay; mở rộng khi cần rà lại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Rà cuối tuần hoặc trước kỳ quyết toán thì mở rộng khoảng ngày</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Tìm BN/BS/ĐT/DV</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Mã hoặc tên khi cần tra một ca cụ thể</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Tra theo bệnh nhân, bác sĩ, mã điều trị hoặc dịch vụ</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bl>
          </a:graphicData>
        </a:graphic>
      </p:graphicFrame>
      <p:sp>
        <p:nvSpPr>
          <p:cNvPr id="6" name="Shape 3"/>
          <p:cNvSpPr/>
          <p:nvPr/>
        </p:nvSpPr>
        <p:spPr>
          <a:xfrm>
            <a:off x="566928" y="5074920"/>
            <a:ext cx="11057839" cy="1051560"/>
          </a:xfrm>
          <a:prstGeom prst="rect">
            <a:avLst/>
          </a:prstGeom>
          <a:solidFill>
            <a:srgbClr val="EAF5EC"/>
          </a:solidFill>
          <a:ln w="12700">
            <a:solidFill>
              <a:srgbClr val="EAF5EC"/>
            </a:solidFill>
            <a:prstDash val="solid"/>
          </a:ln>
        </p:spPr>
      </p:sp>
      <p:sp>
        <p:nvSpPr>
          <p:cNvPr id="7" name="Shape 4"/>
          <p:cNvSpPr/>
          <p:nvPr/>
        </p:nvSpPr>
        <p:spPr>
          <a:xfrm>
            <a:off x="566928" y="5074920"/>
            <a:ext cx="64008" cy="1051560"/>
          </a:xfrm>
          <a:prstGeom prst="rect">
            <a:avLst/>
          </a:prstGeom>
          <a:solidFill>
            <a:srgbClr val="2E7D32"/>
          </a:solidFill>
          <a:ln w="12700">
            <a:solidFill>
              <a:srgbClr val="2E7D32"/>
            </a:solidFill>
            <a:prstDash val="solid"/>
          </a:ln>
        </p:spPr>
      </p:sp>
      <p:sp>
        <p:nvSpPr>
          <p:cNvPr id="8" name="Text 5"/>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2E7D32"/>
                </a:solidFill>
                <a:latin typeface="Arial" pitchFamily="34" charset="0"/>
                <a:ea typeface="Arial" pitchFamily="34" charset="-122"/>
                <a:cs typeface="Arial" pitchFamily="34" charset="-120"/>
              </a:rPr>
              <a:t>Thói quen nên tập: </a:t>
            </a:r>
            <a:pPr indent="0" marL="0">
              <a:lnSpc>
                <a:spcPts val="1900"/>
              </a:lnSpc>
              <a:buNone/>
            </a:pPr>
            <a:r>
              <a:rPr lang="en-US" sz="1300" dirty="0">
                <a:solidFill>
                  <a:srgbClr val="14233A"/>
                </a:solidFill>
                <a:latin typeface="Arial" pitchFamily="34" charset="0"/>
                <a:ea typeface="Arial" pitchFamily="34" charset="-122"/>
                <a:cs typeface="Arial" pitchFamily="34" charset="-120"/>
              </a:rPr>
              <a:t>Đầu giờ sáng: Khoa = khoa mình, Trạng thái = Mới, Mức độ = Nghiêm trọng → Tải dữ liệu. Làm hết danh sách đó rồi mới chuyển sang Cảnh báo.</a:t>
            </a:r>
            <a:endParaRPr lang="en-US" sz="1300" dirty="0"/>
          </a:p>
        </p:txBody>
      </p:sp>
      <p:sp>
        <p:nvSpPr>
          <p:cNvPr id="10" name="Shape 6"/>
          <p:cNvSpPr/>
          <p:nvPr/>
        </p:nvSpPr>
        <p:spPr>
          <a:xfrm>
            <a:off x="566928" y="6382512"/>
            <a:ext cx="11057839" cy="0"/>
          </a:xfrm>
          <a:prstGeom prst="line">
            <a:avLst/>
          </a:prstGeom>
          <a:noFill/>
          <a:ln w="9525">
            <a:solidFill>
              <a:srgbClr val="D6E2EE"/>
            </a:solidFill>
            <a:prstDash val="solid"/>
          </a:ln>
        </p:spPr>
      </p:sp>
      <p:sp>
        <p:nvSpPr>
          <p:cNvPr id="11" name="Text 7"/>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2" name="Text 8"/>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14 / 80</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02 / MỤC 2.4</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Quy trình xử lý một vi phạm</a:t>
            </a:r>
            <a:endParaRPr lang="en-US" sz="2600" dirty="0"/>
          </a:p>
        </p:txBody>
      </p:sp>
      <p:sp>
        <p:nvSpPr>
          <p:cNvPr id="4" name="Shape 2"/>
          <p:cNvSpPr/>
          <p:nvPr/>
        </p:nvSpPr>
        <p:spPr>
          <a:xfrm>
            <a:off x="566928" y="1325880"/>
            <a:ext cx="11057839" cy="518160"/>
          </a:xfrm>
          <a:prstGeom prst="rect">
            <a:avLst/>
          </a:prstGeom>
          <a:solidFill>
            <a:srgbClr val="EEF3F8"/>
          </a:solidFill>
          <a:ln w="12700">
            <a:solidFill>
              <a:srgbClr val="D6E2EE"/>
            </a:solidFill>
            <a:prstDash val="solid"/>
          </a:ln>
        </p:spPr>
      </p:sp>
      <p:sp>
        <p:nvSpPr>
          <p:cNvPr id="5" name="Shape 3"/>
          <p:cNvSpPr/>
          <p:nvPr/>
        </p:nvSpPr>
        <p:spPr>
          <a:xfrm>
            <a:off x="713232" y="1392936"/>
            <a:ext cx="384048" cy="384048"/>
          </a:xfrm>
          <a:prstGeom prst="ellipse">
            <a:avLst/>
          </a:prstGeom>
          <a:solidFill>
            <a:srgbClr val="1A5EA8"/>
          </a:solidFill>
          <a:ln/>
        </p:spPr>
      </p:sp>
      <p:sp>
        <p:nvSpPr>
          <p:cNvPr id="6" name="Text 4"/>
          <p:cNvSpPr/>
          <p:nvPr/>
        </p:nvSpPr>
        <p:spPr>
          <a:xfrm>
            <a:off x="713232" y="1392936"/>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25296" y="1325880"/>
            <a:ext cx="5750076" cy="518160"/>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Lọc Trạng thái = "Mới", Mức độ = "Nghiêm trọng", bấm Tải dữ liệu</a:t>
            </a:r>
            <a:endParaRPr lang="en-US" sz="1400" dirty="0"/>
          </a:p>
        </p:txBody>
      </p:sp>
      <p:sp>
        <p:nvSpPr>
          <p:cNvPr id="8" name="Text 6"/>
          <p:cNvSpPr/>
          <p:nvPr/>
        </p:nvSpPr>
        <p:spPr>
          <a:xfrm>
            <a:off x="7085951" y="1325880"/>
            <a:ext cx="4088209" cy="518160"/>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Danh sách rút gọn còn các việc cần làm ngay</a:t>
            </a:r>
            <a:endParaRPr lang="en-US" sz="1200" dirty="0"/>
          </a:p>
        </p:txBody>
      </p:sp>
      <p:sp>
        <p:nvSpPr>
          <p:cNvPr id="9" name="Shape 7"/>
          <p:cNvSpPr/>
          <p:nvPr/>
        </p:nvSpPr>
        <p:spPr>
          <a:xfrm>
            <a:off x="566928" y="1953768"/>
            <a:ext cx="11057839" cy="518160"/>
          </a:xfrm>
          <a:prstGeom prst="rect">
            <a:avLst/>
          </a:prstGeom>
          <a:solidFill>
            <a:srgbClr val="FFFFFF"/>
          </a:solidFill>
          <a:ln w="12700">
            <a:solidFill>
              <a:srgbClr val="D6E2EE"/>
            </a:solidFill>
            <a:prstDash val="solid"/>
          </a:ln>
        </p:spPr>
      </p:sp>
      <p:sp>
        <p:nvSpPr>
          <p:cNvPr id="10" name="Shape 8"/>
          <p:cNvSpPr/>
          <p:nvPr/>
        </p:nvSpPr>
        <p:spPr>
          <a:xfrm>
            <a:off x="713232" y="2020824"/>
            <a:ext cx="384048" cy="384048"/>
          </a:xfrm>
          <a:prstGeom prst="ellipse">
            <a:avLst/>
          </a:prstGeom>
          <a:solidFill>
            <a:srgbClr val="1A5EA8"/>
          </a:solidFill>
          <a:ln/>
        </p:spPr>
      </p:sp>
      <p:sp>
        <p:nvSpPr>
          <p:cNvPr id="11" name="Text 9"/>
          <p:cNvSpPr/>
          <p:nvPr/>
        </p:nvSpPr>
        <p:spPr>
          <a:xfrm>
            <a:off x="713232" y="2020824"/>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1225296" y="1953768"/>
            <a:ext cx="5750076" cy="518160"/>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Đọc cột Nội dung để hiểu sai sót; ghi lại số Phiếu và Mã ĐT</a:t>
            </a:r>
            <a:endParaRPr lang="en-US" sz="1400" dirty="0"/>
          </a:p>
        </p:txBody>
      </p:sp>
      <p:sp>
        <p:nvSpPr>
          <p:cNvPr id="13" name="Text 11"/>
          <p:cNvSpPr/>
          <p:nvPr/>
        </p:nvSpPr>
        <p:spPr>
          <a:xfrm>
            <a:off x="7085951" y="1953768"/>
            <a:ext cx="4088209" cy="518160"/>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Đủ thông tin để tra ngược trên HIS</a:t>
            </a:r>
            <a:endParaRPr lang="en-US" sz="1200" dirty="0"/>
          </a:p>
        </p:txBody>
      </p:sp>
      <p:sp>
        <p:nvSpPr>
          <p:cNvPr id="14" name="Shape 12"/>
          <p:cNvSpPr/>
          <p:nvPr/>
        </p:nvSpPr>
        <p:spPr>
          <a:xfrm>
            <a:off x="566928" y="2581656"/>
            <a:ext cx="11057839" cy="518160"/>
          </a:xfrm>
          <a:prstGeom prst="rect">
            <a:avLst/>
          </a:prstGeom>
          <a:solidFill>
            <a:srgbClr val="EEF3F8"/>
          </a:solidFill>
          <a:ln w="12700">
            <a:solidFill>
              <a:srgbClr val="D6E2EE"/>
            </a:solidFill>
            <a:prstDash val="solid"/>
          </a:ln>
        </p:spPr>
      </p:sp>
      <p:sp>
        <p:nvSpPr>
          <p:cNvPr id="15" name="Shape 13"/>
          <p:cNvSpPr/>
          <p:nvPr/>
        </p:nvSpPr>
        <p:spPr>
          <a:xfrm>
            <a:off x="713232" y="2648712"/>
            <a:ext cx="384048" cy="384048"/>
          </a:xfrm>
          <a:prstGeom prst="ellipse">
            <a:avLst/>
          </a:prstGeom>
          <a:solidFill>
            <a:srgbClr val="1A5EA8"/>
          </a:solidFill>
          <a:ln/>
        </p:spPr>
      </p:sp>
      <p:sp>
        <p:nvSpPr>
          <p:cNvPr id="16" name="Text 14"/>
          <p:cNvSpPr/>
          <p:nvPr/>
        </p:nvSpPr>
        <p:spPr>
          <a:xfrm>
            <a:off x="713232" y="2648712"/>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1225296" y="2581656"/>
            <a:ext cx="5750076" cy="518160"/>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Sửa dữ liệu gốc trên HIS: sửa phiếu chỉ định, bổ sung thông tin còn thiếu</a:t>
            </a:r>
            <a:endParaRPr lang="en-US" sz="1400" dirty="0"/>
          </a:p>
        </p:txBody>
      </p:sp>
      <p:sp>
        <p:nvSpPr>
          <p:cNvPr id="18" name="Text 16"/>
          <p:cNvSpPr/>
          <p:nvPr/>
        </p:nvSpPr>
        <p:spPr>
          <a:xfrm>
            <a:off x="7085951" y="2581656"/>
            <a:ext cx="4088209" cy="518160"/>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Đây là bước duy nhất thực sự sửa được sai sót</a:t>
            </a:r>
            <a:endParaRPr lang="en-US" sz="1200" dirty="0"/>
          </a:p>
        </p:txBody>
      </p:sp>
      <p:sp>
        <p:nvSpPr>
          <p:cNvPr id="19" name="Shape 17"/>
          <p:cNvSpPr/>
          <p:nvPr/>
        </p:nvSpPr>
        <p:spPr>
          <a:xfrm>
            <a:off x="566928" y="3209544"/>
            <a:ext cx="11057839" cy="518160"/>
          </a:xfrm>
          <a:prstGeom prst="rect">
            <a:avLst/>
          </a:prstGeom>
          <a:solidFill>
            <a:srgbClr val="FFFFFF"/>
          </a:solidFill>
          <a:ln w="12700">
            <a:solidFill>
              <a:srgbClr val="D6E2EE"/>
            </a:solidFill>
            <a:prstDash val="solid"/>
          </a:ln>
        </p:spPr>
      </p:sp>
      <p:sp>
        <p:nvSpPr>
          <p:cNvPr id="20" name="Shape 18"/>
          <p:cNvSpPr/>
          <p:nvPr/>
        </p:nvSpPr>
        <p:spPr>
          <a:xfrm>
            <a:off x="713232" y="3276600"/>
            <a:ext cx="384048" cy="384048"/>
          </a:xfrm>
          <a:prstGeom prst="ellipse">
            <a:avLst/>
          </a:prstGeom>
          <a:solidFill>
            <a:srgbClr val="1A5EA8"/>
          </a:solidFill>
          <a:ln/>
        </p:spPr>
      </p:sp>
      <p:sp>
        <p:nvSpPr>
          <p:cNvPr id="21" name="Text 19"/>
          <p:cNvSpPr/>
          <p:nvPr/>
        </p:nvSpPr>
        <p:spPr>
          <a:xfrm>
            <a:off x="713232" y="327660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2" name="Text 20"/>
          <p:cNvSpPr/>
          <p:nvPr/>
        </p:nvSpPr>
        <p:spPr>
          <a:xfrm>
            <a:off x="1225296" y="3209544"/>
            <a:ext cx="5750076" cy="518160"/>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Quay lại phần mềm, bấm nút Đã xử lý trên dòng tương ứng</a:t>
            </a:r>
            <a:endParaRPr lang="en-US" sz="1400" dirty="0"/>
          </a:p>
        </p:txBody>
      </p:sp>
      <p:sp>
        <p:nvSpPr>
          <p:cNvPr id="23" name="Text 21"/>
          <p:cNvSpPr/>
          <p:nvPr/>
        </p:nvSpPr>
        <p:spPr>
          <a:xfrm>
            <a:off x="7085951" y="3209544"/>
            <a:ext cx="4088209" cy="518160"/>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Hiện ô nhập "Ghi chú (tùy chọn)"</a:t>
            </a:r>
            <a:endParaRPr lang="en-US" sz="1200" dirty="0"/>
          </a:p>
        </p:txBody>
      </p:sp>
      <p:sp>
        <p:nvSpPr>
          <p:cNvPr id="24" name="Shape 22"/>
          <p:cNvSpPr/>
          <p:nvPr/>
        </p:nvSpPr>
        <p:spPr>
          <a:xfrm>
            <a:off x="566928" y="3837432"/>
            <a:ext cx="11057839" cy="518160"/>
          </a:xfrm>
          <a:prstGeom prst="rect">
            <a:avLst/>
          </a:prstGeom>
          <a:solidFill>
            <a:srgbClr val="EEF3F8"/>
          </a:solidFill>
          <a:ln w="12700">
            <a:solidFill>
              <a:srgbClr val="D6E2EE"/>
            </a:solidFill>
            <a:prstDash val="solid"/>
          </a:ln>
        </p:spPr>
      </p:sp>
      <p:sp>
        <p:nvSpPr>
          <p:cNvPr id="25" name="Shape 23"/>
          <p:cNvSpPr/>
          <p:nvPr/>
        </p:nvSpPr>
        <p:spPr>
          <a:xfrm>
            <a:off x="713232" y="3904488"/>
            <a:ext cx="384048" cy="384048"/>
          </a:xfrm>
          <a:prstGeom prst="ellipse">
            <a:avLst/>
          </a:prstGeom>
          <a:solidFill>
            <a:srgbClr val="1A5EA8"/>
          </a:solidFill>
          <a:ln/>
        </p:spPr>
      </p:sp>
      <p:sp>
        <p:nvSpPr>
          <p:cNvPr id="26" name="Text 24"/>
          <p:cNvSpPr/>
          <p:nvPr/>
        </p:nvSpPr>
        <p:spPr>
          <a:xfrm>
            <a:off x="713232" y="3904488"/>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7" name="Text 25"/>
          <p:cNvSpPr/>
          <p:nvPr/>
        </p:nvSpPr>
        <p:spPr>
          <a:xfrm>
            <a:off x="1225296" y="3837432"/>
            <a:ext cx="5750076" cy="518160"/>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Nhập ghi chú, ví dụ: "Khoa Nội đã bổ sung ICD ngày 11/8", rồi xác nhận</a:t>
            </a:r>
            <a:endParaRPr lang="en-US" sz="1400" dirty="0"/>
          </a:p>
        </p:txBody>
      </p:sp>
      <p:sp>
        <p:nvSpPr>
          <p:cNvPr id="28" name="Text 26"/>
          <p:cNvSpPr/>
          <p:nvPr/>
        </p:nvSpPr>
        <p:spPr>
          <a:xfrm>
            <a:off x="7085951" y="3837432"/>
            <a:ext cx="4088209" cy="518160"/>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Hệ thống lưu người xử lý và thời điểm; dòng chuyển sang Đã xử lý</a:t>
            </a:r>
            <a:endParaRPr lang="en-US" sz="1200" dirty="0"/>
          </a:p>
        </p:txBody>
      </p:sp>
      <p:sp>
        <p:nvSpPr>
          <p:cNvPr id="29" name="Shape 27"/>
          <p:cNvSpPr/>
          <p:nvPr/>
        </p:nvSpPr>
        <p:spPr>
          <a:xfrm>
            <a:off x="566928" y="4465320"/>
            <a:ext cx="11057839" cy="518160"/>
          </a:xfrm>
          <a:prstGeom prst="rect">
            <a:avLst/>
          </a:prstGeom>
          <a:solidFill>
            <a:srgbClr val="FFFFFF"/>
          </a:solidFill>
          <a:ln w="12700">
            <a:solidFill>
              <a:srgbClr val="D6E2EE"/>
            </a:solidFill>
            <a:prstDash val="solid"/>
          </a:ln>
        </p:spPr>
      </p:sp>
      <p:sp>
        <p:nvSpPr>
          <p:cNvPr id="30" name="Shape 28"/>
          <p:cNvSpPr/>
          <p:nvPr/>
        </p:nvSpPr>
        <p:spPr>
          <a:xfrm>
            <a:off x="713232" y="4532376"/>
            <a:ext cx="384048" cy="384048"/>
          </a:xfrm>
          <a:prstGeom prst="ellipse">
            <a:avLst/>
          </a:prstGeom>
          <a:solidFill>
            <a:srgbClr val="1A5EA8"/>
          </a:solidFill>
          <a:ln/>
        </p:spPr>
      </p:sp>
      <p:sp>
        <p:nvSpPr>
          <p:cNvPr id="31" name="Text 29"/>
          <p:cNvSpPr/>
          <p:nvPr/>
        </p:nvSpPr>
        <p:spPr>
          <a:xfrm>
            <a:off x="713232" y="4532376"/>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2" name="Text 30"/>
          <p:cNvSpPr/>
          <p:nvPr/>
        </p:nvSpPr>
        <p:spPr>
          <a:xfrm>
            <a:off x="1225296" y="4465320"/>
            <a:ext cx="5750076" cy="518160"/>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Với vi phạm không đúng thực tế: bấm Bỏ qua và ghi RÕ lý do</a:t>
            </a:r>
            <a:endParaRPr lang="en-US" sz="1400" dirty="0"/>
          </a:p>
        </p:txBody>
      </p:sp>
      <p:sp>
        <p:nvSpPr>
          <p:cNvPr id="33" name="Text 31"/>
          <p:cNvSpPr/>
          <p:nvPr/>
        </p:nvSpPr>
        <p:spPr>
          <a:xfrm>
            <a:off x="7085951" y="4465320"/>
            <a:ext cx="4088209" cy="518160"/>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Dòng chuyển sang Bỏ qua và không bao giờ xuất hiện lại</a:t>
            </a:r>
            <a:endParaRPr lang="en-US" sz="1200" dirty="0"/>
          </a:p>
        </p:txBody>
      </p:sp>
      <p:sp>
        <p:nvSpPr>
          <p:cNvPr id="34" name="Shape 32"/>
          <p:cNvSpPr/>
          <p:nvPr/>
        </p:nvSpPr>
        <p:spPr>
          <a:xfrm>
            <a:off x="566928" y="5074920"/>
            <a:ext cx="11057839" cy="1051560"/>
          </a:xfrm>
          <a:prstGeom prst="rect">
            <a:avLst/>
          </a:prstGeom>
          <a:solidFill>
            <a:srgbClr val="FDECEC"/>
          </a:solidFill>
          <a:ln w="12700">
            <a:solidFill>
              <a:srgbClr val="FDECEC"/>
            </a:solidFill>
            <a:prstDash val="solid"/>
          </a:ln>
        </p:spPr>
      </p:sp>
      <p:sp>
        <p:nvSpPr>
          <p:cNvPr id="35" name="Shape 33"/>
          <p:cNvSpPr/>
          <p:nvPr/>
        </p:nvSpPr>
        <p:spPr>
          <a:xfrm>
            <a:off x="566928" y="5074920"/>
            <a:ext cx="64008" cy="1051560"/>
          </a:xfrm>
          <a:prstGeom prst="rect">
            <a:avLst/>
          </a:prstGeom>
          <a:solidFill>
            <a:srgbClr val="C62828"/>
          </a:solidFill>
          <a:ln w="12700">
            <a:solidFill>
              <a:srgbClr val="C62828"/>
            </a:solidFill>
            <a:prstDash val="solid"/>
          </a:ln>
        </p:spPr>
      </p:sp>
      <p:sp>
        <p:nvSpPr>
          <p:cNvPr id="36" name="Text 34"/>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Cảnh báo: </a:t>
            </a:r>
            <a:pPr indent="0" marL="0">
              <a:lnSpc>
                <a:spcPts val="1900"/>
              </a:lnSpc>
              <a:buNone/>
            </a:pPr>
            <a:r>
              <a:rPr lang="en-US" sz="1300" dirty="0">
                <a:solidFill>
                  <a:srgbClr val="14233A"/>
                </a:solidFill>
                <a:latin typeface="Arial" pitchFamily="34" charset="0"/>
                <a:ea typeface="Arial" pitchFamily="34" charset="-122"/>
                <a:cs typeface="Arial" pitchFamily="34" charset="-120"/>
              </a:rPr>
              <a:t>Nút Bỏ qua là quyết định vĩnh viễn với dòng đó. Luôn ghi rõ lý do trong ô ghi chú — đây là căn cứ giải trình khi cơ quan giám định hỏi lại.</a:t>
            </a:r>
            <a:endParaRPr lang="en-US" sz="1300" dirty="0"/>
          </a:p>
        </p:txBody>
      </p:sp>
      <p:sp>
        <p:nvSpPr>
          <p:cNvPr id="38" name="Shape 35"/>
          <p:cNvSpPr/>
          <p:nvPr/>
        </p:nvSpPr>
        <p:spPr>
          <a:xfrm>
            <a:off x="566928" y="6382512"/>
            <a:ext cx="11057839" cy="0"/>
          </a:xfrm>
          <a:prstGeom prst="line">
            <a:avLst/>
          </a:prstGeom>
          <a:noFill/>
          <a:ln w="9525">
            <a:solidFill>
              <a:srgbClr val="D6E2EE"/>
            </a:solidFill>
            <a:prstDash val="solid"/>
          </a:ln>
        </p:spPr>
      </p:sp>
      <p:sp>
        <p:nvSpPr>
          <p:cNvPr id="39" name="Text 36"/>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40" name="Text 37"/>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15 / 80</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02 / MỤC 2.4</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Chọn "Đã xử lý" hay "Bỏ qua"?</a:t>
            </a:r>
            <a:endParaRPr lang="en-US" sz="2600" dirty="0"/>
          </a:p>
        </p:txBody>
      </p:sp>
      <p:sp>
        <p:nvSpPr>
          <p:cNvPr id="4" name="Shape 2"/>
          <p:cNvSpPr/>
          <p:nvPr/>
        </p:nvSpPr>
        <p:spPr>
          <a:xfrm>
            <a:off x="566928" y="1325880"/>
            <a:ext cx="5364328" cy="3657600"/>
          </a:xfrm>
          <a:prstGeom prst="rect">
            <a:avLst/>
          </a:prstGeom>
          <a:solidFill>
            <a:srgbClr val="FFFFFF"/>
          </a:solidFill>
          <a:ln w="12700">
            <a:solidFill>
              <a:srgbClr val="D6E2EE"/>
            </a:solidFill>
            <a:prstDash val="solid"/>
          </a:ln>
        </p:spPr>
      </p:sp>
      <p:sp>
        <p:nvSpPr>
          <p:cNvPr id="5" name="Shape 3"/>
          <p:cNvSpPr/>
          <p:nvPr/>
        </p:nvSpPr>
        <p:spPr>
          <a:xfrm>
            <a:off x="566928" y="1325880"/>
            <a:ext cx="5364328" cy="457200"/>
          </a:xfrm>
          <a:prstGeom prst="rect">
            <a:avLst/>
          </a:prstGeom>
          <a:solidFill>
            <a:srgbClr val="2E7D32"/>
          </a:solidFill>
          <a:ln w="12700">
            <a:solidFill>
              <a:srgbClr val="2E7D32"/>
            </a:solidFill>
            <a:prstDash val="solid"/>
          </a:ln>
        </p:spPr>
      </p:sp>
      <p:sp>
        <p:nvSpPr>
          <p:cNvPr id="6" name="Text 4"/>
          <p:cNvSpPr/>
          <p:nvPr/>
        </p:nvSpPr>
        <p:spPr>
          <a:xfrm>
            <a:off x="731520" y="1325880"/>
            <a:ext cx="5035144"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ĐÃ XỬ LÝ — khi vi phạm là thật</a:t>
            </a:r>
            <a:endParaRPr lang="en-US" sz="1500" dirty="0"/>
          </a:p>
        </p:txBody>
      </p:sp>
      <p:sp>
        <p:nvSpPr>
          <p:cNvPr id="7" name="Text 5"/>
          <p:cNvSpPr/>
          <p:nvPr/>
        </p:nvSpPr>
        <p:spPr>
          <a:xfrm>
            <a:off x="768096" y="1929384"/>
            <a:ext cx="4961992" cy="2907792"/>
          </a:xfrm>
          <a:prstGeom prst="rect">
            <a:avLst/>
          </a:prstGeom>
          <a:noFill/>
          <a:ln/>
        </p:spPr>
        <p:txBody>
          <a:bodyPr wrap="square" rtlCol="0" anchor="t"/>
          <a:lstStyle/>
          <a:p>
            <a:pPr marL="342900" indent="-342900">
              <a:lnSpc>
                <a:spcPts val="1900"/>
              </a:lnSpc>
              <a:spcAft>
                <a:spcPts val="900"/>
              </a:spcAft>
              <a:buSzPct val="100000"/>
              <a:buChar char="▪"/>
            </a:pPr>
            <a:r>
              <a:rPr lang="en-US" sz="1350" dirty="0">
                <a:solidFill>
                  <a:srgbClr val="14233A"/>
                </a:solidFill>
                <a:latin typeface="Arial" pitchFamily="34" charset="0"/>
                <a:ea typeface="Arial" pitchFamily="34" charset="-122"/>
                <a:cs typeface="Arial" pitchFamily="34" charset="-120"/>
              </a:rPr>
              <a:t>Sai sót có thật và đã được sửa trên HIS</a:t>
            </a:r>
            <a:endParaRPr lang="en-US" sz="1350" dirty="0"/>
          </a:p>
          <a:p>
            <a:pPr marL="342900" indent="-342900">
              <a:lnSpc>
                <a:spcPts val="1900"/>
              </a:lnSpc>
              <a:spcAft>
                <a:spcPts val="900"/>
              </a:spcAft>
              <a:buSzPct val="100000"/>
              <a:buChar char="▪"/>
            </a:pPr>
            <a:r>
              <a:rPr lang="en-US" sz="1350" dirty="0">
                <a:solidFill>
                  <a:srgbClr val="14233A"/>
                </a:solidFill>
                <a:latin typeface="Arial" pitchFamily="34" charset="0"/>
                <a:ea typeface="Arial" pitchFamily="34" charset="-122"/>
                <a:cs typeface="Arial" pitchFamily="34" charset="-120"/>
              </a:rPr>
              <a:t>Ví dụ: phiếu thiếu ICD → đã bổ sung ICD</a:t>
            </a:r>
            <a:endParaRPr lang="en-US" sz="1350" dirty="0"/>
          </a:p>
          <a:p>
            <a:pPr marL="342900" indent="-342900">
              <a:lnSpc>
                <a:spcPts val="1900"/>
              </a:lnSpc>
              <a:spcAft>
                <a:spcPts val="900"/>
              </a:spcAft>
              <a:buSzPct val="100000"/>
              <a:buChar char="▪"/>
            </a:pPr>
            <a:r>
              <a:rPr lang="en-US" sz="1350" dirty="0">
                <a:solidFill>
                  <a:srgbClr val="14233A"/>
                </a:solidFill>
                <a:latin typeface="Arial" pitchFamily="34" charset="0"/>
                <a:ea typeface="Arial" pitchFamily="34" charset="-122"/>
                <a:cs typeface="Arial" pitchFamily="34" charset="-120"/>
              </a:rPr>
              <a:t>Ví dụ: người thực hiện chưa khai chứng chỉ hành nghề → đã khai bổ sung</a:t>
            </a:r>
            <a:endParaRPr lang="en-US" sz="1350" dirty="0"/>
          </a:p>
          <a:p>
            <a:pPr marL="342900" indent="-342900">
              <a:lnSpc>
                <a:spcPts val="1900"/>
              </a:lnSpc>
              <a:spcAft>
                <a:spcPts val="900"/>
              </a:spcAft>
              <a:buSzPct val="100000"/>
              <a:buChar char="▪"/>
            </a:pPr>
            <a:r>
              <a:rPr lang="en-US" sz="1350" dirty="0">
                <a:solidFill>
                  <a:srgbClr val="14233A"/>
                </a:solidFill>
                <a:latin typeface="Arial" pitchFamily="34" charset="0"/>
                <a:ea typeface="Arial" pitchFamily="34" charset="-122"/>
                <a:cs typeface="Arial" pitchFamily="34" charset="-120"/>
              </a:rPr>
              <a:t>Ví dụ: giờ y lệnh ghi sai → đã sửa lại giờ</a:t>
            </a:r>
            <a:endParaRPr lang="en-US" sz="1350" dirty="0"/>
          </a:p>
          <a:p>
            <a:pPr marL="342900" indent="-342900">
              <a:lnSpc>
                <a:spcPts val="1900"/>
              </a:lnSpc>
              <a:spcAft>
                <a:spcPts val="900"/>
              </a:spcAft>
              <a:buSzPct val="100000"/>
              <a:buChar char="▪"/>
            </a:pPr>
            <a:r>
              <a:rPr lang="en-US" sz="1350" dirty="0">
                <a:solidFill>
                  <a:srgbClr val="14233A"/>
                </a:solidFill>
                <a:latin typeface="Arial" pitchFamily="34" charset="0"/>
                <a:ea typeface="Arial" pitchFamily="34" charset="-122"/>
                <a:cs typeface="Arial" pitchFamily="34" charset="-120"/>
              </a:rPr>
              <a:t>Ghi chú nên nêu: đã sửa gì, ngày nào</a:t>
            </a:r>
            <a:endParaRPr lang="en-US" sz="1350" dirty="0"/>
          </a:p>
        </p:txBody>
      </p:sp>
      <p:sp>
        <p:nvSpPr>
          <p:cNvPr id="8" name="Shape 6"/>
          <p:cNvSpPr/>
          <p:nvPr/>
        </p:nvSpPr>
        <p:spPr>
          <a:xfrm>
            <a:off x="6260440" y="1325880"/>
            <a:ext cx="5364328" cy="3657600"/>
          </a:xfrm>
          <a:prstGeom prst="rect">
            <a:avLst/>
          </a:prstGeom>
          <a:solidFill>
            <a:srgbClr val="FFFFFF"/>
          </a:solidFill>
          <a:ln w="12700">
            <a:solidFill>
              <a:srgbClr val="D6E2EE"/>
            </a:solidFill>
            <a:prstDash val="solid"/>
          </a:ln>
        </p:spPr>
      </p:sp>
      <p:sp>
        <p:nvSpPr>
          <p:cNvPr id="9" name="Shape 7"/>
          <p:cNvSpPr/>
          <p:nvPr/>
        </p:nvSpPr>
        <p:spPr>
          <a:xfrm>
            <a:off x="6260440" y="1325880"/>
            <a:ext cx="5364328" cy="457200"/>
          </a:xfrm>
          <a:prstGeom prst="rect">
            <a:avLst/>
          </a:prstGeom>
          <a:solidFill>
            <a:srgbClr val="1A5EA8"/>
          </a:solidFill>
          <a:ln w="12700">
            <a:solidFill>
              <a:srgbClr val="1A5EA8"/>
            </a:solidFill>
            <a:prstDash val="solid"/>
          </a:ln>
        </p:spPr>
      </p:sp>
      <p:sp>
        <p:nvSpPr>
          <p:cNvPr id="10" name="Text 8"/>
          <p:cNvSpPr/>
          <p:nvPr/>
        </p:nvSpPr>
        <p:spPr>
          <a:xfrm>
            <a:off x="6425032" y="1325880"/>
            <a:ext cx="5035144"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BỎ QUA — khi vi phạm không đúng thực tế</a:t>
            </a:r>
            <a:endParaRPr lang="en-US" sz="1500" dirty="0"/>
          </a:p>
        </p:txBody>
      </p:sp>
      <p:sp>
        <p:nvSpPr>
          <p:cNvPr id="11" name="Text 9"/>
          <p:cNvSpPr/>
          <p:nvPr/>
        </p:nvSpPr>
        <p:spPr>
          <a:xfrm>
            <a:off x="6461608" y="1929384"/>
            <a:ext cx="4961992" cy="2907792"/>
          </a:xfrm>
          <a:prstGeom prst="rect">
            <a:avLst/>
          </a:prstGeom>
          <a:noFill/>
          <a:ln/>
        </p:spPr>
        <p:txBody>
          <a:bodyPr wrap="square" rtlCol="0" anchor="t"/>
          <a:lstStyle/>
          <a:p>
            <a:pPr marL="342900" indent="-342900">
              <a:lnSpc>
                <a:spcPts val="1900"/>
              </a:lnSpc>
              <a:spcAft>
                <a:spcPts val="900"/>
              </a:spcAft>
              <a:buSzPct val="100000"/>
              <a:buChar char="▪"/>
            </a:pPr>
            <a:r>
              <a:rPr lang="en-US" sz="1350" dirty="0">
                <a:solidFill>
                  <a:srgbClr val="14233A"/>
                </a:solidFill>
                <a:latin typeface="Arial" pitchFamily="34" charset="0"/>
                <a:ea typeface="Arial" pitchFamily="34" charset="-122"/>
                <a:cs typeface="Arial" pitchFamily="34" charset="-120"/>
              </a:rPr>
              <a:t>Máy báo nhưng dữ liệu thực tế không sai</a:t>
            </a:r>
            <a:endParaRPr lang="en-US" sz="1350" dirty="0"/>
          </a:p>
          <a:p>
            <a:pPr marL="342900" indent="-342900">
              <a:lnSpc>
                <a:spcPts val="1900"/>
              </a:lnSpc>
              <a:spcAft>
                <a:spcPts val="900"/>
              </a:spcAft>
              <a:buSzPct val="100000"/>
              <a:buChar char="▪"/>
            </a:pPr>
            <a:r>
              <a:rPr lang="en-US" sz="1350" dirty="0">
                <a:solidFill>
                  <a:srgbClr val="14233A"/>
                </a:solidFill>
                <a:latin typeface="Arial" pitchFamily="34" charset="0"/>
                <a:ea typeface="Arial" pitchFamily="34" charset="-122"/>
                <a:cs typeface="Arial" pitchFamily="34" charset="-120"/>
              </a:rPr>
              <a:t>Ví dụ: ICD đã bổ sung sau lượt quét (xem lại giới hạn ở mục 2.2.2)</a:t>
            </a:r>
            <a:endParaRPr lang="en-US" sz="1350" dirty="0"/>
          </a:p>
          <a:p>
            <a:pPr marL="342900" indent="-342900">
              <a:lnSpc>
                <a:spcPts val="1900"/>
              </a:lnSpc>
              <a:spcAft>
                <a:spcPts val="900"/>
              </a:spcAft>
              <a:buSzPct val="100000"/>
              <a:buChar char="▪"/>
            </a:pPr>
            <a:r>
              <a:rPr lang="en-US" sz="1350" dirty="0">
                <a:solidFill>
                  <a:srgbClr val="14233A"/>
                </a:solidFill>
                <a:latin typeface="Arial" pitchFamily="34" charset="0"/>
                <a:ea typeface="Arial" pitchFamily="34" charset="-122"/>
                <a:cs typeface="Arial" pitchFamily="34" charset="-120"/>
              </a:rPr>
              <a:t>Ví dụ: mã báo "không có trong danh mục" do danh mục chưa nhập kịp</a:t>
            </a:r>
            <a:endParaRPr lang="en-US" sz="1350" dirty="0"/>
          </a:p>
          <a:p>
            <a:pPr marL="342900" indent="-342900">
              <a:lnSpc>
                <a:spcPts val="1900"/>
              </a:lnSpc>
              <a:spcAft>
                <a:spcPts val="900"/>
              </a:spcAft>
              <a:buSzPct val="100000"/>
              <a:buChar char="▪"/>
            </a:pPr>
            <a:r>
              <a:rPr lang="en-US" sz="1350" dirty="0">
                <a:solidFill>
                  <a:srgbClr val="14233A"/>
                </a:solidFill>
                <a:latin typeface="Arial" pitchFamily="34" charset="0"/>
                <a:ea typeface="Arial" pitchFamily="34" charset="-122"/>
                <a:cs typeface="Arial" pitchFamily="34" charset="-120"/>
              </a:rPr>
              <a:t>Ghi chú BẮT BUỘC nêu rõ lý do vì sao không phải là sai sót</a:t>
            </a:r>
            <a:endParaRPr lang="en-US" sz="1350" dirty="0"/>
          </a:p>
          <a:p>
            <a:pPr marL="342900" indent="-342900">
              <a:lnSpc>
                <a:spcPts val="1900"/>
              </a:lnSpc>
              <a:spcAft>
                <a:spcPts val="900"/>
              </a:spcAft>
              <a:buSzPct val="100000"/>
              <a:buChar char="▪"/>
            </a:pPr>
            <a:r>
              <a:rPr lang="en-US" sz="1350" dirty="0">
                <a:solidFill>
                  <a:srgbClr val="14233A"/>
                </a:solidFill>
                <a:latin typeface="Arial" pitchFamily="34" charset="0"/>
                <a:ea typeface="Arial" pitchFamily="34" charset="-122"/>
                <a:cs typeface="Arial" pitchFamily="34" charset="-120"/>
              </a:rPr>
              <a:t>Bỏ qua là vĩnh viễn — dòng sẽ không quay lại</a:t>
            </a:r>
            <a:endParaRPr lang="en-US" sz="1350" dirty="0"/>
          </a:p>
        </p:txBody>
      </p:sp>
      <p:sp>
        <p:nvSpPr>
          <p:cNvPr id="12" name="Shape 10"/>
          <p:cNvSpPr/>
          <p:nvPr/>
        </p:nvSpPr>
        <p:spPr>
          <a:xfrm>
            <a:off x="566928" y="5074920"/>
            <a:ext cx="11057839" cy="1051560"/>
          </a:xfrm>
          <a:prstGeom prst="rect">
            <a:avLst/>
          </a:prstGeom>
          <a:solidFill>
            <a:srgbClr val="FFF4E6"/>
          </a:solidFill>
          <a:ln w="12700">
            <a:solidFill>
              <a:srgbClr val="FFF4E6"/>
            </a:solidFill>
            <a:prstDash val="solid"/>
          </a:ln>
        </p:spPr>
      </p:sp>
      <p:sp>
        <p:nvSpPr>
          <p:cNvPr id="13" name="Shape 11"/>
          <p:cNvSpPr/>
          <p:nvPr/>
        </p:nvSpPr>
        <p:spPr>
          <a:xfrm>
            <a:off x="566928" y="5074920"/>
            <a:ext cx="64008" cy="1051560"/>
          </a:xfrm>
          <a:prstGeom prst="rect">
            <a:avLst/>
          </a:prstGeom>
          <a:solidFill>
            <a:srgbClr val="C96A12"/>
          </a:solidFill>
          <a:ln w="12700">
            <a:solidFill>
              <a:srgbClr val="C96A12"/>
            </a:solidFill>
            <a:prstDash val="solid"/>
          </a:ln>
        </p:spPr>
      </p:sp>
      <p:sp>
        <p:nvSpPr>
          <p:cNvPr id="14" name="Text 12"/>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Nguyên tắc: </a:t>
            </a:r>
            <a:pPr indent="0" marL="0">
              <a:lnSpc>
                <a:spcPts val="1900"/>
              </a:lnSpc>
              <a:buNone/>
            </a:pPr>
            <a:r>
              <a:rPr lang="en-US" sz="1300" dirty="0">
                <a:solidFill>
                  <a:srgbClr val="14233A"/>
                </a:solidFill>
                <a:latin typeface="Arial" pitchFamily="34" charset="0"/>
                <a:ea typeface="Arial" pitchFamily="34" charset="-122"/>
                <a:cs typeface="Arial" pitchFamily="34" charset="-120"/>
              </a:rPr>
              <a:t>Không dùng "Bỏ qua" để dọn màn hình cho gọn. Một dòng bỏ qua không có lý do chính đáng sẽ thành điểm yếu khi cơ quan giám định đối chiếu.</a:t>
            </a:r>
            <a:endParaRPr lang="en-US" sz="1300" dirty="0"/>
          </a:p>
        </p:txBody>
      </p:sp>
      <p:sp>
        <p:nvSpPr>
          <p:cNvPr id="16" name="Shape 13"/>
          <p:cNvSpPr/>
          <p:nvPr/>
        </p:nvSpPr>
        <p:spPr>
          <a:xfrm>
            <a:off x="566928" y="6382512"/>
            <a:ext cx="11057839" cy="0"/>
          </a:xfrm>
          <a:prstGeom prst="line">
            <a:avLst/>
          </a:prstGeom>
          <a:noFill/>
          <a:ln w="9525">
            <a:solidFill>
              <a:srgbClr val="D6E2EE"/>
            </a:solidFill>
            <a:prstDash val="solid"/>
          </a:ln>
        </p:spPr>
      </p:sp>
      <p:sp>
        <p:nvSpPr>
          <p:cNvPr id="17" name="Text 14"/>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8" name="Text 15"/>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16 / 80</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02 / MỤC 2.5.1</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Các quy tắc đang bật — nhóm cấu trúc và thời gian</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57839" cy="914400"/>
        </p:xfrm>
        <a:graphic>
          <a:graphicData uri="http://schemas.openxmlformats.org/drawingml/2006/table">
            <a:tbl>
              <a:tblPr/>
              <a:tblGrid>
                <a:gridCol w="3385053"/>
                <a:gridCol w="5867425"/>
                <a:gridCol w="1805362"/>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Tên quy tắc</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Phát hiện điều gì</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Mức độ</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Ngày ra viện trước ngày vào viện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Ngày ra viện nhỏ hơn ngày vào viện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b="1" dirty="0">
                          <a:solidFill>
                            <a:srgbClr val="C62828"/>
                          </a:solidFill>
                          <a:latin typeface="Arial" pitchFamily="34" charset="0"/>
                          <a:ea typeface="Arial" pitchFamily="34" charset="-122"/>
                          <a:cs typeface="Arial" pitchFamily="34" charset="-120"/>
                        </a:rPr>
                        <a:t>Nghiêm trọng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Giờ y lệnh ngoài khoảng đợt điều trị</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Y lệnh có giờ trước giờ vào viện hoặc sau giờ ra viện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B26A00"/>
                          </a:solidFill>
                          <a:latin typeface="Arial" pitchFamily="34" charset="0"/>
                          <a:ea typeface="Arial" pitchFamily="34" charset="-122"/>
                          <a:cs typeface="Arial" pitchFamily="34" charset="-120"/>
                        </a:rPr>
                        <a:t>Cảnh báo</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Giờ thực hiện trước giờ y lệnh</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Dịch vụ ghi nhận thực hiện trước thời điểm bác sĩ ra y lệnh</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B26A00"/>
                          </a:solidFill>
                          <a:latin typeface="Arial" pitchFamily="34" charset="0"/>
                          <a:ea typeface="Arial" pitchFamily="34" charset="-122"/>
                          <a:cs typeface="Arial" pitchFamily="34" charset="-120"/>
                        </a:rPr>
                        <a:t>Cảnh báo</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Người thực hiện thiếu chứng chỉ hành nghề</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Tài khoản thực hiện dịch vụ chưa khai hoặc khai không hợp lệ chứng chỉ hành nghề</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b="1" dirty="0">
                          <a:solidFill>
                            <a:srgbClr val="C62828"/>
                          </a:solidFill>
                          <a:latin typeface="Arial" pitchFamily="34" charset="0"/>
                          <a:ea typeface="Arial" pitchFamily="34" charset="-122"/>
                          <a:cs typeface="Arial" pitchFamily="34" charset="-120"/>
                        </a:rPr>
                        <a:t>Nghiêm trọng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5074920"/>
            <a:ext cx="11057839" cy="1051560"/>
          </a:xfrm>
          <a:prstGeom prst="rect">
            <a:avLst/>
          </a:prstGeom>
          <a:solidFill>
            <a:srgbClr val="FFF4E6"/>
          </a:solidFill>
          <a:ln w="12700">
            <a:solidFill>
              <a:srgbClr val="FFF4E6"/>
            </a:solidFill>
            <a:prstDash val="solid"/>
          </a:ln>
        </p:spPr>
      </p:sp>
      <p:sp>
        <p:nvSpPr>
          <p:cNvPr id="6" name="Shape 3"/>
          <p:cNvSpPr/>
          <p:nvPr/>
        </p:nvSpPr>
        <p:spPr>
          <a:xfrm>
            <a:off x="566928" y="5074920"/>
            <a:ext cx="64008" cy="1051560"/>
          </a:xfrm>
          <a:prstGeom prst="rect">
            <a:avLst/>
          </a:prstGeom>
          <a:solidFill>
            <a:srgbClr val="C96A12"/>
          </a:solidFill>
          <a:ln w="12700">
            <a:solidFill>
              <a:srgbClr val="C96A12"/>
            </a:solidFill>
            <a:prstDash val="solid"/>
          </a:ln>
        </p:spPr>
      </p:sp>
      <p:sp>
        <p:nvSpPr>
          <p:cNvPr id="7" name="Text 4"/>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Hay gặp nhất tại khoa: </a:t>
            </a:r>
            <a:pPr indent="0" marL="0">
              <a:lnSpc>
                <a:spcPts val="1900"/>
              </a:lnSpc>
              <a:buNone/>
            </a:pPr>
            <a:r>
              <a:rPr lang="en-US" sz="1300" dirty="0">
                <a:solidFill>
                  <a:srgbClr val="14233A"/>
                </a:solidFill>
                <a:latin typeface="Arial" pitchFamily="34" charset="0"/>
                <a:ea typeface="Arial" pitchFamily="34" charset="-122"/>
                <a:cs typeface="Arial" pitchFamily="34" charset="-120"/>
              </a:rPr>
              <a:t>Nhóm "giờ" — do thói quen nhập y lệnh gộp vào cuối ca, hoặc ghi nhận thực hiện trước khi bác sĩ ký y lệnh. Sửa được bằng thay đổi quy trình ghi chép, không cần sửa phần mềm.</a:t>
            </a:r>
            <a:endParaRPr lang="en-US" sz="1300" dirty="0"/>
          </a:p>
        </p:txBody>
      </p:sp>
      <p:sp>
        <p:nvSpPr>
          <p:cNvPr id="9" name="Shape 5"/>
          <p:cNvSpPr/>
          <p:nvPr/>
        </p:nvSpPr>
        <p:spPr>
          <a:xfrm>
            <a:off x="566928" y="6382512"/>
            <a:ext cx="11057839" cy="0"/>
          </a:xfrm>
          <a:prstGeom prst="line">
            <a:avLst/>
          </a:prstGeom>
          <a:noFill/>
          <a:ln w="9525">
            <a:solidFill>
              <a:srgbClr val="D6E2EE"/>
            </a:solidFill>
            <a:prstDash val="solid"/>
          </a:ln>
        </p:spPr>
      </p:sp>
      <p:sp>
        <p:nvSpPr>
          <p:cNvPr id="10" name="Text 6"/>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1" name="Text 7"/>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17 / 80</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02 / MỤC 2.5.2</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Các quy tắc đang bật — nhóm lâm sàng</a:t>
            </a:r>
            <a:endParaRPr lang="en-US" sz="2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57839" cy="914400"/>
        </p:xfrm>
        <a:graphic>
          <a:graphicData uri="http://schemas.openxmlformats.org/drawingml/2006/table">
            <a:tbl>
              <a:tblPr/>
              <a:tblGrid>
                <a:gridCol w="3385053"/>
                <a:gridCol w="5867425"/>
                <a:gridCol w="1805362"/>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Tên quy tắc</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Phát hiện điều gì</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Mức độ</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Tương tác thuốc</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Cảnh báo tương tác thuốc do HIS phát hiện trong cùng đơn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B26A00"/>
                          </a:solidFill>
                          <a:latin typeface="Arial" pitchFamily="34" charset="0"/>
                          <a:ea typeface="Arial" pitchFamily="34" charset="-122"/>
                          <a:cs typeface="Arial" pitchFamily="34" charset="-120"/>
                        </a:rPr>
                        <a:t>Cảnh báo</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Phiếu chỉ định thiếu chẩn đoán ICD</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Phiếu chỉ định không có mã bệnh. Phiếu khám bệnh được miễn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B26A00"/>
                          </a:solidFill>
                          <a:latin typeface="Arial" pitchFamily="34" charset="0"/>
                          <a:ea typeface="Arial" pitchFamily="34" charset="-122"/>
                          <a:cs typeface="Arial" pitchFamily="34" charset="-120"/>
                        </a:rPr>
                        <a:t>Cảnh báo</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Liều nhân ngày không khớp số lượng cấp</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Tổng liều sáng-trưa-chiều-tối nhân số ngày khác số lượng thuốc đã cấp</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5A6472"/>
                          </a:solidFill>
                          <a:latin typeface="Arial" pitchFamily="34" charset="0"/>
                          <a:ea typeface="Arial" pitchFamily="34" charset="-122"/>
                          <a:cs typeface="Arial" pitchFamily="34" charset="-120"/>
                        </a:rPr>
                        <a:t>Thông tin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Chỉ định dịch vụ sai giới tính</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Dịch vụ chỉ dành cho một giới nhưng chỉ định cho giới còn lại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B26A00"/>
                          </a:solidFill>
                          <a:latin typeface="Arial" pitchFamily="34" charset="0"/>
                          <a:ea typeface="Arial" pitchFamily="34" charset="-122"/>
                          <a:cs typeface="Arial" pitchFamily="34" charset="-120"/>
                        </a:rPr>
                        <a:t>Cảnh báo</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Chỉ định dịch vụ ngoài ngưỡng tuổi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Tuổi bệnh nhân nằm ngoài khoảng tuổi cho phép của dịch vụ</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B26A00"/>
                          </a:solidFill>
                          <a:latin typeface="Arial" pitchFamily="34" charset="0"/>
                          <a:ea typeface="Arial" pitchFamily="34" charset="-122"/>
                          <a:cs typeface="Arial" pitchFamily="34" charset="-120"/>
                        </a:rPr>
                        <a:t>Cảnh báo</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bl>
          </a:graphicData>
        </a:graphic>
      </p:graphicFrame>
      <p:sp>
        <p:nvSpPr>
          <p:cNvPr id="5" name="Shape 2"/>
          <p:cNvSpPr/>
          <p:nvPr/>
        </p:nvSpPr>
        <p:spPr>
          <a:xfrm>
            <a:off x="566928" y="5074920"/>
            <a:ext cx="11057839" cy="1051560"/>
          </a:xfrm>
          <a:prstGeom prst="rect">
            <a:avLst/>
          </a:prstGeom>
          <a:solidFill>
            <a:srgbClr val="FFF4E6"/>
          </a:solidFill>
          <a:ln w="12700">
            <a:solidFill>
              <a:srgbClr val="FFF4E6"/>
            </a:solidFill>
            <a:prstDash val="solid"/>
          </a:ln>
        </p:spPr>
      </p:sp>
      <p:sp>
        <p:nvSpPr>
          <p:cNvPr id="6" name="Shape 3"/>
          <p:cNvSpPr/>
          <p:nvPr/>
        </p:nvSpPr>
        <p:spPr>
          <a:xfrm>
            <a:off x="566928" y="5074920"/>
            <a:ext cx="64008" cy="1051560"/>
          </a:xfrm>
          <a:prstGeom prst="rect">
            <a:avLst/>
          </a:prstGeom>
          <a:solidFill>
            <a:srgbClr val="C96A12"/>
          </a:solidFill>
          <a:ln w="12700">
            <a:solidFill>
              <a:srgbClr val="C96A12"/>
            </a:solidFill>
            <a:prstDash val="solid"/>
          </a:ln>
        </p:spPr>
      </p:sp>
      <p:sp>
        <p:nvSpPr>
          <p:cNvPr id="7" name="Text 4"/>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Còn một nhóm nữa: </a:t>
            </a:r>
            <a:pPr indent="0" marL="0">
              <a:lnSpc>
                <a:spcPts val="1900"/>
              </a:lnSpc>
              <a:buNone/>
            </a:pPr>
            <a:r>
              <a:rPr lang="en-US" sz="1300" dirty="0">
                <a:solidFill>
                  <a:srgbClr val="14233A"/>
                </a:solidFill>
                <a:latin typeface="Arial" pitchFamily="34" charset="0"/>
                <a:ea typeface="Arial" pitchFamily="34" charset="-122"/>
                <a:cs typeface="Arial" pitchFamily="34" charset="-120"/>
              </a:rPr>
              <a:t>Nhóm đối chiếu danh mục BHYT (mã thuốc / dịch vụ / vật tư không có trong danh mục) hiện đang TẮT và chỉ được bật sau khi phòng ban nhập đủ danh mục. Khi nhóm đó được bật, khoa sẽ thấy thêm một loại vi phạm mới.</a:t>
            </a:r>
            <a:endParaRPr lang="en-US" sz="1300" dirty="0"/>
          </a:p>
        </p:txBody>
      </p:sp>
      <p:sp>
        <p:nvSpPr>
          <p:cNvPr id="9" name="Shape 5"/>
          <p:cNvSpPr/>
          <p:nvPr/>
        </p:nvSpPr>
        <p:spPr>
          <a:xfrm>
            <a:off x="566928" y="6382512"/>
            <a:ext cx="11057839" cy="0"/>
          </a:xfrm>
          <a:prstGeom prst="line">
            <a:avLst/>
          </a:prstGeom>
          <a:noFill/>
          <a:ln w="9525">
            <a:solidFill>
              <a:srgbClr val="D6E2EE"/>
            </a:solidFill>
            <a:prstDash val="solid"/>
          </a:ln>
        </p:spPr>
      </p:sp>
      <p:sp>
        <p:nvSpPr>
          <p:cNvPr id="10" name="Text 6"/>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1" name="Text 7"/>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18 / 80</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02 / MỤC 2.6</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Khi nào máy KHÔNG báo — các trường hợp được miễn trừ</a:t>
            </a:r>
            <a:endParaRPr lang="en-US" sz="2600" dirty="0"/>
          </a:p>
        </p:txBody>
      </p:sp>
      <p:sp>
        <p:nvSpPr>
          <p:cNvPr id="4" name="Text 2"/>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B6B7F"/>
                </a:solidFill>
                <a:latin typeface="Arial" pitchFamily="34" charset="0"/>
                <a:ea typeface="Arial" pitchFamily="34" charset="-122"/>
                <a:cs typeface="Arial" pitchFamily="34" charset="-120"/>
              </a:rPr>
              <a:t>Thấy một trường hợp rõ ràng sai nhưng hệ thống im lặng, hãy đối chiếu bảng này trước khi kết luận là lỗi phần mềm.</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3836393"/>
                <a:gridCol w="2933712"/>
                <a:gridCol w="4287734"/>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Trường hợp được miễn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Miễn cho quy tắc nào</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Vì sao</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Phiếu loại: Khác, Đơn máu, Suất ăn, Ngoài khám chữa bệnh</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Toàn bộ quy tắc cấp phiếu chỉ định</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Không phải y lệnh khám chữa bệnh theo nghĩa thông thường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Phiếu khám bệnh</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Quy tắc thiếu chẩn đoán ICD</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Chẩn đoán chỉ có sau khi khám xong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Đơn phòng khám, Đơn tủ trực, Đơn điều trị</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Quy tắc chứng chỉ hành nghề</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Không gắn với một người thực hiện cụ thể</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Bệnh nhân không rõ giới tính / dịch vụ không khai giới hạn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Quy tắc giới tính</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Không đủ căn cứ để kết luận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Bệnh nhân thiếu ngày sinh</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Quy tắc ngưỡng tuổi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Không tính được tuổi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Bệnh nhân không thuộc đối tượng BHYT</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Nhóm đối chiếu danh mục BHYT</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Không phát sinh nghĩa vụ đối chiếu danh mục</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bl>
          </a:graphicData>
        </a:graphic>
      </p:graphicFrame>
      <p:sp>
        <p:nvSpPr>
          <p:cNvPr id="7" name="Shape 3"/>
          <p:cNvSpPr/>
          <p:nvPr/>
        </p:nvSpPr>
        <p:spPr>
          <a:xfrm>
            <a:off x="566928" y="6382512"/>
            <a:ext cx="11057839" cy="0"/>
          </a:xfrm>
          <a:prstGeom prst="line">
            <a:avLst/>
          </a:prstGeom>
          <a:noFill/>
          <a:ln w="9525">
            <a:solidFill>
              <a:srgbClr val="D6E2EE"/>
            </a:solidFill>
            <a:prstDash val="solid"/>
          </a:ln>
        </p:spPr>
      </p:sp>
      <p:sp>
        <p:nvSpPr>
          <p:cNvPr id="8" name="Text 4"/>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9" name="Text 5"/>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19 / 80</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A9FD8"/>
          </a:solidFill>
          <a:ln w="12700">
            <a:solidFill>
              <a:srgbClr val="2A9FD8"/>
            </a:solidFill>
            <a:prstDash val="solid"/>
          </a:ln>
        </p:spPr>
      </p:sp>
      <p:sp>
        <p:nvSpPr>
          <p:cNvPr id="3" name="Text 1"/>
          <p:cNvSpPr/>
          <p:nvPr/>
        </p:nvSpPr>
        <p:spPr>
          <a:xfrm>
            <a:off x="822960" y="2011680"/>
            <a:ext cx="1828800" cy="1371600"/>
          </a:xfrm>
          <a:prstGeom prst="rect">
            <a:avLst/>
          </a:prstGeom>
          <a:noFill/>
          <a:ln/>
        </p:spPr>
        <p:txBody>
          <a:bodyPr wrap="square" rtlCol="0" anchor="ctr"/>
          <a:lstStyle/>
          <a:p>
            <a:pPr indent="0" marL="0">
              <a:buNone/>
            </a:pPr>
            <a:r>
              <a:rPr lang="en-US" sz="8000" b="1" dirty="0">
                <a:solidFill>
                  <a:srgbClr val="2A9FD8"/>
                </a:solidFill>
                <a:latin typeface="Arial" pitchFamily="34" charset="0"/>
                <a:ea typeface="Arial" pitchFamily="34" charset="-122"/>
                <a:cs typeface="Arial" pitchFamily="34" charset="-120"/>
              </a:rPr>
              <a:t>03</a:t>
            </a:r>
            <a:endParaRPr lang="en-US" sz="8000" dirty="0"/>
          </a:p>
        </p:txBody>
      </p:sp>
      <p:sp>
        <p:nvSpPr>
          <p:cNvPr id="4" name="Text 2"/>
          <p:cNvSpPr/>
          <p:nvPr/>
        </p:nvSpPr>
        <p:spPr>
          <a:xfrm>
            <a:off x="2651760" y="2148840"/>
            <a:ext cx="8808415" cy="9144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Hồ sơ XML 3176</a:t>
            </a:r>
            <a:endParaRPr lang="en-US" sz="3200" dirty="0"/>
          </a:p>
        </p:txBody>
      </p:sp>
      <p:sp>
        <p:nvSpPr>
          <p:cNvPr id="5" name="Text 3"/>
          <p:cNvSpPr/>
          <p:nvPr/>
        </p:nvSpPr>
        <p:spPr>
          <a:xfrm>
            <a:off x="2651760" y="3108960"/>
            <a:ext cx="8808415" cy="822960"/>
          </a:xfrm>
          <a:prstGeom prst="rect">
            <a:avLst/>
          </a:prstGeom>
          <a:noFill/>
          <a:ln/>
        </p:spPr>
        <p:txBody>
          <a:bodyPr wrap="square" rtlCol="0" anchor="t"/>
          <a:lstStyle/>
          <a:p>
            <a:pPr indent="0" marL="0">
              <a:lnSpc>
                <a:spcPts val="2200"/>
              </a:lnSpc>
              <a:buNone/>
            </a:pPr>
            <a:r>
              <a:rPr lang="en-US" sz="1500" dirty="0">
                <a:solidFill>
                  <a:srgbClr val="A9C4DC"/>
                </a:solidFill>
                <a:latin typeface="Arial" pitchFamily="34" charset="0"/>
                <a:ea typeface="Arial" pitchFamily="34" charset="-122"/>
                <a:cs typeface="Arial" pitchFamily="34" charset="-120"/>
              </a:rPr>
              <a:t>Sáu bước vòng đời · Màn Danh sách hồ sơ · Điều kiện xuất và gửi · Dashboard lỗi · Danh mục mã lỗi</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03 / MỤC 1.1</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Vòng đời một hồ sơ XML 3176 — sáu bước chi tiết</a:t>
            </a:r>
            <a:endParaRPr lang="en-US" sz="2600" dirty="0"/>
          </a:p>
        </p:txBody>
      </p:sp>
      <p:sp>
        <p:nvSpPr>
          <p:cNvPr id="4" name="Text 2"/>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B6B7F"/>
                </a:solidFill>
                <a:latin typeface="Arial" pitchFamily="34" charset="0"/>
                <a:ea typeface="Arial" pitchFamily="34" charset="-122"/>
                <a:cs typeface="Arial" pitchFamily="34" charset="-120"/>
              </a:rPr>
              <a:t>Tài liệu gốc chia sáu bước. Cột cuối cho biết mỗi bước thuộc bước nào trong quy trình năm bước ở phần 01.</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631877"/>
                <a:gridCol w="2000942"/>
                <a:gridCol w="2000942"/>
                <a:gridCol w="4844387"/>
                <a:gridCol w="1579691"/>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Bước</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Tên bước</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Ai thực hiện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Mô tả</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Thuộc bước</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Nạp hồ sơ</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Người dùng hoặc hệ thống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Tải tệp XML lên bằng tay, hoặc để hệ thống tự quét thư mục và nhập khẩu</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01 Nạp hồ sơ</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Tách hồ sơ</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Hệ thống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Giải mã gói FILEHOSO, tách thành các bảng XML1 đến XML15 theo từng mã điều trị</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01 Nạp hồ sơ</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Kiểm tra tự động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Hệ thống (chạy nền)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Chạy bộ kiểm lỗi cho từng loại XML, tra cứu thẻ BHYT, đối chiếu chéo giữa các bảng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02 Kiểm tra dữ liệu</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b="1" dirty="0">
                          <a:solidFill>
                            <a:srgbClr val="14233A"/>
                          </a:solidFill>
                          <a:latin typeface="Arial" pitchFamily="34" charset="0"/>
                          <a:ea typeface="Arial" pitchFamily="34" charset="-122"/>
                          <a:cs typeface="Arial" pitchFamily="34" charset="-120"/>
                        </a:rPr>
                        <a:t>Xem và xử lý lỗi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b="1" dirty="0">
                          <a:solidFill>
                            <a:srgbClr val="14233A"/>
                          </a:solidFill>
                          <a:latin typeface="Arial" pitchFamily="34" charset="0"/>
                          <a:ea typeface="Arial" pitchFamily="34" charset="-122"/>
                          <a:cs typeface="Arial" pitchFamily="34" charset="-120"/>
                        </a:rPr>
                        <a:t>Người dùng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b="1" dirty="0">
                          <a:solidFill>
                            <a:srgbClr val="14233A"/>
                          </a:solidFill>
                          <a:latin typeface="Arial" pitchFamily="34" charset="0"/>
                          <a:ea typeface="Arial" pitchFamily="34" charset="-122"/>
                          <a:cs typeface="Arial" pitchFamily="34" charset="-120"/>
                        </a:rPr>
                        <a:t>Lọc hồ sơ có lỗi, xem chi tiết, phối hợp khoa phòng sửa dữ liệu gốc trên HIS</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b="1" dirty="0">
                          <a:solidFill>
                            <a:srgbClr val="14233A"/>
                          </a:solidFill>
                          <a:latin typeface="Arial" pitchFamily="34" charset="0"/>
                          <a:ea typeface="Arial" pitchFamily="34" charset="-122"/>
                          <a:cs typeface="Arial" pitchFamily="34" charset="-120"/>
                        </a:rPr>
                        <a:t>02 Kiểm tra dữ liệu</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Ký số – Xuất – Gửi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Hệ thống (chạy nền)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Hồ sơ hết lỗi nghiêm trọng được ký số, xuất tệp XML và gửi lên cổng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03 Ký số, 04 Gửi cổng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Tra cứu kết quả</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Người dùng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Xem cột Exp, Sub, Ký XML và thông điệp phản hồi của cổng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05 Theo dõi kết quả</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5074920"/>
            <a:ext cx="11057839" cy="1051560"/>
          </a:xfrm>
          <a:prstGeom prst="rect">
            <a:avLst/>
          </a:prstGeom>
          <a:solidFill>
            <a:srgbClr val="FDECEC"/>
          </a:solidFill>
          <a:ln w="12700">
            <a:solidFill>
              <a:srgbClr val="FDECEC"/>
            </a:solidFill>
            <a:prstDash val="solid"/>
          </a:ln>
        </p:spPr>
      </p:sp>
      <p:sp>
        <p:nvSpPr>
          <p:cNvPr id="7" name="Shape 4"/>
          <p:cNvSpPr/>
          <p:nvPr/>
        </p:nvSpPr>
        <p:spPr>
          <a:xfrm>
            <a:off x="566928" y="5074920"/>
            <a:ext cx="64008" cy="1051560"/>
          </a:xfrm>
          <a:prstGeom prst="rect">
            <a:avLst/>
          </a:prstGeom>
          <a:solidFill>
            <a:srgbClr val="C62828"/>
          </a:solidFill>
          <a:ln w="12700">
            <a:solidFill>
              <a:srgbClr val="C62828"/>
            </a:solidFill>
            <a:prstDash val="solid"/>
          </a:ln>
        </p:spPr>
      </p:sp>
      <p:sp>
        <p:nvSpPr>
          <p:cNvPr id="8" name="Text 5"/>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Rất quan trọng: </a:t>
            </a:r>
            <a:pPr indent="0" marL="0">
              <a:lnSpc>
                <a:spcPts val="1900"/>
              </a:lnSpc>
              <a:buNone/>
            </a:pPr>
            <a:r>
              <a:rPr lang="en-US" sz="1300" dirty="0">
                <a:solidFill>
                  <a:srgbClr val="14233A"/>
                </a:solidFill>
                <a:latin typeface="Arial" pitchFamily="34" charset="0"/>
                <a:ea typeface="Arial" pitchFamily="34" charset="-122"/>
                <a:cs typeface="Arial" pitchFamily="34" charset="-120"/>
              </a:rPr>
              <a:t>Bước 5 diễn ra HOÀN TOÀN TỰ ĐỘNG. Nút "Xuất XML3176" trên màn danh sách CHỈ tải tệp ZIP về máy để đối chiếu, KHÔNG gửi hồ sơ lên cổng. Đừng nhầm hai việc này.</a:t>
            </a:r>
            <a:endParaRPr lang="en-US" sz="1300" dirty="0"/>
          </a:p>
        </p:txBody>
      </p:sp>
      <p:sp>
        <p:nvSpPr>
          <p:cNvPr id="10" name="Shape 6"/>
          <p:cNvSpPr/>
          <p:nvPr/>
        </p:nvSpPr>
        <p:spPr>
          <a:xfrm>
            <a:off x="566928" y="6382512"/>
            <a:ext cx="11057839" cy="0"/>
          </a:xfrm>
          <a:prstGeom prst="line">
            <a:avLst/>
          </a:prstGeom>
          <a:noFill/>
          <a:ln w="9525">
            <a:solidFill>
              <a:srgbClr val="D6E2EE"/>
            </a:solidFill>
            <a:prstDash val="solid"/>
          </a:ln>
        </p:spPr>
      </p:sp>
      <p:sp>
        <p:nvSpPr>
          <p:cNvPr id="11" name="Text 7"/>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2" name="Text 8"/>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21 / 80</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03 / MỤC 1.2</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Nhập khẩu hồ sơ thủ công</a:t>
            </a:r>
            <a:endParaRPr lang="en-US" sz="2600" dirty="0"/>
          </a:p>
        </p:txBody>
      </p:sp>
      <p:sp>
        <p:nvSpPr>
          <p:cNvPr id="4" name="Text 2"/>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B6B7F"/>
                </a:solidFill>
                <a:latin typeface="Arial" pitchFamily="34" charset="0"/>
                <a:ea typeface="Arial" pitchFamily="34" charset="-122"/>
                <a:cs typeface="Arial" pitchFamily="34" charset="-120"/>
              </a:rPr>
              <a:t>Đường dẫn: Hồ sơ XML → Xml 3176 → Nhập khẩu hồ sơ</a:t>
            </a:r>
            <a:endParaRPr lang="en-US" sz="1300" dirty="0"/>
          </a:p>
        </p:txBody>
      </p:sp>
      <p:sp>
        <p:nvSpPr>
          <p:cNvPr id="5" name="Shape 3"/>
          <p:cNvSpPr/>
          <p:nvPr/>
        </p:nvSpPr>
        <p:spPr>
          <a:xfrm>
            <a:off x="566928" y="1709928"/>
            <a:ext cx="11057839" cy="736092"/>
          </a:xfrm>
          <a:prstGeom prst="rect">
            <a:avLst/>
          </a:prstGeom>
          <a:solidFill>
            <a:srgbClr val="EEF3F8"/>
          </a:solidFill>
          <a:ln w="12700">
            <a:solidFill>
              <a:srgbClr val="D6E2EE"/>
            </a:solidFill>
            <a:prstDash val="solid"/>
          </a:ln>
        </p:spPr>
      </p:sp>
      <p:sp>
        <p:nvSpPr>
          <p:cNvPr id="6" name="Shape 4"/>
          <p:cNvSpPr/>
          <p:nvPr/>
        </p:nvSpPr>
        <p:spPr>
          <a:xfrm>
            <a:off x="713232" y="1885950"/>
            <a:ext cx="384048" cy="384048"/>
          </a:xfrm>
          <a:prstGeom prst="ellipse">
            <a:avLst/>
          </a:prstGeom>
          <a:solidFill>
            <a:srgbClr val="1A5EA8"/>
          </a:solidFill>
          <a:ln/>
        </p:spPr>
      </p:sp>
      <p:sp>
        <p:nvSpPr>
          <p:cNvPr id="7" name="Text 5"/>
          <p:cNvSpPr/>
          <p:nvPr/>
        </p:nvSpPr>
        <p:spPr>
          <a:xfrm>
            <a:off x="713232" y="188595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1225296" y="1709928"/>
            <a:ext cx="5750076" cy="736092"/>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Mở màn Nhập khẩu hồ sơ</a:t>
            </a:r>
            <a:endParaRPr lang="en-US" sz="1400" dirty="0"/>
          </a:p>
        </p:txBody>
      </p:sp>
      <p:sp>
        <p:nvSpPr>
          <p:cNvPr id="9" name="Text 7"/>
          <p:cNvSpPr/>
          <p:nvPr/>
        </p:nvSpPr>
        <p:spPr>
          <a:xfrm>
            <a:off x="7085951" y="1709928"/>
            <a:ext cx="4088209" cy="736092"/>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Hiện khung kéo thả tệp và một bảng trống bên dưới</a:t>
            </a:r>
            <a:endParaRPr lang="en-US" sz="1200" dirty="0"/>
          </a:p>
        </p:txBody>
      </p:sp>
      <p:sp>
        <p:nvSpPr>
          <p:cNvPr id="10" name="Shape 8"/>
          <p:cNvSpPr/>
          <p:nvPr/>
        </p:nvSpPr>
        <p:spPr>
          <a:xfrm>
            <a:off x="566928" y="2555748"/>
            <a:ext cx="11057839" cy="736092"/>
          </a:xfrm>
          <a:prstGeom prst="rect">
            <a:avLst/>
          </a:prstGeom>
          <a:solidFill>
            <a:srgbClr val="FFFFFF"/>
          </a:solidFill>
          <a:ln w="12700">
            <a:solidFill>
              <a:srgbClr val="D6E2EE"/>
            </a:solidFill>
            <a:prstDash val="solid"/>
          </a:ln>
        </p:spPr>
      </p:sp>
      <p:sp>
        <p:nvSpPr>
          <p:cNvPr id="11" name="Shape 9"/>
          <p:cNvSpPr/>
          <p:nvPr/>
        </p:nvSpPr>
        <p:spPr>
          <a:xfrm>
            <a:off x="713232" y="2731770"/>
            <a:ext cx="384048" cy="384048"/>
          </a:xfrm>
          <a:prstGeom prst="ellipse">
            <a:avLst/>
          </a:prstGeom>
          <a:solidFill>
            <a:srgbClr val="1A5EA8"/>
          </a:solidFill>
          <a:ln/>
        </p:spPr>
      </p:sp>
      <p:sp>
        <p:nvSpPr>
          <p:cNvPr id="12" name="Text 10"/>
          <p:cNvSpPr/>
          <p:nvPr/>
        </p:nvSpPr>
        <p:spPr>
          <a:xfrm>
            <a:off x="713232" y="273177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1225296" y="2555748"/>
            <a:ext cx="5750076" cy="736092"/>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Kéo một hoặc nhiều tệp .xml thả vào khung, hoặc bấm vào khung để chọn tệp</a:t>
            </a:r>
            <a:endParaRPr lang="en-US" sz="1400" dirty="0"/>
          </a:p>
        </p:txBody>
      </p:sp>
      <p:sp>
        <p:nvSpPr>
          <p:cNvPr id="14" name="Text 12"/>
          <p:cNvSpPr/>
          <p:nvPr/>
        </p:nvSpPr>
        <p:spPr>
          <a:xfrm>
            <a:off x="7085951" y="2555748"/>
            <a:ext cx="4088209" cy="736092"/>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Mỗi tệp một dòng, ba cột: Tên tệp, Kích thước, Trạng thái</a:t>
            </a:r>
            <a:endParaRPr lang="en-US" sz="1200" dirty="0"/>
          </a:p>
        </p:txBody>
      </p:sp>
      <p:sp>
        <p:nvSpPr>
          <p:cNvPr id="15" name="Shape 13"/>
          <p:cNvSpPr/>
          <p:nvPr/>
        </p:nvSpPr>
        <p:spPr>
          <a:xfrm>
            <a:off x="566928" y="3401568"/>
            <a:ext cx="11057839" cy="736092"/>
          </a:xfrm>
          <a:prstGeom prst="rect">
            <a:avLst/>
          </a:prstGeom>
          <a:solidFill>
            <a:srgbClr val="EEF3F8"/>
          </a:solidFill>
          <a:ln w="12700">
            <a:solidFill>
              <a:srgbClr val="D6E2EE"/>
            </a:solidFill>
            <a:prstDash val="solid"/>
          </a:ln>
        </p:spPr>
      </p:sp>
      <p:sp>
        <p:nvSpPr>
          <p:cNvPr id="16" name="Shape 14"/>
          <p:cNvSpPr/>
          <p:nvPr/>
        </p:nvSpPr>
        <p:spPr>
          <a:xfrm>
            <a:off x="713232" y="3577590"/>
            <a:ext cx="384048" cy="384048"/>
          </a:xfrm>
          <a:prstGeom prst="ellipse">
            <a:avLst/>
          </a:prstGeom>
          <a:solidFill>
            <a:srgbClr val="1A5EA8"/>
          </a:solidFill>
          <a:ln/>
        </p:spPr>
      </p:sp>
      <p:sp>
        <p:nvSpPr>
          <p:cNvPr id="17" name="Text 15"/>
          <p:cNvSpPr/>
          <p:nvPr/>
        </p:nvSpPr>
        <p:spPr>
          <a:xfrm>
            <a:off x="713232" y="357759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6"/>
          <p:cNvSpPr/>
          <p:nvPr/>
        </p:nvSpPr>
        <p:spPr>
          <a:xfrm>
            <a:off x="1225296" y="3401568"/>
            <a:ext cx="5750076" cy="736092"/>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Chờ cột Trạng thái của tất cả các dòng chuyển sang hoàn tất</a:t>
            </a:r>
            <a:endParaRPr lang="en-US" sz="1400" dirty="0"/>
          </a:p>
        </p:txBody>
      </p:sp>
      <p:sp>
        <p:nvSpPr>
          <p:cNvPr id="19" name="Text 17"/>
          <p:cNvSpPr/>
          <p:nvPr/>
        </p:nvSpPr>
        <p:spPr>
          <a:xfrm>
            <a:off x="7085951" y="3401568"/>
            <a:ext cx="4088209" cy="736092"/>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Hộp thoại "Thành công! Đã hoàn thành việc tải lên hồ sơ!"</a:t>
            </a:r>
            <a:endParaRPr lang="en-US" sz="1200" dirty="0"/>
          </a:p>
        </p:txBody>
      </p:sp>
      <p:sp>
        <p:nvSpPr>
          <p:cNvPr id="20" name="Shape 18"/>
          <p:cNvSpPr/>
          <p:nvPr/>
        </p:nvSpPr>
        <p:spPr>
          <a:xfrm>
            <a:off x="566928" y="4247388"/>
            <a:ext cx="11057839" cy="736092"/>
          </a:xfrm>
          <a:prstGeom prst="rect">
            <a:avLst/>
          </a:prstGeom>
          <a:solidFill>
            <a:srgbClr val="FFFFFF"/>
          </a:solidFill>
          <a:ln w="12700">
            <a:solidFill>
              <a:srgbClr val="D6E2EE"/>
            </a:solidFill>
            <a:prstDash val="solid"/>
          </a:ln>
        </p:spPr>
      </p:sp>
      <p:sp>
        <p:nvSpPr>
          <p:cNvPr id="21" name="Shape 19"/>
          <p:cNvSpPr/>
          <p:nvPr/>
        </p:nvSpPr>
        <p:spPr>
          <a:xfrm>
            <a:off x="713232" y="4423410"/>
            <a:ext cx="384048" cy="384048"/>
          </a:xfrm>
          <a:prstGeom prst="ellipse">
            <a:avLst/>
          </a:prstGeom>
          <a:solidFill>
            <a:srgbClr val="1A5EA8"/>
          </a:solidFill>
          <a:ln/>
        </p:spPr>
      </p:sp>
      <p:sp>
        <p:nvSpPr>
          <p:cNvPr id="22" name="Text 20"/>
          <p:cNvSpPr/>
          <p:nvPr/>
        </p:nvSpPr>
        <p:spPr>
          <a:xfrm>
            <a:off x="713232" y="442341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3" name="Text 21"/>
          <p:cNvSpPr/>
          <p:nvPr/>
        </p:nvSpPr>
        <p:spPr>
          <a:xfrm>
            <a:off x="1225296" y="4247388"/>
            <a:ext cx="5750076" cy="736092"/>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Chuyển sang màn Danh sách hồ sơ để xem kết quả kiểm tra</a:t>
            </a:r>
            <a:endParaRPr lang="en-US" sz="1400" dirty="0"/>
          </a:p>
        </p:txBody>
      </p:sp>
      <p:sp>
        <p:nvSpPr>
          <p:cNvPr id="24" name="Text 22"/>
          <p:cNvSpPr/>
          <p:nvPr/>
        </p:nvSpPr>
        <p:spPr>
          <a:xfrm>
            <a:off x="7085951" y="4247388"/>
            <a:ext cx="4088209" cy="736092"/>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Kết quả kiểm lỗi hiện dần trong vài phút</a:t>
            </a:r>
            <a:endParaRPr lang="en-US" sz="1200" dirty="0"/>
          </a:p>
        </p:txBody>
      </p:sp>
      <p:sp>
        <p:nvSpPr>
          <p:cNvPr id="25" name="Shape 23"/>
          <p:cNvSpPr/>
          <p:nvPr/>
        </p:nvSpPr>
        <p:spPr>
          <a:xfrm>
            <a:off x="566928" y="5074920"/>
            <a:ext cx="11057839" cy="1051560"/>
          </a:xfrm>
          <a:prstGeom prst="rect">
            <a:avLst/>
          </a:prstGeom>
          <a:solidFill>
            <a:srgbClr val="FFF4E6"/>
          </a:solidFill>
          <a:ln w="12700">
            <a:solidFill>
              <a:srgbClr val="FFF4E6"/>
            </a:solidFill>
            <a:prstDash val="solid"/>
          </a:ln>
        </p:spPr>
      </p:sp>
      <p:sp>
        <p:nvSpPr>
          <p:cNvPr id="26" name="Shape 24"/>
          <p:cNvSpPr/>
          <p:nvPr/>
        </p:nvSpPr>
        <p:spPr>
          <a:xfrm>
            <a:off x="566928" y="5074920"/>
            <a:ext cx="64008" cy="1051560"/>
          </a:xfrm>
          <a:prstGeom prst="rect">
            <a:avLst/>
          </a:prstGeom>
          <a:solidFill>
            <a:srgbClr val="C96A12"/>
          </a:solidFill>
          <a:ln w="12700">
            <a:solidFill>
              <a:srgbClr val="C96A12"/>
            </a:solidFill>
            <a:prstDash val="solid"/>
          </a:ln>
        </p:spPr>
      </p:sp>
      <p:sp>
        <p:nvSpPr>
          <p:cNvPr id="27" name="Text 25"/>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Giới hạn cần biết: </a:t>
            </a:r>
            <a:pPr indent="0" marL="0">
              <a:lnSpc>
                <a:spcPts val="1900"/>
              </a:lnSpc>
              <a:buNone/>
            </a:pPr>
            <a:r>
              <a:rPr lang="en-US" sz="1300" dirty="0">
                <a:solidFill>
                  <a:srgbClr val="14233A"/>
                </a:solidFill>
                <a:latin typeface="Arial" pitchFamily="34" charset="0"/>
                <a:ea typeface="Arial" pitchFamily="34" charset="-122"/>
                <a:cs typeface="Arial" pitchFamily="34" charset="-120"/>
              </a:rPr>
              <a:t>Chỉ nhận tệp .xml, tối đa 100 MB và 5 phút chờ mỗi tệp. Một tệp chứa nhiều hồ sơ: nếu một hồ sơ hỏng, hệ thống báo rõ "Hồ sơ thứ mấy" và vẫn nhận các hồ sơ còn lại. Tệp rất lớn nên tải vào giờ thấp điểm.</a:t>
            </a:r>
            <a:endParaRPr lang="en-US" sz="1300" dirty="0"/>
          </a:p>
        </p:txBody>
      </p:sp>
      <p:sp>
        <p:nvSpPr>
          <p:cNvPr id="29" name="Shape 26"/>
          <p:cNvSpPr/>
          <p:nvPr/>
        </p:nvSpPr>
        <p:spPr>
          <a:xfrm>
            <a:off x="566928" y="6382512"/>
            <a:ext cx="11057839" cy="0"/>
          </a:xfrm>
          <a:prstGeom prst="line">
            <a:avLst/>
          </a:prstGeom>
          <a:noFill/>
          <a:ln w="9525">
            <a:solidFill>
              <a:srgbClr val="D6E2EE"/>
            </a:solidFill>
            <a:prstDash val="solid"/>
          </a:ln>
        </p:spPr>
      </p:sp>
      <p:sp>
        <p:nvSpPr>
          <p:cNvPr id="30" name="Text 27"/>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31" name="Text 28"/>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22 / 80</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03 / MỤC 1.3</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Đường tự động: hệ thống tự quét thư mục</a:t>
            </a:r>
            <a:endParaRPr lang="en-US" sz="2600" dirty="0"/>
          </a:p>
        </p:txBody>
      </p:sp>
      <p:sp>
        <p:nvSpPr>
          <p:cNvPr id="4" name="Text 2"/>
          <p:cNvSpPr/>
          <p:nvPr/>
        </p:nvSpPr>
        <p:spPr>
          <a:xfrm>
            <a:off x="566928" y="1325880"/>
            <a:ext cx="11057839" cy="4114800"/>
          </a:xfrm>
          <a:prstGeom prst="rect">
            <a:avLst/>
          </a:prstGeom>
          <a:noFill/>
          <a:ln/>
        </p:spPr>
        <p:txBody>
          <a:bodyPr wrap="square" rtlCol="0" anchor="t"/>
          <a:lstStyle/>
          <a:p>
            <a:pPr marL="342900" indent="-342900">
              <a:lnSpc>
                <a:spcPts val="2400"/>
              </a:lnSpc>
              <a:spcAft>
                <a:spcPts val="200"/>
              </a:spcAft>
              <a:buSzPct val="100000"/>
              <a:buChar char="▪"/>
            </a:pPr>
            <a:r>
              <a:rPr lang="en-US" sz="1600" b="1" dirty="0">
                <a:solidFill>
                  <a:srgbClr val="14233A"/>
                </a:solidFill>
                <a:latin typeface="Arial" pitchFamily="34" charset="0"/>
                <a:ea typeface="Arial" pitchFamily="34" charset="-122"/>
                <a:cs typeface="Arial" pitchFamily="34" charset="-120"/>
              </a:rPr>
              <a:t>Một tiến trình chạy thường trực trên máy chủ quét hai thư mục được cấu hình sẵn</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   Hai luồng hồ sơ: luồng thanh toán và luồng thường. Nghỉ khoảng 3 giây giữa hai vòng quét</a:t>
            </a:r>
            <a:endParaRPr lang="en-US" sz="1600" dirty="0"/>
          </a:p>
          <a:p>
            <a:pPr marL="342900" indent="-342900">
              <a:lnSpc>
                <a:spcPts val="2400"/>
              </a:lnSpc>
              <a:spcAft>
                <a:spcPts val="200"/>
              </a:spcAft>
              <a:buSzPct val="100000"/>
              <a:buChar char="▪"/>
            </a:pPr>
            <a:r>
              <a:rPr lang="en-US" sz="1600" b="1" dirty="0">
                <a:solidFill>
                  <a:srgbClr val="14233A"/>
                </a:solidFill>
                <a:latin typeface="Arial" pitchFamily="34" charset="0"/>
                <a:ea typeface="Arial" pitchFamily="34" charset="-122"/>
                <a:cs typeface="Arial" pitchFamily="34" charset="-120"/>
              </a:rPr>
              <a:t>Tệp hợp lệ được tách và đưa vào hàng đợi kiểm lỗi giống hệt đường tải lên bằng tay</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   Tệp gốc được dọn khỏi thư mục theo dõi sau khi xử lý xong</a:t>
            </a:r>
            <a:endParaRPr lang="en-US" sz="1600" dirty="0"/>
          </a:p>
          <a:p>
            <a:pPr marL="342900" indent="-342900">
              <a:lnSpc>
                <a:spcPts val="2400"/>
              </a:lnSpc>
              <a:spcAft>
                <a:spcPts val="1000"/>
              </a:spcAft>
              <a:buSzPct val="100000"/>
              <a:buChar char="▪"/>
            </a:pPr>
            <a:r>
              <a:rPr lang="en-US" sz="1600" b="1" dirty="0">
                <a:solidFill>
                  <a:srgbClr val="C62828"/>
                </a:solidFill>
                <a:latin typeface="Arial" pitchFamily="34" charset="0"/>
                <a:ea typeface="Arial" pitchFamily="34" charset="-122"/>
                <a:cs typeface="Arial" pitchFamily="34" charset="-120"/>
              </a:rPr>
              <a:t>Tệp không đọc được bị chuyển vào thư mục con "loi" và nằm lại đó cho tới khi có người xử lý</a:t>
            </a:r>
            <a:endParaRPr lang="en-US" sz="1600" dirty="0"/>
          </a:p>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Người dùng cần làm ba việc: đặt tệp vào đúng thư mục → chờ một phút → mở Danh sách hồ sơ lọc Ngày tạo = hôm nay</a:t>
            </a:r>
            <a:endParaRPr lang="en-US" sz="1600" dirty="0"/>
          </a:p>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Hồ sơ không xuất hiện thì mở thư mục con "loi" kiểm tra — tệp nằm ở đó là hỏng cấu trúc</a:t>
            </a:r>
            <a:endParaRPr lang="en-US" sz="1600" dirty="0"/>
          </a:p>
        </p:txBody>
      </p:sp>
      <p:sp>
        <p:nvSpPr>
          <p:cNvPr id="5" name="Shape 3"/>
          <p:cNvSpPr/>
          <p:nvPr/>
        </p:nvSpPr>
        <p:spPr>
          <a:xfrm>
            <a:off x="566928" y="5074920"/>
            <a:ext cx="11057839" cy="1051560"/>
          </a:xfrm>
          <a:prstGeom prst="rect">
            <a:avLst/>
          </a:prstGeom>
          <a:solidFill>
            <a:srgbClr val="FFF4E6"/>
          </a:solidFill>
          <a:ln w="12700">
            <a:solidFill>
              <a:srgbClr val="FFF4E6"/>
            </a:solidFill>
            <a:prstDash val="solid"/>
          </a:ln>
        </p:spPr>
      </p:sp>
      <p:sp>
        <p:nvSpPr>
          <p:cNvPr id="6" name="Shape 4"/>
          <p:cNvSpPr/>
          <p:nvPr/>
        </p:nvSpPr>
        <p:spPr>
          <a:xfrm>
            <a:off x="566928" y="5074920"/>
            <a:ext cx="64008" cy="1051560"/>
          </a:xfrm>
          <a:prstGeom prst="rect">
            <a:avLst/>
          </a:prstGeom>
          <a:solidFill>
            <a:srgbClr val="C96A12"/>
          </a:solidFill>
          <a:ln w="12700">
            <a:solidFill>
              <a:srgbClr val="C96A12"/>
            </a:solidFill>
            <a:prstDash val="solid"/>
          </a:ln>
        </p:spPr>
      </p:sp>
      <p:sp>
        <p:nvSpPr>
          <p:cNvPr id="7" name="Text 5"/>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Không có thông báo nào trên màn hình: </a:t>
            </a:r>
            <a:pPr indent="0" marL="0">
              <a:lnSpc>
                <a:spcPts val="1900"/>
              </a:lnSpc>
              <a:buNone/>
            </a:pPr>
            <a:r>
              <a:rPr lang="en-US" sz="1300" dirty="0">
                <a:solidFill>
                  <a:srgbClr val="14233A"/>
                </a:solidFill>
                <a:latin typeface="Arial" pitchFamily="34" charset="0"/>
                <a:ea typeface="Arial" pitchFamily="34" charset="-122"/>
                <a:cs typeface="Arial" pitchFamily="34" charset="-120"/>
              </a:rPr>
              <a:t>Đường tự động im lặng hoàn toàn. Cách duy nhất biết kết quả là kiểm tra danh sách hồ sơ và thư mục "loi". Thư mục theo dõi ứ đọng nhiều tệp không giảm → rất có thể dịch vụ nền đã dừng, báo ngay công nghệ thông tin.</a:t>
            </a:r>
            <a:endParaRPr lang="en-US" sz="1300" dirty="0"/>
          </a:p>
        </p:txBody>
      </p:sp>
      <p:sp>
        <p:nvSpPr>
          <p:cNvPr id="9" name="Shape 6"/>
          <p:cNvSpPr/>
          <p:nvPr/>
        </p:nvSpPr>
        <p:spPr>
          <a:xfrm>
            <a:off x="566928" y="6382512"/>
            <a:ext cx="11057839" cy="0"/>
          </a:xfrm>
          <a:prstGeom prst="line">
            <a:avLst/>
          </a:prstGeom>
          <a:noFill/>
          <a:ln w="9525">
            <a:solidFill>
              <a:srgbClr val="D6E2EE"/>
            </a:solidFill>
            <a:prstDash val="solid"/>
          </a:ln>
        </p:spPr>
      </p:sp>
      <p:sp>
        <p:nvSpPr>
          <p:cNvPr id="10" name="Text 7"/>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1" name="Text 8"/>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23 / 80</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03 / MỤC 1.4</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Màn hình Danh sách hồ sơ — màn làm việc chính</a:t>
            </a:r>
            <a:endParaRPr lang="en-US" sz="2600" dirty="0"/>
          </a:p>
        </p:txBody>
      </p:sp>
      <p:pic>
        <p:nvPicPr>
          <p:cNvPr id="4" name="Image 0" descr="C:\Users\tracnn\qlbv\docs\dao-tao\anh\anh-03-danh-sach-ho-so-xml3176.png">    </p:cNvPr>
          <p:cNvPicPr>
            <a:picLocks noChangeAspect="1"/>
          </p:cNvPicPr>
          <p:nvPr/>
        </p:nvPicPr>
        <p:blipFill>
          <a:blip r:embed="rId1"/>
          <a:stretch>
            <a:fillRect/>
          </a:stretch>
        </p:blipFill>
        <p:spPr>
          <a:xfrm>
            <a:off x="566928" y="1325880"/>
            <a:ext cx="5852160" cy="3657600"/>
          </a:xfrm>
          <a:prstGeom prst="rect">
            <a:avLst/>
          </a:prstGeom>
        </p:spPr>
      </p:pic>
      <p:sp>
        <p:nvSpPr>
          <p:cNvPr id="5" name="Shape 2"/>
          <p:cNvSpPr/>
          <p:nvPr/>
        </p:nvSpPr>
        <p:spPr>
          <a:xfrm>
            <a:off x="566928" y="1325880"/>
            <a:ext cx="5852160" cy="3657600"/>
          </a:xfrm>
          <a:prstGeom prst="rect">
            <a:avLst/>
          </a:prstGeom>
          <a:ln w="12700">
            <a:solidFill>
              <a:srgbClr val="D6E2EE"/>
            </a:solidFill>
            <a:prstDash val="solid"/>
          </a:ln>
        </p:spPr>
      </p:sp>
      <p:sp>
        <p:nvSpPr>
          <p:cNvPr id="6" name="Text 3"/>
          <p:cNvSpPr/>
          <p:nvPr/>
        </p:nvSpPr>
        <p:spPr>
          <a:xfrm>
            <a:off x="6693408" y="1325880"/>
            <a:ext cx="4931359" cy="3657600"/>
          </a:xfrm>
          <a:prstGeom prst="rect">
            <a:avLst/>
          </a:prstGeom>
          <a:noFill/>
          <a:ln/>
        </p:spPr>
        <p:txBody>
          <a:bodyPr wrap="square" rtlCol="0" anchor="t"/>
          <a:lstStyle/>
          <a:p>
            <a:pPr marL="342900" indent="-342900">
              <a:lnSpc>
                <a:spcPts val="1900"/>
              </a:lnSpc>
              <a:spcAft>
                <a:spcPts val="900"/>
              </a:spcAft>
              <a:buSzPct val="100000"/>
              <a:buChar char="▪"/>
            </a:pPr>
            <a:r>
              <a:rPr lang="en-US" sz="1300" dirty="0">
                <a:solidFill>
                  <a:srgbClr val="14233A"/>
                </a:solidFill>
                <a:latin typeface="Arial" pitchFamily="34" charset="0"/>
                <a:ea typeface="Arial" pitchFamily="34" charset="-122"/>
                <a:cs typeface="Arial" pitchFamily="34" charset="-120"/>
              </a:rPr>
              <a:t>Nháy ĐÚP vào một dòng để mở Chi tiết hồ sơ (các tab XML1–XML15, Thẻ BHYT, Lỗi XML)</a:t>
            </a:r>
            <a:endParaRPr lang="en-US" sz="1300" dirty="0"/>
          </a:p>
          <a:p>
            <a:pPr marL="342900" indent="-342900">
              <a:lnSpc>
                <a:spcPts val="1900"/>
              </a:lnSpc>
              <a:spcAft>
                <a:spcPts val="900"/>
              </a:spcAft>
              <a:buSzPct val="100000"/>
              <a:buChar char="▪"/>
            </a:pPr>
            <a:r>
              <a:rPr lang="en-US" sz="1300" dirty="0">
                <a:solidFill>
                  <a:srgbClr val="14233A"/>
                </a:solidFill>
                <a:latin typeface="Arial" pitchFamily="34" charset="0"/>
                <a:ea typeface="Arial" pitchFamily="34" charset="-122"/>
                <a:cs typeface="Arial" pitchFamily="34" charset="-120"/>
              </a:rPr>
              <a:t>Dòng có lỗi hiện chữ đỏ</a:t>
            </a:r>
            <a:endParaRPr lang="en-US" sz="1300" dirty="0"/>
          </a:p>
          <a:p>
            <a:pPr marL="342900" indent="-342900">
              <a:lnSpc>
                <a:spcPts val="1900"/>
              </a:lnSpc>
              <a:spcAft>
                <a:spcPts val="900"/>
              </a:spcAft>
              <a:buSzPct val="100000"/>
              <a:buChar char="▪"/>
            </a:pPr>
            <a:r>
              <a:rPr lang="en-US" sz="1300" dirty="0">
                <a:solidFill>
                  <a:srgbClr val="14233A"/>
                </a:solidFill>
                <a:latin typeface="Arial" pitchFamily="34" charset="0"/>
                <a:ea typeface="Arial" pitchFamily="34" charset="-122"/>
                <a:cs typeface="Arial" pitchFamily="34" charset="-120"/>
              </a:rPr>
              <a:t>Góc dưới phải: biểu tượng quay tròn kèm con số = số việc còn trong hàng đợi kiểm tra, tự cập nhật mỗi 5 giây</a:t>
            </a:r>
            <a:endParaRPr lang="en-US" sz="1300" dirty="0"/>
          </a:p>
          <a:p>
            <a:pPr marL="342900" indent="-342900">
              <a:lnSpc>
                <a:spcPts val="1900"/>
              </a:lnSpc>
              <a:spcAft>
                <a:spcPts val="900"/>
              </a:spcAft>
              <a:buSzPct val="100000"/>
              <a:buChar char="▪"/>
            </a:pPr>
            <a:r>
              <a:rPr lang="en-US" sz="1300" dirty="0">
                <a:solidFill>
                  <a:srgbClr val="14233A"/>
                </a:solidFill>
                <a:latin typeface="Arial" pitchFamily="34" charset="0"/>
                <a:ea typeface="Arial" pitchFamily="34" charset="-122"/>
                <a:cs typeface="Arial" pitchFamily="34" charset="-120"/>
              </a:rPr>
              <a:t>Con số về 0 = đã kiểm xong. Đứng yên rất lâu = báo công nghệ thông tin</a:t>
            </a:r>
            <a:endParaRPr lang="en-US" sz="1300" dirty="0"/>
          </a:p>
          <a:p>
            <a:pPr marL="342900" indent="-342900">
              <a:lnSpc>
                <a:spcPts val="1900"/>
              </a:lnSpc>
              <a:spcAft>
                <a:spcPts val="900"/>
              </a:spcAft>
              <a:buSzPct val="100000"/>
              <a:buChar char="▪"/>
            </a:pPr>
            <a:r>
              <a:rPr lang="en-US" sz="1300" dirty="0">
                <a:solidFill>
                  <a:srgbClr val="14233A"/>
                </a:solidFill>
                <a:latin typeface="Arial" pitchFamily="34" charset="0"/>
                <a:ea typeface="Arial" pitchFamily="34" charset="-122"/>
                <a:cs typeface="Arial" pitchFamily="34" charset="-120"/>
              </a:rPr>
              <a:t>Cột Sub có biểu tượng sao chép để chép nguyên văn thông điệp lỗi gửi cho bộ phận hỗ trợ</a:t>
            </a:r>
            <a:endParaRPr lang="en-US" sz="1300" dirty="0"/>
          </a:p>
        </p:txBody>
      </p:sp>
      <p:sp>
        <p:nvSpPr>
          <p:cNvPr id="7" name="Shape 4"/>
          <p:cNvSpPr/>
          <p:nvPr/>
        </p:nvSpPr>
        <p:spPr>
          <a:xfrm>
            <a:off x="566928" y="5074920"/>
            <a:ext cx="11057839" cy="1051560"/>
          </a:xfrm>
          <a:prstGeom prst="rect">
            <a:avLst/>
          </a:prstGeom>
          <a:solidFill>
            <a:srgbClr val="FFF4E6"/>
          </a:solidFill>
          <a:ln w="12700">
            <a:solidFill>
              <a:srgbClr val="FFF4E6"/>
            </a:solidFill>
            <a:prstDash val="solid"/>
          </a:ln>
        </p:spPr>
      </p:sp>
      <p:sp>
        <p:nvSpPr>
          <p:cNvPr id="8" name="Shape 5"/>
          <p:cNvSpPr/>
          <p:nvPr/>
        </p:nvSpPr>
        <p:spPr>
          <a:xfrm>
            <a:off x="566928" y="5074920"/>
            <a:ext cx="64008" cy="1051560"/>
          </a:xfrm>
          <a:prstGeom prst="rect">
            <a:avLst/>
          </a:prstGeom>
          <a:solidFill>
            <a:srgbClr val="C96A12"/>
          </a:solidFill>
          <a:ln w="12700">
            <a:solidFill>
              <a:srgbClr val="C96A12"/>
            </a:solidFill>
            <a:prstDash val="solid"/>
          </a:ln>
        </p:spPr>
      </p:sp>
      <p:sp>
        <p:nvSpPr>
          <p:cNvPr id="9" name="Text 6"/>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Phạm vi xem: </a:t>
            </a:r>
            <a:pPr indent="0" marL="0">
              <a:lnSpc>
                <a:spcPts val="1900"/>
              </a:lnSpc>
              <a:buNone/>
            </a:pPr>
            <a:r>
              <a:rPr lang="en-US" sz="1300" dirty="0">
                <a:solidFill>
                  <a:srgbClr val="14233A"/>
                </a:solidFill>
                <a:latin typeface="Arial" pitchFamily="34" charset="0"/>
                <a:ea typeface="Arial" pitchFamily="34" charset="-122"/>
                <a:cs typeface="Arial" pitchFamily="34" charset="-120"/>
              </a:rPr>
              <a:t>Tài khoản thông thường CHỈ nhìn thấy hồ sơ do chính mình nhập khẩu. Chỉ tài khoản quản trị mới thấy toàn bộ hồ sơ của đơn vị. Đồng nghiệp nhập hồ sơ mà mình không thấy — đây là nguyên nhân thường gặp nhất.</a:t>
            </a:r>
            <a:endParaRPr lang="en-US" sz="1300" dirty="0"/>
          </a:p>
        </p:txBody>
      </p:sp>
      <p:sp>
        <p:nvSpPr>
          <p:cNvPr id="11" name="Shape 7"/>
          <p:cNvSpPr/>
          <p:nvPr/>
        </p:nvSpPr>
        <p:spPr>
          <a:xfrm>
            <a:off x="566928" y="6382512"/>
            <a:ext cx="11057839" cy="0"/>
          </a:xfrm>
          <a:prstGeom prst="line">
            <a:avLst/>
          </a:prstGeom>
          <a:noFill/>
          <a:ln w="9525">
            <a:solidFill>
              <a:srgbClr val="D6E2EE"/>
            </a:solidFill>
            <a:prstDash val="solid"/>
          </a:ln>
        </p:spPr>
      </p:sp>
      <p:sp>
        <p:nvSpPr>
          <p:cNvPr id="12" name="Text 8"/>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3" name="Text 9"/>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24 / 80</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03 / MỤC 1.4.2</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Bộ lọc dùng nhiều nhất</a:t>
            </a:r>
            <a:endParaRPr lang="en-US" sz="2600" dirty="0"/>
          </a:p>
        </p:txBody>
      </p:sp>
      <p:sp>
        <p:nvSpPr>
          <p:cNvPr id="4" name="Text 2"/>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B6B7F"/>
                </a:solidFill>
                <a:latin typeface="Arial" pitchFamily="34" charset="0"/>
                <a:ea typeface="Arial" pitchFamily="34" charset="-122"/>
                <a:cs typeface="Arial" pitchFamily="34" charset="-120"/>
              </a:rPr>
              <a:t>Màn hình có 14 ô lọc. Sáu ô dưới đây giải quyết hầu hết công việc hằng ngày.</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2432725"/>
                <a:gridCol w="3759665"/>
                <a:gridCol w="4865449"/>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Ô lọc</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Giá trị nên dùng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Dùng khi nào</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Lọc theo</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Ngày ra hoặc Ngày thanh toán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Quyết định khoảng thời gian áp cho loại ngày nào. Đối chiếu quyết toán thường dùng hai loại này</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Lọc hồ sơ</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"Lỗi critical"</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Ưu tiên xử lý hồ sơ đang bị CHẶN xuất — đây là nhóm làm treo chi phí</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Trạng thái gửi XML</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"Chưa gửi" / "Gửi có lỗi"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Rà soát hồ sơ tồn chưa lên được cổng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Trạng thái ký XML</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"Ký có lỗi"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Rà soát sự cố chữ ký số</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Cơ sở KCB</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Chọn đúng cơ sở</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BẮT BUỘC chọn đúng khi chuẩn bị số liệu của một cơ sở cụ thể</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Mã điều trị</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Một mã cụ thể</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Lưu ý: khi đã nhập ô này, MỌI bộ lọc khác bị bỏ qua</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5074920"/>
            <a:ext cx="11057839" cy="1051560"/>
          </a:xfrm>
          <a:prstGeom prst="rect">
            <a:avLst/>
          </a:prstGeom>
          <a:solidFill>
            <a:srgbClr val="FFF4E6"/>
          </a:solidFill>
          <a:ln w="12700">
            <a:solidFill>
              <a:srgbClr val="FFF4E6"/>
            </a:solidFill>
            <a:prstDash val="solid"/>
          </a:ln>
        </p:spPr>
      </p:sp>
      <p:sp>
        <p:nvSpPr>
          <p:cNvPr id="7" name="Shape 4"/>
          <p:cNvSpPr/>
          <p:nvPr/>
        </p:nvSpPr>
        <p:spPr>
          <a:xfrm>
            <a:off x="566928" y="5074920"/>
            <a:ext cx="64008" cy="1051560"/>
          </a:xfrm>
          <a:prstGeom prst="rect">
            <a:avLst/>
          </a:prstGeom>
          <a:solidFill>
            <a:srgbClr val="C96A12"/>
          </a:solidFill>
          <a:ln w="12700">
            <a:solidFill>
              <a:srgbClr val="C96A12"/>
            </a:solidFill>
            <a:prstDash val="solid"/>
          </a:ln>
        </p:spPr>
      </p:sp>
      <p:sp>
        <p:nvSpPr>
          <p:cNvPr id="8" name="Text 5"/>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Về nhãn cũ: </a:t>
            </a:r>
            <a:pPr indent="0" marL="0">
              <a:lnSpc>
                <a:spcPts val="1900"/>
              </a:lnSpc>
              <a:buNone/>
            </a:pPr>
            <a:r>
              <a:rPr lang="en-US" sz="1300" dirty="0">
                <a:solidFill>
                  <a:srgbClr val="14233A"/>
                </a:solidFill>
                <a:latin typeface="Arial" pitchFamily="34" charset="0"/>
                <a:ea typeface="Arial" pitchFamily="34" charset="-122"/>
                <a:cs typeface="Arial" pitchFamily="34" charset="-120"/>
              </a:rPr>
              <a:t>Ô lọc "Trạng thái" vẫn dùng nhãn "Đã Export 4750 / Chưa Export 4750". Trên màn XML 3176 hãy hiểu là "Đã xuất tệp XML / Chưa xuất tệp XML" — nhãn còn sót từ phiên bản trước, không liên quan tới menu Xml 4750.</a:t>
            </a:r>
            <a:endParaRPr lang="en-US" sz="1300" dirty="0"/>
          </a:p>
        </p:txBody>
      </p:sp>
      <p:sp>
        <p:nvSpPr>
          <p:cNvPr id="10" name="Shape 6"/>
          <p:cNvSpPr/>
          <p:nvPr/>
        </p:nvSpPr>
        <p:spPr>
          <a:xfrm>
            <a:off x="566928" y="6382512"/>
            <a:ext cx="11057839" cy="0"/>
          </a:xfrm>
          <a:prstGeom prst="line">
            <a:avLst/>
          </a:prstGeom>
          <a:noFill/>
          <a:ln w="9525">
            <a:solidFill>
              <a:srgbClr val="D6E2EE"/>
            </a:solidFill>
            <a:prstDash val="solid"/>
          </a:ln>
        </p:spPr>
      </p:sp>
      <p:sp>
        <p:nvSpPr>
          <p:cNvPr id="11" name="Text 7"/>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2" name="Text 8"/>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25 / 80</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03 / MỤC 1.6</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Vì sao một hồ sơ chưa được gửi lên cổng</a:t>
            </a:r>
            <a:endParaRPr lang="en-US" sz="2600" dirty="0"/>
          </a:p>
        </p:txBody>
      </p:sp>
      <p:sp>
        <p:nvSpPr>
          <p:cNvPr id="4" name="Text 2"/>
          <p:cNvSpPr/>
          <p:nvPr/>
        </p:nvSpPr>
        <p:spPr>
          <a:xfrm>
            <a:off x="566928" y="1325880"/>
            <a:ext cx="11057839" cy="4114800"/>
          </a:xfrm>
          <a:prstGeom prst="rect">
            <a:avLst/>
          </a:prstGeom>
          <a:noFill/>
          <a:ln/>
        </p:spPr>
        <p:txBody>
          <a:bodyPr wrap="square" rtlCol="0" anchor="t"/>
          <a:lstStyle/>
          <a:p>
            <a:pPr marL="342900" indent="-342900">
              <a:lnSpc>
                <a:spcPts val="2400"/>
              </a:lnSpc>
              <a:spcAft>
                <a:spcPts val="1000"/>
              </a:spcAft>
              <a:buSzPct val="100000"/>
              <a:buChar char="▪"/>
            </a:pPr>
            <a:r>
              <a:rPr lang="en-US" sz="1600" b="1" dirty="0">
                <a:solidFill>
                  <a:srgbClr val="1F4E79"/>
                </a:solidFill>
                <a:latin typeface="Arial" pitchFamily="34" charset="0"/>
                <a:ea typeface="Arial" pitchFamily="34" charset="-122"/>
                <a:cs typeface="Arial" pitchFamily="34" charset="-120"/>
              </a:rPr>
              <a:t>Điều kiện để XUẤT tệp XML — cả ba phải đủ:</a:t>
            </a:r>
            <a:endParaRPr lang="en-US" sz="1600" dirty="0"/>
          </a:p>
          <a:p>
            <a:pPr marL="342900" indent="-342900">
              <a:lnSpc>
                <a:spcPts val="2400"/>
              </a:lnSpc>
              <a:spcAft>
                <a:spcPts val="200"/>
              </a:spcAft>
              <a:buSzPct val="100000"/>
              <a:buChar char="▪"/>
            </a:pPr>
            <a:r>
              <a:rPr lang="en-US" sz="1600" dirty="0">
                <a:solidFill>
                  <a:srgbClr val="14233A"/>
                </a:solidFill>
                <a:latin typeface="Arial" pitchFamily="34" charset="0"/>
                <a:ea typeface="Arial" pitchFamily="34" charset="-122"/>
                <a:cs typeface="Arial" pitchFamily="34" charset="-120"/>
              </a:rPr>
              <a:t>Chức năng tự động xuất đang được bật trong cấu hình hệ thống</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   Việc của công nghệ thông tin</a:t>
            </a:r>
            <a:endParaRPr lang="en-US" sz="1600" dirty="0"/>
          </a:p>
          <a:p>
            <a:pPr marL="342900" indent="-342900">
              <a:lnSpc>
                <a:spcPts val="2400"/>
              </a:lnSpc>
              <a:spcAft>
                <a:spcPts val="200"/>
              </a:spcAft>
              <a:buSzPct val="100000"/>
              <a:buChar char="▪"/>
            </a:pPr>
            <a:r>
              <a:rPr lang="en-US" sz="1600" dirty="0">
                <a:solidFill>
                  <a:srgbClr val="14233A"/>
                </a:solidFill>
                <a:latin typeface="Arial" pitchFamily="34" charset="0"/>
                <a:ea typeface="Arial" pitchFamily="34" charset="-122"/>
                <a:cs typeface="Arial" pitchFamily="34" charset="-120"/>
              </a:rPr>
              <a:t>Hồ sơ không còn bất kỳ lỗi nào ở mức NGHIÊM TRỌNG</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   Việc của phòng ban + khoa: lọc "Lỗi critical", sửa dữ liệu gốc trên HIS rồi nạp lại</a:t>
            </a:r>
            <a:endParaRPr lang="en-US" sz="1600" dirty="0"/>
          </a:p>
          <a:p>
            <a:pPr marL="342900" indent="-342900">
              <a:lnSpc>
                <a:spcPts val="2400"/>
              </a:lnSpc>
              <a:spcAft>
                <a:spcPts val="200"/>
              </a:spcAft>
              <a:buSzPct val="100000"/>
              <a:buChar char="▪"/>
            </a:pPr>
            <a:r>
              <a:rPr lang="en-US" sz="1600" dirty="0">
                <a:solidFill>
                  <a:srgbClr val="14233A"/>
                </a:solidFill>
                <a:latin typeface="Arial" pitchFamily="34" charset="0"/>
                <a:ea typeface="Arial" pitchFamily="34" charset="-122"/>
                <a:cs typeface="Arial" pitchFamily="34" charset="-120"/>
              </a:rPr>
              <a:t>Ngày ra viện của hồ sơ không nằm ở tương lai</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   Thường do HIS ghi sai ngày ra viện</a:t>
            </a:r>
            <a:endParaRPr lang="en-US" sz="1600" dirty="0"/>
          </a:p>
          <a:p>
            <a:pPr marL="342900" indent="-342900">
              <a:lnSpc>
                <a:spcPts val="2400"/>
              </a:lnSpc>
              <a:spcAft>
                <a:spcPts val="1000"/>
              </a:spcAft>
              <a:buSzPct val="100000"/>
              <a:buChar char="▪"/>
            </a:pPr>
            <a:r>
              <a:rPr lang="en-US" sz="1600" b="1" dirty="0">
                <a:solidFill>
                  <a:srgbClr val="1F4E79"/>
                </a:solidFill>
                <a:latin typeface="Arial" pitchFamily="34" charset="0"/>
                <a:ea typeface="Arial" pitchFamily="34" charset="-122"/>
                <a:cs typeface="Arial" pitchFamily="34" charset="-120"/>
              </a:rPr>
              <a:t>Điều kiện để GỬI lên cổng — cả hai phải đủ:</a:t>
            </a:r>
            <a:endParaRPr lang="en-US" sz="1600" dirty="0"/>
          </a:p>
          <a:p>
            <a:pPr marL="342900" indent="-342900">
              <a:lnSpc>
                <a:spcPts val="2400"/>
              </a:lnSpc>
              <a:spcAft>
                <a:spcPts val="1000"/>
              </a:spcAft>
              <a:buSzPct val="100000"/>
              <a:buChar char="▪"/>
            </a:pPr>
            <a:r>
              <a:rPr lang="en-US" sz="1600" dirty="0">
                <a:solidFill>
                  <a:srgbClr val="14233A"/>
                </a:solidFill>
                <a:latin typeface="Arial" pitchFamily="34" charset="0"/>
                <a:ea typeface="Arial" pitchFamily="34" charset="-122"/>
                <a:cs typeface="Arial" pitchFamily="34" charset="-120"/>
              </a:rPr>
              <a:t>Chức năng tự động gửi đang bật trong cấu hình của cơ sở — mặc định TẮT, phải yêu cầu bật</a:t>
            </a:r>
            <a:endParaRPr lang="en-US" sz="1600" dirty="0"/>
          </a:p>
          <a:p>
            <a:pPr marL="342900" indent="-342900">
              <a:lnSpc>
                <a:spcPts val="2400"/>
              </a:lnSpc>
              <a:spcAft>
                <a:spcPts val="200"/>
              </a:spcAft>
              <a:buSzPct val="100000"/>
              <a:buChar char="▪"/>
            </a:pPr>
            <a:r>
              <a:rPr lang="en-US" sz="1600" dirty="0">
                <a:solidFill>
                  <a:srgbClr val="14233A"/>
                </a:solidFill>
                <a:latin typeface="Arial" pitchFamily="34" charset="0"/>
                <a:ea typeface="Arial" pitchFamily="34" charset="-122"/>
                <a:cs typeface="Arial" pitchFamily="34" charset="-120"/>
              </a:rPr>
              <a:t>Hồ sơ đã được ký số thành công</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   Chưa ký thì tooltip cột Sub ghi rõ "Hồ sơ chưa ký số, không gửi lên cổng BHXH"</a:t>
            </a:r>
            <a:endParaRPr lang="en-US" sz="1600" dirty="0"/>
          </a:p>
        </p:txBody>
      </p:sp>
      <p:sp>
        <p:nvSpPr>
          <p:cNvPr id="5" name="Shape 3"/>
          <p:cNvSpPr/>
          <p:nvPr/>
        </p:nvSpPr>
        <p:spPr>
          <a:xfrm>
            <a:off x="566928" y="5074920"/>
            <a:ext cx="11057839" cy="1051560"/>
          </a:xfrm>
          <a:prstGeom prst="rect">
            <a:avLst/>
          </a:prstGeom>
          <a:solidFill>
            <a:srgbClr val="FFF4E6"/>
          </a:solidFill>
          <a:ln w="12700">
            <a:solidFill>
              <a:srgbClr val="FFF4E6"/>
            </a:solidFill>
            <a:prstDash val="solid"/>
          </a:ln>
        </p:spPr>
      </p:sp>
      <p:sp>
        <p:nvSpPr>
          <p:cNvPr id="6" name="Shape 4"/>
          <p:cNvSpPr/>
          <p:nvPr/>
        </p:nvSpPr>
        <p:spPr>
          <a:xfrm>
            <a:off x="566928" y="5074920"/>
            <a:ext cx="64008" cy="1051560"/>
          </a:xfrm>
          <a:prstGeom prst="rect">
            <a:avLst/>
          </a:prstGeom>
          <a:solidFill>
            <a:srgbClr val="C96A12"/>
          </a:solidFill>
          <a:ln w="12700">
            <a:solidFill>
              <a:srgbClr val="C96A12"/>
            </a:solidFill>
            <a:prstDash val="solid"/>
          </a:ln>
        </p:spPr>
      </p:sp>
      <p:sp>
        <p:nvSpPr>
          <p:cNvPr id="7" name="Text 5"/>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Khi gửi thất bại vì lỗi mạng: </a:t>
            </a:r>
            <a:pPr indent="0" marL="0">
              <a:lnSpc>
                <a:spcPts val="1900"/>
              </a:lnSpc>
              <a:buNone/>
            </a:pPr>
            <a:r>
              <a:rPr lang="en-US" sz="1300" dirty="0">
                <a:solidFill>
                  <a:srgbClr val="14233A"/>
                </a:solidFill>
                <a:latin typeface="Arial" pitchFamily="34" charset="0"/>
                <a:ea typeface="Arial" pitchFamily="34" charset="-122"/>
                <a:cs typeface="Arial" pitchFamily="34" charset="-120"/>
              </a:rPr>
              <a:t>Hệ thống tự thử lại tối đa ba lần trước khi ghi nhận lỗi. Sau khi sửa dữ liệu gốc trên HIS và nạp lại, hồ sơ được kiểm tra lại và gửi lại tự động khi đã hợp lệ.</a:t>
            </a:r>
            <a:endParaRPr lang="en-US" sz="1300" dirty="0"/>
          </a:p>
        </p:txBody>
      </p:sp>
      <p:sp>
        <p:nvSpPr>
          <p:cNvPr id="9" name="Shape 6"/>
          <p:cNvSpPr/>
          <p:nvPr/>
        </p:nvSpPr>
        <p:spPr>
          <a:xfrm>
            <a:off x="566928" y="6382512"/>
            <a:ext cx="11057839" cy="0"/>
          </a:xfrm>
          <a:prstGeom prst="line">
            <a:avLst/>
          </a:prstGeom>
          <a:noFill/>
          <a:ln w="9525">
            <a:solidFill>
              <a:srgbClr val="D6E2EE"/>
            </a:solidFill>
            <a:prstDash val="solid"/>
          </a:ln>
        </p:spPr>
      </p:sp>
      <p:sp>
        <p:nvSpPr>
          <p:cNvPr id="10" name="Text 7"/>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1" name="Text 8"/>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26 / 80</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03 / MỤC 1.7</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Dashboard lỗi XML — năm chỉ số và bốn biểu đồ</a:t>
            </a:r>
            <a:endParaRPr lang="en-US" sz="2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57839" cy="914400"/>
        </p:xfrm>
        <a:graphic>
          <a:graphicData uri="http://schemas.openxmlformats.org/drawingml/2006/table">
            <a:tbl>
              <a:tblPr/>
              <a:tblGrid>
                <a:gridCol w="3317352"/>
                <a:gridCol w="7740487"/>
              </a:tblGrid>
              <a:tr h="0">
                <a:tc>
                  <a:txBody>
                    <a:bodyPr/>
                    <a:lstStyle/>
                    <a:p>
                      <a:pPr indent="0" marL="0">
                        <a:buNone/>
                      </a:pPr>
                      <a:r>
                        <a:rPr lang="en-US" sz="1150" b="1" dirty="0">
                          <a:solidFill>
                            <a:srgbClr val="FFFFFF"/>
                          </a:solidFill>
                          <a:latin typeface="Arial" pitchFamily="34" charset="0"/>
                          <a:ea typeface="Arial" pitchFamily="34" charset="-122"/>
                          <a:cs typeface="Arial" pitchFamily="34" charset="-120"/>
                        </a:rPr>
                        <a:t>Khối</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Đọc như thế nào</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r>
              <a:tr h="0">
                <a:tc>
                  <a:txBody>
                    <a:bodyPr/>
                    <a:lstStyle/>
                    <a:p>
                      <a:pPr indent="0" marL="0">
                        <a:buNone/>
                      </a:pPr>
                      <a:r>
                        <a:rPr lang="en-US" sz="1150" b="1" dirty="0">
                          <a:solidFill>
                            <a:srgbClr val="14233A"/>
                          </a:solidFill>
                          <a:latin typeface="Arial" pitchFamily="34" charset="0"/>
                          <a:ea typeface="Arial" pitchFamily="34" charset="-122"/>
                          <a:cs typeface="Arial" pitchFamily="34" charset="-120"/>
                        </a:rPr>
                        <a:t>Tổng hồ sơ</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150" dirty="0">
                          <a:solidFill>
                            <a:srgbClr val="14233A"/>
                          </a:solidFill>
                          <a:latin typeface="Arial" pitchFamily="34" charset="0"/>
                          <a:ea typeface="Arial" pitchFamily="34" charset="-122"/>
                          <a:cs typeface="Arial" pitchFamily="34" charset="-120"/>
                        </a:rPr>
                        <a:t>Số hồ sơ đã nhập khẩu trong kỳ. So với số liệu HIS để phát hiện hồ sơ chưa nạp</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150" b="1" dirty="0">
                          <a:solidFill>
                            <a:srgbClr val="C62828"/>
                          </a:solidFill>
                          <a:latin typeface="Arial" pitchFamily="34" charset="0"/>
                          <a:ea typeface="Arial" pitchFamily="34" charset="-122"/>
                          <a:cs typeface="Arial" pitchFamily="34" charset="-120"/>
                        </a:rPr>
                        <a:t>Lỗi nghiêm trọng</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150" dirty="0">
                          <a:solidFill>
                            <a:srgbClr val="14233A"/>
                          </a:solidFill>
                          <a:latin typeface="Arial" pitchFamily="34" charset="0"/>
                          <a:ea typeface="Arial" pitchFamily="34" charset="-122"/>
                          <a:cs typeface="Arial" pitchFamily="34" charset="-120"/>
                        </a:rPr>
                        <a:t>Số hồ sơ đang bị chặn xuất. Đây là chỉ số cần đưa về 0 TRƯỚC kỳ quyết toán</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4233A"/>
                          </a:solidFill>
                          <a:latin typeface="Arial" pitchFamily="34" charset="0"/>
                          <a:ea typeface="Arial" pitchFamily="34" charset="-122"/>
                          <a:cs typeface="Arial" pitchFamily="34" charset="-120"/>
                        </a:rPr>
                        <a:t>Lỗi thẻ BHYT</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150" dirty="0">
                          <a:solidFill>
                            <a:srgbClr val="14233A"/>
                          </a:solidFill>
                          <a:latin typeface="Arial" pitchFamily="34" charset="0"/>
                          <a:ea typeface="Arial" pitchFamily="34" charset="-122"/>
                          <a:cs typeface="Arial" pitchFamily="34" charset="-120"/>
                        </a:rPr>
                        <a:t>Số hồ sơ có kết quả tra thẻ bất thường. Thường phải phối hợp với tiếp đón để sửa</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150" b="1" dirty="0">
                          <a:solidFill>
                            <a:srgbClr val="C62828"/>
                          </a:solidFill>
                          <a:latin typeface="Arial" pitchFamily="34" charset="0"/>
                          <a:ea typeface="Arial" pitchFamily="34" charset="-122"/>
                          <a:cs typeface="Arial" pitchFamily="34" charset="-120"/>
                        </a:rPr>
                        <a:t>Chi phí BHYT bị treo</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150" dirty="0">
                          <a:solidFill>
                            <a:srgbClr val="14233A"/>
                          </a:solidFill>
                          <a:latin typeface="Arial" pitchFamily="34" charset="0"/>
                          <a:ea typeface="Arial" pitchFamily="34" charset="-122"/>
                          <a:cs typeface="Arial" pitchFamily="34" charset="-120"/>
                        </a:rPr>
                        <a:t>Tổng chi phí của các hồ sơ chưa gửi được — con số thể hiện rủi ro tài chính của tồn đọng</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4233A"/>
                          </a:solidFill>
                          <a:latin typeface="Arial" pitchFamily="34" charset="0"/>
                          <a:ea typeface="Arial" pitchFamily="34" charset="-122"/>
                          <a:cs typeface="Arial" pitchFamily="34" charset="-120"/>
                        </a:rPr>
                        <a:t>Phễu xử lý hồ sơ</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150" dirty="0">
                          <a:solidFill>
                            <a:srgbClr val="14233A"/>
                          </a:solidFill>
                          <a:latin typeface="Arial" pitchFamily="34" charset="0"/>
                          <a:ea typeface="Arial" pitchFamily="34" charset="-122"/>
                          <a:cs typeface="Arial" pitchFamily="34" charset="-120"/>
                        </a:rPr>
                        <a:t>Năm bậc: Đã import → Không lỗi nghiêm trọng → Đã xuất XML → Đã ký số → Đã gửi. Bậc nào tụt mạnh là điểm nghẽn</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150" b="1" dirty="0">
                          <a:solidFill>
                            <a:srgbClr val="14233A"/>
                          </a:solidFill>
                          <a:latin typeface="Arial" pitchFamily="34" charset="0"/>
                          <a:ea typeface="Arial" pitchFamily="34" charset="-122"/>
                          <a:cs typeface="Arial" pitchFamily="34" charset="-120"/>
                        </a:rPr>
                        <a:t>Top 15 mã lỗi (Pareto)</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150" dirty="0">
                          <a:solidFill>
                            <a:srgbClr val="14233A"/>
                          </a:solidFill>
                          <a:latin typeface="Arial" pitchFamily="34" charset="0"/>
                          <a:ea typeface="Arial" pitchFamily="34" charset="-122"/>
                          <a:cs typeface="Arial" pitchFamily="34" charset="-120"/>
                        </a:rPr>
                        <a:t>Xử lý vài mã đầu bảng thường giải quyết được phần lớn hồ sơ lỗi</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4233A"/>
                          </a:solidFill>
                          <a:latin typeface="Arial" pitchFamily="34" charset="0"/>
                          <a:ea typeface="Arial" pitchFamily="34" charset="-122"/>
                          <a:cs typeface="Arial" pitchFamily="34" charset="-120"/>
                        </a:rPr>
                        <a:t>Tồn đọng theo tuổi hồ sơ</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150" dirty="0">
                          <a:solidFill>
                            <a:srgbClr val="14233A"/>
                          </a:solidFill>
                          <a:latin typeface="Arial" pitchFamily="34" charset="0"/>
                          <a:ea typeface="Arial" pitchFamily="34" charset="-122"/>
                          <a:cs typeface="Arial" pitchFamily="34" charset="-120"/>
                        </a:rPr>
                        <a:t>Nhóm 0–7, 8–15, 16–30 và trên 30 ngày. Nhóm trên 30 ngày xử lý trước</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150" b="1" dirty="0">
                          <a:solidFill>
                            <a:srgbClr val="14233A"/>
                          </a:solidFill>
                          <a:latin typeface="Arial" pitchFamily="34" charset="0"/>
                          <a:ea typeface="Arial" pitchFamily="34" charset="-122"/>
                          <a:cs typeface="Arial" pitchFamily="34" charset="-120"/>
                        </a:rPr>
                        <a:t>Lỗi nghiêm trọng theo khoa</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150" dirty="0">
                          <a:solidFill>
                            <a:srgbClr val="14233A"/>
                          </a:solidFill>
                          <a:latin typeface="Arial" pitchFamily="34" charset="0"/>
                          <a:ea typeface="Arial" pitchFamily="34" charset="-122"/>
                          <a:cs typeface="Arial" pitchFamily="34" charset="-120"/>
                        </a:rPr>
                        <a:t>Phân bổ theo khoa thực hiện — dùng để giao việc cho đúng đầu mối</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5074920"/>
            <a:ext cx="11057839" cy="1051560"/>
          </a:xfrm>
          <a:prstGeom prst="rect">
            <a:avLst/>
          </a:prstGeom>
          <a:solidFill>
            <a:srgbClr val="EAF5EC"/>
          </a:solidFill>
          <a:ln w="12700">
            <a:solidFill>
              <a:srgbClr val="EAF5EC"/>
            </a:solidFill>
            <a:prstDash val="solid"/>
          </a:ln>
        </p:spPr>
      </p:sp>
      <p:sp>
        <p:nvSpPr>
          <p:cNvPr id="6" name="Shape 3"/>
          <p:cNvSpPr/>
          <p:nvPr/>
        </p:nvSpPr>
        <p:spPr>
          <a:xfrm>
            <a:off x="566928" y="5074920"/>
            <a:ext cx="64008" cy="1051560"/>
          </a:xfrm>
          <a:prstGeom prst="rect">
            <a:avLst/>
          </a:prstGeom>
          <a:solidFill>
            <a:srgbClr val="2E7D32"/>
          </a:solidFill>
          <a:ln w="12700">
            <a:solidFill>
              <a:srgbClr val="2E7D32"/>
            </a:solidFill>
            <a:prstDash val="solid"/>
          </a:ln>
        </p:spPr>
      </p:sp>
      <p:sp>
        <p:nvSpPr>
          <p:cNvPr id="7" name="Text 4"/>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2E7D32"/>
                </a:solidFill>
                <a:latin typeface="Arial" pitchFamily="34" charset="0"/>
                <a:ea typeface="Arial" pitchFamily="34" charset="-122"/>
                <a:cs typeface="Arial" pitchFamily="34" charset="-120"/>
              </a:rPr>
              <a:t>Mẹo: </a:t>
            </a:r>
            <a:pPr indent="0" marL="0">
              <a:lnSpc>
                <a:spcPts val="1900"/>
              </a:lnSpc>
              <a:buNone/>
            </a:pPr>
            <a:r>
              <a:rPr lang="en-US" sz="1300" dirty="0">
                <a:solidFill>
                  <a:srgbClr val="14233A"/>
                </a:solidFill>
                <a:latin typeface="Arial" pitchFamily="34" charset="0"/>
                <a:ea typeface="Arial" pitchFamily="34" charset="-122"/>
                <a:cs typeface="Arial" pitchFamily="34" charset="-120"/>
              </a:rPr>
              <a:t>Bấm vào một cột hoặc một phần của biểu đồ sẽ chuyển sang màn Danh sách hồ sơ với bộ lọc tương ứng đã áp sẵn.</a:t>
            </a:r>
            <a:endParaRPr lang="en-US" sz="1300" dirty="0"/>
          </a:p>
        </p:txBody>
      </p:sp>
      <p:sp>
        <p:nvSpPr>
          <p:cNvPr id="9" name="Shape 5"/>
          <p:cNvSpPr/>
          <p:nvPr/>
        </p:nvSpPr>
        <p:spPr>
          <a:xfrm>
            <a:off x="566928" y="6382512"/>
            <a:ext cx="11057839" cy="0"/>
          </a:xfrm>
          <a:prstGeom prst="line">
            <a:avLst/>
          </a:prstGeom>
          <a:noFill/>
          <a:ln w="9525">
            <a:solidFill>
              <a:srgbClr val="D6E2EE"/>
            </a:solidFill>
            <a:prstDash val="solid"/>
          </a:ln>
        </p:spPr>
      </p:sp>
      <p:sp>
        <p:nvSpPr>
          <p:cNvPr id="10" name="Text 6"/>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1" name="Text 7"/>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27 / 80</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03 / MỤC 1.8</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Danh mục mã lỗi XML 3176 — nơi quyết định lỗi nào chặn hồ sơ</a:t>
            </a:r>
            <a:endParaRPr lang="en-US" sz="2600" dirty="0"/>
          </a:p>
        </p:txBody>
      </p:sp>
      <p:sp>
        <p:nvSpPr>
          <p:cNvPr id="4" name="Text 2"/>
          <p:cNvSpPr/>
          <p:nvPr/>
        </p:nvSpPr>
        <p:spPr>
          <a:xfrm>
            <a:off x="566928" y="1325880"/>
            <a:ext cx="11057839" cy="4114800"/>
          </a:xfrm>
          <a:prstGeom prst="rect">
            <a:avLst/>
          </a:prstGeom>
          <a:noFill/>
          <a:ln/>
        </p:spPr>
        <p:txBody>
          <a:bodyPr wrap="square" rtlCol="0" anchor="t"/>
          <a:lstStyle/>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Đường dẫn: Quản lý danh mục → BHYT → DM lỗi Xml 3176</a:t>
            </a:r>
            <a:endParaRPr lang="en-US" sz="1600" dirty="0"/>
          </a:p>
          <a:p>
            <a:pPr marL="342900" indent="-342900">
              <a:lnSpc>
                <a:spcPts val="2400"/>
              </a:lnSpc>
              <a:spcAft>
                <a:spcPts val="1000"/>
              </a:spcAft>
              <a:buSzPct val="100000"/>
              <a:buChar char="▪"/>
            </a:pPr>
            <a:r>
              <a:rPr lang="en-US" sz="1600" b="1" dirty="0">
                <a:solidFill>
                  <a:srgbClr val="C62828"/>
                </a:solidFill>
                <a:latin typeface="Arial" pitchFamily="34" charset="0"/>
                <a:ea typeface="Arial" pitchFamily="34" charset="-122"/>
                <a:cs typeface="Arial" pitchFamily="34" charset="-120"/>
              </a:rPr>
              <a:t>Cột "Nghiêm trọng": bật = hồ sơ còn lỗi này sẽ KHÔNG được xuất và không được gửi. Tắt = chỉ cảnh báo</a:t>
            </a:r>
            <a:endParaRPr lang="en-US" sz="1600" dirty="0"/>
          </a:p>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Cột "Có kiểm tra": bật = hệ thống vẫn kiểm mã lỗi này. Tắt = ngừng kiểm và ngừng ghi nhận từ lần chạy sau</a:t>
            </a:r>
            <a:endParaRPr lang="en-US" sz="1600" dirty="0"/>
          </a:p>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Thay đổi có hiệu lực với các lần kiểm SAU, không hồi tố — muốn xoá lỗi cũ phải nạp lại hồ sơ</a:t>
            </a:r>
            <a:endParaRPr lang="en-US" sz="1600" dirty="0"/>
          </a:p>
          <a:p>
            <a:pPr marL="342900" indent="-342900">
              <a:lnSpc>
                <a:spcPts val="2400"/>
              </a:lnSpc>
              <a:spcAft>
                <a:spcPts val="200"/>
              </a:spcAft>
              <a:buSzPct val="100000"/>
              <a:buChar char="▪"/>
            </a:pPr>
            <a:r>
              <a:rPr lang="en-US" sz="1600" b="1" dirty="0">
                <a:solidFill>
                  <a:srgbClr val="C62828"/>
                </a:solidFill>
                <a:latin typeface="Arial" pitchFamily="34" charset="0"/>
                <a:ea typeface="Arial" pitchFamily="34" charset="-122"/>
                <a:cs typeface="Arial" pitchFamily="34" charset="-120"/>
              </a:rPr>
              <a:t>Mã lỗi mới phát sinh mà chưa có trong danh mục sẽ được mặc định coi là NGHIÊM TRỌNG</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   Hệ quả: hồ sơ có thể bị chặn xuất hàng loạt mà không rõ nguyên nhân</a:t>
            </a:r>
            <a:endParaRPr lang="en-US" sz="1600" dirty="0"/>
          </a:p>
        </p:txBody>
      </p:sp>
      <p:sp>
        <p:nvSpPr>
          <p:cNvPr id="5" name="Shape 3"/>
          <p:cNvSpPr/>
          <p:nvPr/>
        </p:nvSpPr>
        <p:spPr>
          <a:xfrm>
            <a:off x="566928" y="5074920"/>
            <a:ext cx="11057839" cy="1051560"/>
          </a:xfrm>
          <a:prstGeom prst="rect">
            <a:avLst/>
          </a:prstGeom>
          <a:solidFill>
            <a:srgbClr val="FDECEC"/>
          </a:solidFill>
          <a:ln w="12700">
            <a:solidFill>
              <a:srgbClr val="FDECEC"/>
            </a:solidFill>
            <a:prstDash val="solid"/>
          </a:ln>
        </p:spPr>
      </p:sp>
      <p:sp>
        <p:nvSpPr>
          <p:cNvPr id="6" name="Shape 4"/>
          <p:cNvSpPr/>
          <p:nvPr/>
        </p:nvSpPr>
        <p:spPr>
          <a:xfrm>
            <a:off x="566928" y="5074920"/>
            <a:ext cx="64008" cy="1051560"/>
          </a:xfrm>
          <a:prstGeom prst="rect">
            <a:avLst/>
          </a:prstGeom>
          <a:solidFill>
            <a:srgbClr val="C62828"/>
          </a:solidFill>
          <a:ln w="12700">
            <a:solidFill>
              <a:srgbClr val="C62828"/>
            </a:solidFill>
            <a:prstDash val="solid"/>
          </a:ln>
        </p:spPr>
      </p:sp>
      <p:sp>
        <p:nvSpPr>
          <p:cNvPr id="7" name="Text 5"/>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Việc phải làm sau mỗi lần nâng cấp phần mềm: </a:t>
            </a:r>
            <a:pPr indent="0" marL="0">
              <a:lnSpc>
                <a:spcPts val="1900"/>
              </a:lnSpc>
              <a:buNone/>
            </a:pPr>
            <a:r>
              <a:rPr lang="en-US" sz="1300" dirty="0">
                <a:solidFill>
                  <a:srgbClr val="14233A"/>
                </a:solidFill>
                <a:latin typeface="Arial" pitchFamily="34" charset="0"/>
                <a:ea typeface="Arial" pitchFamily="34" charset="-122"/>
                <a:cs typeface="Arial" pitchFamily="34" charset="-120"/>
              </a:rPr>
              <a:t>Rà lại màn hình này để đặt đúng mức độ cho các mã lỗi mới. Riêng mã lỗi "mã xã không thuộc tỉnh" được nạp ở trạng thái TẮT sẵn — chỉ bật sau khi danh mục đơn vị hành chính đã chuyển sang hai cấp và đã rà thử một lô hồ sơ.</a:t>
            </a:r>
            <a:endParaRPr lang="en-US" sz="1300" dirty="0"/>
          </a:p>
        </p:txBody>
      </p:sp>
      <p:sp>
        <p:nvSpPr>
          <p:cNvPr id="9" name="Shape 6"/>
          <p:cNvSpPr/>
          <p:nvPr/>
        </p:nvSpPr>
        <p:spPr>
          <a:xfrm>
            <a:off x="566928" y="6382512"/>
            <a:ext cx="11057839" cy="0"/>
          </a:xfrm>
          <a:prstGeom prst="line">
            <a:avLst/>
          </a:prstGeom>
          <a:noFill/>
          <a:ln w="9525">
            <a:solidFill>
              <a:srgbClr val="D6E2EE"/>
            </a:solidFill>
            <a:prstDash val="solid"/>
          </a:ln>
        </p:spPr>
      </p:sp>
      <p:sp>
        <p:nvSpPr>
          <p:cNvPr id="10" name="Text 7"/>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1" name="Text 8"/>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28 / 80</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A9FD8"/>
          </a:solidFill>
          <a:ln w="12700">
            <a:solidFill>
              <a:srgbClr val="2A9FD8"/>
            </a:solidFill>
            <a:prstDash val="solid"/>
          </a:ln>
        </p:spPr>
      </p:sp>
      <p:sp>
        <p:nvSpPr>
          <p:cNvPr id="3" name="Text 1"/>
          <p:cNvSpPr/>
          <p:nvPr/>
        </p:nvSpPr>
        <p:spPr>
          <a:xfrm>
            <a:off x="822960" y="2011680"/>
            <a:ext cx="1828800" cy="1371600"/>
          </a:xfrm>
          <a:prstGeom prst="rect">
            <a:avLst/>
          </a:prstGeom>
          <a:noFill/>
          <a:ln/>
        </p:spPr>
        <p:txBody>
          <a:bodyPr wrap="square" rtlCol="0" anchor="ctr"/>
          <a:lstStyle/>
          <a:p>
            <a:pPr indent="0" marL="0">
              <a:buNone/>
            </a:pPr>
            <a:r>
              <a:rPr lang="en-US" sz="8000" b="1" dirty="0">
                <a:solidFill>
                  <a:srgbClr val="2A9FD8"/>
                </a:solidFill>
                <a:latin typeface="Arial" pitchFamily="34" charset="0"/>
                <a:ea typeface="Arial" pitchFamily="34" charset="-122"/>
                <a:cs typeface="Arial" pitchFamily="34" charset="-120"/>
              </a:rPr>
              <a:t>04</a:t>
            </a:r>
            <a:endParaRPr lang="en-US" sz="8000" dirty="0"/>
          </a:p>
        </p:txBody>
      </p:sp>
      <p:sp>
        <p:nvSpPr>
          <p:cNvPr id="4" name="Text 2"/>
          <p:cNvSpPr/>
          <p:nvPr/>
        </p:nvSpPr>
        <p:spPr>
          <a:xfrm>
            <a:off x="2651760" y="2148840"/>
            <a:ext cx="8808415" cy="9144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Thẻ BHYT</a:t>
            </a:r>
            <a:endParaRPr lang="en-US" sz="3200" dirty="0"/>
          </a:p>
        </p:txBody>
      </p:sp>
      <p:sp>
        <p:nvSpPr>
          <p:cNvPr id="5" name="Text 3"/>
          <p:cNvSpPr/>
          <p:nvPr/>
        </p:nvSpPr>
        <p:spPr>
          <a:xfrm>
            <a:off x="2651760" y="3108960"/>
            <a:ext cx="8808415" cy="822960"/>
          </a:xfrm>
          <a:prstGeom prst="rect">
            <a:avLst/>
          </a:prstGeom>
          <a:noFill/>
          <a:ln/>
        </p:spPr>
        <p:txBody>
          <a:bodyPr wrap="square" rtlCol="0" anchor="t"/>
          <a:lstStyle/>
          <a:p>
            <a:pPr indent="0" marL="0">
              <a:lnSpc>
                <a:spcPts val="2200"/>
              </a:lnSpc>
              <a:buNone/>
            </a:pPr>
            <a:r>
              <a:rPr lang="en-US" sz="1500" dirty="0">
                <a:solidFill>
                  <a:srgbClr val="A9C4DC"/>
                </a:solidFill>
                <a:latin typeface="Arial" pitchFamily="34" charset="0"/>
                <a:ea typeface="Arial" pitchFamily="34" charset="-122"/>
                <a:cs typeface="Arial" pitchFamily="34" charset="-120"/>
              </a:rPr>
              <a:t>Đọc hai mã kết quả · Lỗi khoa sửa được trên HIS · Tra cứu tự động và hàng loạt ở phòng ban</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04 / MỤC 3.3.5</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Hai mã hoàn toàn khác nhau — đừng nhầm</a:t>
            </a:r>
            <a:endParaRPr lang="en-US" sz="2600" dirty="0"/>
          </a:p>
        </p:txBody>
      </p:sp>
      <p:sp>
        <p:nvSpPr>
          <p:cNvPr id="4" name="Shape 2"/>
          <p:cNvSpPr/>
          <p:nvPr/>
        </p:nvSpPr>
        <p:spPr>
          <a:xfrm>
            <a:off x="566928" y="1325880"/>
            <a:ext cx="5410048" cy="3657600"/>
          </a:xfrm>
          <a:prstGeom prst="rect">
            <a:avLst/>
          </a:prstGeom>
          <a:solidFill>
            <a:srgbClr val="EEF3F8"/>
          </a:solidFill>
          <a:ln w="12700">
            <a:solidFill>
              <a:srgbClr val="D6E2EE"/>
            </a:solidFill>
            <a:prstDash val="solid"/>
          </a:ln>
        </p:spPr>
      </p:sp>
      <p:sp>
        <p:nvSpPr>
          <p:cNvPr id="5" name="Shape 3"/>
          <p:cNvSpPr/>
          <p:nvPr/>
        </p:nvSpPr>
        <p:spPr>
          <a:xfrm>
            <a:off x="566928" y="1325880"/>
            <a:ext cx="5410048" cy="91440"/>
          </a:xfrm>
          <a:prstGeom prst="rect">
            <a:avLst/>
          </a:prstGeom>
          <a:solidFill>
            <a:srgbClr val="C96A12"/>
          </a:solidFill>
          <a:ln w="12700">
            <a:solidFill>
              <a:srgbClr val="C96A12"/>
            </a:solidFill>
            <a:prstDash val="solid"/>
          </a:ln>
        </p:spPr>
      </p:sp>
      <p:sp>
        <p:nvSpPr>
          <p:cNvPr id="6" name="Text 4"/>
          <p:cNvSpPr/>
          <p:nvPr/>
        </p:nvSpPr>
        <p:spPr>
          <a:xfrm>
            <a:off x="768096" y="1600200"/>
            <a:ext cx="5007712" cy="685800"/>
          </a:xfrm>
          <a:prstGeom prst="rect">
            <a:avLst/>
          </a:prstGeom>
          <a:noFill/>
          <a:ln/>
        </p:spPr>
        <p:txBody>
          <a:bodyPr wrap="square" rtlCol="0" anchor="t"/>
          <a:lstStyle/>
          <a:p>
            <a:pPr indent="0" marL="0">
              <a:lnSpc>
                <a:spcPts val="2100"/>
              </a:lnSpc>
              <a:buNone/>
            </a:pPr>
            <a:r>
              <a:rPr lang="en-US" sz="1600" b="1" dirty="0">
                <a:solidFill>
                  <a:srgbClr val="1A5EA8"/>
                </a:solidFill>
                <a:latin typeface="Arial" pitchFamily="34" charset="0"/>
                <a:ea typeface="Arial" pitchFamily="34" charset="-122"/>
                <a:cs typeface="Arial" pitchFamily="34" charset="-120"/>
              </a:rPr>
              <a:t>Mã tra cứu</a:t>
            </a:r>
            <a:endParaRPr lang="en-US" sz="1600" dirty="0"/>
          </a:p>
          <a:p>
            <a:pPr indent="0" marL="0">
              <a:lnSpc>
                <a:spcPts val="2100"/>
              </a:lnSpc>
              <a:buNone/>
            </a:pPr>
            <a:r>
              <a:rPr lang="en-US" sz="1600" b="1" dirty="0">
                <a:solidFill>
                  <a:srgbClr val="1A5EA8"/>
                </a:solidFill>
                <a:latin typeface="Arial" pitchFamily="34" charset="0"/>
                <a:ea typeface="Arial" pitchFamily="34" charset="-122"/>
                <a:cs typeface="Arial" pitchFamily="34" charset="-120"/>
              </a:rPr>
              <a:t>Hợp lệ khi = 000</a:t>
            </a:r>
            <a:endParaRPr lang="en-US" sz="1600" dirty="0"/>
          </a:p>
        </p:txBody>
      </p:sp>
      <p:sp>
        <p:nvSpPr>
          <p:cNvPr id="7" name="Text 5"/>
          <p:cNvSpPr/>
          <p:nvPr/>
        </p:nvSpPr>
        <p:spPr>
          <a:xfrm>
            <a:off x="768096" y="2313432"/>
            <a:ext cx="5007712" cy="2468880"/>
          </a:xfrm>
          <a:prstGeom prst="rect">
            <a:avLst/>
          </a:prstGeom>
          <a:noFill/>
          <a:ln/>
        </p:spPr>
        <p:txBody>
          <a:bodyPr wrap="square" rtlCol="0" anchor="t"/>
          <a:lstStyle/>
          <a:p>
            <a:pPr indent="0" marL="0">
              <a:lnSpc>
                <a:spcPts val="1900"/>
              </a:lnSpc>
              <a:buNone/>
            </a:pPr>
            <a:r>
              <a:rPr lang="en-US" sz="1300" dirty="0">
                <a:solidFill>
                  <a:srgbClr val="14233A"/>
                </a:solidFill>
                <a:latin typeface="Arial" pitchFamily="34" charset="0"/>
                <a:ea typeface="Arial" pitchFamily="34" charset="-122"/>
                <a:cs typeface="Arial" pitchFamily="34" charset="-120"/>
              </a:rPr>
              <a:t>Do CỔNG BHXH trả về.</a:t>
            </a:r>
            <a:endParaRPr lang="en-US" sz="1300" dirty="0"/>
          </a:p>
          <a:p>
            <a:pPr indent="0" marL="0">
              <a:lnSpc>
                <a:spcPts val="1900"/>
              </a:lnSpc>
              <a:buNone/>
            </a:pPr>
            <a:endParaRPr lang="en-US" sz="1300" dirty="0"/>
          </a:p>
          <a:p>
            <a:pPr indent="0" marL="0">
              <a:lnSpc>
                <a:spcPts val="1900"/>
              </a:lnSpc>
              <a:buNone/>
            </a:pPr>
            <a:r>
              <a:rPr lang="en-US" sz="1300" dirty="0">
                <a:solidFill>
                  <a:srgbClr val="14233A"/>
                </a:solidFill>
                <a:latin typeface="Arial" pitchFamily="34" charset="0"/>
                <a:ea typeface="Arial" pitchFamily="34" charset="-122"/>
                <a:cs typeface="Arial" pitchFamily="34" charset="-120"/>
              </a:rPr>
              <a:t>Phản ánh tình trạng thẻ trong cơ sở dữ liệu của cơ quan bảo hiểm: thẻ còn hạn không, có bị thu hồi không, họ tên và ngày sinh có khớp không.</a:t>
            </a:r>
            <a:endParaRPr lang="en-US" sz="1300" dirty="0"/>
          </a:p>
          <a:p>
            <a:pPr indent="0" marL="0">
              <a:lnSpc>
                <a:spcPts val="1900"/>
              </a:lnSpc>
              <a:buNone/>
            </a:pPr>
            <a:endParaRPr lang="en-US" sz="1300" dirty="0"/>
          </a:p>
          <a:p>
            <a:pPr indent="0" marL="0">
              <a:lnSpc>
                <a:spcPts val="1900"/>
              </a:lnSpc>
              <a:buNone/>
            </a:pPr>
            <a:r>
              <a:rPr lang="en-US" sz="1300" dirty="0">
                <a:solidFill>
                  <a:srgbClr val="14233A"/>
                </a:solidFill>
                <a:latin typeface="Arial" pitchFamily="34" charset="0"/>
                <a:ea typeface="Arial" pitchFamily="34" charset="-122"/>
                <a:cs typeface="Arial" pitchFamily="34" charset="-120"/>
              </a:rPr>
              <a:t>Khác 000 thường phải làm việc với người bệnh hoặc cơ quan BHXH.</a:t>
            </a:r>
            <a:endParaRPr lang="en-US" sz="1300" dirty="0"/>
          </a:p>
        </p:txBody>
      </p:sp>
      <p:sp>
        <p:nvSpPr>
          <p:cNvPr id="8" name="Shape 6"/>
          <p:cNvSpPr/>
          <p:nvPr/>
        </p:nvSpPr>
        <p:spPr>
          <a:xfrm>
            <a:off x="6214720" y="1325880"/>
            <a:ext cx="5410048" cy="3657600"/>
          </a:xfrm>
          <a:prstGeom prst="rect">
            <a:avLst/>
          </a:prstGeom>
          <a:solidFill>
            <a:srgbClr val="EEF3F8"/>
          </a:solidFill>
          <a:ln w="12700">
            <a:solidFill>
              <a:srgbClr val="D6E2EE"/>
            </a:solidFill>
            <a:prstDash val="solid"/>
          </a:ln>
        </p:spPr>
      </p:sp>
      <p:sp>
        <p:nvSpPr>
          <p:cNvPr id="9" name="Shape 7"/>
          <p:cNvSpPr/>
          <p:nvPr/>
        </p:nvSpPr>
        <p:spPr>
          <a:xfrm>
            <a:off x="6214720" y="1325880"/>
            <a:ext cx="5410048" cy="91440"/>
          </a:xfrm>
          <a:prstGeom prst="rect">
            <a:avLst/>
          </a:prstGeom>
          <a:solidFill>
            <a:srgbClr val="C62828"/>
          </a:solidFill>
          <a:ln w="12700">
            <a:solidFill>
              <a:srgbClr val="C62828"/>
            </a:solidFill>
            <a:prstDash val="solid"/>
          </a:ln>
        </p:spPr>
      </p:sp>
      <p:sp>
        <p:nvSpPr>
          <p:cNvPr id="10" name="Text 8"/>
          <p:cNvSpPr/>
          <p:nvPr/>
        </p:nvSpPr>
        <p:spPr>
          <a:xfrm>
            <a:off x="6415888" y="1600200"/>
            <a:ext cx="5007712" cy="685800"/>
          </a:xfrm>
          <a:prstGeom prst="rect">
            <a:avLst/>
          </a:prstGeom>
          <a:noFill/>
          <a:ln/>
        </p:spPr>
        <p:txBody>
          <a:bodyPr wrap="square" rtlCol="0" anchor="t"/>
          <a:lstStyle/>
          <a:p>
            <a:pPr indent="0" marL="0">
              <a:lnSpc>
                <a:spcPts val="2100"/>
              </a:lnSpc>
              <a:buNone/>
            </a:pPr>
            <a:r>
              <a:rPr lang="en-US" sz="1600" b="1" dirty="0">
                <a:solidFill>
                  <a:srgbClr val="1A5EA8"/>
                </a:solidFill>
                <a:latin typeface="Arial" pitchFamily="34" charset="0"/>
                <a:ea typeface="Arial" pitchFamily="34" charset="-122"/>
                <a:cs typeface="Arial" pitchFamily="34" charset="-120"/>
              </a:rPr>
              <a:t>Mã kiểm tra</a:t>
            </a:r>
            <a:endParaRPr lang="en-US" sz="1600" dirty="0"/>
          </a:p>
          <a:p>
            <a:pPr indent="0" marL="0">
              <a:lnSpc>
                <a:spcPts val="2100"/>
              </a:lnSpc>
              <a:buNone/>
            </a:pPr>
            <a:r>
              <a:rPr lang="en-US" sz="1600" b="1" dirty="0">
                <a:solidFill>
                  <a:srgbClr val="1A5EA8"/>
                </a:solidFill>
                <a:latin typeface="Arial" pitchFamily="34" charset="0"/>
                <a:ea typeface="Arial" pitchFamily="34" charset="-122"/>
                <a:cs typeface="Arial" pitchFamily="34" charset="-120"/>
              </a:rPr>
              <a:t>Hợp lệ khi = 00</a:t>
            </a:r>
            <a:endParaRPr lang="en-US" sz="1600" dirty="0"/>
          </a:p>
        </p:txBody>
      </p:sp>
      <p:sp>
        <p:nvSpPr>
          <p:cNvPr id="11" name="Text 9"/>
          <p:cNvSpPr/>
          <p:nvPr/>
        </p:nvSpPr>
        <p:spPr>
          <a:xfrm>
            <a:off x="6415888" y="2313432"/>
            <a:ext cx="5007712" cy="2468880"/>
          </a:xfrm>
          <a:prstGeom prst="rect">
            <a:avLst/>
          </a:prstGeom>
          <a:noFill/>
          <a:ln/>
        </p:spPr>
        <p:txBody>
          <a:bodyPr wrap="square" rtlCol="0" anchor="t"/>
          <a:lstStyle/>
          <a:p>
            <a:pPr indent="0" marL="0">
              <a:lnSpc>
                <a:spcPts val="1900"/>
              </a:lnSpc>
              <a:buNone/>
            </a:pPr>
            <a:r>
              <a:rPr lang="en-US" sz="1300" dirty="0">
                <a:solidFill>
                  <a:srgbClr val="14233A"/>
                </a:solidFill>
                <a:latin typeface="Arial" pitchFamily="34" charset="0"/>
                <a:ea typeface="Arial" pitchFamily="34" charset="-122"/>
                <a:cs typeface="Arial" pitchFamily="34" charset="-120"/>
              </a:rPr>
              <a:t>Do PHẦN MỀM tự tính khi so dữ liệu cổng trả về với dữ liệu đang lưu trên HIS.</a:t>
            </a:r>
            <a:endParaRPr lang="en-US" sz="1300" dirty="0"/>
          </a:p>
          <a:p>
            <a:pPr indent="0" marL="0">
              <a:lnSpc>
                <a:spcPts val="1900"/>
              </a:lnSpc>
              <a:buNone/>
            </a:pPr>
            <a:endParaRPr lang="en-US" sz="1300" dirty="0"/>
          </a:p>
          <a:p>
            <a:pPr indent="0" marL="0">
              <a:lnSpc>
                <a:spcPts val="1900"/>
              </a:lnSpc>
              <a:buNone/>
            </a:pPr>
            <a:r>
              <a:rPr lang="en-US" sz="1300" dirty="0">
                <a:solidFill>
                  <a:srgbClr val="14233A"/>
                </a:solidFill>
                <a:latin typeface="Arial" pitchFamily="34" charset="0"/>
                <a:ea typeface="Arial" pitchFamily="34" charset="-122"/>
                <a:cs typeface="Arial" pitchFamily="34" charset="-120"/>
              </a:rPr>
              <a:t>Ví dụ: 08 = giới tính lệch · 09 = nơi đăng ký ban đầu khác cổng · 11 = cổng trả về thiếu dữ liệu.</a:t>
            </a:r>
            <a:endParaRPr lang="en-US" sz="1300" dirty="0"/>
          </a:p>
          <a:p>
            <a:pPr indent="0" marL="0">
              <a:lnSpc>
                <a:spcPts val="1900"/>
              </a:lnSpc>
              <a:buNone/>
            </a:pPr>
            <a:endParaRPr lang="en-US" sz="1300" dirty="0"/>
          </a:p>
          <a:p>
            <a:pPr indent="0" marL="0">
              <a:lnSpc>
                <a:spcPts val="1900"/>
              </a:lnSpc>
              <a:buNone/>
            </a:pPr>
            <a:r>
              <a:rPr lang="en-US" sz="1300" dirty="0">
                <a:solidFill>
                  <a:srgbClr val="14233A"/>
                </a:solidFill>
                <a:latin typeface="Arial" pitchFamily="34" charset="0"/>
                <a:ea typeface="Arial" pitchFamily="34" charset="-122"/>
                <a:cs typeface="Arial" pitchFamily="34" charset="-120"/>
              </a:rPr>
              <a:t>Khác 00 thường là khoa/tiếp đón sửa được ngay trên HIS.</a:t>
            </a:r>
            <a:endParaRPr lang="en-US" sz="1300" dirty="0"/>
          </a:p>
        </p:txBody>
      </p:sp>
      <p:sp>
        <p:nvSpPr>
          <p:cNvPr id="12" name="Shape 10"/>
          <p:cNvSpPr/>
          <p:nvPr/>
        </p:nvSpPr>
        <p:spPr>
          <a:xfrm>
            <a:off x="566928" y="5074920"/>
            <a:ext cx="11057839" cy="1051560"/>
          </a:xfrm>
          <a:prstGeom prst="rect">
            <a:avLst/>
          </a:prstGeom>
          <a:solidFill>
            <a:srgbClr val="FFF4E6"/>
          </a:solidFill>
          <a:ln w="12700">
            <a:solidFill>
              <a:srgbClr val="FFF4E6"/>
            </a:solidFill>
            <a:prstDash val="solid"/>
          </a:ln>
        </p:spPr>
      </p:sp>
      <p:sp>
        <p:nvSpPr>
          <p:cNvPr id="13" name="Shape 11"/>
          <p:cNvSpPr/>
          <p:nvPr/>
        </p:nvSpPr>
        <p:spPr>
          <a:xfrm>
            <a:off x="566928" y="5074920"/>
            <a:ext cx="64008" cy="1051560"/>
          </a:xfrm>
          <a:prstGeom prst="rect">
            <a:avLst/>
          </a:prstGeom>
          <a:solidFill>
            <a:srgbClr val="C96A12"/>
          </a:solidFill>
          <a:ln w="12700">
            <a:solidFill>
              <a:srgbClr val="C96A12"/>
            </a:solidFill>
            <a:prstDash val="solid"/>
          </a:ln>
        </p:spPr>
      </p:sp>
      <p:sp>
        <p:nvSpPr>
          <p:cNvPr id="14" name="Text 12"/>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Một dòng bị coi là lỗi khi: </a:t>
            </a:r>
            <a:pPr indent="0" marL="0">
              <a:lnSpc>
                <a:spcPts val="1900"/>
              </a:lnSpc>
              <a:buNone/>
            </a:pPr>
            <a:r>
              <a:rPr lang="en-US" sz="1300" dirty="0">
                <a:solidFill>
                  <a:srgbClr val="14233A"/>
                </a:solidFill>
                <a:latin typeface="Arial" pitchFamily="34" charset="0"/>
                <a:ea typeface="Arial" pitchFamily="34" charset="-122"/>
                <a:cs typeface="Arial" pitchFamily="34" charset="-120"/>
              </a:rPr>
              <a:t>Mã tra cứu khác 000 HOẶC Mã kiểm tra khác 00. Dòng lỗi được tô nền đỏ nhạt trên màn Kết quả tra cứu thẻ.</a:t>
            </a:r>
            <a:endParaRPr lang="en-US" sz="1300" dirty="0"/>
          </a:p>
        </p:txBody>
      </p:sp>
      <p:sp>
        <p:nvSpPr>
          <p:cNvPr id="16" name="Shape 13"/>
          <p:cNvSpPr/>
          <p:nvPr/>
        </p:nvSpPr>
        <p:spPr>
          <a:xfrm>
            <a:off x="566928" y="6382512"/>
            <a:ext cx="11057839" cy="0"/>
          </a:xfrm>
          <a:prstGeom prst="line">
            <a:avLst/>
          </a:prstGeom>
          <a:noFill/>
          <a:ln w="9525">
            <a:solidFill>
              <a:srgbClr val="D6E2EE"/>
            </a:solidFill>
            <a:prstDash val="solid"/>
          </a:ln>
        </p:spPr>
      </p:sp>
      <p:sp>
        <p:nvSpPr>
          <p:cNvPr id="17" name="Text 14"/>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8" name="Text 15"/>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30 / 80</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04 / MỤC 3.6</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Những mã kiểm tra khoa sửa được ngay trên HIS</a:t>
            </a:r>
            <a:endParaRPr lang="en-US" sz="2600" dirty="0"/>
          </a:p>
        </p:txBody>
      </p:sp>
      <p:sp>
        <p:nvSpPr>
          <p:cNvPr id="4" name="Text 2"/>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B6B7F"/>
                </a:solidFill>
                <a:latin typeface="Arial" pitchFamily="34" charset="0"/>
                <a:ea typeface="Arial" pitchFamily="34" charset="-122"/>
                <a:cs typeface="Arial" pitchFamily="34" charset="-120"/>
              </a:rPr>
              <a:t>Đây là nhóm có tác động trực tiếp tới mức hưởng và tới việc hồ sơ XML có bị giám định từ chối hay không.</a:t>
            </a:r>
            <a:endParaRPr lang="en-US" sz="13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995206"/>
                <a:gridCol w="4644292"/>
                <a:gridCol w="5418341"/>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Mã</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Ý nghĩa</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Việc phải làm</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r>
              <a:tr h="0">
                <a:tc>
                  <a:txBody>
                    <a:bodyPr/>
                    <a:lstStyle/>
                    <a:p>
                      <a:pPr indent="0" marL="0">
                        <a:buNone/>
                      </a:pPr>
                      <a:r>
                        <a:rPr lang="en-US" sz="1200" b="1" dirty="0">
                          <a:solidFill>
                            <a:srgbClr val="2E7D32"/>
                          </a:solidFill>
                          <a:latin typeface="Arial" pitchFamily="34" charset="0"/>
                          <a:ea typeface="Arial" pitchFamily="34" charset="-122"/>
                          <a:cs typeface="Arial" pitchFamily="34" charset="-120"/>
                        </a:rPr>
                        <a:t>00</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Mọi thông tin đều khớp</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Không cần làm gì</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06</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Sai họ tên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Sửa họ tên trên HIS theo dữ liệu cổng trả về</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07</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Sai ngày sinh</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Sửa ngày sinh trên HIS theo dữ liệu cổng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b="1" dirty="0">
                          <a:solidFill>
                            <a:srgbClr val="C62828"/>
                          </a:solidFill>
                          <a:latin typeface="Arial" pitchFamily="34" charset="0"/>
                          <a:ea typeface="Arial" pitchFamily="34" charset="-122"/>
                          <a:cs typeface="Arial" pitchFamily="34" charset="-120"/>
                        </a:rPr>
                        <a:t>08</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Sai giới tính</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Sửa giới tính trên HIS. Đây là lỗi hay bị bỏ sót nhất và sẽ làm hồ sơ XML bị từ chối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C62828"/>
                          </a:solidFill>
                          <a:latin typeface="Arial" pitchFamily="34" charset="0"/>
                          <a:ea typeface="Arial" pitchFamily="34" charset="-122"/>
                          <a:cs typeface="Arial" pitchFamily="34" charset="-120"/>
                        </a:rPr>
                        <a:t>09</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Nơi đăng ký ban đầu khác với cổng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Cập nhật nơi ĐKBĐ trên HIS — trường này quyết định đúng tuyến hay trái tuyến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03</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Thẻ hết hạn khi bệnh nhân chưa ra viện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Xác định phần chi phí sau ngày hết hạn thẻ, thông báo cho người bệnh</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05</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Thẻ không có trong cơ sở dữ liệu</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Kiểm tra lại số thẻ; nếu đúng, đề nghị người bệnh liên hệ cơ quan bảo hiểm</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bl>
          </a:graphicData>
        </a:graphic>
      </p:graphicFrame>
      <p:sp>
        <p:nvSpPr>
          <p:cNvPr id="6" name="Shape 3"/>
          <p:cNvSpPr/>
          <p:nvPr/>
        </p:nvSpPr>
        <p:spPr>
          <a:xfrm>
            <a:off x="566928" y="5074920"/>
            <a:ext cx="11057839" cy="1051560"/>
          </a:xfrm>
          <a:prstGeom prst="rect">
            <a:avLst/>
          </a:prstGeom>
          <a:solidFill>
            <a:srgbClr val="FFF4E6"/>
          </a:solidFill>
          <a:ln w="12700">
            <a:solidFill>
              <a:srgbClr val="FFF4E6"/>
            </a:solidFill>
            <a:prstDash val="solid"/>
          </a:ln>
        </p:spPr>
      </p:sp>
      <p:sp>
        <p:nvSpPr>
          <p:cNvPr id="7" name="Shape 4"/>
          <p:cNvSpPr/>
          <p:nvPr/>
        </p:nvSpPr>
        <p:spPr>
          <a:xfrm>
            <a:off x="566928" y="5074920"/>
            <a:ext cx="64008" cy="1051560"/>
          </a:xfrm>
          <a:prstGeom prst="rect">
            <a:avLst/>
          </a:prstGeom>
          <a:solidFill>
            <a:srgbClr val="C96A12"/>
          </a:solidFill>
          <a:ln w="12700">
            <a:solidFill>
              <a:srgbClr val="C96A12"/>
            </a:solidFill>
            <a:prstDash val="solid"/>
          </a:ln>
        </p:spPr>
      </p:sp>
      <p:sp>
        <p:nvSpPr>
          <p:cNvPr id="8" name="Text 5"/>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Ảnh hưởng tới mức hưởng: </a:t>
            </a:r>
            <a:pPr indent="0" marL="0">
              <a:lnSpc>
                <a:spcPts val="1900"/>
              </a:lnSpc>
              <a:buNone/>
            </a:pPr>
            <a:r>
              <a:rPr lang="en-US" sz="1300" dirty="0">
                <a:solidFill>
                  <a:srgbClr val="14233A"/>
                </a:solidFill>
                <a:latin typeface="Arial" pitchFamily="34" charset="0"/>
                <a:ea typeface="Arial" pitchFamily="34" charset="-122"/>
                <a:cs typeface="Arial" pitchFamily="34" charset="-120"/>
              </a:rPr>
              <a:t>Trường "Ngày đủ 5 năm liên tục" và "Mã khu vực" khi lệch với cổng phải sửa theo dữ liệu cổng TRƯỚC khi kết xuất hồ sơ XML, nếu không hồ sơ sẽ bị giám định từ chối.</a:t>
            </a:r>
            <a:endParaRPr lang="en-US" sz="1300" dirty="0"/>
          </a:p>
        </p:txBody>
      </p:sp>
      <p:sp>
        <p:nvSpPr>
          <p:cNvPr id="10" name="Shape 6"/>
          <p:cNvSpPr/>
          <p:nvPr/>
        </p:nvSpPr>
        <p:spPr>
          <a:xfrm>
            <a:off x="566928" y="6382512"/>
            <a:ext cx="11057839" cy="0"/>
          </a:xfrm>
          <a:prstGeom prst="line">
            <a:avLst/>
          </a:prstGeom>
          <a:noFill/>
          <a:ln w="9525">
            <a:solidFill>
              <a:srgbClr val="D6E2EE"/>
            </a:solidFill>
            <a:prstDash val="solid"/>
          </a:ln>
        </p:spPr>
      </p:sp>
      <p:sp>
        <p:nvSpPr>
          <p:cNvPr id="11" name="Text 7"/>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2" name="Text 8"/>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31 / 80</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04 / MỤC 3.3</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Kết quả tra cứu thẻ tự động</a:t>
            </a:r>
            <a:endParaRPr lang="en-US" sz="2600" dirty="0"/>
          </a:p>
        </p:txBody>
      </p:sp>
      <p:sp>
        <p:nvSpPr>
          <p:cNvPr id="4" name="Text 2"/>
          <p:cNvSpPr/>
          <p:nvPr/>
        </p:nvSpPr>
        <p:spPr>
          <a:xfrm>
            <a:off x="566928" y="1325880"/>
            <a:ext cx="11057839" cy="4114800"/>
          </a:xfrm>
          <a:prstGeom prst="rect">
            <a:avLst/>
          </a:prstGeom>
          <a:noFill/>
          <a:ln/>
        </p:spPr>
        <p:txBody>
          <a:bodyPr wrap="square" rtlCol="0" anchor="t"/>
          <a:lstStyle/>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Đường dẫn: Hồ sơ XML → Kết quả tra cứu thẻ</a:t>
            </a:r>
            <a:endParaRPr lang="en-US" sz="1600" dirty="0"/>
          </a:p>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Hằng ngày hệ thống tự quét danh sách bệnh nhân đang điều trị có số thẻ, gửi yêu cầu lên cổng và lưu kết quả</a:t>
            </a:r>
            <a:endParaRPr lang="en-US" sz="1600" dirty="0"/>
          </a:p>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Hồ sơ đã tra cứu hợp lệ trước đó được bỏ qua để không gọi cổng nhiều lần không cần thiết</a:t>
            </a:r>
            <a:endParaRPr lang="en-US" sz="1600" dirty="0"/>
          </a:p>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Thẻ do BHXH Bộ Quốc phòng và Bộ Công an quản lý được bỏ qua theo cấu hình — cổng không trả kết quả cho nhóm này</a:t>
            </a:r>
            <a:endParaRPr lang="en-US" sz="1600" dirty="0"/>
          </a:p>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Mỗi mã điều trị giữ MỘT bản ghi mới nhất</a:t>
            </a:r>
            <a:endParaRPr lang="en-US" sz="1600" dirty="0"/>
          </a:p>
          <a:p>
            <a:pPr marL="342900" indent="-342900">
              <a:lnSpc>
                <a:spcPts val="2400"/>
              </a:lnSpc>
              <a:spcAft>
                <a:spcPts val="200"/>
              </a:spcAft>
              <a:buSzPct val="100000"/>
              <a:buChar char="▪"/>
            </a:pPr>
            <a:r>
              <a:rPr lang="en-US" sz="1600" b="1" dirty="0">
                <a:solidFill>
                  <a:srgbClr val="1F4E79"/>
                </a:solidFill>
                <a:latin typeface="Arial" pitchFamily="34" charset="0"/>
                <a:ea typeface="Arial" pitchFamily="34" charset="-122"/>
                <a:cs typeface="Arial" pitchFamily="34" charset="-120"/>
              </a:rPr>
              <a:t>Thao tác hằng ngày: chọn khoảng ngày → Trạng thái = "Chỉ lỗi" → chọn Cơ sở KCB → Xuất Excel gửi khoa phòng</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   Tệp xuất gồm 26 cột, đúng phạm vi bộ lọc</a:t>
            </a:r>
            <a:endParaRPr lang="en-US" sz="1600" dirty="0"/>
          </a:p>
        </p:txBody>
      </p:sp>
      <p:sp>
        <p:nvSpPr>
          <p:cNvPr id="5" name="Shape 3"/>
          <p:cNvSpPr/>
          <p:nvPr/>
        </p:nvSpPr>
        <p:spPr>
          <a:xfrm>
            <a:off x="566928" y="5074920"/>
            <a:ext cx="11057839" cy="1051560"/>
          </a:xfrm>
          <a:prstGeom prst="rect">
            <a:avLst/>
          </a:prstGeom>
          <a:solidFill>
            <a:srgbClr val="FFF4E6"/>
          </a:solidFill>
          <a:ln w="12700">
            <a:solidFill>
              <a:srgbClr val="FFF4E6"/>
            </a:solidFill>
            <a:prstDash val="solid"/>
          </a:ln>
        </p:spPr>
      </p:sp>
      <p:sp>
        <p:nvSpPr>
          <p:cNvPr id="6" name="Shape 4"/>
          <p:cNvSpPr/>
          <p:nvPr/>
        </p:nvSpPr>
        <p:spPr>
          <a:xfrm>
            <a:off x="566928" y="5074920"/>
            <a:ext cx="64008" cy="1051560"/>
          </a:xfrm>
          <a:prstGeom prst="rect">
            <a:avLst/>
          </a:prstGeom>
          <a:solidFill>
            <a:srgbClr val="C96A12"/>
          </a:solidFill>
          <a:ln w="12700">
            <a:solidFill>
              <a:srgbClr val="C96A12"/>
            </a:solidFill>
            <a:prstDash val="solid"/>
          </a:ln>
        </p:spPr>
      </p:sp>
      <p:sp>
        <p:nvSpPr>
          <p:cNvPr id="7" name="Text 5"/>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Khi nhiều ngày không có dữ liệu mới: </a:t>
            </a:r>
            <a:pPr indent="0" marL="0">
              <a:lnSpc>
                <a:spcPts val="1900"/>
              </a:lnSpc>
              <a:buNone/>
            </a:pPr>
            <a:r>
              <a:rPr lang="en-US" sz="1300" dirty="0">
                <a:solidFill>
                  <a:srgbClr val="14233A"/>
                </a:solidFill>
                <a:latin typeface="Arial" pitchFamily="34" charset="0"/>
                <a:ea typeface="Arial" pitchFamily="34" charset="-122"/>
                <a:cs typeface="Arial" pitchFamily="34" charset="-120"/>
              </a:rPr>
              <a:t>Tiến trình tra cứu tự động đã dừng, hoặc không xác định được cơ sở cho các hồ sơ. Báo công nghệ thông tin kiểm tra dịch vụ nền và việc khai mã cơ sở cho các khoa/chi nhánh.</a:t>
            </a:r>
            <a:endParaRPr lang="en-US" sz="1300" dirty="0"/>
          </a:p>
        </p:txBody>
      </p:sp>
      <p:sp>
        <p:nvSpPr>
          <p:cNvPr id="9" name="Shape 6"/>
          <p:cNvSpPr/>
          <p:nvPr/>
        </p:nvSpPr>
        <p:spPr>
          <a:xfrm>
            <a:off x="566928" y="6382512"/>
            <a:ext cx="11057839" cy="0"/>
          </a:xfrm>
          <a:prstGeom prst="line">
            <a:avLst/>
          </a:prstGeom>
          <a:noFill/>
          <a:ln w="9525">
            <a:solidFill>
              <a:srgbClr val="D6E2EE"/>
            </a:solidFill>
            <a:prstDash val="solid"/>
          </a:ln>
        </p:spPr>
      </p:sp>
      <p:sp>
        <p:nvSpPr>
          <p:cNvPr id="10" name="Text 7"/>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1" name="Text 8"/>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32 / 80</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04 / MỤC 3.4</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Tra cứu hàng loạt theo hồ sơ XML</a:t>
            </a:r>
            <a:endParaRPr lang="en-US" sz="2600" dirty="0"/>
          </a:p>
        </p:txBody>
      </p:sp>
      <p:sp>
        <p:nvSpPr>
          <p:cNvPr id="4" name="Text 2"/>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B6B7F"/>
                </a:solidFill>
                <a:latin typeface="Arial" pitchFamily="34" charset="0"/>
                <a:ea typeface="Arial" pitchFamily="34" charset="-122"/>
                <a:cs typeface="Arial" pitchFamily="34" charset="-120"/>
              </a:rPr>
              <a:t>Dùng trước kỳ quyết toán, khi cần tra lại thẻ cho một nhóm hồ sơ đã có trong hệ thống.</a:t>
            </a:r>
            <a:endParaRPr lang="en-US" sz="1300" dirty="0"/>
          </a:p>
        </p:txBody>
      </p:sp>
      <p:sp>
        <p:nvSpPr>
          <p:cNvPr id="5" name="Shape 3"/>
          <p:cNvSpPr/>
          <p:nvPr/>
        </p:nvSpPr>
        <p:spPr>
          <a:xfrm>
            <a:off x="566928" y="1709928"/>
            <a:ext cx="11057839" cy="841248"/>
          </a:xfrm>
          <a:prstGeom prst="rect">
            <a:avLst/>
          </a:prstGeom>
          <a:solidFill>
            <a:srgbClr val="EEF3F8"/>
          </a:solidFill>
          <a:ln w="12700">
            <a:solidFill>
              <a:srgbClr val="D6E2EE"/>
            </a:solidFill>
            <a:prstDash val="solid"/>
          </a:ln>
        </p:spPr>
      </p:sp>
      <p:sp>
        <p:nvSpPr>
          <p:cNvPr id="6" name="Shape 4"/>
          <p:cNvSpPr/>
          <p:nvPr/>
        </p:nvSpPr>
        <p:spPr>
          <a:xfrm>
            <a:off x="713232" y="1938528"/>
            <a:ext cx="384048" cy="384048"/>
          </a:xfrm>
          <a:prstGeom prst="ellipse">
            <a:avLst/>
          </a:prstGeom>
          <a:solidFill>
            <a:srgbClr val="1A5EA8"/>
          </a:solidFill>
          <a:ln/>
        </p:spPr>
      </p:sp>
      <p:sp>
        <p:nvSpPr>
          <p:cNvPr id="7" name="Text 5"/>
          <p:cNvSpPr/>
          <p:nvPr/>
        </p:nvSpPr>
        <p:spPr>
          <a:xfrm>
            <a:off x="713232" y="1938528"/>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1225296" y="1709928"/>
            <a:ext cx="5750076" cy="841248"/>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Đặt bộ lọc: khoảng ngày ra viện, loại khám chữa bệnh, mã thẻ hoặc khoa</a:t>
            </a:r>
            <a:endParaRPr lang="en-US" sz="1400" dirty="0"/>
          </a:p>
        </p:txBody>
      </p:sp>
      <p:sp>
        <p:nvSpPr>
          <p:cNvPr id="9" name="Text 7"/>
          <p:cNvSpPr/>
          <p:nvPr/>
        </p:nvSpPr>
        <p:spPr>
          <a:xfrm>
            <a:off x="7085951" y="1709928"/>
            <a:ext cx="4088209" cy="84124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Xác định phạm vi hồ sơ cần tra cứu</a:t>
            </a:r>
            <a:endParaRPr lang="en-US" sz="1200" dirty="0"/>
          </a:p>
        </p:txBody>
      </p:sp>
      <p:sp>
        <p:nvSpPr>
          <p:cNvPr id="10" name="Shape 8"/>
          <p:cNvSpPr/>
          <p:nvPr/>
        </p:nvSpPr>
        <p:spPr>
          <a:xfrm>
            <a:off x="566928" y="2660904"/>
            <a:ext cx="11057839" cy="841248"/>
          </a:xfrm>
          <a:prstGeom prst="rect">
            <a:avLst/>
          </a:prstGeom>
          <a:solidFill>
            <a:srgbClr val="FFFFFF"/>
          </a:solidFill>
          <a:ln w="12700">
            <a:solidFill>
              <a:srgbClr val="D6E2EE"/>
            </a:solidFill>
            <a:prstDash val="solid"/>
          </a:ln>
        </p:spPr>
      </p:sp>
      <p:sp>
        <p:nvSpPr>
          <p:cNvPr id="11" name="Shape 9"/>
          <p:cNvSpPr/>
          <p:nvPr/>
        </p:nvSpPr>
        <p:spPr>
          <a:xfrm>
            <a:off x="713232" y="2889504"/>
            <a:ext cx="384048" cy="384048"/>
          </a:xfrm>
          <a:prstGeom prst="ellipse">
            <a:avLst/>
          </a:prstGeom>
          <a:solidFill>
            <a:srgbClr val="1A5EA8"/>
          </a:solidFill>
          <a:ln/>
        </p:spPr>
      </p:sp>
      <p:sp>
        <p:nvSpPr>
          <p:cNvPr id="12" name="Text 10"/>
          <p:cNvSpPr/>
          <p:nvPr/>
        </p:nvSpPr>
        <p:spPr>
          <a:xfrm>
            <a:off x="713232" y="2889504"/>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1225296" y="2660904"/>
            <a:ext cx="5750076" cy="841248"/>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Xác nhận thực hiện</a:t>
            </a:r>
            <a:endParaRPr lang="en-US" sz="1400" dirty="0"/>
          </a:p>
        </p:txBody>
      </p:sp>
      <p:sp>
        <p:nvSpPr>
          <p:cNvPr id="14" name="Text 12"/>
          <p:cNvSpPr/>
          <p:nvPr/>
        </p:nvSpPr>
        <p:spPr>
          <a:xfrm>
            <a:off x="7085951" y="2660904"/>
            <a:ext cx="4088209" cy="84124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Toàn bộ hồ sơ trong phạm vi được xếp vào hàng đợi tra cứu</a:t>
            </a:r>
            <a:endParaRPr lang="en-US" sz="1200" dirty="0"/>
          </a:p>
        </p:txBody>
      </p:sp>
      <p:sp>
        <p:nvSpPr>
          <p:cNvPr id="15" name="Shape 13"/>
          <p:cNvSpPr/>
          <p:nvPr/>
        </p:nvSpPr>
        <p:spPr>
          <a:xfrm>
            <a:off x="566928" y="3611880"/>
            <a:ext cx="11057839" cy="841248"/>
          </a:xfrm>
          <a:prstGeom prst="rect">
            <a:avLst/>
          </a:prstGeom>
          <a:solidFill>
            <a:srgbClr val="EEF3F8"/>
          </a:solidFill>
          <a:ln w="12700">
            <a:solidFill>
              <a:srgbClr val="D6E2EE"/>
            </a:solidFill>
            <a:prstDash val="solid"/>
          </a:ln>
        </p:spPr>
      </p:sp>
      <p:sp>
        <p:nvSpPr>
          <p:cNvPr id="16" name="Shape 14"/>
          <p:cNvSpPr/>
          <p:nvPr/>
        </p:nvSpPr>
        <p:spPr>
          <a:xfrm>
            <a:off x="713232" y="3840480"/>
            <a:ext cx="384048" cy="384048"/>
          </a:xfrm>
          <a:prstGeom prst="ellipse">
            <a:avLst/>
          </a:prstGeom>
          <a:solidFill>
            <a:srgbClr val="1A5EA8"/>
          </a:solidFill>
          <a:ln/>
        </p:spPr>
      </p:sp>
      <p:sp>
        <p:nvSpPr>
          <p:cNvPr id="17" name="Text 15"/>
          <p:cNvSpPr/>
          <p:nvPr/>
        </p:nvSpPr>
        <p:spPr>
          <a:xfrm>
            <a:off x="713232" y="384048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6"/>
          <p:cNvSpPr/>
          <p:nvPr/>
        </p:nvSpPr>
        <p:spPr>
          <a:xfrm>
            <a:off x="1225296" y="3611880"/>
            <a:ext cx="5750076" cy="841248"/>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Chờ hàng đợi xử lý, sau đó mở màn Kết quả tra cứu thẻ</a:t>
            </a:r>
            <a:endParaRPr lang="en-US" sz="1400" dirty="0"/>
          </a:p>
        </p:txBody>
      </p:sp>
      <p:sp>
        <p:nvSpPr>
          <p:cNvPr id="19" name="Text 17"/>
          <p:cNvSpPr/>
          <p:nvPr/>
        </p:nvSpPr>
        <p:spPr>
          <a:xfrm>
            <a:off x="7085951" y="3611880"/>
            <a:ext cx="4088209" cy="84124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Kết quả mới xuất hiện với thời điểm tra cứu là hiện tại</a:t>
            </a:r>
            <a:endParaRPr lang="en-US" sz="1200" dirty="0"/>
          </a:p>
        </p:txBody>
      </p:sp>
      <p:sp>
        <p:nvSpPr>
          <p:cNvPr id="20" name="Shape 18"/>
          <p:cNvSpPr/>
          <p:nvPr/>
        </p:nvSpPr>
        <p:spPr>
          <a:xfrm>
            <a:off x="566928" y="5074920"/>
            <a:ext cx="11057839" cy="1051560"/>
          </a:xfrm>
          <a:prstGeom prst="rect">
            <a:avLst/>
          </a:prstGeom>
          <a:solidFill>
            <a:srgbClr val="FDECEC"/>
          </a:solidFill>
          <a:ln w="12700">
            <a:solidFill>
              <a:srgbClr val="FDECEC"/>
            </a:solidFill>
            <a:prstDash val="solid"/>
          </a:ln>
        </p:spPr>
      </p:sp>
      <p:sp>
        <p:nvSpPr>
          <p:cNvPr id="21" name="Shape 19"/>
          <p:cNvSpPr/>
          <p:nvPr/>
        </p:nvSpPr>
        <p:spPr>
          <a:xfrm>
            <a:off x="566928" y="5074920"/>
            <a:ext cx="64008" cy="1051560"/>
          </a:xfrm>
          <a:prstGeom prst="rect">
            <a:avLst/>
          </a:prstGeom>
          <a:solidFill>
            <a:srgbClr val="C62828"/>
          </a:solidFill>
          <a:ln w="12700">
            <a:solidFill>
              <a:srgbClr val="C62828"/>
            </a:solidFill>
            <a:prstDash val="solid"/>
          </a:ln>
        </p:spPr>
      </p:sp>
      <p:sp>
        <p:nvSpPr>
          <p:cNvPr id="22" name="Text 20"/>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Cảnh báo về phạm vi: </a:t>
            </a:r>
            <a:pPr indent="0" marL="0">
              <a:lnSpc>
                <a:spcPts val="1900"/>
              </a:lnSpc>
              <a:buNone/>
            </a:pPr>
            <a:r>
              <a:rPr lang="en-US" sz="1300" dirty="0">
                <a:solidFill>
                  <a:srgbClr val="14233A"/>
                </a:solidFill>
                <a:latin typeface="Arial" pitchFamily="34" charset="0"/>
                <a:ea typeface="Arial" pitchFamily="34" charset="-122"/>
                <a:cs typeface="Arial" pitchFamily="34" charset="-120"/>
              </a:rPr>
              <a:t>Mỗi lần tra cứu là một lần gọi lên cổng BHXH. KHÔNG chọn phạm vi quá rộng (ví dụ cả năm) vì sẽ chiếm hàng đợi rất lâu và có thể bị cổng hạn chế truy cập. Chia theo tháng hoặc theo khoa.</a:t>
            </a:r>
            <a:endParaRPr lang="en-US" sz="1300" dirty="0"/>
          </a:p>
        </p:txBody>
      </p:sp>
      <p:sp>
        <p:nvSpPr>
          <p:cNvPr id="24" name="Shape 21"/>
          <p:cNvSpPr/>
          <p:nvPr/>
        </p:nvSpPr>
        <p:spPr>
          <a:xfrm>
            <a:off x="566928" y="6382512"/>
            <a:ext cx="11057839" cy="0"/>
          </a:xfrm>
          <a:prstGeom prst="line">
            <a:avLst/>
          </a:prstGeom>
          <a:noFill/>
          <a:ln w="9525">
            <a:solidFill>
              <a:srgbClr val="D6E2EE"/>
            </a:solidFill>
            <a:prstDash val="solid"/>
          </a:ln>
        </p:spPr>
      </p:sp>
      <p:sp>
        <p:nvSpPr>
          <p:cNvPr id="25" name="Text 22"/>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26" name="Text 23"/>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33 / 80</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04 / MỤC 3.5</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Mã tra cứu do cổng trả về — nhóm hay gặp</a:t>
            </a:r>
            <a:endParaRPr lang="en-US" sz="2600" dirty="0"/>
          </a:p>
        </p:txBody>
      </p:sp>
      <p:sp>
        <p:nvSpPr>
          <p:cNvPr id="4" name="Text 2"/>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B6B7F"/>
                </a:solidFill>
                <a:latin typeface="Arial" pitchFamily="34" charset="0"/>
                <a:ea typeface="Arial" pitchFamily="34" charset="-122"/>
                <a:cs typeface="Arial" pitchFamily="34" charset="-120"/>
              </a:rPr>
              <a:t>Chỉ mã 000 là hợp lệ. Bảng đầy đủ 23 mã nằm ở mục 3.5 của tài liệu.</a:t>
            </a:r>
            <a:endParaRPr lang="en-US" sz="13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995206"/>
                <a:gridCol w="3980822"/>
                <a:gridCol w="6081812"/>
              </a:tblGrid>
              <a:tr h="0">
                <a:tc>
                  <a:txBody>
                    <a:bodyPr/>
                    <a:lstStyle/>
                    <a:p>
                      <a:pPr indent="0" marL="0">
                        <a:buNone/>
                      </a:pPr>
                      <a:r>
                        <a:rPr lang="en-US" sz="1150" b="1" dirty="0">
                          <a:solidFill>
                            <a:srgbClr val="FFFFFF"/>
                          </a:solidFill>
                          <a:latin typeface="Arial" pitchFamily="34" charset="0"/>
                          <a:ea typeface="Arial" pitchFamily="34" charset="-122"/>
                          <a:cs typeface="Arial" pitchFamily="34" charset="-120"/>
                        </a:rPr>
                        <a:t>Mã</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Ý nghĩa</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Hướng xử lý</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r>
              <a:tr h="0">
                <a:tc>
                  <a:txBody>
                    <a:bodyPr/>
                    <a:lstStyle/>
                    <a:p>
                      <a:pPr indent="0" marL="0">
                        <a:buNone/>
                      </a:pPr>
                      <a:r>
                        <a:rPr lang="en-US" sz="1150" b="1" dirty="0">
                          <a:solidFill>
                            <a:srgbClr val="2E7D32"/>
                          </a:solidFill>
                          <a:latin typeface="Arial" pitchFamily="34" charset="0"/>
                          <a:ea typeface="Arial" pitchFamily="34" charset="-122"/>
                          <a:cs typeface="Arial" pitchFamily="34" charset="-120"/>
                        </a:rPr>
                        <a:t>000</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150" dirty="0">
                          <a:solidFill>
                            <a:srgbClr val="14233A"/>
                          </a:solidFill>
                          <a:latin typeface="Arial" pitchFamily="34" charset="0"/>
                          <a:ea typeface="Arial" pitchFamily="34" charset="-122"/>
                          <a:cs typeface="Arial" pitchFamily="34" charset="-120"/>
                        </a:rPr>
                        <a:t>Thông tin thẻ chính xác</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150" dirty="0">
                          <a:solidFill>
                            <a:srgbClr val="14233A"/>
                          </a:solidFill>
                          <a:latin typeface="Arial" pitchFamily="34" charset="0"/>
                          <a:ea typeface="Arial" pitchFamily="34" charset="-122"/>
                          <a:cs typeface="Arial" pitchFamily="34" charset="-120"/>
                        </a:rPr>
                        <a:t>Không cần làm gì</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150" b="1" dirty="0">
                          <a:solidFill>
                            <a:srgbClr val="14233A"/>
                          </a:solidFill>
                          <a:latin typeface="Arial" pitchFamily="34" charset="0"/>
                          <a:ea typeface="Arial" pitchFamily="34" charset="-122"/>
                          <a:cs typeface="Arial" pitchFamily="34" charset="-120"/>
                        </a:rPr>
                        <a:t>003 / 004</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150" dirty="0">
                          <a:solidFill>
                            <a:srgbClr val="14233A"/>
                          </a:solidFill>
                          <a:latin typeface="Arial" pitchFamily="34" charset="0"/>
                          <a:ea typeface="Arial" pitchFamily="34" charset="-122"/>
                          <a:cs typeface="Arial" pitchFamily="34" charset="-120"/>
                        </a:rPr>
                        <a:t>Thẻ cũ đã hết giá trị / còn giá trị, đã được cấp thẻ mới</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150" dirty="0">
                          <a:solidFill>
                            <a:srgbClr val="14233A"/>
                          </a:solidFill>
                          <a:latin typeface="Arial" pitchFamily="34" charset="0"/>
                          <a:ea typeface="Arial" pitchFamily="34" charset="-122"/>
                          <a:cs typeface="Arial" pitchFamily="34" charset="-120"/>
                        </a:rPr>
                        <a:t>Cập nhật số thẻ mới vào HIS theo thông tin cổng trả về</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C62828"/>
                          </a:solidFill>
                          <a:latin typeface="Arial" pitchFamily="34" charset="0"/>
                          <a:ea typeface="Arial" pitchFamily="34" charset="-122"/>
                          <a:cs typeface="Arial" pitchFamily="34" charset="-120"/>
                        </a:rPr>
                        <a:t>010</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150" dirty="0">
                          <a:solidFill>
                            <a:srgbClr val="14233A"/>
                          </a:solidFill>
                          <a:latin typeface="Arial" pitchFamily="34" charset="0"/>
                          <a:ea typeface="Arial" pitchFamily="34" charset="-122"/>
                          <a:cs typeface="Arial" pitchFamily="34" charset="-120"/>
                        </a:rPr>
                        <a:t>Thẻ hết giá trị sử dụng</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150" dirty="0">
                          <a:solidFill>
                            <a:srgbClr val="14233A"/>
                          </a:solidFill>
                          <a:latin typeface="Arial" pitchFamily="34" charset="0"/>
                          <a:ea typeface="Arial" pitchFamily="34" charset="-122"/>
                          <a:cs typeface="Arial" pitchFamily="34" charset="-120"/>
                        </a:rPr>
                        <a:t>Đề nghị người bệnh liên hệ cơ quan BHXH gia hạn. Xác định lại đối tượng thanh toán</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150" b="1" dirty="0">
                          <a:solidFill>
                            <a:srgbClr val="14233A"/>
                          </a:solidFill>
                          <a:latin typeface="Arial" pitchFamily="34" charset="0"/>
                          <a:ea typeface="Arial" pitchFamily="34" charset="-122"/>
                          <a:cs typeface="Arial" pitchFamily="34" charset="-120"/>
                        </a:rPr>
                        <a:t>050 / 051</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150" dirty="0">
                          <a:solidFill>
                            <a:srgbClr val="14233A"/>
                          </a:solidFill>
                          <a:latin typeface="Arial" pitchFamily="34" charset="0"/>
                          <a:ea typeface="Arial" pitchFamily="34" charset="-122"/>
                          <a:cs typeface="Arial" pitchFamily="34" charset="-120"/>
                        </a:rPr>
                        <a:t>Không có thông tin thẻ / Mã thẻ không đúng</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150" dirty="0">
                          <a:solidFill>
                            <a:srgbClr val="14233A"/>
                          </a:solidFill>
                          <a:latin typeface="Arial" pitchFamily="34" charset="0"/>
                          <a:ea typeface="Arial" pitchFamily="34" charset="-122"/>
                          <a:cs typeface="Arial" pitchFamily="34" charset="-120"/>
                        </a:rPr>
                        <a:t>Kiểm tra lại số thẻ nhập vào, nhập đúng 15 ký tự</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4233A"/>
                          </a:solidFill>
                          <a:latin typeface="Arial" pitchFamily="34" charset="0"/>
                          <a:ea typeface="Arial" pitchFamily="34" charset="-122"/>
                          <a:cs typeface="Arial" pitchFamily="34" charset="-120"/>
                        </a:rPr>
                        <a:t>060 / 070</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150" dirty="0">
                          <a:solidFill>
                            <a:srgbClr val="14233A"/>
                          </a:solidFill>
                          <a:latin typeface="Arial" pitchFamily="34" charset="0"/>
                          <a:ea typeface="Arial" pitchFamily="34" charset="-122"/>
                          <a:cs typeface="Arial" pitchFamily="34" charset="-120"/>
                        </a:rPr>
                        <a:t>Sai họ tên / Sai ngày sinh</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150" dirty="0">
                          <a:solidFill>
                            <a:srgbClr val="14233A"/>
                          </a:solidFill>
                          <a:latin typeface="Arial" pitchFamily="34" charset="0"/>
                          <a:ea typeface="Arial" pitchFamily="34" charset="-122"/>
                          <a:cs typeface="Arial" pitchFamily="34" charset="-120"/>
                        </a:rPr>
                        <a:t>Sửa theo đúng thẻ, chú ý dấu tiếng Việt và năm sinh</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150" b="1" dirty="0">
                          <a:solidFill>
                            <a:srgbClr val="C62828"/>
                          </a:solidFill>
                          <a:latin typeface="Arial" pitchFamily="34" charset="0"/>
                          <a:ea typeface="Arial" pitchFamily="34" charset="-122"/>
                          <a:cs typeface="Arial" pitchFamily="34" charset="-120"/>
                        </a:rPr>
                        <a:t>110</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150" dirty="0">
                          <a:solidFill>
                            <a:srgbClr val="14233A"/>
                          </a:solidFill>
                          <a:latin typeface="Arial" pitchFamily="34" charset="0"/>
                          <a:ea typeface="Arial" pitchFamily="34" charset="-122"/>
                          <a:cs typeface="Arial" pitchFamily="34" charset="-120"/>
                        </a:rPr>
                        <a:t>Thẻ đã bị thu hồi</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150" dirty="0">
                          <a:solidFill>
                            <a:srgbClr val="14233A"/>
                          </a:solidFill>
                          <a:latin typeface="Arial" pitchFamily="34" charset="0"/>
                          <a:ea typeface="Arial" pitchFamily="34" charset="-122"/>
                          <a:cs typeface="Arial" pitchFamily="34" charset="-120"/>
                        </a:rPr>
                        <a:t>Xác định lại đối tượng thanh toán, không thanh toán BHYT</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B26A00"/>
                          </a:solidFill>
                          <a:latin typeface="Arial" pitchFamily="34" charset="0"/>
                          <a:ea typeface="Arial" pitchFamily="34" charset="-122"/>
                          <a:cs typeface="Arial" pitchFamily="34" charset="-120"/>
                        </a:rPr>
                        <a:t>054 / 055</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150" dirty="0">
                          <a:solidFill>
                            <a:srgbClr val="14233A"/>
                          </a:solidFill>
                          <a:latin typeface="Arial" pitchFamily="34" charset="0"/>
                          <a:ea typeface="Arial" pitchFamily="34" charset="-122"/>
                          <a:cs typeface="Arial" pitchFamily="34" charset="-120"/>
                        </a:rPr>
                        <a:t>CCCD hoặc họ tên cán bộ tra cứu không khớp đăng ký của cơ sở</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150" dirty="0">
                          <a:solidFill>
                            <a:srgbClr val="14233A"/>
                          </a:solidFill>
                          <a:latin typeface="Arial" pitchFamily="34" charset="0"/>
                          <a:ea typeface="Arial" pitchFamily="34" charset="-122"/>
                          <a:cs typeface="Arial" pitchFamily="34" charset="-120"/>
                        </a:rPr>
                        <a:t>Báo công nghệ thông tin cập nhật thông tin cán bộ tra cứu, hoặc đăng ký bổ sung với cơ quan BHXH</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150" b="1" dirty="0">
                          <a:solidFill>
                            <a:srgbClr val="B26A00"/>
                          </a:solidFill>
                          <a:latin typeface="Arial" pitchFamily="34" charset="0"/>
                          <a:ea typeface="Arial" pitchFamily="34" charset="-122"/>
                          <a:cs typeface="Arial" pitchFamily="34" charset="-120"/>
                        </a:rPr>
                        <a:t>401</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150" dirty="0">
                          <a:solidFill>
                            <a:srgbClr val="14233A"/>
                          </a:solidFill>
                          <a:latin typeface="Arial" pitchFamily="34" charset="0"/>
                          <a:ea typeface="Arial" pitchFamily="34" charset="-122"/>
                          <a:cs typeface="Arial" pitchFamily="34" charset="-120"/>
                        </a:rPr>
                        <a:t>Lỗi xác thực tài khoản</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150" dirty="0">
                          <a:solidFill>
                            <a:srgbClr val="14233A"/>
                          </a:solidFill>
                          <a:latin typeface="Arial" pitchFamily="34" charset="0"/>
                          <a:ea typeface="Arial" pitchFamily="34" charset="-122"/>
                          <a:cs typeface="Arial" pitchFamily="34" charset="-120"/>
                        </a:rPr>
                        <a:t>Tài khoản cổng của cơ sở sai hoặc hết hạn — báo công nghệ thông tin</a:t>
                      </a:r>
                      <a:endParaRPr lang="en-US" sz="115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bl>
          </a:graphicData>
        </a:graphic>
      </p:graphicFrame>
      <p:sp>
        <p:nvSpPr>
          <p:cNvPr id="7" name="Shape 3"/>
          <p:cNvSpPr/>
          <p:nvPr/>
        </p:nvSpPr>
        <p:spPr>
          <a:xfrm>
            <a:off x="566928" y="6382512"/>
            <a:ext cx="11057839" cy="0"/>
          </a:xfrm>
          <a:prstGeom prst="line">
            <a:avLst/>
          </a:prstGeom>
          <a:noFill/>
          <a:ln w="9525">
            <a:solidFill>
              <a:srgbClr val="D6E2EE"/>
            </a:solidFill>
            <a:prstDash val="solid"/>
          </a:ln>
        </p:spPr>
      </p:sp>
      <p:sp>
        <p:nvSpPr>
          <p:cNvPr id="8" name="Text 4"/>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9" name="Text 5"/>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34 / 80</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A9FD8"/>
          </a:solidFill>
          <a:ln w="12700">
            <a:solidFill>
              <a:srgbClr val="2A9FD8"/>
            </a:solidFill>
            <a:prstDash val="solid"/>
          </a:ln>
        </p:spPr>
      </p:sp>
      <p:sp>
        <p:nvSpPr>
          <p:cNvPr id="3" name="Text 1"/>
          <p:cNvSpPr/>
          <p:nvPr/>
        </p:nvSpPr>
        <p:spPr>
          <a:xfrm>
            <a:off x="822960" y="2011680"/>
            <a:ext cx="1828800" cy="1371600"/>
          </a:xfrm>
          <a:prstGeom prst="rect">
            <a:avLst/>
          </a:prstGeom>
          <a:noFill/>
          <a:ln/>
        </p:spPr>
        <p:txBody>
          <a:bodyPr wrap="square" rtlCol="0" anchor="ctr"/>
          <a:lstStyle/>
          <a:p>
            <a:pPr indent="0" marL="0">
              <a:buNone/>
            </a:pPr>
            <a:r>
              <a:rPr lang="en-US" sz="8000" b="1" dirty="0">
                <a:solidFill>
                  <a:srgbClr val="2A9FD8"/>
                </a:solidFill>
                <a:latin typeface="Arial" pitchFamily="34" charset="0"/>
                <a:ea typeface="Arial" pitchFamily="34" charset="-122"/>
                <a:cs typeface="Arial" pitchFamily="34" charset="-120"/>
              </a:rPr>
              <a:t>05</a:t>
            </a:r>
            <a:endParaRPr lang="en-US" sz="8000" dirty="0"/>
          </a:p>
        </p:txBody>
      </p:sp>
      <p:sp>
        <p:nvSpPr>
          <p:cNvPr id="4" name="Text 2"/>
          <p:cNvSpPr/>
          <p:nvPr/>
        </p:nvSpPr>
        <p:spPr>
          <a:xfrm>
            <a:off x="2651760" y="2148840"/>
            <a:ext cx="8808415" cy="9144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Tra cứu tiền cùng chi trả (MCCT)</a:t>
            </a:r>
            <a:endParaRPr lang="en-US" sz="3200" dirty="0"/>
          </a:p>
        </p:txBody>
      </p:sp>
      <p:sp>
        <p:nvSpPr>
          <p:cNvPr id="5" name="Text 3"/>
          <p:cNvSpPr/>
          <p:nvPr/>
        </p:nvSpPr>
        <p:spPr>
          <a:xfrm>
            <a:off x="2651760" y="3108960"/>
            <a:ext cx="8808415" cy="822960"/>
          </a:xfrm>
          <a:prstGeom prst="rect">
            <a:avLst/>
          </a:prstGeom>
          <a:noFill/>
          <a:ln/>
        </p:spPr>
        <p:txBody>
          <a:bodyPr wrap="square" rtlCol="0" anchor="t"/>
          <a:lstStyle/>
          <a:p>
            <a:pPr indent="0" marL="0">
              <a:lnSpc>
                <a:spcPts val="2200"/>
              </a:lnSpc>
              <a:buNone/>
            </a:pPr>
            <a:r>
              <a:rPr lang="en-US" sz="1500" dirty="0">
                <a:solidFill>
                  <a:srgbClr val="A9C4DC"/>
                </a:solidFill>
                <a:latin typeface="Arial" pitchFamily="34" charset="0"/>
                <a:ea typeface="Arial" pitchFamily="34" charset="-122"/>
                <a:cs typeface="Arial" pitchFamily="34" charset="-120"/>
              </a:rPr>
              <a:t>Dành cho Phòng Tài chính kế toán (viện phí) và Phòng BHYT · Hai vế điều kiện miễn · Đọc kết luận · Không bấm nhiều lần</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05 / HDSD MCCT · MỤC 1</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Điều kiện miễn cùng chi trả gồm HAI vế</a:t>
            </a:r>
            <a:endParaRPr lang="en-US" sz="2600" dirty="0"/>
          </a:p>
        </p:txBody>
      </p:sp>
      <p:sp>
        <p:nvSpPr>
          <p:cNvPr id="4" name="Shape 2"/>
          <p:cNvSpPr/>
          <p:nvPr/>
        </p:nvSpPr>
        <p:spPr>
          <a:xfrm>
            <a:off x="566928" y="1325880"/>
            <a:ext cx="5410048" cy="3657600"/>
          </a:xfrm>
          <a:prstGeom prst="rect">
            <a:avLst/>
          </a:prstGeom>
          <a:solidFill>
            <a:srgbClr val="EEF3F8"/>
          </a:solidFill>
          <a:ln w="12700">
            <a:solidFill>
              <a:srgbClr val="D6E2EE"/>
            </a:solidFill>
            <a:prstDash val="solid"/>
          </a:ln>
        </p:spPr>
      </p:sp>
      <p:sp>
        <p:nvSpPr>
          <p:cNvPr id="5" name="Shape 3"/>
          <p:cNvSpPr/>
          <p:nvPr/>
        </p:nvSpPr>
        <p:spPr>
          <a:xfrm>
            <a:off x="566928" y="1325880"/>
            <a:ext cx="5410048" cy="91440"/>
          </a:xfrm>
          <a:prstGeom prst="rect">
            <a:avLst/>
          </a:prstGeom>
          <a:solidFill>
            <a:srgbClr val="C96A12"/>
          </a:solidFill>
          <a:ln w="12700">
            <a:solidFill>
              <a:srgbClr val="C96A12"/>
            </a:solidFill>
            <a:prstDash val="solid"/>
          </a:ln>
        </p:spPr>
      </p:sp>
      <p:sp>
        <p:nvSpPr>
          <p:cNvPr id="6" name="Text 4"/>
          <p:cNvSpPr/>
          <p:nvPr/>
        </p:nvSpPr>
        <p:spPr>
          <a:xfrm>
            <a:off x="768096" y="1600200"/>
            <a:ext cx="5007712" cy="685800"/>
          </a:xfrm>
          <a:prstGeom prst="rect">
            <a:avLst/>
          </a:prstGeom>
          <a:noFill/>
          <a:ln/>
        </p:spPr>
        <p:txBody>
          <a:bodyPr wrap="square" rtlCol="0" anchor="t"/>
          <a:lstStyle/>
          <a:p>
            <a:pPr indent="0" marL="0">
              <a:lnSpc>
                <a:spcPts val="2100"/>
              </a:lnSpc>
              <a:buNone/>
            </a:pPr>
            <a:r>
              <a:rPr lang="en-US" sz="1600" b="1" dirty="0">
                <a:solidFill>
                  <a:srgbClr val="1A5EA8"/>
                </a:solidFill>
                <a:latin typeface="Arial" pitchFamily="34" charset="0"/>
                <a:ea typeface="Arial" pitchFamily="34" charset="-122"/>
                <a:cs typeface="Arial" pitchFamily="34" charset="-120"/>
              </a:rPr>
              <a:t>Vế 1 — Tham gia BHYT đủ 5 năm liên tục trở lên</a:t>
            </a:r>
            <a:endParaRPr lang="en-US" sz="1600" dirty="0"/>
          </a:p>
        </p:txBody>
      </p:sp>
      <p:sp>
        <p:nvSpPr>
          <p:cNvPr id="7" name="Text 5"/>
          <p:cNvSpPr/>
          <p:nvPr/>
        </p:nvSpPr>
        <p:spPr>
          <a:xfrm>
            <a:off x="768096" y="2313432"/>
            <a:ext cx="5007712" cy="2468880"/>
          </a:xfrm>
          <a:prstGeom prst="rect">
            <a:avLst/>
          </a:prstGeom>
          <a:noFill/>
          <a:ln/>
        </p:spPr>
        <p:txBody>
          <a:bodyPr wrap="square" rtlCol="0" anchor="t"/>
          <a:lstStyle/>
          <a:p>
            <a:pPr indent="0" marL="0">
              <a:lnSpc>
                <a:spcPts val="1900"/>
              </a:lnSpc>
              <a:buNone/>
            </a:pPr>
            <a:r>
              <a:rPr lang="en-US" sz="1300" dirty="0">
                <a:solidFill>
                  <a:srgbClr val="14233A"/>
                </a:solidFill>
                <a:latin typeface="Arial" pitchFamily="34" charset="0"/>
                <a:ea typeface="Arial" pitchFamily="34" charset="-122"/>
                <a:cs typeface="Arial" pitchFamily="34" charset="-120"/>
              </a:rPr>
              <a:t>PHẦN MỀM KHÔNG KIỂM ĐƯỢC VẾ NÀY.</a:t>
            </a:r>
            <a:endParaRPr lang="en-US" sz="1300" dirty="0"/>
          </a:p>
          <a:p>
            <a:pPr indent="0" marL="0">
              <a:lnSpc>
                <a:spcPts val="1900"/>
              </a:lnSpc>
              <a:buNone/>
            </a:pPr>
            <a:endParaRPr lang="en-US" sz="1300" dirty="0"/>
          </a:p>
          <a:p>
            <a:pPr indent="0" marL="0">
              <a:lnSpc>
                <a:spcPts val="1900"/>
              </a:lnSpc>
              <a:buNone/>
            </a:pPr>
            <a:r>
              <a:rPr lang="en-US" sz="1300" dirty="0">
                <a:solidFill>
                  <a:srgbClr val="14233A"/>
                </a:solidFill>
                <a:latin typeface="Arial" pitchFamily="34" charset="0"/>
                <a:ea typeface="Arial" pitchFamily="34" charset="-122"/>
                <a:cs typeface="Arial" pitchFamily="34" charset="-120"/>
              </a:rPr>
              <a:t>Hàm tra cứu của cổng BHXH không trả về dữ kiện 5 năm liên tục.</a:t>
            </a:r>
            <a:endParaRPr lang="en-US" sz="1300" dirty="0"/>
          </a:p>
          <a:p>
            <a:pPr indent="0" marL="0">
              <a:lnSpc>
                <a:spcPts val="1900"/>
              </a:lnSpc>
              <a:buNone/>
            </a:pPr>
            <a:endParaRPr lang="en-US" sz="1300" dirty="0"/>
          </a:p>
          <a:p>
            <a:pPr indent="0" marL="0">
              <a:lnSpc>
                <a:spcPts val="1900"/>
              </a:lnSpc>
              <a:buNone/>
            </a:pPr>
            <a:r>
              <a:rPr lang="en-US" sz="1300" dirty="0">
                <a:solidFill>
                  <a:srgbClr val="14233A"/>
                </a:solidFill>
                <a:latin typeface="Arial" pitchFamily="34" charset="0"/>
                <a:ea typeface="Arial" pitchFamily="34" charset="-122"/>
                <a:cs typeface="Arial" pitchFamily="34" charset="-120"/>
              </a:rPr>
              <a:t>Cán bộ phải kiểm tra riêng vế này.</a:t>
            </a:r>
            <a:endParaRPr lang="en-US" sz="1300" dirty="0"/>
          </a:p>
        </p:txBody>
      </p:sp>
      <p:sp>
        <p:nvSpPr>
          <p:cNvPr id="8" name="Shape 6"/>
          <p:cNvSpPr/>
          <p:nvPr/>
        </p:nvSpPr>
        <p:spPr>
          <a:xfrm>
            <a:off x="6214720" y="1325880"/>
            <a:ext cx="5410048" cy="3657600"/>
          </a:xfrm>
          <a:prstGeom prst="rect">
            <a:avLst/>
          </a:prstGeom>
          <a:solidFill>
            <a:srgbClr val="EEF3F8"/>
          </a:solidFill>
          <a:ln w="12700">
            <a:solidFill>
              <a:srgbClr val="D6E2EE"/>
            </a:solidFill>
            <a:prstDash val="solid"/>
          </a:ln>
        </p:spPr>
      </p:sp>
      <p:sp>
        <p:nvSpPr>
          <p:cNvPr id="9" name="Shape 7"/>
          <p:cNvSpPr/>
          <p:nvPr/>
        </p:nvSpPr>
        <p:spPr>
          <a:xfrm>
            <a:off x="6214720" y="1325880"/>
            <a:ext cx="5410048" cy="91440"/>
          </a:xfrm>
          <a:prstGeom prst="rect">
            <a:avLst/>
          </a:prstGeom>
          <a:solidFill>
            <a:srgbClr val="2E7D32"/>
          </a:solidFill>
          <a:ln w="12700">
            <a:solidFill>
              <a:srgbClr val="2E7D32"/>
            </a:solidFill>
            <a:prstDash val="solid"/>
          </a:ln>
        </p:spPr>
      </p:sp>
      <p:sp>
        <p:nvSpPr>
          <p:cNvPr id="10" name="Text 8"/>
          <p:cNvSpPr/>
          <p:nvPr/>
        </p:nvSpPr>
        <p:spPr>
          <a:xfrm>
            <a:off x="6415888" y="1600200"/>
            <a:ext cx="5007712" cy="685800"/>
          </a:xfrm>
          <a:prstGeom prst="rect">
            <a:avLst/>
          </a:prstGeom>
          <a:noFill/>
          <a:ln/>
        </p:spPr>
        <p:txBody>
          <a:bodyPr wrap="square" rtlCol="0" anchor="t"/>
          <a:lstStyle/>
          <a:p>
            <a:pPr indent="0" marL="0">
              <a:lnSpc>
                <a:spcPts val="2100"/>
              </a:lnSpc>
              <a:buNone/>
            </a:pPr>
            <a:r>
              <a:rPr lang="en-US" sz="1600" b="1" dirty="0">
                <a:solidFill>
                  <a:srgbClr val="1A5EA8"/>
                </a:solidFill>
                <a:latin typeface="Arial" pitchFamily="34" charset="0"/>
                <a:ea typeface="Arial" pitchFamily="34" charset="-122"/>
                <a:cs typeface="Arial" pitchFamily="34" charset="-120"/>
              </a:rPr>
              <a:t>Vế 2 — Lũy kế cùng chi trả trong năm LỚN HƠN 6 tháng lương cơ sở</a:t>
            </a:r>
            <a:endParaRPr lang="en-US" sz="1600" dirty="0"/>
          </a:p>
        </p:txBody>
      </p:sp>
      <p:sp>
        <p:nvSpPr>
          <p:cNvPr id="11" name="Text 9"/>
          <p:cNvSpPr/>
          <p:nvPr/>
        </p:nvSpPr>
        <p:spPr>
          <a:xfrm>
            <a:off x="6415888" y="2313432"/>
            <a:ext cx="5007712" cy="2468880"/>
          </a:xfrm>
          <a:prstGeom prst="rect">
            <a:avLst/>
          </a:prstGeom>
          <a:noFill/>
          <a:ln/>
        </p:spPr>
        <p:txBody>
          <a:bodyPr wrap="square" rtlCol="0" anchor="t"/>
          <a:lstStyle/>
          <a:p>
            <a:pPr indent="0" marL="0">
              <a:lnSpc>
                <a:spcPts val="1900"/>
              </a:lnSpc>
              <a:buNone/>
            </a:pPr>
            <a:r>
              <a:rPr lang="en-US" sz="1300" dirty="0">
                <a:solidFill>
                  <a:srgbClr val="14233A"/>
                </a:solidFill>
                <a:latin typeface="Arial" pitchFamily="34" charset="0"/>
                <a:ea typeface="Arial" pitchFamily="34" charset="-122"/>
                <a:cs typeface="Arial" pitchFamily="34" charset="-120"/>
              </a:rPr>
              <a:t>Đây là vế phần mềm tra được.</a:t>
            </a:r>
            <a:endParaRPr lang="en-US" sz="1300" dirty="0"/>
          </a:p>
          <a:p>
            <a:pPr indent="0" marL="0">
              <a:lnSpc>
                <a:spcPts val="1900"/>
              </a:lnSpc>
              <a:buNone/>
            </a:pPr>
            <a:endParaRPr lang="en-US" sz="1300" dirty="0"/>
          </a:p>
          <a:p>
            <a:pPr indent="0" marL="0">
              <a:lnSpc>
                <a:spcPts val="1900"/>
              </a:lnSpc>
              <a:buNone/>
            </a:pPr>
            <a:r>
              <a:rPr lang="en-US" sz="1300" dirty="0">
                <a:solidFill>
                  <a:srgbClr val="14233A"/>
                </a:solidFill>
                <a:latin typeface="Arial" pitchFamily="34" charset="0"/>
                <a:ea typeface="Arial" pitchFamily="34" charset="-122"/>
                <a:cs typeface="Arial" pitchFamily="34" charset="-120"/>
              </a:rPr>
              <a:t>Bằng đúng mức đó thì CHƯA ĐỦ — phải lớn hơn.</a:t>
            </a:r>
            <a:endParaRPr lang="en-US" sz="1300" dirty="0"/>
          </a:p>
          <a:p>
            <a:pPr indent="0" marL="0">
              <a:lnSpc>
                <a:spcPts val="1900"/>
              </a:lnSpc>
              <a:buNone/>
            </a:pPr>
            <a:endParaRPr lang="en-US" sz="1300" dirty="0"/>
          </a:p>
          <a:p>
            <a:pPr indent="0" marL="0">
              <a:lnSpc>
                <a:spcPts val="1900"/>
              </a:lnSpc>
              <a:buNone/>
            </a:pPr>
            <a:r>
              <a:rPr lang="en-US" sz="1300" dirty="0">
                <a:solidFill>
                  <a:srgbClr val="14233A"/>
                </a:solidFill>
                <a:latin typeface="Arial" pitchFamily="34" charset="0"/>
                <a:ea typeface="Arial" pitchFamily="34" charset="-122"/>
                <a:cs typeface="Arial" pitchFamily="34" charset="-120"/>
              </a:rPr>
              <a:t>Khi đạt, màn hình chỉ ghi "ĐỦ NGƯỠNG 6 THÁNG LƯƠNG CƠ SỞ", không kết luận là đã đủ điều kiện miễn.</a:t>
            </a:r>
            <a:endParaRPr lang="en-US" sz="1300" dirty="0"/>
          </a:p>
        </p:txBody>
      </p:sp>
      <p:sp>
        <p:nvSpPr>
          <p:cNvPr id="12" name="Shape 10"/>
          <p:cNvSpPr/>
          <p:nvPr/>
        </p:nvSpPr>
        <p:spPr>
          <a:xfrm>
            <a:off x="566928" y="5074920"/>
            <a:ext cx="11057839" cy="1051560"/>
          </a:xfrm>
          <a:prstGeom prst="rect">
            <a:avLst/>
          </a:prstGeom>
          <a:solidFill>
            <a:srgbClr val="FFF4E6"/>
          </a:solidFill>
          <a:ln w="12700">
            <a:solidFill>
              <a:srgbClr val="FFF4E6"/>
            </a:solidFill>
            <a:prstDash val="solid"/>
          </a:ln>
        </p:spPr>
      </p:sp>
      <p:sp>
        <p:nvSpPr>
          <p:cNvPr id="13" name="Shape 11"/>
          <p:cNvSpPr/>
          <p:nvPr/>
        </p:nvSpPr>
        <p:spPr>
          <a:xfrm>
            <a:off x="566928" y="5074920"/>
            <a:ext cx="64008" cy="1051560"/>
          </a:xfrm>
          <a:prstGeom prst="rect">
            <a:avLst/>
          </a:prstGeom>
          <a:solidFill>
            <a:srgbClr val="C96A12"/>
          </a:solidFill>
          <a:ln w="12700">
            <a:solidFill>
              <a:srgbClr val="C96A12"/>
            </a:solidFill>
            <a:prstDash val="solid"/>
          </a:ln>
        </p:spPr>
      </p:sp>
      <p:sp>
        <p:nvSpPr>
          <p:cNvPr id="14" name="Text 12"/>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Căn cứ pháp lý: </a:t>
            </a:r>
            <a:pPr indent="0" marL="0">
              <a:lnSpc>
                <a:spcPts val="1900"/>
              </a:lnSpc>
              <a:buNone/>
            </a:pPr>
            <a:r>
              <a:rPr lang="en-US" sz="1300" dirty="0">
                <a:solidFill>
                  <a:srgbClr val="14233A"/>
                </a:solidFill>
                <a:latin typeface="Arial" pitchFamily="34" charset="0"/>
                <a:ea typeface="Arial" pitchFamily="34" charset="-122"/>
                <a:cs typeface="Arial" pitchFamily="34" charset="-120"/>
              </a:rPr>
              <a:t>Điểm b khoản 2 Điều 18 Nghị định số 188/2025/NĐ-CP ngày 01/7/2025 · Công văn số 1839/CNTT-PM ngày 18/8/2026 của Trung tâm Công nghệ thông tin và Chuyển đổi số, Bảo hiểm xã hội Việt Nam.</a:t>
            </a:r>
            <a:endParaRPr lang="en-US" sz="1300" dirty="0"/>
          </a:p>
        </p:txBody>
      </p:sp>
      <p:sp>
        <p:nvSpPr>
          <p:cNvPr id="16" name="Shape 13"/>
          <p:cNvSpPr/>
          <p:nvPr/>
        </p:nvSpPr>
        <p:spPr>
          <a:xfrm>
            <a:off x="566928" y="6382512"/>
            <a:ext cx="11057839" cy="0"/>
          </a:xfrm>
          <a:prstGeom prst="line">
            <a:avLst/>
          </a:prstGeom>
          <a:noFill/>
          <a:ln w="9525">
            <a:solidFill>
              <a:srgbClr val="D6E2EE"/>
            </a:solidFill>
            <a:prstDash val="solid"/>
          </a:ln>
        </p:spPr>
      </p:sp>
      <p:sp>
        <p:nvSpPr>
          <p:cNvPr id="17" name="Text 14"/>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8" name="Text 15"/>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36 / 80</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05 / BỐI CẢNH</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Số liệu đến từ đâu</a:t>
            </a:r>
            <a:endParaRPr lang="en-US" sz="2600" dirty="0"/>
          </a:p>
        </p:txBody>
      </p:sp>
      <p:sp>
        <p:nvSpPr>
          <p:cNvPr id="4" name="Text 2"/>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B6B7F"/>
                </a:solidFill>
                <a:latin typeface="Arial" pitchFamily="34" charset="0"/>
                <a:ea typeface="Arial" pitchFamily="34" charset="-122"/>
                <a:cs typeface="Arial" pitchFamily="34" charset="-120"/>
              </a:rPr>
              <a:t>Phần mềm không tự tính số tiền. Nó hỏi cổng BHXH và hiển thị lại đúng những gì cổng trả về.</a:t>
            </a:r>
            <a:endParaRPr lang="en-US" sz="1300" dirty="0"/>
          </a:p>
        </p:txBody>
      </p:sp>
      <p:sp>
        <p:nvSpPr>
          <p:cNvPr id="5" name="Shape 3"/>
          <p:cNvSpPr/>
          <p:nvPr/>
        </p:nvSpPr>
        <p:spPr>
          <a:xfrm>
            <a:off x="566928" y="1783080"/>
            <a:ext cx="2558720" cy="1417320"/>
          </a:xfrm>
          <a:prstGeom prst="roundRect">
            <a:avLst>
              <a:gd name="adj" fmla="val 5161"/>
            </a:avLst>
          </a:prstGeom>
          <a:solidFill>
            <a:srgbClr val="EEF3F8"/>
          </a:solidFill>
          <a:ln w="12700">
            <a:solidFill>
              <a:srgbClr val="D6E2EE"/>
            </a:solidFill>
            <a:prstDash val="solid"/>
          </a:ln>
        </p:spPr>
      </p:sp>
      <p:sp>
        <p:nvSpPr>
          <p:cNvPr id="6" name="Text 4"/>
          <p:cNvSpPr/>
          <p:nvPr/>
        </p:nvSpPr>
        <p:spPr>
          <a:xfrm>
            <a:off x="676656" y="1911096"/>
            <a:ext cx="2339264" cy="457200"/>
          </a:xfrm>
          <a:prstGeom prst="rect">
            <a:avLst/>
          </a:prstGeom>
          <a:noFill/>
          <a:ln/>
        </p:spPr>
        <p:txBody>
          <a:bodyPr wrap="square" rtlCol="0" anchor="ctr"/>
          <a:lstStyle/>
          <a:p>
            <a:pPr algn="ctr" indent="0" marL="0">
              <a:lnSpc>
                <a:spcPts val="1800"/>
              </a:lnSpc>
              <a:buNone/>
            </a:pPr>
            <a:r>
              <a:rPr lang="en-US" sz="1400" b="1" dirty="0">
                <a:solidFill>
                  <a:srgbClr val="1A5EA8"/>
                </a:solidFill>
                <a:latin typeface="Arial" pitchFamily="34" charset="0"/>
                <a:ea typeface="Arial" pitchFamily="34" charset="-122"/>
                <a:cs typeface="Arial" pitchFamily="34" charset="-120"/>
              </a:rPr>
              <a:t>Các cơ sở KCB</a:t>
            </a:r>
            <a:endParaRPr lang="en-US" sz="1400" dirty="0"/>
          </a:p>
        </p:txBody>
      </p:sp>
      <p:sp>
        <p:nvSpPr>
          <p:cNvPr id="7" name="Text 5"/>
          <p:cNvSpPr/>
          <p:nvPr/>
        </p:nvSpPr>
        <p:spPr>
          <a:xfrm>
            <a:off x="676656" y="2368296"/>
            <a:ext cx="2339264" cy="704088"/>
          </a:xfrm>
          <a:prstGeom prst="rect">
            <a:avLst/>
          </a:prstGeom>
          <a:noFill/>
          <a:ln/>
        </p:spPr>
        <p:txBody>
          <a:bodyPr wrap="square" rtlCol="0" anchor="t"/>
          <a:lstStyle/>
          <a:p>
            <a:pPr algn="ctr" indent="0" marL="0">
              <a:lnSpc>
                <a:spcPts val="1600"/>
              </a:lnSpc>
              <a:buNone/>
            </a:pPr>
            <a:r>
              <a:rPr lang="en-US" sz="1100" dirty="0">
                <a:solidFill>
                  <a:srgbClr val="5B6B7F"/>
                </a:solidFill>
                <a:latin typeface="Arial" pitchFamily="34" charset="0"/>
                <a:ea typeface="Arial" pitchFamily="34" charset="-122"/>
                <a:cs typeface="Arial" pitchFamily="34" charset="-120"/>
              </a:rPr>
              <a:t>Gửi hồ sơ đề nghị thanh toán KCB BHYT lên Hệ thống thông tin giám định</a:t>
            </a:r>
            <a:endParaRPr lang="en-US" sz="1100" dirty="0"/>
          </a:p>
        </p:txBody>
      </p:sp>
      <p:sp>
        <p:nvSpPr>
          <p:cNvPr id="8" name="Text 6"/>
          <p:cNvSpPr/>
          <p:nvPr/>
        </p:nvSpPr>
        <p:spPr>
          <a:xfrm>
            <a:off x="3125648" y="2327148"/>
            <a:ext cx="274320" cy="329184"/>
          </a:xfrm>
          <a:prstGeom prst="rect">
            <a:avLst/>
          </a:prstGeom>
          <a:noFill/>
          <a:ln/>
        </p:spPr>
        <p:txBody>
          <a:bodyPr wrap="square" rtlCol="0" anchor="ctr"/>
          <a:lstStyle/>
          <a:p>
            <a:pPr algn="ctr" indent="0" marL="0">
              <a:buNone/>
            </a:pPr>
            <a:r>
              <a:rPr lang="en-US" sz="1400" dirty="0">
                <a:solidFill>
                  <a:srgbClr val="5B6B7F"/>
                </a:solidFill>
                <a:latin typeface="Arial" pitchFamily="34" charset="0"/>
                <a:ea typeface="Arial" pitchFamily="34" charset="-122"/>
                <a:cs typeface="Arial" pitchFamily="34" charset="-120"/>
              </a:rPr>
              <a:t>▶</a:t>
            </a:r>
            <a:endParaRPr lang="en-US" sz="1400" dirty="0"/>
          </a:p>
        </p:txBody>
      </p:sp>
      <p:sp>
        <p:nvSpPr>
          <p:cNvPr id="9" name="Shape 7"/>
          <p:cNvSpPr/>
          <p:nvPr/>
        </p:nvSpPr>
        <p:spPr>
          <a:xfrm>
            <a:off x="3399968" y="1783080"/>
            <a:ext cx="2558720" cy="1417320"/>
          </a:xfrm>
          <a:prstGeom prst="roundRect">
            <a:avLst>
              <a:gd name="adj" fmla="val 5161"/>
            </a:avLst>
          </a:prstGeom>
          <a:solidFill>
            <a:srgbClr val="1A5EA8"/>
          </a:solidFill>
          <a:ln w="12700">
            <a:solidFill>
              <a:srgbClr val="1A5EA8"/>
            </a:solidFill>
            <a:prstDash val="solid"/>
          </a:ln>
        </p:spPr>
      </p:sp>
      <p:sp>
        <p:nvSpPr>
          <p:cNvPr id="10" name="Text 8"/>
          <p:cNvSpPr/>
          <p:nvPr/>
        </p:nvSpPr>
        <p:spPr>
          <a:xfrm>
            <a:off x="3509696" y="1911096"/>
            <a:ext cx="2339264" cy="457200"/>
          </a:xfrm>
          <a:prstGeom prst="rect">
            <a:avLst/>
          </a:prstGeom>
          <a:noFill/>
          <a:ln/>
        </p:spPr>
        <p:txBody>
          <a:bodyPr wrap="square" rtlCol="0" anchor="ctr"/>
          <a:lstStyle/>
          <a:p>
            <a:pPr algn="ctr" indent="0" marL="0">
              <a:lnSpc>
                <a:spcPts val="1800"/>
              </a:lnSpc>
              <a:buNone/>
            </a:pPr>
            <a:r>
              <a:rPr lang="en-US" sz="1400" b="1" dirty="0">
                <a:solidFill>
                  <a:srgbClr val="FFFFFF"/>
                </a:solidFill>
                <a:latin typeface="Arial" pitchFamily="34" charset="0"/>
                <a:ea typeface="Arial" pitchFamily="34" charset="-122"/>
                <a:cs typeface="Arial" pitchFamily="34" charset="-120"/>
              </a:rPr>
              <a:t>Cổng BHXH</a:t>
            </a:r>
            <a:endParaRPr lang="en-US" sz="1400" dirty="0"/>
          </a:p>
        </p:txBody>
      </p:sp>
      <p:sp>
        <p:nvSpPr>
          <p:cNvPr id="11" name="Text 9"/>
          <p:cNvSpPr/>
          <p:nvPr/>
        </p:nvSpPr>
        <p:spPr>
          <a:xfrm>
            <a:off x="3509696" y="2368296"/>
            <a:ext cx="2339264" cy="704088"/>
          </a:xfrm>
          <a:prstGeom prst="rect">
            <a:avLst/>
          </a:prstGeom>
          <a:noFill/>
          <a:ln/>
        </p:spPr>
        <p:txBody>
          <a:bodyPr wrap="square" rtlCol="0" anchor="t"/>
          <a:lstStyle/>
          <a:p>
            <a:pPr algn="ctr" indent="0" marL="0">
              <a:lnSpc>
                <a:spcPts val="1600"/>
              </a:lnSpc>
              <a:buNone/>
            </a:pPr>
            <a:r>
              <a:rPr lang="en-US" sz="1100" dirty="0">
                <a:solidFill>
                  <a:srgbClr val="DCE9F5"/>
                </a:solidFill>
                <a:latin typeface="Arial" pitchFamily="34" charset="0"/>
                <a:ea typeface="Arial" pitchFamily="34" charset="-122"/>
                <a:cs typeface="Arial" pitchFamily="34" charset="-120"/>
              </a:rPr>
              <a:t>Cộng dồn tiền cùng chi trả của người bệnh trong năm, từ MỌI cơ sở</a:t>
            </a:r>
            <a:endParaRPr lang="en-US" sz="1100" dirty="0"/>
          </a:p>
        </p:txBody>
      </p:sp>
      <p:sp>
        <p:nvSpPr>
          <p:cNvPr id="12" name="Text 10"/>
          <p:cNvSpPr/>
          <p:nvPr/>
        </p:nvSpPr>
        <p:spPr>
          <a:xfrm>
            <a:off x="5958688" y="2327148"/>
            <a:ext cx="274320" cy="329184"/>
          </a:xfrm>
          <a:prstGeom prst="rect">
            <a:avLst/>
          </a:prstGeom>
          <a:noFill/>
          <a:ln/>
        </p:spPr>
        <p:txBody>
          <a:bodyPr wrap="square" rtlCol="0" anchor="ctr"/>
          <a:lstStyle/>
          <a:p>
            <a:pPr algn="ctr" indent="0" marL="0">
              <a:buNone/>
            </a:pPr>
            <a:r>
              <a:rPr lang="en-US" sz="1400" dirty="0">
                <a:solidFill>
                  <a:srgbClr val="5B6B7F"/>
                </a:solidFill>
                <a:latin typeface="Arial" pitchFamily="34" charset="0"/>
                <a:ea typeface="Arial" pitchFamily="34" charset="-122"/>
                <a:cs typeface="Arial" pitchFamily="34" charset="-120"/>
              </a:rPr>
              <a:t>▶</a:t>
            </a:r>
            <a:endParaRPr lang="en-US" sz="1400" dirty="0"/>
          </a:p>
        </p:txBody>
      </p:sp>
      <p:sp>
        <p:nvSpPr>
          <p:cNvPr id="13" name="Shape 11"/>
          <p:cNvSpPr/>
          <p:nvPr/>
        </p:nvSpPr>
        <p:spPr>
          <a:xfrm>
            <a:off x="6233008" y="1783080"/>
            <a:ext cx="2558720" cy="1417320"/>
          </a:xfrm>
          <a:prstGeom prst="roundRect">
            <a:avLst>
              <a:gd name="adj" fmla="val 5161"/>
            </a:avLst>
          </a:prstGeom>
          <a:solidFill>
            <a:srgbClr val="2A9FD8"/>
          </a:solidFill>
          <a:ln w="12700">
            <a:solidFill>
              <a:srgbClr val="2A9FD8"/>
            </a:solidFill>
            <a:prstDash val="solid"/>
          </a:ln>
        </p:spPr>
      </p:sp>
      <p:sp>
        <p:nvSpPr>
          <p:cNvPr id="14" name="Text 12"/>
          <p:cNvSpPr/>
          <p:nvPr/>
        </p:nvSpPr>
        <p:spPr>
          <a:xfrm>
            <a:off x="6342736" y="1911096"/>
            <a:ext cx="2339264" cy="457200"/>
          </a:xfrm>
          <a:prstGeom prst="rect">
            <a:avLst/>
          </a:prstGeom>
          <a:noFill/>
          <a:ln/>
        </p:spPr>
        <p:txBody>
          <a:bodyPr wrap="square" rtlCol="0" anchor="ctr"/>
          <a:lstStyle/>
          <a:p>
            <a:pPr algn="ctr" indent="0" marL="0">
              <a:lnSpc>
                <a:spcPts val="1800"/>
              </a:lnSpc>
              <a:buNone/>
            </a:pPr>
            <a:r>
              <a:rPr lang="en-US" sz="1400" b="1" dirty="0">
                <a:solidFill>
                  <a:srgbClr val="FFFFFF"/>
                </a:solidFill>
                <a:latin typeface="Arial" pitchFamily="34" charset="0"/>
                <a:ea typeface="Arial" pitchFamily="34" charset="-122"/>
                <a:cs typeface="Arial" pitchFamily="34" charset="-120"/>
              </a:rPr>
              <a:t>qlbv hỏi cổng</a:t>
            </a:r>
            <a:endParaRPr lang="en-US" sz="1400" dirty="0"/>
          </a:p>
        </p:txBody>
      </p:sp>
      <p:sp>
        <p:nvSpPr>
          <p:cNvPr id="15" name="Text 13"/>
          <p:cNvSpPr/>
          <p:nvPr/>
        </p:nvSpPr>
        <p:spPr>
          <a:xfrm>
            <a:off x="6342736" y="2368296"/>
            <a:ext cx="2339264" cy="704088"/>
          </a:xfrm>
          <a:prstGeom prst="rect">
            <a:avLst/>
          </a:prstGeom>
          <a:noFill/>
          <a:ln/>
        </p:spPr>
        <p:txBody>
          <a:bodyPr wrap="square" rtlCol="0" anchor="t"/>
          <a:lstStyle/>
          <a:p>
            <a:pPr algn="ctr" indent="0" marL="0">
              <a:lnSpc>
                <a:spcPts val="1600"/>
              </a:lnSpc>
              <a:buNone/>
            </a:pPr>
            <a:r>
              <a:rPr lang="en-US" sz="1100" dirty="0">
                <a:solidFill>
                  <a:srgbClr val="DCE9F5"/>
                </a:solidFill>
                <a:latin typeface="Arial" pitchFamily="34" charset="0"/>
                <a:ea typeface="Arial" pitchFamily="34" charset="-122"/>
                <a:cs typeface="Arial" pitchFamily="34" charset="-120"/>
              </a:rPr>
              <a:t>Mỗi lần tra là một lượt gọi thật, lấy số liệu mới nhất cổng đang có</a:t>
            </a:r>
            <a:endParaRPr lang="en-US" sz="1100" dirty="0"/>
          </a:p>
        </p:txBody>
      </p:sp>
      <p:sp>
        <p:nvSpPr>
          <p:cNvPr id="16" name="Text 14"/>
          <p:cNvSpPr/>
          <p:nvPr/>
        </p:nvSpPr>
        <p:spPr>
          <a:xfrm>
            <a:off x="8791727" y="2327148"/>
            <a:ext cx="274320" cy="329184"/>
          </a:xfrm>
          <a:prstGeom prst="rect">
            <a:avLst/>
          </a:prstGeom>
          <a:noFill/>
          <a:ln/>
        </p:spPr>
        <p:txBody>
          <a:bodyPr wrap="square" rtlCol="0" anchor="ctr"/>
          <a:lstStyle/>
          <a:p>
            <a:pPr algn="ctr" indent="0" marL="0">
              <a:buNone/>
            </a:pPr>
            <a:r>
              <a:rPr lang="en-US" sz="1400" dirty="0">
                <a:solidFill>
                  <a:srgbClr val="5B6B7F"/>
                </a:solidFill>
                <a:latin typeface="Arial" pitchFamily="34" charset="0"/>
                <a:ea typeface="Arial" pitchFamily="34" charset="-122"/>
                <a:cs typeface="Arial" pitchFamily="34" charset="-120"/>
              </a:rPr>
              <a:t>▶</a:t>
            </a:r>
            <a:endParaRPr lang="en-US" sz="1400" dirty="0"/>
          </a:p>
        </p:txBody>
      </p:sp>
      <p:sp>
        <p:nvSpPr>
          <p:cNvPr id="17" name="Shape 15"/>
          <p:cNvSpPr/>
          <p:nvPr/>
        </p:nvSpPr>
        <p:spPr>
          <a:xfrm>
            <a:off x="9066047" y="1783080"/>
            <a:ext cx="2558720" cy="1417320"/>
          </a:xfrm>
          <a:prstGeom prst="roundRect">
            <a:avLst>
              <a:gd name="adj" fmla="val 5161"/>
            </a:avLst>
          </a:prstGeom>
          <a:solidFill>
            <a:srgbClr val="EEF3F8"/>
          </a:solidFill>
          <a:ln w="12700">
            <a:solidFill>
              <a:srgbClr val="D6E2EE"/>
            </a:solidFill>
            <a:prstDash val="solid"/>
          </a:ln>
        </p:spPr>
      </p:sp>
      <p:sp>
        <p:nvSpPr>
          <p:cNvPr id="18" name="Text 16"/>
          <p:cNvSpPr/>
          <p:nvPr/>
        </p:nvSpPr>
        <p:spPr>
          <a:xfrm>
            <a:off x="9175775" y="1911096"/>
            <a:ext cx="2339264" cy="457200"/>
          </a:xfrm>
          <a:prstGeom prst="rect">
            <a:avLst/>
          </a:prstGeom>
          <a:noFill/>
          <a:ln/>
        </p:spPr>
        <p:txBody>
          <a:bodyPr wrap="square" rtlCol="0" anchor="ctr"/>
          <a:lstStyle/>
          <a:p>
            <a:pPr algn="ctr" indent="0" marL="0">
              <a:lnSpc>
                <a:spcPts val="1800"/>
              </a:lnSpc>
              <a:buNone/>
            </a:pPr>
            <a:r>
              <a:rPr lang="en-US" sz="1400" b="1" dirty="0">
                <a:solidFill>
                  <a:srgbClr val="1A5EA8"/>
                </a:solidFill>
                <a:latin typeface="Arial" pitchFamily="34" charset="0"/>
                <a:ea typeface="Arial" pitchFamily="34" charset="-122"/>
                <a:cs typeface="Arial" pitchFamily="34" charset="-120"/>
              </a:rPr>
              <a:t>Cán bộ trả lời người bệnh</a:t>
            </a:r>
            <a:endParaRPr lang="en-US" sz="1400" dirty="0"/>
          </a:p>
        </p:txBody>
      </p:sp>
      <p:sp>
        <p:nvSpPr>
          <p:cNvPr id="19" name="Text 17"/>
          <p:cNvSpPr/>
          <p:nvPr/>
        </p:nvSpPr>
        <p:spPr>
          <a:xfrm>
            <a:off x="9175775" y="2368296"/>
            <a:ext cx="2339264" cy="704088"/>
          </a:xfrm>
          <a:prstGeom prst="rect">
            <a:avLst/>
          </a:prstGeom>
          <a:noFill/>
          <a:ln/>
        </p:spPr>
        <p:txBody>
          <a:bodyPr wrap="square" rtlCol="0" anchor="t"/>
          <a:lstStyle/>
          <a:p>
            <a:pPr algn="ctr" indent="0" marL="0">
              <a:lnSpc>
                <a:spcPts val="1600"/>
              </a:lnSpc>
              <a:buNone/>
            </a:pPr>
            <a:r>
              <a:rPr lang="en-US" sz="1100" dirty="0">
                <a:solidFill>
                  <a:srgbClr val="5B6B7F"/>
                </a:solidFill>
                <a:latin typeface="Arial" pitchFamily="34" charset="0"/>
                <a:ea typeface="Arial" pitchFamily="34" charset="-122"/>
                <a:cs typeface="Arial" pitchFamily="34" charset="-120"/>
              </a:rPr>
              <a:t>Kèm mốc thời gian "tính đến …" và lưu ý về điều kiện 5 năm liên tục</a:t>
            </a:r>
            <a:endParaRPr lang="en-US" sz="1100" dirty="0"/>
          </a:p>
        </p:txBody>
      </p:sp>
      <p:sp>
        <p:nvSpPr>
          <p:cNvPr id="20" name="Text 18"/>
          <p:cNvSpPr/>
          <p:nvPr/>
        </p:nvSpPr>
        <p:spPr>
          <a:xfrm>
            <a:off x="566928" y="3474720"/>
            <a:ext cx="11057839" cy="2770632"/>
          </a:xfrm>
          <a:prstGeom prst="rect">
            <a:avLst/>
          </a:prstGeom>
          <a:noFill/>
          <a:ln/>
        </p:spPr>
        <p:txBody>
          <a:bodyPr wrap="square" rtlCol="0" anchor="t"/>
          <a:lstStyle/>
          <a:p>
            <a:pPr marL="342900" indent="-342900">
              <a:lnSpc>
                <a:spcPts val="1900"/>
              </a:lnSpc>
              <a:spcAft>
                <a:spcPts val="800"/>
              </a:spcAft>
              <a:buSzPct val="100000"/>
              <a:buChar char="▪"/>
            </a:pPr>
            <a:r>
              <a:rPr lang="en-US" sz="1300" dirty="0">
                <a:solidFill>
                  <a:srgbClr val="14233A"/>
                </a:solidFill>
                <a:latin typeface="Arial" pitchFamily="34" charset="0"/>
                <a:ea typeface="Arial" pitchFamily="34" charset="-122"/>
                <a:cs typeface="Arial" pitchFamily="34" charset="-120"/>
              </a:rPr>
              <a:t>Hệ quả 1: đợt khám vừa kết thúc hôm nay thường CHƯA có trong lũy kế, vì cơ sở chưa kịp gửi hồ sơ đề nghị thanh toán.</a:t>
            </a:r>
            <a:endParaRPr lang="en-US" sz="1300" dirty="0"/>
          </a:p>
          <a:p>
            <a:pPr marL="342900" indent="-342900">
              <a:lnSpc>
                <a:spcPts val="1900"/>
              </a:lnSpc>
              <a:spcAft>
                <a:spcPts val="800"/>
              </a:spcAft>
              <a:buSzPct val="100000"/>
              <a:buChar char="▪"/>
            </a:pPr>
            <a:r>
              <a:rPr lang="en-US" sz="1300" dirty="0">
                <a:solidFill>
                  <a:srgbClr val="14233A"/>
                </a:solidFill>
                <a:latin typeface="Arial" pitchFamily="34" charset="0"/>
                <a:ea typeface="Arial" pitchFamily="34" charset="-122"/>
                <a:cs typeface="Arial" pitchFamily="34" charset="-120"/>
              </a:rPr>
              <a:t>Hệ quả 2: lũy kế bao gồm cả các đợt khám ở cơ sở khác — không chỉ riêng bệnh viện mình.</a:t>
            </a:r>
            <a:endParaRPr lang="en-US" sz="1300" dirty="0"/>
          </a:p>
          <a:p>
            <a:pPr marL="342900" indent="-342900">
              <a:lnSpc>
                <a:spcPts val="1900"/>
              </a:lnSpc>
              <a:spcAft>
                <a:spcPts val="800"/>
              </a:spcAft>
              <a:buSzPct val="100000"/>
              <a:buChar char="▪"/>
            </a:pPr>
            <a:r>
              <a:rPr lang="en-US" sz="1300" dirty="0">
                <a:solidFill>
                  <a:srgbClr val="14233A"/>
                </a:solidFill>
                <a:latin typeface="Arial" pitchFamily="34" charset="0"/>
                <a:ea typeface="Arial" pitchFamily="34" charset="-122"/>
                <a:cs typeface="Arial" pitchFamily="34" charset="-120"/>
              </a:rPr>
              <a:t>Hệ quả 3: số liệu có độ trễ, nên luôn phải đọc mốc thời gian trước khi kết luận với người bệnh.</a:t>
            </a:r>
            <a:endParaRPr lang="en-US" sz="1300" dirty="0"/>
          </a:p>
        </p:txBody>
      </p:sp>
      <p:sp>
        <p:nvSpPr>
          <p:cNvPr id="22" name="Shape 19"/>
          <p:cNvSpPr/>
          <p:nvPr/>
        </p:nvSpPr>
        <p:spPr>
          <a:xfrm>
            <a:off x="566928" y="6382512"/>
            <a:ext cx="11057839" cy="0"/>
          </a:xfrm>
          <a:prstGeom prst="line">
            <a:avLst/>
          </a:prstGeom>
          <a:noFill/>
          <a:ln w="9525">
            <a:solidFill>
              <a:srgbClr val="D6E2EE"/>
            </a:solidFill>
            <a:prstDash val="solid"/>
          </a:ln>
        </p:spPr>
      </p:sp>
      <p:sp>
        <p:nvSpPr>
          <p:cNvPr id="23" name="Text 20"/>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24" name="Text 21"/>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37 / 80</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05 / HDSD MCCT · MỤC 3.1</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Cách 1 — Tra ngay trên màn Tra cứu thẻ BHYT (khuyến nghị)</a:t>
            </a:r>
            <a:endParaRPr lang="en-US" sz="2600" dirty="0"/>
          </a:p>
        </p:txBody>
      </p:sp>
      <p:sp>
        <p:nvSpPr>
          <p:cNvPr id="4" name="Text 2"/>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B6B7F"/>
                </a:solidFill>
                <a:latin typeface="Arial" pitchFamily="34" charset="0"/>
                <a:ea typeface="Arial" pitchFamily="34" charset="-122"/>
                <a:cs typeface="Arial" pitchFamily="34" charset="-120"/>
              </a:rPr>
              <a:t>Nhanh nhất khi đang làm việc trực tiếp với người bệnh, vì thông tin thẻ đã có sẵn, không phải nhập lại.</a:t>
            </a:r>
            <a:endParaRPr lang="en-US" sz="1300" dirty="0"/>
          </a:p>
        </p:txBody>
      </p:sp>
      <p:sp>
        <p:nvSpPr>
          <p:cNvPr id="5" name="Shape 3"/>
          <p:cNvSpPr/>
          <p:nvPr/>
        </p:nvSpPr>
        <p:spPr>
          <a:xfrm>
            <a:off x="566928" y="1709928"/>
            <a:ext cx="11057839" cy="736092"/>
          </a:xfrm>
          <a:prstGeom prst="rect">
            <a:avLst/>
          </a:prstGeom>
          <a:solidFill>
            <a:srgbClr val="EEF3F8"/>
          </a:solidFill>
          <a:ln w="12700">
            <a:solidFill>
              <a:srgbClr val="D6E2EE"/>
            </a:solidFill>
            <a:prstDash val="solid"/>
          </a:ln>
        </p:spPr>
      </p:sp>
      <p:sp>
        <p:nvSpPr>
          <p:cNvPr id="6" name="Shape 4"/>
          <p:cNvSpPr/>
          <p:nvPr/>
        </p:nvSpPr>
        <p:spPr>
          <a:xfrm>
            <a:off x="713232" y="1885950"/>
            <a:ext cx="384048" cy="384048"/>
          </a:xfrm>
          <a:prstGeom prst="ellipse">
            <a:avLst/>
          </a:prstGeom>
          <a:solidFill>
            <a:srgbClr val="1A5EA8"/>
          </a:solidFill>
          <a:ln/>
        </p:spPr>
      </p:sp>
      <p:sp>
        <p:nvSpPr>
          <p:cNvPr id="7" name="Text 5"/>
          <p:cNvSpPr/>
          <p:nvPr/>
        </p:nvSpPr>
        <p:spPr>
          <a:xfrm>
            <a:off x="713232" y="188595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1225296" y="1709928"/>
            <a:ext cx="5750076" cy="736092"/>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Vào menu Thẻ BHYT → Tra cứu thẻ BHYT</a:t>
            </a:r>
            <a:endParaRPr lang="en-US" sz="1400" dirty="0"/>
          </a:p>
        </p:txBody>
      </p:sp>
      <p:sp>
        <p:nvSpPr>
          <p:cNvPr id="9" name="Text 7"/>
          <p:cNvSpPr/>
          <p:nvPr/>
        </p:nvSpPr>
        <p:spPr>
          <a:xfrm>
            <a:off x="7085951" y="1709928"/>
            <a:ext cx="4088209" cy="736092"/>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Màn hình tra cứu thẻ hiện ra</a:t>
            </a:r>
            <a:endParaRPr lang="en-US" sz="1200" dirty="0"/>
          </a:p>
        </p:txBody>
      </p:sp>
      <p:sp>
        <p:nvSpPr>
          <p:cNvPr id="10" name="Shape 8"/>
          <p:cNvSpPr/>
          <p:nvPr/>
        </p:nvSpPr>
        <p:spPr>
          <a:xfrm>
            <a:off x="566928" y="2555748"/>
            <a:ext cx="11057839" cy="736092"/>
          </a:xfrm>
          <a:prstGeom prst="rect">
            <a:avLst/>
          </a:prstGeom>
          <a:solidFill>
            <a:srgbClr val="FFFFFF"/>
          </a:solidFill>
          <a:ln w="12700">
            <a:solidFill>
              <a:srgbClr val="D6E2EE"/>
            </a:solidFill>
            <a:prstDash val="solid"/>
          </a:ln>
        </p:spPr>
      </p:sp>
      <p:sp>
        <p:nvSpPr>
          <p:cNvPr id="11" name="Shape 9"/>
          <p:cNvSpPr/>
          <p:nvPr/>
        </p:nvSpPr>
        <p:spPr>
          <a:xfrm>
            <a:off x="713232" y="2731770"/>
            <a:ext cx="384048" cy="384048"/>
          </a:xfrm>
          <a:prstGeom prst="ellipse">
            <a:avLst/>
          </a:prstGeom>
          <a:solidFill>
            <a:srgbClr val="1A5EA8"/>
          </a:solidFill>
          <a:ln/>
        </p:spPr>
      </p:sp>
      <p:sp>
        <p:nvSpPr>
          <p:cNvPr id="12" name="Text 10"/>
          <p:cNvSpPr/>
          <p:nvPr/>
        </p:nvSpPr>
        <p:spPr>
          <a:xfrm>
            <a:off x="713232" y="273177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1225296" y="2555748"/>
            <a:ext cx="5750076" cy="736092"/>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Chọn cơ sở KCB, nhập mã thẻ BHYT/CCCD, họ tên, ngày sinh rồi bấm Tra cứu</a:t>
            </a:r>
            <a:endParaRPr lang="en-US" sz="1400" dirty="0"/>
          </a:p>
        </p:txBody>
      </p:sp>
      <p:sp>
        <p:nvSpPr>
          <p:cNvPr id="14" name="Text 12"/>
          <p:cNvSpPr/>
          <p:nvPr/>
        </p:nvSpPr>
        <p:spPr>
          <a:xfrm>
            <a:off x="7085951" y="2555748"/>
            <a:ext cx="4088209" cy="736092"/>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Kết quả tra thẻ hiện ra</a:t>
            </a:r>
            <a:endParaRPr lang="en-US" sz="1200" dirty="0"/>
          </a:p>
        </p:txBody>
      </p:sp>
      <p:sp>
        <p:nvSpPr>
          <p:cNvPr id="15" name="Shape 13"/>
          <p:cNvSpPr/>
          <p:nvPr/>
        </p:nvSpPr>
        <p:spPr>
          <a:xfrm>
            <a:off x="566928" y="3401568"/>
            <a:ext cx="11057839" cy="736092"/>
          </a:xfrm>
          <a:prstGeom prst="rect">
            <a:avLst/>
          </a:prstGeom>
          <a:solidFill>
            <a:srgbClr val="EEF3F8"/>
          </a:solidFill>
          <a:ln w="12700">
            <a:solidFill>
              <a:srgbClr val="D6E2EE"/>
            </a:solidFill>
            <a:prstDash val="solid"/>
          </a:ln>
        </p:spPr>
      </p:sp>
      <p:sp>
        <p:nvSpPr>
          <p:cNvPr id="16" name="Shape 14"/>
          <p:cNvSpPr/>
          <p:nvPr/>
        </p:nvSpPr>
        <p:spPr>
          <a:xfrm>
            <a:off x="713232" y="3577590"/>
            <a:ext cx="384048" cy="384048"/>
          </a:xfrm>
          <a:prstGeom prst="ellipse">
            <a:avLst/>
          </a:prstGeom>
          <a:solidFill>
            <a:srgbClr val="1A5EA8"/>
          </a:solidFill>
          <a:ln/>
        </p:spPr>
      </p:sp>
      <p:sp>
        <p:nvSpPr>
          <p:cNvPr id="17" name="Text 15"/>
          <p:cNvSpPr/>
          <p:nvPr/>
        </p:nvSpPr>
        <p:spPr>
          <a:xfrm>
            <a:off x="713232" y="357759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6"/>
          <p:cNvSpPr/>
          <p:nvPr/>
        </p:nvSpPr>
        <p:spPr>
          <a:xfrm>
            <a:off x="1225296" y="3401568"/>
            <a:ext cx="5750076" cy="736092"/>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Khi tra thẻ THÀNH CÔNG, nút "Tra tiền cùng chi trả" (màu xanh lá) hiện ra cạnh nút Tra cứu. Bấm vào đó</a:t>
            </a:r>
            <a:endParaRPr lang="en-US" sz="1400" dirty="0"/>
          </a:p>
        </p:txBody>
      </p:sp>
      <p:sp>
        <p:nvSpPr>
          <p:cNvPr id="19" name="Text 17"/>
          <p:cNvSpPr/>
          <p:nvPr/>
        </p:nvSpPr>
        <p:spPr>
          <a:xfrm>
            <a:off x="7085951" y="3401568"/>
            <a:ext cx="4088209" cy="736092"/>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Một cửa sổ hiện lên và bắt đầu hỏi cổng BHXH</a:t>
            </a:r>
            <a:endParaRPr lang="en-US" sz="1200" dirty="0"/>
          </a:p>
        </p:txBody>
      </p:sp>
      <p:sp>
        <p:nvSpPr>
          <p:cNvPr id="20" name="Shape 18"/>
          <p:cNvSpPr/>
          <p:nvPr/>
        </p:nvSpPr>
        <p:spPr>
          <a:xfrm>
            <a:off x="566928" y="4247388"/>
            <a:ext cx="11057839" cy="736092"/>
          </a:xfrm>
          <a:prstGeom prst="rect">
            <a:avLst/>
          </a:prstGeom>
          <a:solidFill>
            <a:srgbClr val="FFFFFF"/>
          </a:solidFill>
          <a:ln w="12700">
            <a:solidFill>
              <a:srgbClr val="D6E2EE"/>
            </a:solidFill>
            <a:prstDash val="solid"/>
          </a:ln>
        </p:spPr>
      </p:sp>
      <p:sp>
        <p:nvSpPr>
          <p:cNvPr id="21" name="Shape 19"/>
          <p:cNvSpPr/>
          <p:nvPr/>
        </p:nvSpPr>
        <p:spPr>
          <a:xfrm>
            <a:off x="713232" y="4423410"/>
            <a:ext cx="384048" cy="384048"/>
          </a:xfrm>
          <a:prstGeom prst="ellipse">
            <a:avLst/>
          </a:prstGeom>
          <a:solidFill>
            <a:srgbClr val="1A5EA8"/>
          </a:solidFill>
          <a:ln/>
        </p:spPr>
      </p:sp>
      <p:sp>
        <p:nvSpPr>
          <p:cNvPr id="22" name="Text 20"/>
          <p:cNvSpPr/>
          <p:nvPr/>
        </p:nvSpPr>
        <p:spPr>
          <a:xfrm>
            <a:off x="713232" y="442341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3" name="Text 21"/>
          <p:cNvSpPr/>
          <p:nvPr/>
        </p:nvSpPr>
        <p:spPr>
          <a:xfrm>
            <a:off x="1225296" y="4247388"/>
            <a:ext cx="5750076" cy="736092"/>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Chờ cho tới khi có kết quả</a:t>
            </a:r>
            <a:endParaRPr lang="en-US" sz="1400" dirty="0"/>
          </a:p>
        </p:txBody>
      </p:sp>
      <p:sp>
        <p:nvSpPr>
          <p:cNvPr id="24" name="Text 22"/>
          <p:cNvSpPr/>
          <p:nvPr/>
        </p:nvSpPr>
        <p:spPr>
          <a:xfrm>
            <a:off x="7085951" y="4247388"/>
            <a:ext cx="4088209" cy="736092"/>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Đồng hồ đếm giây chạy trong lúc chờ — xem mục về thời gian chờ</a:t>
            </a:r>
            <a:endParaRPr lang="en-US" sz="1200" dirty="0"/>
          </a:p>
        </p:txBody>
      </p:sp>
      <p:sp>
        <p:nvSpPr>
          <p:cNvPr id="25" name="Shape 23"/>
          <p:cNvSpPr/>
          <p:nvPr/>
        </p:nvSpPr>
        <p:spPr>
          <a:xfrm>
            <a:off x="566928" y="5074920"/>
            <a:ext cx="11057839" cy="1051560"/>
          </a:xfrm>
          <a:prstGeom prst="rect">
            <a:avLst/>
          </a:prstGeom>
          <a:solidFill>
            <a:srgbClr val="FFF4E6"/>
          </a:solidFill>
          <a:ln w="12700">
            <a:solidFill>
              <a:srgbClr val="FFF4E6"/>
            </a:solidFill>
            <a:prstDash val="solid"/>
          </a:ln>
        </p:spPr>
      </p:sp>
      <p:sp>
        <p:nvSpPr>
          <p:cNvPr id="26" name="Shape 24"/>
          <p:cNvSpPr/>
          <p:nvPr/>
        </p:nvSpPr>
        <p:spPr>
          <a:xfrm>
            <a:off x="566928" y="5074920"/>
            <a:ext cx="64008" cy="1051560"/>
          </a:xfrm>
          <a:prstGeom prst="rect">
            <a:avLst/>
          </a:prstGeom>
          <a:solidFill>
            <a:srgbClr val="C96A12"/>
          </a:solidFill>
          <a:ln w="12700">
            <a:solidFill>
              <a:srgbClr val="C96A12"/>
            </a:solidFill>
            <a:prstDash val="solid"/>
          </a:ln>
        </p:spPr>
      </p:sp>
      <p:sp>
        <p:nvSpPr>
          <p:cNvPr id="27" name="Text 25"/>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Nút chỉ xuất hiện khi tra thẻ thành công: </a:t>
            </a:r>
            <a:pPr indent="0" marL="0">
              <a:lnSpc>
                <a:spcPts val="1900"/>
              </a:lnSpc>
              <a:buNone/>
            </a:pPr>
            <a:r>
              <a:rPr lang="en-US" sz="1300" dirty="0">
                <a:solidFill>
                  <a:srgbClr val="14233A"/>
                </a:solidFill>
                <a:latin typeface="Arial" pitchFamily="34" charset="0"/>
                <a:ea typeface="Arial" pitchFamily="34" charset="-122"/>
                <a:cs typeface="Arial" pitchFamily="34" charset="-120"/>
              </a:rPr>
              <a:t>Nếu tra thẻ báo lỗi hoặc không tìm thấy thẻ thì nút không hiện, vì khi đó thông tin thẻ chưa đủ tin cậy để tra tiếp. Đây không phải lỗi hiển thị.</a:t>
            </a:r>
            <a:endParaRPr lang="en-US" sz="1300" dirty="0"/>
          </a:p>
        </p:txBody>
      </p:sp>
      <p:sp>
        <p:nvSpPr>
          <p:cNvPr id="29" name="Shape 26"/>
          <p:cNvSpPr/>
          <p:nvPr/>
        </p:nvSpPr>
        <p:spPr>
          <a:xfrm>
            <a:off x="566928" y="6382512"/>
            <a:ext cx="11057839" cy="0"/>
          </a:xfrm>
          <a:prstGeom prst="line">
            <a:avLst/>
          </a:prstGeom>
          <a:noFill/>
          <a:ln w="9525">
            <a:solidFill>
              <a:srgbClr val="D6E2EE"/>
            </a:solidFill>
            <a:prstDash val="solid"/>
          </a:ln>
        </p:spPr>
      </p:sp>
      <p:sp>
        <p:nvSpPr>
          <p:cNvPr id="30" name="Text 27"/>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31" name="Text 28"/>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38 / 80</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05 / HDSD MCCT · MỤC 3.1</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Nút "Tra tiền cùng chi trả" nằm ở đâu</a:t>
            </a:r>
            <a:endParaRPr lang="en-US" sz="2600" dirty="0"/>
          </a:p>
        </p:txBody>
      </p:sp>
      <p:pic>
        <p:nvPicPr>
          <p:cNvPr id="4" name="Image 0" descr="C:\Users\tracnn\qlbv\docs\dao-tao\anh\anh-06-nut-tra-tien-cung-chi-tra.png">    </p:cNvPr>
          <p:cNvPicPr>
            <a:picLocks noChangeAspect="1"/>
          </p:cNvPicPr>
          <p:nvPr/>
        </p:nvPicPr>
        <p:blipFill>
          <a:blip r:embed="rId1"/>
          <a:stretch>
            <a:fillRect/>
          </a:stretch>
        </p:blipFill>
        <p:spPr>
          <a:xfrm>
            <a:off x="566928" y="1325880"/>
            <a:ext cx="9312314" cy="3072384"/>
          </a:xfrm>
          <a:prstGeom prst="rect">
            <a:avLst/>
          </a:prstGeom>
        </p:spPr>
      </p:pic>
      <p:sp>
        <p:nvSpPr>
          <p:cNvPr id="5" name="Shape 2"/>
          <p:cNvSpPr/>
          <p:nvPr/>
        </p:nvSpPr>
        <p:spPr>
          <a:xfrm>
            <a:off x="566928" y="1325880"/>
            <a:ext cx="9312314" cy="3072384"/>
          </a:xfrm>
          <a:prstGeom prst="rect">
            <a:avLst/>
          </a:prstGeom>
          <a:ln w="12700">
            <a:solidFill>
              <a:srgbClr val="D6E2EE"/>
            </a:solidFill>
            <a:prstDash val="solid"/>
          </a:ln>
        </p:spPr>
      </p:sp>
      <p:sp>
        <p:nvSpPr>
          <p:cNvPr id="6" name="Text 3"/>
          <p:cNvSpPr/>
          <p:nvPr/>
        </p:nvSpPr>
        <p:spPr>
          <a:xfrm>
            <a:off x="566928" y="4626864"/>
            <a:ext cx="5346040" cy="1499616"/>
          </a:xfrm>
          <a:prstGeom prst="rect">
            <a:avLst/>
          </a:prstGeom>
          <a:noFill/>
          <a:ln/>
        </p:spPr>
        <p:txBody>
          <a:bodyPr wrap="square" rtlCol="0" anchor="t"/>
          <a:lstStyle/>
          <a:p>
            <a:pPr marL="342900" indent="-342900">
              <a:lnSpc>
                <a:spcPts val="1800"/>
              </a:lnSpc>
              <a:spcAft>
                <a:spcPts val="700"/>
              </a:spcAft>
              <a:buSzPct val="100000"/>
              <a:buChar char="▪"/>
            </a:pPr>
            <a:r>
              <a:rPr lang="en-US" sz="1300" dirty="0">
                <a:solidFill>
                  <a:srgbClr val="14233A"/>
                </a:solidFill>
                <a:latin typeface="Arial" pitchFamily="34" charset="0"/>
                <a:ea typeface="Arial" pitchFamily="34" charset="-122"/>
                <a:cs typeface="Arial" pitchFamily="34" charset="-120"/>
              </a:rPr>
              <a:t>Nút chỉ hiện khi tra thẻ THÀNH CÔNG</a:t>
            </a:r>
            <a:endParaRPr lang="en-US" sz="1300" dirty="0"/>
          </a:p>
          <a:p>
            <a:pPr marL="342900" indent="-342900">
              <a:lnSpc>
                <a:spcPts val="1800"/>
              </a:lnSpc>
              <a:spcAft>
                <a:spcPts val="700"/>
              </a:spcAft>
              <a:buSzPct val="100000"/>
              <a:buChar char="▪"/>
            </a:pPr>
            <a:r>
              <a:rPr lang="en-US" sz="1300" dirty="0">
                <a:solidFill>
                  <a:srgbClr val="14233A"/>
                </a:solidFill>
                <a:latin typeface="Arial" pitchFamily="34" charset="0"/>
                <a:ea typeface="Arial" pitchFamily="34" charset="-122"/>
                <a:cs typeface="Arial" pitchFamily="34" charset="-120"/>
              </a:rPr>
              <a:t>Tra thẻ lỗi hoặc không tìm thấy thẻ → nút không hiện, đây không phải lỗi hiển thị</a:t>
            </a:r>
            <a:endParaRPr lang="en-US" sz="1300" dirty="0"/>
          </a:p>
          <a:p>
            <a:pPr marL="342900" indent="-342900">
              <a:lnSpc>
                <a:spcPts val="1800"/>
              </a:lnSpc>
              <a:spcAft>
                <a:spcPts val="700"/>
              </a:spcAft>
              <a:buSzPct val="100000"/>
              <a:buChar char="▪"/>
            </a:pPr>
            <a:r>
              <a:rPr lang="en-US" sz="1300" dirty="0">
                <a:solidFill>
                  <a:srgbClr val="14233A"/>
                </a:solidFill>
                <a:latin typeface="Arial" pitchFamily="34" charset="0"/>
                <a:ea typeface="Arial" pitchFamily="34" charset="-122"/>
                <a:cs typeface="Arial" pitchFamily="34" charset="-120"/>
              </a:rPr>
              <a:t>Bấm nút mở một cửa sổ riêng và bắt đầu hỏi cổng BHXH ngay</a:t>
            </a:r>
            <a:endParaRPr lang="en-US" sz="1300" dirty="0"/>
          </a:p>
        </p:txBody>
      </p:sp>
      <p:sp>
        <p:nvSpPr>
          <p:cNvPr id="7" name="Text 4"/>
          <p:cNvSpPr/>
          <p:nvPr/>
        </p:nvSpPr>
        <p:spPr>
          <a:xfrm>
            <a:off x="6278728" y="4626864"/>
            <a:ext cx="5346040" cy="1499616"/>
          </a:xfrm>
          <a:prstGeom prst="rect">
            <a:avLst/>
          </a:prstGeom>
          <a:noFill/>
          <a:ln/>
        </p:spPr>
        <p:txBody>
          <a:bodyPr wrap="square" rtlCol="0" anchor="t"/>
          <a:lstStyle/>
          <a:p>
            <a:pPr marL="342900" indent="-342900">
              <a:lnSpc>
                <a:spcPts val="1800"/>
              </a:lnSpc>
              <a:spcAft>
                <a:spcPts val="700"/>
              </a:spcAft>
              <a:buSzPct val="100000"/>
              <a:buChar char="▪"/>
            </a:pPr>
            <a:r>
              <a:rPr lang="en-US" sz="1300" dirty="0">
                <a:solidFill>
                  <a:srgbClr val="14233A"/>
                </a:solidFill>
                <a:latin typeface="Arial" pitchFamily="34" charset="0"/>
                <a:ea typeface="Arial" pitchFamily="34" charset="-122"/>
                <a:cs typeface="Arial" pitchFamily="34" charset="-120"/>
              </a:rPr>
              <a:t>Không phải nhập lại mã thẻ, họ tên, ngày sinh — đã lấy từ lần tra thẻ</a:t>
            </a:r>
            <a:endParaRPr lang="en-US" sz="1300" dirty="0"/>
          </a:p>
          <a:p>
            <a:pPr marL="342900" indent="-342900">
              <a:lnSpc>
                <a:spcPts val="1800"/>
              </a:lnSpc>
              <a:spcAft>
                <a:spcPts val="700"/>
              </a:spcAft>
              <a:buSzPct val="100000"/>
              <a:buChar char="▪"/>
            </a:pPr>
            <a:r>
              <a:rPr lang="en-US" sz="1300" dirty="0">
                <a:solidFill>
                  <a:srgbClr val="14233A"/>
                </a:solidFill>
                <a:latin typeface="Arial" pitchFamily="34" charset="0"/>
                <a:ea typeface="Arial" pitchFamily="34" charset="-122"/>
                <a:cs typeface="Arial" pitchFamily="34" charset="-120"/>
              </a:rPr>
              <a:t>Đây là cách nên dùng mặc định khi đang làm việc với người bệnh</a:t>
            </a:r>
            <a:endParaRPr lang="en-US" sz="1300" dirty="0"/>
          </a:p>
        </p:txBody>
      </p:sp>
      <p:sp>
        <p:nvSpPr>
          <p:cNvPr id="9" name="Shape 5"/>
          <p:cNvSpPr/>
          <p:nvPr/>
        </p:nvSpPr>
        <p:spPr>
          <a:xfrm>
            <a:off x="566928" y="6382512"/>
            <a:ext cx="11057839" cy="0"/>
          </a:xfrm>
          <a:prstGeom prst="line">
            <a:avLst/>
          </a:prstGeom>
          <a:noFill/>
          <a:ln w="9525">
            <a:solidFill>
              <a:srgbClr val="D6E2EE"/>
            </a:solidFill>
            <a:prstDash val="solid"/>
          </a:ln>
        </p:spPr>
      </p:sp>
      <p:sp>
        <p:nvSpPr>
          <p:cNvPr id="10" name="Text 6"/>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1" name="Text 7"/>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39 / 80</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05 / HDSD MCCT · MỤC 3.2</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Cách 2 — Tra trên màn hình riêng</a:t>
            </a:r>
            <a:endParaRPr lang="en-US" sz="2600" dirty="0"/>
          </a:p>
        </p:txBody>
      </p:sp>
      <p:sp>
        <p:nvSpPr>
          <p:cNvPr id="4" name="Text 2"/>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B6B7F"/>
                </a:solidFill>
                <a:latin typeface="Arial" pitchFamily="34" charset="0"/>
                <a:ea typeface="Arial" pitchFamily="34" charset="-122"/>
                <a:cs typeface="Arial" pitchFamily="34" charset="-120"/>
              </a:rPr>
              <a:t>Dùng khi cần tra độc lập, không đi từ màn tra cứu thẻ.</a:t>
            </a:r>
            <a:endParaRPr lang="en-US" sz="1300" dirty="0"/>
          </a:p>
        </p:txBody>
      </p:sp>
      <p:sp>
        <p:nvSpPr>
          <p:cNvPr id="5" name="Shape 3"/>
          <p:cNvSpPr/>
          <p:nvPr/>
        </p:nvSpPr>
        <p:spPr>
          <a:xfrm>
            <a:off x="566928" y="1709928"/>
            <a:ext cx="11057839" cy="566928"/>
          </a:xfrm>
          <a:prstGeom prst="rect">
            <a:avLst/>
          </a:prstGeom>
          <a:solidFill>
            <a:srgbClr val="EEF3F8"/>
          </a:solidFill>
          <a:ln w="12700">
            <a:solidFill>
              <a:srgbClr val="D6E2EE"/>
            </a:solidFill>
            <a:prstDash val="solid"/>
          </a:ln>
        </p:spPr>
      </p:sp>
      <p:sp>
        <p:nvSpPr>
          <p:cNvPr id="6" name="Shape 4"/>
          <p:cNvSpPr/>
          <p:nvPr/>
        </p:nvSpPr>
        <p:spPr>
          <a:xfrm>
            <a:off x="713232" y="1801368"/>
            <a:ext cx="384048" cy="384048"/>
          </a:xfrm>
          <a:prstGeom prst="ellipse">
            <a:avLst/>
          </a:prstGeom>
          <a:solidFill>
            <a:srgbClr val="1A5EA8"/>
          </a:solidFill>
          <a:ln/>
        </p:spPr>
      </p:sp>
      <p:sp>
        <p:nvSpPr>
          <p:cNvPr id="7" name="Text 5"/>
          <p:cNvSpPr/>
          <p:nvPr/>
        </p:nvSpPr>
        <p:spPr>
          <a:xfrm>
            <a:off x="713232" y="1801368"/>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1225296" y="1709928"/>
            <a:ext cx="5750076" cy="566928"/>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Vào menu Thẻ BHYT → Tra cứu tiền cùng chi trả</a:t>
            </a:r>
            <a:endParaRPr lang="en-US" sz="1400" dirty="0"/>
          </a:p>
        </p:txBody>
      </p:sp>
      <p:sp>
        <p:nvSpPr>
          <p:cNvPr id="9" name="Text 7"/>
          <p:cNvSpPr/>
          <p:nvPr/>
        </p:nvSpPr>
        <p:spPr>
          <a:xfrm>
            <a:off x="7085951" y="1709928"/>
            <a:ext cx="4088209" cy="56692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Hàng trên là ô Quét QR; hàng dưới là Cơ sở KCB, Mã thẻ/CCCD, Họ và tên, Ngày sinh và nút Tra cứu</a:t>
            </a:r>
            <a:endParaRPr lang="en-US" sz="1200" dirty="0"/>
          </a:p>
        </p:txBody>
      </p:sp>
      <p:sp>
        <p:nvSpPr>
          <p:cNvPr id="10" name="Shape 8"/>
          <p:cNvSpPr/>
          <p:nvPr/>
        </p:nvSpPr>
        <p:spPr>
          <a:xfrm>
            <a:off x="566928" y="2386584"/>
            <a:ext cx="11057839" cy="566928"/>
          </a:xfrm>
          <a:prstGeom prst="rect">
            <a:avLst/>
          </a:prstGeom>
          <a:solidFill>
            <a:srgbClr val="FFFFFF"/>
          </a:solidFill>
          <a:ln w="12700">
            <a:solidFill>
              <a:srgbClr val="D6E2EE"/>
            </a:solidFill>
            <a:prstDash val="solid"/>
          </a:ln>
        </p:spPr>
      </p:sp>
      <p:sp>
        <p:nvSpPr>
          <p:cNvPr id="11" name="Shape 9"/>
          <p:cNvSpPr/>
          <p:nvPr/>
        </p:nvSpPr>
        <p:spPr>
          <a:xfrm>
            <a:off x="713232" y="2478024"/>
            <a:ext cx="384048" cy="384048"/>
          </a:xfrm>
          <a:prstGeom prst="ellipse">
            <a:avLst/>
          </a:prstGeom>
          <a:solidFill>
            <a:srgbClr val="1A5EA8"/>
          </a:solidFill>
          <a:ln/>
        </p:spPr>
      </p:sp>
      <p:sp>
        <p:nvSpPr>
          <p:cNvPr id="12" name="Text 10"/>
          <p:cNvSpPr/>
          <p:nvPr/>
        </p:nvSpPr>
        <p:spPr>
          <a:xfrm>
            <a:off x="713232" y="2478024"/>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1225296" y="2386584"/>
            <a:ext cx="5750076" cy="566928"/>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Kiểm tra ô Cơ sở KCB — thông thường ô này đã được chọn sẵn</a:t>
            </a:r>
            <a:endParaRPr lang="en-US" sz="1400" dirty="0"/>
          </a:p>
        </p:txBody>
      </p:sp>
      <p:sp>
        <p:nvSpPr>
          <p:cNvPr id="14" name="Text 12"/>
          <p:cNvSpPr/>
          <p:nvPr/>
        </p:nvSpPr>
        <p:spPr>
          <a:xfrm>
            <a:off x="7085951" y="2386584"/>
            <a:ext cx="4088209" cy="56692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Phần mềm ghi nhớ lựa chọn từ lần trước</a:t>
            </a:r>
            <a:endParaRPr lang="en-US" sz="1200" dirty="0"/>
          </a:p>
        </p:txBody>
      </p:sp>
      <p:sp>
        <p:nvSpPr>
          <p:cNvPr id="15" name="Shape 13"/>
          <p:cNvSpPr/>
          <p:nvPr/>
        </p:nvSpPr>
        <p:spPr>
          <a:xfrm>
            <a:off x="566928" y="3063240"/>
            <a:ext cx="11057839" cy="566928"/>
          </a:xfrm>
          <a:prstGeom prst="rect">
            <a:avLst/>
          </a:prstGeom>
          <a:solidFill>
            <a:srgbClr val="EEF3F8"/>
          </a:solidFill>
          <a:ln w="12700">
            <a:solidFill>
              <a:srgbClr val="D6E2EE"/>
            </a:solidFill>
            <a:prstDash val="solid"/>
          </a:ln>
        </p:spPr>
      </p:sp>
      <p:sp>
        <p:nvSpPr>
          <p:cNvPr id="16" name="Shape 14"/>
          <p:cNvSpPr/>
          <p:nvPr/>
        </p:nvSpPr>
        <p:spPr>
          <a:xfrm>
            <a:off x="713232" y="3154680"/>
            <a:ext cx="384048" cy="384048"/>
          </a:xfrm>
          <a:prstGeom prst="ellipse">
            <a:avLst/>
          </a:prstGeom>
          <a:solidFill>
            <a:srgbClr val="1A5EA8"/>
          </a:solidFill>
          <a:ln/>
        </p:spPr>
      </p:sp>
      <p:sp>
        <p:nvSpPr>
          <p:cNvPr id="17" name="Text 15"/>
          <p:cNvSpPr/>
          <p:nvPr/>
        </p:nvSpPr>
        <p:spPr>
          <a:xfrm>
            <a:off x="713232" y="315468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6"/>
          <p:cNvSpPr/>
          <p:nvPr/>
        </p:nvSpPr>
        <p:spPr>
          <a:xfrm>
            <a:off x="1225296" y="3063240"/>
            <a:ext cx="5750076" cy="566928"/>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Cách nhanh: con trỏ đã nằm sẵn ở ô Quét QR, chỉ cần quét mã QR trên thẻ BHYT hoặc CCCD</a:t>
            </a:r>
            <a:endParaRPr lang="en-US" sz="1400" dirty="0"/>
          </a:p>
        </p:txBody>
      </p:sp>
      <p:sp>
        <p:nvSpPr>
          <p:cNvPr id="19" name="Text 17"/>
          <p:cNvSpPr/>
          <p:nvPr/>
        </p:nvSpPr>
        <p:spPr>
          <a:xfrm>
            <a:off x="7085951" y="3063240"/>
            <a:ext cx="4088209" cy="56692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Mã thẻ, họ tên, ngày sinh tự điền và phần mềm TỰ tra cứu luôn, không phải bấm thêm</a:t>
            </a:r>
            <a:endParaRPr lang="en-US" sz="1200" dirty="0"/>
          </a:p>
        </p:txBody>
      </p:sp>
      <p:sp>
        <p:nvSpPr>
          <p:cNvPr id="20" name="Shape 18"/>
          <p:cNvSpPr/>
          <p:nvPr/>
        </p:nvSpPr>
        <p:spPr>
          <a:xfrm>
            <a:off x="566928" y="3739896"/>
            <a:ext cx="11057839" cy="566928"/>
          </a:xfrm>
          <a:prstGeom prst="rect">
            <a:avLst/>
          </a:prstGeom>
          <a:solidFill>
            <a:srgbClr val="FFFFFF"/>
          </a:solidFill>
          <a:ln w="12700">
            <a:solidFill>
              <a:srgbClr val="D6E2EE"/>
            </a:solidFill>
            <a:prstDash val="solid"/>
          </a:ln>
        </p:spPr>
      </p:sp>
      <p:sp>
        <p:nvSpPr>
          <p:cNvPr id="21" name="Shape 19"/>
          <p:cNvSpPr/>
          <p:nvPr/>
        </p:nvSpPr>
        <p:spPr>
          <a:xfrm>
            <a:off x="713232" y="3831336"/>
            <a:ext cx="384048" cy="384048"/>
          </a:xfrm>
          <a:prstGeom prst="ellipse">
            <a:avLst/>
          </a:prstGeom>
          <a:solidFill>
            <a:srgbClr val="1A5EA8"/>
          </a:solidFill>
          <a:ln/>
        </p:spPr>
      </p:sp>
      <p:sp>
        <p:nvSpPr>
          <p:cNvPr id="22" name="Text 20"/>
          <p:cNvSpPr/>
          <p:nvPr/>
        </p:nvSpPr>
        <p:spPr>
          <a:xfrm>
            <a:off x="713232" y="3831336"/>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3" name="Text 21"/>
          <p:cNvSpPr/>
          <p:nvPr/>
        </p:nvSpPr>
        <p:spPr>
          <a:xfrm>
            <a:off x="1225296" y="3739896"/>
            <a:ext cx="5750076" cy="566928"/>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Cách thủ công: nhập mã thẻ/CCCD, họ tên, ngày sinh rồi bấm Tra cứu (hoặc nhấn Enter ở bất kỳ ô nào)</a:t>
            </a:r>
            <a:endParaRPr lang="en-US" sz="1400" dirty="0"/>
          </a:p>
        </p:txBody>
      </p:sp>
      <p:sp>
        <p:nvSpPr>
          <p:cNvPr id="24" name="Text 22"/>
          <p:cNvSpPr/>
          <p:nvPr/>
        </p:nvSpPr>
        <p:spPr>
          <a:xfrm>
            <a:off x="7085951" y="3739896"/>
            <a:ext cx="4088209" cy="56692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Yêu cầu được gửi lên cổng</a:t>
            </a:r>
            <a:endParaRPr lang="en-US" sz="1200" dirty="0"/>
          </a:p>
        </p:txBody>
      </p:sp>
      <p:sp>
        <p:nvSpPr>
          <p:cNvPr id="25" name="Shape 23"/>
          <p:cNvSpPr/>
          <p:nvPr/>
        </p:nvSpPr>
        <p:spPr>
          <a:xfrm>
            <a:off x="566928" y="4416552"/>
            <a:ext cx="11057839" cy="566928"/>
          </a:xfrm>
          <a:prstGeom prst="rect">
            <a:avLst/>
          </a:prstGeom>
          <a:solidFill>
            <a:srgbClr val="EEF3F8"/>
          </a:solidFill>
          <a:ln w="12700">
            <a:solidFill>
              <a:srgbClr val="D6E2EE"/>
            </a:solidFill>
            <a:prstDash val="solid"/>
          </a:ln>
        </p:spPr>
      </p:sp>
      <p:sp>
        <p:nvSpPr>
          <p:cNvPr id="26" name="Shape 24"/>
          <p:cNvSpPr/>
          <p:nvPr/>
        </p:nvSpPr>
        <p:spPr>
          <a:xfrm>
            <a:off x="713232" y="4507992"/>
            <a:ext cx="384048" cy="384048"/>
          </a:xfrm>
          <a:prstGeom prst="ellipse">
            <a:avLst/>
          </a:prstGeom>
          <a:solidFill>
            <a:srgbClr val="1A5EA8"/>
          </a:solidFill>
          <a:ln/>
        </p:spPr>
      </p:sp>
      <p:sp>
        <p:nvSpPr>
          <p:cNvPr id="27" name="Text 25"/>
          <p:cNvSpPr/>
          <p:nvPr/>
        </p:nvSpPr>
        <p:spPr>
          <a:xfrm>
            <a:off x="713232" y="4507992"/>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8" name="Text 26"/>
          <p:cNvSpPr/>
          <p:nvPr/>
        </p:nvSpPr>
        <p:spPr>
          <a:xfrm>
            <a:off x="1225296" y="4416552"/>
            <a:ext cx="5750076" cy="566928"/>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Chờ cổng BHXH trả lời</a:t>
            </a:r>
            <a:endParaRPr lang="en-US" sz="1400" dirty="0"/>
          </a:p>
        </p:txBody>
      </p:sp>
      <p:sp>
        <p:nvSpPr>
          <p:cNvPr id="29" name="Text 27"/>
          <p:cNvSpPr/>
          <p:nvPr/>
        </p:nvSpPr>
        <p:spPr>
          <a:xfrm>
            <a:off x="7085951" y="4416552"/>
            <a:ext cx="4088209" cy="56692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Kết quả hiện ra ngay bên dưới, trang KHÔNG tải lại</a:t>
            </a:r>
            <a:endParaRPr lang="en-US" sz="1200" dirty="0"/>
          </a:p>
        </p:txBody>
      </p:sp>
      <p:sp>
        <p:nvSpPr>
          <p:cNvPr id="30" name="Shape 28"/>
          <p:cNvSpPr/>
          <p:nvPr/>
        </p:nvSpPr>
        <p:spPr>
          <a:xfrm>
            <a:off x="566928" y="5074920"/>
            <a:ext cx="11057839" cy="1051560"/>
          </a:xfrm>
          <a:prstGeom prst="rect">
            <a:avLst/>
          </a:prstGeom>
          <a:solidFill>
            <a:srgbClr val="EAF5EC"/>
          </a:solidFill>
          <a:ln w="12700">
            <a:solidFill>
              <a:srgbClr val="EAF5EC"/>
            </a:solidFill>
            <a:prstDash val="solid"/>
          </a:ln>
        </p:spPr>
      </p:sp>
      <p:sp>
        <p:nvSpPr>
          <p:cNvPr id="31" name="Shape 29"/>
          <p:cNvSpPr/>
          <p:nvPr/>
        </p:nvSpPr>
        <p:spPr>
          <a:xfrm>
            <a:off x="566928" y="5074920"/>
            <a:ext cx="64008" cy="1051560"/>
          </a:xfrm>
          <a:prstGeom prst="rect">
            <a:avLst/>
          </a:prstGeom>
          <a:solidFill>
            <a:srgbClr val="2E7D32"/>
          </a:solidFill>
          <a:ln w="12700">
            <a:solidFill>
              <a:srgbClr val="2E7D32"/>
            </a:solidFill>
            <a:prstDash val="solid"/>
          </a:ln>
        </p:spPr>
      </p:sp>
      <p:sp>
        <p:nvSpPr>
          <p:cNvPr id="32" name="Text 30"/>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2E7D32"/>
                </a:solidFill>
                <a:latin typeface="Arial" pitchFamily="34" charset="0"/>
                <a:ea typeface="Arial" pitchFamily="34" charset="-122"/>
                <a:cs typeface="Arial" pitchFamily="34" charset="-120"/>
              </a:rPr>
              <a:t>Về mã QR: </a:t>
            </a:r>
            <a:pPr indent="0" marL="0">
              <a:lnSpc>
                <a:spcPts val="1900"/>
              </a:lnSpc>
              <a:buNone/>
            </a:pPr>
            <a:r>
              <a:rPr lang="en-US" sz="1300" dirty="0">
                <a:solidFill>
                  <a:srgbClr val="14233A"/>
                </a:solidFill>
                <a:latin typeface="Arial" pitchFamily="34" charset="0"/>
                <a:ea typeface="Arial" pitchFamily="34" charset="-122"/>
                <a:cs typeface="Arial" pitchFamily="34" charset="-120"/>
              </a:rPr>
              <a:t>Mã QR trên thẻ thường ghi ngày sinh thành 8 chữ số liền (ví dụ 20101964). Phần mềm tự chuyển sang dạng 20/10/1964 trước khi tra, nên không bị báo sai định dạng.</a:t>
            </a:r>
            <a:endParaRPr lang="en-US" sz="1300" dirty="0"/>
          </a:p>
        </p:txBody>
      </p:sp>
      <p:sp>
        <p:nvSpPr>
          <p:cNvPr id="34" name="Shape 31"/>
          <p:cNvSpPr/>
          <p:nvPr/>
        </p:nvSpPr>
        <p:spPr>
          <a:xfrm>
            <a:off x="566928" y="6382512"/>
            <a:ext cx="11057839" cy="0"/>
          </a:xfrm>
          <a:prstGeom prst="line">
            <a:avLst/>
          </a:prstGeom>
          <a:noFill/>
          <a:ln w="9525">
            <a:solidFill>
              <a:srgbClr val="D6E2EE"/>
            </a:solidFill>
            <a:prstDash val="solid"/>
          </a:ln>
        </p:spPr>
      </p:sp>
      <p:sp>
        <p:nvSpPr>
          <p:cNvPr id="35" name="Text 32"/>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36" name="Text 33"/>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40 / 80</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05 / HDSD MCCT · MỤC 4</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Quy tắc nhập liệu — bốn ô, bốn quy tắc</a:t>
            </a:r>
            <a:endParaRPr lang="en-US" sz="2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57839" cy="914400"/>
        </p:xfrm>
        <a:graphic>
          <a:graphicData uri="http://schemas.openxmlformats.org/drawingml/2006/table">
            <a:tbl>
              <a:tblPr/>
              <a:tblGrid>
                <a:gridCol w="2211568"/>
                <a:gridCol w="2875038"/>
                <a:gridCol w="5971233"/>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Trường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Yêu cầu</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Ghi chú</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Cơ sở KCB</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Bắt buộc chọn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Chỉ hiện những cơ sở đã khai tài khoản cổng BHXH. Chưa chọn thì phần mềm nhắc chọn chứ không báo lỗi. Lựa chọn được ghi nhớ cho lần sau</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Mã thẻ BHYT/CCCD</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Đúng 10, 12, 15 hoặc 17 ký tự</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Mã thẻ BHYT 15 hoặc 17 ký tự; mã số BHXH / số CCCD 10 hoặc 12 ký tự. Gõ kèm dấu cách cho dễ đọc cũng được — phần mềm tự bỏ khoảng trắng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Họ và tên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Bắt buộc</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Tự chuyển thành chữ IN HOA ngay khi gõ, kể cả họ tên điền từ mã QR. Không cần bật Caps Lock</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Ngày sinh</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20/10/1964 hoặc 10/1964 hoặc 1964</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Phải đủ HAI chữ số cho ngày và tháng. Gõ 1/1/1964 sẽ bị báo sai — phải gõ 01/01/1964</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5074920"/>
            <a:ext cx="11057839" cy="1051560"/>
          </a:xfrm>
          <a:prstGeom prst="rect">
            <a:avLst/>
          </a:prstGeom>
          <a:solidFill>
            <a:srgbClr val="FFF4E6"/>
          </a:solidFill>
          <a:ln w="12700">
            <a:solidFill>
              <a:srgbClr val="FFF4E6"/>
            </a:solidFill>
            <a:prstDash val="solid"/>
          </a:ln>
        </p:spPr>
      </p:sp>
      <p:sp>
        <p:nvSpPr>
          <p:cNvPr id="6" name="Shape 3"/>
          <p:cNvSpPr/>
          <p:nvPr/>
        </p:nvSpPr>
        <p:spPr>
          <a:xfrm>
            <a:off x="566928" y="5074920"/>
            <a:ext cx="64008" cy="1051560"/>
          </a:xfrm>
          <a:prstGeom prst="rect">
            <a:avLst/>
          </a:prstGeom>
          <a:solidFill>
            <a:srgbClr val="C96A12"/>
          </a:solidFill>
          <a:ln w="12700">
            <a:solidFill>
              <a:srgbClr val="C96A12"/>
            </a:solidFill>
            <a:prstDash val="solid"/>
          </a:ln>
        </p:spPr>
      </p:sp>
      <p:sp>
        <p:nvSpPr>
          <p:cNvPr id="7" name="Text 4"/>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Về việc ghi nhớ cơ sở: </a:t>
            </a:r>
            <a:pPr indent="0" marL="0">
              <a:lnSpc>
                <a:spcPts val="1900"/>
              </a:lnSpc>
              <a:buNone/>
            </a:pPr>
            <a:r>
              <a:rPr lang="en-US" sz="1300" dirty="0">
                <a:solidFill>
                  <a:srgbClr val="14233A"/>
                </a:solidFill>
                <a:latin typeface="Arial" pitchFamily="34" charset="0"/>
                <a:ea typeface="Arial" pitchFamily="34" charset="-122"/>
                <a:cs typeface="Arial" pitchFamily="34" charset="-120"/>
              </a:rPr>
              <a:t>Màn Tra cứu tiền cùng chi trả và màn Tra cứu thẻ BHYT dùng chung lựa chọn này. Việc ghi nhớ gắn với từng máy tính và từng trình duyệt — đổi máy, đổi trình duyệt, dùng cửa sổ ẩn danh hoặc xoá dữ liệu duyệt web thì phải chọn lại một lần. Phần mềm KHÔNG lưu tài khoản, mật khẩu hay thông tin người bệnh trên trình duyệt.</a:t>
            </a:r>
            <a:endParaRPr lang="en-US" sz="1300" dirty="0"/>
          </a:p>
        </p:txBody>
      </p:sp>
      <p:sp>
        <p:nvSpPr>
          <p:cNvPr id="9" name="Shape 5"/>
          <p:cNvSpPr/>
          <p:nvPr/>
        </p:nvSpPr>
        <p:spPr>
          <a:xfrm>
            <a:off x="566928" y="6382512"/>
            <a:ext cx="11057839" cy="0"/>
          </a:xfrm>
          <a:prstGeom prst="line">
            <a:avLst/>
          </a:prstGeom>
          <a:noFill/>
          <a:ln w="9525">
            <a:solidFill>
              <a:srgbClr val="D6E2EE"/>
            </a:solidFill>
            <a:prstDash val="solid"/>
          </a:ln>
        </p:spPr>
      </p:sp>
      <p:sp>
        <p:nvSpPr>
          <p:cNvPr id="10" name="Text 6"/>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1" name="Text 7"/>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41 / 80</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05 / HDSD MCCT · MỤC 5.1 – 5.2</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Đọc kết quả — khối kết luận</a:t>
            </a:r>
            <a:endParaRPr lang="en-US" sz="2600" dirty="0"/>
          </a:p>
        </p:txBody>
      </p:sp>
      <p:pic>
        <p:nvPicPr>
          <p:cNvPr id="4" name="Image 0" descr="C:\Users\tracnn\qlbv\docs\dao-tao\anh\anh-05-ket-qua-mcct.png">    </p:cNvPr>
          <p:cNvPicPr>
            <a:picLocks noChangeAspect="1"/>
          </p:cNvPicPr>
          <p:nvPr/>
        </p:nvPicPr>
        <p:blipFill>
          <a:blip r:embed="rId1"/>
          <a:stretch>
            <a:fillRect/>
          </a:stretch>
        </p:blipFill>
        <p:spPr>
          <a:xfrm>
            <a:off x="566928" y="1325880"/>
            <a:ext cx="4127928" cy="3657600"/>
          </a:xfrm>
          <a:prstGeom prst="rect">
            <a:avLst/>
          </a:prstGeom>
        </p:spPr>
      </p:pic>
      <p:sp>
        <p:nvSpPr>
          <p:cNvPr id="5" name="Shape 2"/>
          <p:cNvSpPr/>
          <p:nvPr/>
        </p:nvSpPr>
        <p:spPr>
          <a:xfrm>
            <a:off x="566928" y="1325880"/>
            <a:ext cx="4127928" cy="3657600"/>
          </a:xfrm>
          <a:prstGeom prst="rect">
            <a:avLst/>
          </a:prstGeom>
          <a:ln w="12700">
            <a:solidFill>
              <a:srgbClr val="D6E2EE"/>
            </a:solidFill>
            <a:prstDash val="solid"/>
          </a:ln>
        </p:spPr>
      </p:sp>
      <p:sp>
        <p:nvSpPr>
          <p:cNvPr id="6" name="Text 3"/>
          <p:cNvSpPr/>
          <p:nvPr/>
        </p:nvSpPr>
        <p:spPr>
          <a:xfrm>
            <a:off x="4969176" y="1325880"/>
            <a:ext cx="6655591" cy="3657600"/>
          </a:xfrm>
          <a:prstGeom prst="rect">
            <a:avLst/>
          </a:prstGeom>
          <a:noFill/>
          <a:ln/>
        </p:spPr>
        <p:txBody>
          <a:bodyPr wrap="square" rtlCol="0" anchor="t"/>
          <a:lstStyle/>
          <a:p>
            <a:pPr marL="342900" indent="-342900">
              <a:lnSpc>
                <a:spcPts val="1900"/>
              </a:lnSpc>
              <a:spcAft>
                <a:spcPts val="900"/>
              </a:spcAft>
              <a:buSzPct val="100000"/>
              <a:buChar char="▪"/>
            </a:pPr>
            <a:r>
              <a:rPr lang="en-US" sz="1300" dirty="0">
                <a:solidFill>
                  <a:srgbClr val="14233A"/>
                </a:solidFill>
                <a:latin typeface="Arial" pitchFamily="34" charset="0"/>
                <a:ea typeface="Arial" pitchFamily="34" charset="-122"/>
                <a:cs typeface="Arial" pitchFamily="34" charset="-120"/>
              </a:rPr>
              <a:t>Lũy kế cùng chi trả — tổng tiền người bệnh đã cùng chi trả trong năm</a:t>
            </a:r>
            <a:endParaRPr lang="en-US" sz="1300" dirty="0"/>
          </a:p>
          <a:p>
            <a:pPr marL="342900" indent="-342900">
              <a:lnSpc>
                <a:spcPts val="1900"/>
              </a:lnSpc>
              <a:spcAft>
                <a:spcPts val="900"/>
              </a:spcAft>
              <a:buSzPct val="100000"/>
              <a:buChar char="▪"/>
            </a:pPr>
            <a:r>
              <a:rPr lang="en-US" sz="1300" dirty="0">
                <a:solidFill>
                  <a:srgbClr val="14233A"/>
                </a:solidFill>
                <a:latin typeface="Arial" pitchFamily="34" charset="0"/>
                <a:ea typeface="Arial" pitchFamily="34" charset="-122"/>
                <a:cs typeface="Arial" pitchFamily="34" charset="-120"/>
              </a:rPr>
              <a:t>Ngưỡng cả năm — số tiền cần đạt. KHÔNG phải lúc nào cũng bằng 6 tháng lương cơ sở hiện hành</a:t>
            </a:r>
            <a:endParaRPr lang="en-US" sz="1300" dirty="0"/>
          </a:p>
          <a:p>
            <a:pPr marL="342900" indent="-342900">
              <a:lnSpc>
                <a:spcPts val="1900"/>
              </a:lnSpc>
              <a:spcAft>
                <a:spcPts val="900"/>
              </a:spcAft>
              <a:buSzPct val="100000"/>
              <a:buChar char="▪"/>
            </a:pPr>
            <a:r>
              <a:rPr lang="en-US" sz="1300" dirty="0">
                <a:solidFill>
                  <a:srgbClr val="14233A"/>
                </a:solidFill>
                <a:latin typeface="Arial" pitchFamily="34" charset="0"/>
                <a:ea typeface="Arial" pitchFamily="34" charset="-122"/>
                <a:cs typeface="Arial" pitchFamily="34" charset="-120"/>
              </a:rPr>
              <a:t>Kết luận — nhãn xanh "ĐỦ NGƯỠNG 6 THÁNG LƯƠNG CƠ SỞ" hoặc nhãn vàng "CÒN THIẾU" kèm số tiền</a:t>
            </a:r>
            <a:endParaRPr lang="en-US" sz="1300" dirty="0"/>
          </a:p>
          <a:p>
            <a:pPr marL="342900" indent="-342900">
              <a:lnSpc>
                <a:spcPts val="1900"/>
              </a:lnSpc>
              <a:spcAft>
                <a:spcPts val="900"/>
              </a:spcAft>
              <a:buSzPct val="100000"/>
              <a:buChar char="▪"/>
            </a:pPr>
            <a:r>
              <a:rPr lang="en-US" sz="1300" dirty="0">
                <a:solidFill>
                  <a:srgbClr val="14233A"/>
                </a:solidFill>
                <a:latin typeface="Arial" pitchFamily="34" charset="0"/>
                <a:ea typeface="Arial" pitchFamily="34" charset="-122"/>
                <a:cs typeface="Arial" pitchFamily="34" charset="-120"/>
              </a:rPr>
              <a:t>Hai số đầu đều tính từ 01/01 nên so sánh trực tiếp được với nhau</a:t>
            </a:r>
            <a:endParaRPr lang="en-US" sz="1300" dirty="0"/>
          </a:p>
          <a:p>
            <a:pPr marL="342900" indent="-342900">
              <a:lnSpc>
                <a:spcPts val="1900"/>
              </a:lnSpc>
              <a:spcAft>
                <a:spcPts val="900"/>
              </a:spcAft>
              <a:buSzPct val="100000"/>
              <a:buChar char="▪"/>
            </a:pPr>
            <a:r>
              <a:rPr lang="en-US" sz="1300" dirty="0">
                <a:solidFill>
                  <a:srgbClr val="14233A"/>
                </a:solidFill>
                <a:latin typeface="Arial" pitchFamily="34" charset="0"/>
                <a:ea typeface="Arial" pitchFamily="34" charset="-122"/>
                <a:cs typeface="Arial" pitchFamily="34" charset="-120"/>
              </a:rPr>
              <a:t>Khi đạt ngưỡng, màn hình hiện thêm khung nhắc kiểm tra điều kiện 5 năm liên tục — đọc kỹ trước khi trả lời</a:t>
            </a:r>
            <a:endParaRPr lang="en-US" sz="1300" dirty="0"/>
          </a:p>
        </p:txBody>
      </p:sp>
      <p:sp>
        <p:nvSpPr>
          <p:cNvPr id="7" name="Shape 4"/>
          <p:cNvSpPr/>
          <p:nvPr/>
        </p:nvSpPr>
        <p:spPr>
          <a:xfrm>
            <a:off x="566928" y="5074920"/>
            <a:ext cx="11057839" cy="1051560"/>
          </a:xfrm>
          <a:prstGeom prst="rect">
            <a:avLst/>
          </a:prstGeom>
          <a:solidFill>
            <a:srgbClr val="FDECEC"/>
          </a:solidFill>
          <a:ln w="12700">
            <a:solidFill>
              <a:srgbClr val="FDECEC"/>
            </a:solidFill>
            <a:prstDash val="solid"/>
          </a:ln>
        </p:spPr>
      </p:sp>
      <p:sp>
        <p:nvSpPr>
          <p:cNvPr id="8" name="Shape 5"/>
          <p:cNvSpPr/>
          <p:nvPr/>
        </p:nvSpPr>
        <p:spPr>
          <a:xfrm>
            <a:off x="566928" y="5074920"/>
            <a:ext cx="64008" cy="1051560"/>
          </a:xfrm>
          <a:prstGeom prst="rect">
            <a:avLst/>
          </a:prstGeom>
          <a:solidFill>
            <a:srgbClr val="C62828"/>
          </a:solidFill>
          <a:ln w="12700">
            <a:solidFill>
              <a:srgbClr val="C62828"/>
            </a:solidFill>
            <a:prstDash val="solid"/>
          </a:ln>
        </p:spPr>
      </p:sp>
      <p:sp>
        <p:nvSpPr>
          <p:cNvPr id="9" name="Text 6"/>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BẮT BUỘC đọc dòng chữ nhỏ bên dưới: </a:t>
            </a:r>
            <a:pPr indent="0" marL="0">
              <a:lnSpc>
                <a:spcPts val="1900"/>
              </a:lnSpc>
              <a:buNone/>
            </a:pPr>
            <a:r>
              <a:rPr lang="en-US" sz="1300" dirty="0">
                <a:solidFill>
                  <a:srgbClr val="14233A"/>
                </a:solidFill>
                <a:latin typeface="Arial" pitchFamily="34" charset="0"/>
                <a:ea typeface="Arial" pitchFamily="34" charset="-122"/>
                <a:cs typeface="Arial" pitchFamily="34" charset="-120"/>
              </a:rPr>
              <a:t>Dòng đó ghi nguồn dữ liệu và mốc thời gian, ví dụ "Nguồn DL lấy từ các CSKCB đề nghị thanh toán KCB BHYT trên HTTTGĐ BHYT tính đến: 14/08/2026 14:41". Số liệu của cổng CÓ ĐỘ TRỄ — đợt KCB mà cơ sở chưa gửi hồ sơ đề nghị thanh toán thì chưa được tính vào lũy kế.</a:t>
            </a:r>
            <a:endParaRPr lang="en-US" sz="1300" dirty="0"/>
          </a:p>
        </p:txBody>
      </p:sp>
      <p:sp>
        <p:nvSpPr>
          <p:cNvPr id="11" name="Shape 7"/>
          <p:cNvSpPr/>
          <p:nvPr/>
        </p:nvSpPr>
        <p:spPr>
          <a:xfrm>
            <a:off x="566928" y="6382512"/>
            <a:ext cx="11057839" cy="0"/>
          </a:xfrm>
          <a:prstGeom prst="line">
            <a:avLst/>
          </a:prstGeom>
          <a:noFill/>
          <a:ln w="9525">
            <a:solidFill>
              <a:srgbClr val="D6E2EE"/>
            </a:solidFill>
            <a:prstDash val="solid"/>
          </a:ln>
        </p:spPr>
      </p:sp>
      <p:sp>
        <p:nvSpPr>
          <p:cNvPr id="12" name="Text 8"/>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3" name="Text 9"/>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42 / 80</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05 / HDSD MCCT · MỤC 5.3</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Khi lương cơ sở thay đổi giữa năm — ngưỡng KHÔNG phải 6 × lương mới</a:t>
            </a:r>
            <a:endParaRPr lang="en-US" sz="2600" dirty="0"/>
          </a:p>
        </p:txBody>
      </p:sp>
      <p:sp>
        <p:nvSpPr>
          <p:cNvPr id="4" name="Text 2"/>
          <p:cNvSpPr/>
          <p:nvPr/>
        </p:nvSpPr>
        <p:spPr>
          <a:xfrm>
            <a:off x="566928" y="1325880"/>
            <a:ext cx="11057839" cy="4114800"/>
          </a:xfrm>
          <a:prstGeom prst="rect">
            <a:avLst/>
          </a:prstGeom>
          <a:noFill/>
          <a:ln/>
        </p:spPr>
        <p:txBody>
          <a:bodyPr wrap="square" rtlCol="0" anchor="t"/>
          <a:lstStyle/>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Năm 2026 lương cơ sở đổi từ 2.340.000 đ lên 2.530.000 đ kể từ 01/7/2026</a:t>
            </a:r>
            <a:endParaRPr lang="en-US" sz="1600" dirty="0"/>
          </a:p>
          <a:p>
            <a:pPr marL="342900" indent="-342900">
              <a:lnSpc>
                <a:spcPts val="2400"/>
              </a:lnSpc>
              <a:spcAft>
                <a:spcPts val="1000"/>
              </a:spcAft>
              <a:buSzPct val="100000"/>
              <a:buChar char="▪"/>
            </a:pPr>
            <a:r>
              <a:rPr lang="en-US" sz="1600" b="1" dirty="0">
                <a:solidFill>
                  <a:srgbClr val="C62828"/>
                </a:solidFill>
                <a:latin typeface="Arial" pitchFamily="34" charset="0"/>
                <a:ea typeface="Arial" pitchFamily="34" charset="-122"/>
                <a:cs typeface="Arial" pitchFamily="34" charset="-120"/>
              </a:rPr>
              <a:t>Ngưỡng cả năm KHÔNG phải là 6 × 2.530.000 = 15.180.000 đ</a:t>
            </a:r>
            <a:endParaRPr lang="en-US" sz="1600" dirty="0"/>
          </a:p>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Theo điểm c khoản 2 Điều 18 Nghị định 188/2025/NĐ-CP: phần tiền đã cùng chi trả trước ngày đổi lương được quy đổi ra số tháng theo LƯƠNG CŨ; phần còn thiếu mới tính theo LƯƠNG MỚI</a:t>
            </a:r>
            <a:endParaRPr lang="en-US" sz="1600" dirty="0"/>
          </a:p>
          <a:p>
            <a:pPr marL="342900" indent="-342900">
              <a:lnSpc>
                <a:spcPts val="2400"/>
              </a:lnSpc>
              <a:spcAft>
                <a:spcPts val="1000"/>
              </a:spcAft>
              <a:buSzPct val="100000"/>
              <a:buChar char="▪"/>
            </a:pPr>
            <a:r>
              <a:rPr lang="en-US" sz="1600" b="1" dirty="0">
                <a:solidFill>
                  <a:srgbClr val="1F4E79"/>
                </a:solidFill>
                <a:latin typeface="Arial" pitchFamily="34" charset="0"/>
                <a:ea typeface="Arial" pitchFamily="34" charset="-122"/>
                <a:cs typeface="Arial" pitchFamily="34" charset="-120"/>
              </a:rPr>
              <a:t>Số tiền còn phải cùng chi trả = ( 6 − Tiền đã đóng trước 01/7 ÷ Lương cũ ) × Lương mới</a:t>
            </a:r>
            <a:endParaRPr lang="en-US" sz="1600" dirty="0"/>
          </a:p>
          <a:p>
            <a:pPr marL="342900" indent="-342900">
              <a:lnSpc>
                <a:spcPts val="2400"/>
              </a:lnSpc>
              <a:spcAft>
                <a:spcPts val="1000"/>
              </a:spcAft>
              <a:buSzPct val="100000"/>
              <a:buChar char="▪"/>
            </a:pPr>
            <a:r>
              <a:rPr lang="en-US" sz="1600" b="1" dirty="0">
                <a:solidFill>
                  <a:srgbClr val="1F4E79"/>
                </a:solidFill>
                <a:latin typeface="Arial" pitchFamily="34" charset="0"/>
                <a:ea typeface="Arial" pitchFamily="34" charset="-122"/>
                <a:cs typeface="Arial" pitchFamily="34" charset="-120"/>
              </a:rPr>
              <a:t>Ngưỡng cả năm = Tiền đã đóng trước 01/7 + Số tiền còn phải cùng chi trả</a:t>
            </a:r>
            <a:endParaRPr lang="en-US" sz="1600" dirty="0"/>
          </a:p>
          <a:p>
            <a:pPr marL="342900" indent="-342900">
              <a:lnSpc>
                <a:spcPts val="2400"/>
              </a:lnSpc>
              <a:spcAft>
                <a:spcPts val="200"/>
              </a:spcAft>
              <a:buSzPct val="100000"/>
              <a:buChar char="▪"/>
            </a:pPr>
            <a:r>
              <a:rPr lang="en-US" sz="1600" b="1" dirty="0">
                <a:solidFill>
                  <a:srgbClr val="14233A"/>
                </a:solidFill>
                <a:latin typeface="Arial" pitchFamily="34" charset="0"/>
                <a:ea typeface="Arial" pitchFamily="34" charset="-122"/>
                <a:cs typeface="Arial" pitchFamily="34" charset="-120"/>
              </a:rPr>
              <a:t>Ví dụ: đã cùng chi trả 13.000.000 đ tính đến 30/6/2026</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   Còn phải đóng = (6 − 13.000.000 ÷ 2.340.000) × 2.530.000 = 1.124.444 đ → Ngưỡng cả năm = 14.124.444 đ, CHƯA đủ miễn</a:t>
            </a:r>
            <a:endParaRPr lang="en-US" sz="1600" dirty="0"/>
          </a:p>
        </p:txBody>
      </p:sp>
      <p:sp>
        <p:nvSpPr>
          <p:cNvPr id="5" name="Shape 3"/>
          <p:cNvSpPr/>
          <p:nvPr/>
        </p:nvSpPr>
        <p:spPr>
          <a:xfrm>
            <a:off x="566928" y="5074920"/>
            <a:ext cx="11057839" cy="1051560"/>
          </a:xfrm>
          <a:prstGeom prst="rect">
            <a:avLst/>
          </a:prstGeom>
          <a:solidFill>
            <a:srgbClr val="EAF5EC"/>
          </a:solidFill>
          <a:ln w="12700">
            <a:solidFill>
              <a:srgbClr val="EAF5EC"/>
            </a:solidFill>
            <a:prstDash val="solid"/>
          </a:ln>
        </p:spPr>
      </p:sp>
      <p:sp>
        <p:nvSpPr>
          <p:cNvPr id="6" name="Shape 4"/>
          <p:cNvSpPr/>
          <p:nvPr/>
        </p:nvSpPr>
        <p:spPr>
          <a:xfrm>
            <a:off x="566928" y="5074920"/>
            <a:ext cx="64008" cy="1051560"/>
          </a:xfrm>
          <a:prstGeom prst="rect">
            <a:avLst/>
          </a:prstGeom>
          <a:solidFill>
            <a:srgbClr val="2E7D32"/>
          </a:solidFill>
          <a:ln w="12700">
            <a:solidFill>
              <a:srgbClr val="2E7D32"/>
            </a:solidFill>
            <a:prstDash val="solid"/>
          </a:ln>
        </p:spPr>
      </p:sp>
      <p:sp>
        <p:nvSpPr>
          <p:cNvPr id="7" name="Text 5"/>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2E7D32"/>
                </a:solidFill>
                <a:latin typeface="Arial" pitchFamily="34" charset="0"/>
                <a:ea typeface="Arial" pitchFamily="34" charset="-122"/>
                <a:cs typeface="Arial" pitchFamily="34" charset="-120"/>
              </a:rPr>
              <a:t>Không phải tính tay: </a:t>
            </a:r>
            <a:pPr indent="0" marL="0">
              <a:lnSpc>
                <a:spcPts val="1900"/>
              </a:lnSpc>
              <a:buNone/>
            </a:pPr>
            <a:r>
              <a:rPr lang="en-US" sz="1300" dirty="0">
                <a:solidFill>
                  <a:srgbClr val="14233A"/>
                </a:solidFill>
                <a:latin typeface="Arial" pitchFamily="34" charset="0"/>
                <a:ea typeface="Arial" pitchFamily="34" charset="-122"/>
                <a:cs typeface="Arial" pitchFamily="34" charset="-120"/>
              </a:rPr>
              <a:t>Màn hình tự tính và hiện đầy đủ các bước này ngay dưới khối kết luận. Nếu người bệnh đã đóng đủ 6 tháng lương CŨ trước ngày đổi lương thì được hưởng quyền lợi ngay, không áp dụng công thức. Đợt KCB được xếp trước hay sau mốc đổi lương theo NGÀY RA VIỆN.</a:t>
            </a:r>
            <a:endParaRPr lang="en-US" sz="1300" dirty="0"/>
          </a:p>
        </p:txBody>
      </p:sp>
      <p:sp>
        <p:nvSpPr>
          <p:cNvPr id="9" name="Shape 6"/>
          <p:cNvSpPr/>
          <p:nvPr/>
        </p:nvSpPr>
        <p:spPr>
          <a:xfrm>
            <a:off x="566928" y="6382512"/>
            <a:ext cx="11057839" cy="0"/>
          </a:xfrm>
          <a:prstGeom prst="line">
            <a:avLst/>
          </a:prstGeom>
          <a:noFill/>
          <a:ln w="9525">
            <a:solidFill>
              <a:srgbClr val="D6E2EE"/>
            </a:solidFill>
            <a:prstDash val="solid"/>
          </a:ln>
        </p:spPr>
      </p:sp>
      <p:sp>
        <p:nvSpPr>
          <p:cNvPr id="10" name="Text 7"/>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1" name="Text 8"/>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43 / 80</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05 / HDSD MCCT · MỤC 5.4 – 5.5</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Bảng chi tiết các đợt KCB và lịch sử tra cứu</a:t>
            </a:r>
            <a:endParaRPr lang="en-US" sz="2600" dirty="0"/>
          </a:p>
        </p:txBody>
      </p:sp>
      <p:sp>
        <p:nvSpPr>
          <p:cNvPr id="4" name="Text 2"/>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B6B7F"/>
                </a:solidFill>
                <a:latin typeface="Arial" pitchFamily="34" charset="0"/>
                <a:ea typeface="Arial" pitchFamily="34" charset="-122"/>
                <a:cs typeface="Arial" pitchFamily="34" charset="-120"/>
              </a:rPr>
              <a:t>Bảng chi tiết liệt kê từng đợt KCB có phát sinh cùng chi trả, sắp xếp giảm dần theo ngày ra viện.</a:t>
            </a:r>
            <a:endParaRPr lang="en-US" sz="1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3317352"/>
                <a:gridCol w="7740487"/>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Cột</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Ý nghĩa</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Mã CSKCB</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Cơ sở nơi phát sinh đợt KCB đó — CÓ THỂ LÀ CƠ SỞ KHÁC, không phải cơ sở đang tra</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Ngày vào / Ngày ra</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Ngày vào viện và ngày ra viện của đợt đó</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Đối tượng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Mã đối tượng khi đi khám chữa bệnh của đợt đó</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Tiền CCT thuộc diện miễn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Số tiền cùng chi trả của riêng đợt đó được tính vào diện xét miễn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Lũy kế</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Số tiền cùng chi trả cộng dồn tính đến hết đợt đó — đây là con số dùng để xét ngưỡng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Ngày nhận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Ngày cổng tiếp nhận hồ sơ của đợt đó</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5074920"/>
            <a:ext cx="11057839" cy="1051560"/>
          </a:xfrm>
          <a:prstGeom prst="rect">
            <a:avLst/>
          </a:prstGeom>
          <a:solidFill>
            <a:srgbClr val="FFF4E6"/>
          </a:solidFill>
          <a:ln w="12700">
            <a:solidFill>
              <a:srgbClr val="FFF4E6"/>
            </a:solidFill>
            <a:prstDash val="solid"/>
          </a:ln>
        </p:spPr>
      </p:sp>
      <p:sp>
        <p:nvSpPr>
          <p:cNvPr id="7" name="Shape 4"/>
          <p:cNvSpPr/>
          <p:nvPr/>
        </p:nvSpPr>
        <p:spPr>
          <a:xfrm>
            <a:off x="566928" y="5074920"/>
            <a:ext cx="64008" cy="1051560"/>
          </a:xfrm>
          <a:prstGeom prst="rect">
            <a:avLst/>
          </a:prstGeom>
          <a:solidFill>
            <a:srgbClr val="C96A12"/>
          </a:solidFill>
          <a:ln w="12700">
            <a:solidFill>
              <a:srgbClr val="C96A12"/>
            </a:solidFill>
            <a:prstDash val="solid"/>
          </a:ln>
        </p:spPr>
      </p:sp>
      <p:sp>
        <p:nvSpPr>
          <p:cNvPr id="8" name="Text 5"/>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Lịch sử tra cứu: </a:t>
            </a:r>
            <a:pPr indent="0" marL="0">
              <a:lnSpc>
                <a:spcPts val="1900"/>
              </a:lnSpc>
              <a:buNone/>
            </a:pPr>
            <a:r>
              <a:rPr lang="en-US" sz="1300" dirty="0">
                <a:solidFill>
                  <a:srgbClr val="14233A"/>
                </a:solidFill>
                <a:latin typeface="Arial" pitchFamily="34" charset="0"/>
                <a:ea typeface="Arial" pitchFamily="34" charset="-122"/>
                <a:cs typeface="Arial" pitchFamily="34" charset="-120"/>
              </a:rPr>
              <a:t>Cuối trang (trên màn hình riêng) hiển thị vài lần tra gần nhất của chính thẻ đó: thời điểm, cơ sở, kết quả, lũy kế và NGƯỠNG ÁP DỤNG LÚC ĐÓ. Khi lương cơ sở tăng, các bản ghi cũ vẫn giữ nguyên kết luận cũ — đúng như tại thời điểm đó.</a:t>
            </a:r>
            <a:endParaRPr lang="en-US" sz="1300" dirty="0"/>
          </a:p>
        </p:txBody>
      </p:sp>
      <p:sp>
        <p:nvSpPr>
          <p:cNvPr id="10" name="Shape 6"/>
          <p:cNvSpPr/>
          <p:nvPr/>
        </p:nvSpPr>
        <p:spPr>
          <a:xfrm>
            <a:off x="566928" y="6382512"/>
            <a:ext cx="11057839" cy="0"/>
          </a:xfrm>
          <a:prstGeom prst="line">
            <a:avLst/>
          </a:prstGeom>
          <a:noFill/>
          <a:ln w="9525">
            <a:solidFill>
              <a:srgbClr val="D6E2EE"/>
            </a:solidFill>
            <a:prstDash val="solid"/>
          </a:ln>
        </p:spPr>
      </p:sp>
      <p:sp>
        <p:nvSpPr>
          <p:cNvPr id="11" name="Text 7"/>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2" name="Text 8"/>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44 / 80</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05 / HDSD MCCT · MỤC 6</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Vì sao phải chờ, và vì sao không được bấm nhiều lần</a:t>
            </a:r>
            <a:endParaRPr lang="en-US" sz="2600" dirty="0"/>
          </a:p>
        </p:txBody>
      </p:sp>
      <p:sp>
        <p:nvSpPr>
          <p:cNvPr id="4" name="Text 2"/>
          <p:cNvSpPr/>
          <p:nvPr/>
        </p:nvSpPr>
        <p:spPr>
          <a:xfrm>
            <a:off x="566928" y="1325880"/>
            <a:ext cx="11057839" cy="4114800"/>
          </a:xfrm>
          <a:prstGeom prst="rect">
            <a:avLst/>
          </a:prstGeom>
          <a:noFill/>
          <a:ln/>
        </p:spPr>
        <p:txBody>
          <a:bodyPr wrap="square" rtlCol="0" anchor="t"/>
          <a:lstStyle/>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Cổng BHXH thường trả lời trong khoảng 5 đến 30 giây, đôi khi lâu hơn</a:t>
            </a:r>
            <a:endParaRPr lang="en-US" sz="1600" dirty="0"/>
          </a:p>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Trong lúc chờ, màn hình hiển thị đồng hồ đếm số giây. Đồng hồ còn chạy nghĩa là hệ thống vẫn làm việc bình thường</a:t>
            </a:r>
            <a:endParaRPr lang="en-US" sz="1600" dirty="0"/>
          </a:p>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Sau 25 giây, dòng chữ tự đổi thành "Cổng BHXH đang phản hồi chậm, vẫn đang chờ…" — vẫn là trạng thái BÌNH THƯỜNG, không phải lỗi</a:t>
            </a:r>
            <a:endParaRPr lang="en-US" sz="1600" dirty="0"/>
          </a:p>
          <a:p>
            <a:pPr marL="342900" indent="-342900">
              <a:lnSpc>
                <a:spcPts val="2400"/>
              </a:lnSpc>
              <a:spcAft>
                <a:spcPts val="200"/>
              </a:spcAft>
              <a:buSzPct val="100000"/>
              <a:buChar char="▪"/>
            </a:pPr>
            <a:r>
              <a:rPr lang="en-US" sz="1600" b="1" dirty="0">
                <a:solidFill>
                  <a:srgbClr val="C62828"/>
                </a:solidFill>
                <a:latin typeface="Arial" pitchFamily="34" charset="0"/>
                <a:ea typeface="Arial" pitchFamily="34" charset="-122"/>
                <a:cs typeface="Arial" pitchFamily="34" charset="-120"/>
              </a:rPr>
              <a:t>KHÔNG bấm lại nhiều lần. Cơ quan BHXH giới hạn số lượt tra cứu của mỗi tài khoản và có danh sách tài khoản bị hạn chế tra cứu</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   Mỗi lần bấm là một lượt gọi thật. Vì vậy trong lúc chờ, phần mềm tự khoá nút và các ô nhập liệu</a:t>
            </a:r>
            <a:endParaRPr lang="en-US" sz="1600" dirty="0"/>
          </a:p>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Mỗi lần tra là một lượt hỏi cổng thật, kể cả khi mở lại đúng thẻ vừa tra. Chỉ tra khi cần</a:t>
            </a:r>
            <a:endParaRPr lang="en-US" sz="1600" dirty="0"/>
          </a:p>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Phần mềm chờ cổng tối đa 120 giây; quá thời gian đó thì dừng chờ và báo lỗi — đợi vài phút rồi bấm Thử lại</a:t>
            </a:r>
            <a:endParaRPr lang="en-US" sz="1600" dirty="0"/>
          </a:p>
        </p:txBody>
      </p:sp>
      <p:sp>
        <p:nvSpPr>
          <p:cNvPr id="5" name="Shape 3"/>
          <p:cNvSpPr/>
          <p:nvPr/>
        </p:nvSpPr>
        <p:spPr>
          <a:xfrm>
            <a:off x="566928" y="5074920"/>
            <a:ext cx="11057839" cy="1051560"/>
          </a:xfrm>
          <a:prstGeom prst="rect">
            <a:avLst/>
          </a:prstGeom>
          <a:solidFill>
            <a:srgbClr val="EAF5EC"/>
          </a:solidFill>
          <a:ln w="12700">
            <a:solidFill>
              <a:srgbClr val="EAF5EC"/>
            </a:solidFill>
            <a:prstDash val="solid"/>
          </a:ln>
        </p:spPr>
      </p:sp>
      <p:sp>
        <p:nvSpPr>
          <p:cNvPr id="6" name="Shape 4"/>
          <p:cNvSpPr/>
          <p:nvPr/>
        </p:nvSpPr>
        <p:spPr>
          <a:xfrm>
            <a:off x="566928" y="5074920"/>
            <a:ext cx="64008" cy="1051560"/>
          </a:xfrm>
          <a:prstGeom prst="rect">
            <a:avLst/>
          </a:prstGeom>
          <a:solidFill>
            <a:srgbClr val="2E7D32"/>
          </a:solidFill>
          <a:ln w="12700">
            <a:solidFill>
              <a:srgbClr val="2E7D32"/>
            </a:solidFill>
            <a:prstDash val="solid"/>
          </a:ln>
        </p:spPr>
      </p:sp>
      <p:sp>
        <p:nvSpPr>
          <p:cNvPr id="7" name="Text 5"/>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2E7D32"/>
                </a:solidFill>
                <a:latin typeface="Arial" pitchFamily="34" charset="0"/>
                <a:ea typeface="Arial" pitchFamily="34" charset="-122"/>
                <a:cs typeface="Arial" pitchFamily="34" charset="-120"/>
              </a:rPr>
              <a:t>Đổi lại việc phải chờ: </a:t>
            </a:r>
            <a:pPr indent="0" marL="0">
              <a:lnSpc>
                <a:spcPts val="1900"/>
              </a:lnSpc>
              <a:buNone/>
            </a:pPr>
            <a:r>
              <a:rPr lang="en-US" sz="1300" dirty="0">
                <a:solidFill>
                  <a:srgbClr val="14233A"/>
                </a:solidFill>
                <a:latin typeface="Arial" pitchFamily="34" charset="0"/>
                <a:ea typeface="Arial" pitchFamily="34" charset="-122"/>
                <a:cs typeface="Arial" pitchFamily="34" charset="-120"/>
              </a:rPr>
              <a:t>Mỗi lần tra đều lấy số liệu MỚI NHẤT từ cổng, không phải số liệu đã lưu từ lần tra trước. Các lần tra trước của thẻ vẫn xem được ở bảng Lịch sử tra cứu cuối trang.</a:t>
            </a:r>
            <a:endParaRPr lang="en-US" sz="1300" dirty="0"/>
          </a:p>
        </p:txBody>
      </p:sp>
      <p:sp>
        <p:nvSpPr>
          <p:cNvPr id="9" name="Shape 6"/>
          <p:cNvSpPr/>
          <p:nvPr/>
        </p:nvSpPr>
        <p:spPr>
          <a:xfrm>
            <a:off x="566928" y="6382512"/>
            <a:ext cx="11057839" cy="0"/>
          </a:xfrm>
          <a:prstGeom prst="line">
            <a:avLst/>
          </a:prstGeom>
          <a:noFill/>
          <a:ln w="9525">
            <a:solidFill>
              <a:srgbClr val="D6E2EE"/>
            </a:solidFill>
            <a:prstDash val="solid"/>
          </a:ln>
        </p:spPr>
      </p:sp>
      <p:sp>
        <p:nvSpPr>
          <p:cNvPr id="10" name="Text 7"/>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1" name="Text 8"/>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45 / 80</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05 / HDSD MCCT · MỤC 7</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Các thông báo hay gặp — phần cán bộ tự xử lý</a:t>
            </a:r>
            <a:endParaRPr lang="en-US" sz="2600" dirty="0"/>
          </a:p>
        </p:txBody>
      </p:sp>
      <p:sp>
        <p:nvSpPr>
          <p:cNvPr id="4" name="Shape 2"/>
          <p:cNvSpPr/>
          <p:nvPr/>
        </p:nvSpPr>
        <p:spPr>
          <a:xfrm>
            <a:off x="566928" y="1325880"/>
            <a:ext cx="11057839" cy="872338"/>
          </a:xfrm>
          <a:prstGeom prst="rect">
            <a:avLst/>
          </a:prstGeom>
          <a:solidFill>
            <a:srgbClr val="FFFFFF"/>
          </a:solidFill>
          <a:ln w="12700">
            <a:solidFill>
              <a:srgbClr val="D6E2EE"/>
            </a:solidFill>
            <a:prstDash val="solid"/>
          </a:ln>
        </p:spPr>
      </p:sp>
      <p:sp>
        <p:nvSpPr>
          <p:cNvPr id="5" name="Shape 3"/>
          <p:cNvSpPr/>
          <p:nvPr/>
        </p:nvSpPr>
        <p:spPr>
          <a:xfrm>
            <a:off x="566928" y="1325880"/>
            <a:ext cx="64008" cy="872338"/>
          </a:xfrm>
          <a:prstGeom prst="rect">
            <a:avLst/>
          </a:prstGeom>
          <a:solidFill>
            <a:srgbClr val="C62828"/>
          </a:solidFill>
          <a:ln w="12700">
            <a:solidFill>
              <a:srgbClr val="C62828"/>
            </a:solidFill>
            <a:prstDash val="solid"/>
          </a:ln>
        </p:spPr>
      </p:sp>
      <p:sp>
        <p:nvSpPr>
          <p:cNvPr id="6" name="Text 4"/>
          <p:cNvSpPr/>
          <p:nvPr/>
        </p:nvSpPr>
        <p:spPr>
          <a:xfrm>
            <a:off x="749808" y="1325880"/>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Không tìm thấy dữ liệu. Có thể do sai thông tin thẻ, hoặc thẻ chưa phát sinh chi phí cùng chi trả.</a:t>
            </a:r>
            <a:endParaRPr lang="en-US" sz="1300" dirty="0"/>
          </a:p>
        </p:txBody>
      </p:sp>
      <p:sp>
        <p:nvSpPr>
          <p:cNvPr id="7" name="Text 5"/>
          <p:cNvSpPr/>
          <p:nvPr/>
        </p:nvSpPr>
        <p:spPr>
          <a:xfrm>
            <a:off x="5211220" y="1325880"/>
            <a:ext cx="2653881" cy="87233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Cổng dùng CHUNG một mã cho hai tình huống khác nhau</a:t>
            </a:r>
            <a:endParaRPr lang="en-US" sz="1200" dirty="0"/>
          </a:p>
        </p:txBody>
      </p:sp>
      <p:sp>
        <p:nvSpPr>
          <p:cNvPr id="8" name="Text 6"/>
          <p:cNvSpPr/>
          <p:nvPr/>
        </p:nvSpPr>
        <p:spPr>
          <a:xfrm>
            <a:off x="7975680" y="1325880"/>
            <a:ext cx="3538509" cy="872338"/>
          </a:xfrm>
          <a:prstGeom prst="rect">
            <a:avLst/>
          </a:prstGeom>
          <a:noFill/>
          <a:ln/>
        </p:spPr>
        <p:txBody>
          <a:bodyPr wrap="square" rtlCol="0" anchor="ctr"/>
          <a:lstStyle/>
          <a:p>
            <a:pPr indent="0" marL="0">
              <a:lnSpc>
                <a:spcPts val="1700"/>
              </a:lnSpc>
              <a:buNone/>
            </a:pPr>
            <a:r>
              <a:rPr lang="en-US" sz="1250" dirty="0">
                <a:solidFill>
                  <a:srgbClr val="14233A"/>
                </a:solidFill>
                <a:latin typeface="Arial" pitchFamily="34" charset="0"/>
                <a:ea typeface="Arial" pitchFamily="34" charset="-122"/>
                <a:cs typeface="Arial" pitchFamily="34" charset="-120"/>
              </a:rPr>
              <a:t>Kiểm tra lại mã thẻ, họ tên, ngày sinh. Thông tin đã đúng thì nghĩa là thẻ chưa phát sinh chi phí cùng chi trả trong năm — KHÔNG phải lỗi</a:t>
            </a:r>
            <a:endParaRPr lang="en-US" sz="1250" dirty="0"/>
          </a:p>
        </p:txBody>
      </p:sp>
      <p:sp>
        <p:nvSpPr>
          <p:cNvPr id="9" name="Shape 7"/>
          <p:cNvSpPr/>
          <p:nvPr/>
        </p:nvSpPr>
        <p:spPr>
          <a:xfrm>
            <a:off x="566928" y="2326234"/>
            <a:ext cx="11057839" cy="872338"/>
          </a:xfrm>
          <a:prstGeom prst="rect">
            <a:avLst/>
          </a:prstGeom>
          <a:solidFill>
            <a:srgbClr val="FFFFFF"/>
          </a:solidFill>
          <a:ln w="12700">
            <a:solidFill>
              <a:srgbClr val="D6E2EE"/>
            </a:solidFill>
            <a:prstDash val="solid"/>
          </a:ln>
        </p:spPr>
      </p:sp>
      <p:sp>
        <p:nvSpPr>
          <p:cNvPr id="10" name="Shape 8"/>
          <p:cNvSpPr/>
          <p:nvPr/>
        </p:nvSpPr>
        <p:spPr>
          <a:xfrm>
            <a:off x="566928" y="2326234"/>
            <a:ext cx="64008" cy="872338"/>
          </a:xfrm>
          <a:prstGeom prst="rect">
            <a:avLst/>
          </a:prstGeom>
          <a:solidFill>
            <a:srgbClr val="C62828"/>
          </a:solidFill>
          <a:ln w="12700">
            <a:solidFill>
              <a:srgbClr val="C62828"/>
            </a:solidFill>
            <a:prstDash val="solid"/>
          </a:ln>
        </p:spPr>
      </p:sp>
      <p:sp>
        <p:nvSpPr>
          <p:cNvPr id="11" name="Text 9"/>
          <p:cNvSpPr/>
          <p:nvPr/>
        </p:nvSpPr>
        <p:spPr>
          <a:xfrm>
            <a:off x="749808" y="2326234"/>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Chọn cơ sở khám chữa bệnh rồi bấm Tra cứu</a:t>
            </a:r>
            <a:endParaRPr lang="en-US" sz="1300" dirty="0"/>
          </a:p>
        </p:txBody>
      </p:sp>
      <p:sp>
        <p:nvSpPr>
          <p:cNvPr id="12" name="Text 10"/>
          <p:cNvSpPr/>
          <p:nvPr/>
        </p:nvSpPr>
        <p:spPr>
          <a:xfrm>
            <a:off x="5211220" y="2326234"/>
            <a:ext cx="2653881" cy="87233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Chưa chọn cơ sở</a:t>
            </a:r>
            <a:endParaRPr lang="en-US" sz="1200" dirty="0"/>
          </a:p>
        </p:txBody>
      </p:sp>
      <p:sp>
        <p:nvSpPr>
          <p:cNvPr id="13" name="Text 11"/>
          <p:cNvSpPr/>
          <p:nvPr/>
        </p:nvSpPr>
        <p:spPr>
          <a:xfrm>
            <a:off x="7975680" y="2326234"/>
            <a:ext cx="3538509" cy="872338"/>
          </a:xfrm>
          <a:prstGeom prst="rect">
            <a:avLst/>
          </a:prstGeom>
          <a:noFill/>
          <a:ln/>
        </p:spPr>
        <p:txBody>
          <a:bodyPr wrap="square" rtlCol="0" anchor="ctr"/>
          <a:lstStyle/>
          <a:p>
            <a:pPr indent="0" marL="0">
              <a:lnSpc>
                <a:spcPts val="1700"/>
              </a:lnSpc>
              <a:buNone/>
            </a:pPr>
            <a:r>
              <a:rPr lang="en-US" sz="1250" dirty="0">
                <a:solidFill>
                  <a:srgbClr val="14233A"/>
                </a:solidFill>
                <a:latin typeface="Arial" pitchFamily="34" charset="0"/>
                <a:ea typeface="Arial" pitchFamily="34" charset="-122"/>
                <a:cs typeface="Arial" pitchFamily="34" charset="-120"/>
              </a:rPr>
              <a:t>Chọn cơ sở trong ô đầu tiên rồi tra lại</a:t>
            </a:r>
            <a:endParaRPr lang="en-US" sz="1250" dirty="0"/>
          </a:p>
        </p:txBody>
      </p:sp>
      <p:sp>
        <p:nvSpPr>
          <p:cNvPr id="14" name="Shape 12"/>
          <p:cNvSpPr/>
          <p:nvPr/>
        </p:nvSpPr>
        <p:spPr>
          <a:xfrm>
            <a:off x="566928" y="3326587"/>
            <a:ext cx="11057839" cy="872338"/>
          </a:xfrm>
          <a:prstGeom prst="rect">
            <a:avLst/>
          </a:prstGeom>
          <a:solidFill>
            <a:srgbClr val="FFFFFF"/>
          </a:solidFill>
          <a:ln w="12700">
            <a:solidFill>
              <a:srgbClr val="D6E2EE"/>
            </a:solidFill>
            <a:prstDash val="solid"/>
          </a:ln>
        </p:spPr>
      </p:sp>
      <p:sp>
        <p:nvSpPr>
          <p:cNvPr id="15" name="Shape 13"/>
          <p:cNvSpPr/>
          <p:nvPr/>
        </p:nvSpPr>
        <p:spPr>
          <a:xfrm>
            <a:off x="566928" y="3326587"/>
            <a:ext cx="64008" cy="872338"/>
          </a:xfrm>
          <a:prstGeom prst="rect">
            <a:avLst/>
          </a:prstGeom>
          <a:solidFill>
            <a:srgbClr val="C62828"/>
          </a:solidFill>
          <a:ln w="12700">
            <a:solidFill>
              <a:srgbClr val="C62828"/>
            </a:solidFill>
            <a:prstDash val="solid"/>
          </a:ln>
        </p:spPr>
      </p:sp>
      <p:sp>
        <p:nvSpPr>
          <p:cNvPr id="16" name="Text 14"/>
          <p:cNvSpPr/>
          <p:nvPr/>
        </p:nvSpPr>
        <p:spPr>
          <a:xfrm>
            <a:off x="749808" y="3326587"/>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Mã thẻ BHYT/CCCD phải có 10, 12, 15 hoặc 17 ký tự</a:t>
            </a:r>
            <a:endParaRPr lang="en-US" sz="1300" dirty="0"/>
          </a:p>
        </p:txBody>
      </p:sp>
      <p:sp>
        <p:nvSpPr>
          <p:cNvPr id="17" name="Text 15"/>
          <p:cNvSpPr/>
          <p:nvPr/>
        </p:nvSpPr>
        <p:spPr>
          <a:xfrm>
            <a:off x="5211220" y="3326587"/>
            <a:ext cx="2653881" cy="87233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Nhập sai số ký tự</a:t>
            </a:r>
            <a:endParaRPr lang="en-US" sz="1200" dirty="0"/>
          </a:p>
        </p:txBody>
      </p:sp>
      <p:sp>
        <p:nvSpPr>
          <p:cNvPr id="18" name="Text 16"/>
          <p:cNvSpPr/>
          <p:nvPr/>
        </p:nvSpPr>
        <p:spPr>
          <a:xfrm>
            <a:off x="7975680" y="3326587"/>
            <a:ext cx="3538509" cy="872338"/>
          </a:xfrm>
          <a:prstGeom prst="rect">
            <a:avLst/>
          </a:prstGeom>
          <a:noFill/>
          <a:ln/>
        </p:spPr>
        <p:txBody>
          <a:bodyPr wrap="square" rtlCol="0" anchor="ctr"/>
          <a:lstStyle/>
          <a:p>
            <a:pPr indent="0" marL="0">
              <a:lnSpc>
                <a:spcPts val="1700"/>
              </a:lnSpc>
              <a:buNone/>
            </a:pPr>
            <a:r>
              <a:rPr lang="en-US" sz="1250" dirty="0">
                <a:solidFill>
                  <a:srgbClr val="14233A"/>
                </a:solidFill>
                <a:latin typeface="Arial" pitchFamily="34" charset="0"/>
                <a:ea typeface="Arial" pitchFamily="34" charset="-122"/>
                <a:cs typeface="Arial" pitchFamily="34" charset="-120"/>
              </a:rPr>
              <a:t>Kiểm tra lại mã trên thẻ BHYT hoặc trên căn cước công dân</a:t>
            </a:r>
            <a:endParaRPr lang="en-US" sz="1250" dirty="0"/>
          </a:p>
        </p:txBody>
      </p:sp>
      <p:sp>
        <p:nvSpPr>
          <p:cNvPr id="19" name="Shape 17"/>
          <p:cNvSpPr/>
          <p:nvPr/>
        </p:nvSpPr>
        <p:spPr>
          <a:xfrm>
            <a:off x="566928" y="4326941"/>
            <a:ext cx="11057839" cy="872338"/>
          </a:xfrm>
          <a:prstGeom prst="rect">
            <a:avLst/>
          </a:prstGeom>
          <a:solidFill>
            <a:srgbClr val="FFFFFF"/>
          </a:solidFill>
          <a:ln w="12700">
            <a:solidFill>
              <a:srgbClr val="D6E2EE"/>
            </a:solidFill>
            <a:prstDash val="solid"/>
          </a:ln>
        </p:spPr>
      </p:sp>
      <p:sp>
        <p:nvSpPr>
          <p:cNvPr id="20" name="Shape 18"/>
          <p:cNvSpPr/>
          <p:nvPr/>
        </p:nvSpPr>
        <p:spPr>
          <a:xfrm>
            <a:off x="566928" y="4326941"/>
            <a:ext cx="64008" cy="872338"/>
          </a:xfrm>
          <a:prstGeom prst="rect">
            <a:avLst/>
          </a:prstGeom>
          <a:solidFill>
            <a:srgbClr val="C62828"/>
          </a:solidFill>
          <a:ln w="12700">
            <a:solidFill>
              <a:srgbClr val="C62828"/>
            </a:solidFill>
            <a:prstDash val="solid"/>
          </a:ln>
        </p:spPr>
      </p:sp>
      <p:sp>
        <p:nvSpPr>
          <p:cNvPr id="21" name="Text 19"/>
          <p:cNvSpPr/>
          <p:nvPr/>
        </p:nvSpPr>
        <p:spPr>
          <a:xfrm>
            <a:off x="749808" y="4326941"/>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Ngày sinh phải theo dd/mm/yyyy, mm/yyyy hoặc yyyy</a:t>
            </a:r>
            <a:endParaRPr lang="en-US" sz="1300" dirty="0"/>
          </a:p>
        </p:txBody>
      </p:sp>
      <p:sp>
        <p:nvSpPr>
          <p:cNvPr id="22" name="Text 20"/>
          <p:cNvSpPr/>
          <p:nvPr/>
        </p:nvSpPr>
        <p:spPr>
          <a:xfrm>
            <a:off x="5211220" y="4326941"/>
            <a:ext cx="2653881" cy="87233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Nhập thiếu chữ số</a:t>
            </a:r>
            <a:endParaRPr lang="en-US" sz="1200" dirty="0"/>
          </a:p>
        </p:txBody>
      </p:sp>
      <p:sp>
        <p:nvSpPr>
          <p:cNvPr id="23" name="Text 21"/>
          <p:cNvSpPr/>
          <p:nvPr/>
        </p:nvSpPr>
        <p:spPr>
          <a:xfrm>
            <a:off x="7975680" y="4326941"/>
            <a:ext cx="3538509" cy="872338"/>
          </a:xfrm>
          <a:prstGeom prst="rect">
            <a:avLst/>
          </a:prstGeom>
          <a:noFill/>
          <a:ln/>
        </p:spPr>
        <p:txBody>
          <a:bodyPr wrap="square" rtlCol="0" anchor="ctr"/>
          <a:lstStyle/>
          <a:p>
            <a:pPr indent="0" marL="0">
              <a:lnSpc>
                <a:spcPts val="1700"/>
              </a:lnSpc>
              <a:buNone/>
            </a:pPr>
            <a:r>
              <a:rPr lang="en-US" sz="1250" dirty="0">
                <a:solidFill>
                  <a:srgbClr val="14233A"/>
                </a:solidFill>
                <a:latin typeface="Arial" pitchFamily="34" charset="0"/>
                <a:ea typeface="Arial" pitchFamily="34" charset="-122"/>
                <a:cs typeface="Arial" pitchFamily="34" charset="-120"/>
              </a:rPr>
              <a:t>Phải gõ 01/01/1964 chứ không gõ 1/1/1964</a:t>
            </a:r>
            <a:endParaRPr lang="en-US" sz="1250" dirty="0"/>
          </a:p>
        </p:txBody>
      </p:sp>
      <p:sp>
        <p:nvSpPr>
          <p:cNvPr id="24" name="Shape 22"/>
          <p:cNvSpPr/>
          <p:nvPr/>
        </p:nvSpPr>
        <p:spPr>
          <a:xfrm>
            <a:off x="566928" y="5327294"/>
            <a:ext cx="11057839" cy="872338"/>
          </a:xfrm>
          <a:prstGeom prst="rect">
            <a:avLst/>
          </a:prstGeom>
          <a:solidFill>
            <a:srgbClr val="FFFFFF"/>
          </a:solidFill>
          <a:ln w="12700">
            <a:solidFill>
              <a:srgbClr val="D6E2EE"/>
            </a:solidFill>
            <a:prstDash val="solid"/>
          </a:ln>
        </p:spPr>
      </p:sp>
      <p:sp>
        <p:nvSpPr>
          <p:cNvPr id="25" name="Shape 23"/>
          <p:cNvSpPr/>
          <p:nvPr/>
        </p:nvSpPr>
        <p:spPr>
          <a:xfrm>
            <a:off x="566928" y="5327294"/>
            <a:ext cx="64008" cy="872338"/>
          </a:xfrm>
          <a:prstGeom prst="rect">
            <a:avLst/>
          </a:prstGeom>
          <a:solidFill>
            <a:srgbClr val="C62828"/>
          </a:solidFill>
          <a:ln w="12700">
            <a:solidFill>
              <a:srgbClr val="C62828"/>
            </a:solidFill>
            <a:prstDash val="solid"/>
          </a:ln>
        </p:spPr>
      </p:sp>
      <p:sp>
        <p:nvSpPr>
          <p:cNvPr id="26" name="Text 24"/>
          <p:cNvSpPr/>
          <p:nvPr/>
        </p:nvSpPr>
        <p:spPr>
          <a:xfrm>
            <a:off x="749808" y="5327294"/>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Cổng BHXH không trả lời sau 120 giây…</a:t>
            </a:r>
            <a:endParaRPr lang="en-US" sz="1300" dirty="0"/>
          </a:p>
        </p:txBody>
      </p:sp>
      <p:sp>
        <p:nvSpPr>
          <p:cNvPr id="27" name="Text 25"/>
          <p:cNvSpPr/>
          <p:nvPr/>
        </p:nvSpPr>
        <p:spPr>
          <a:xfrm>
            <a:off x="5211220" y="5327294"/>
            <a:ext cx="2653881" cy="87233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Cổng vẫn hoạt động nhưng trả lời quá chậm</a:t>
            </a:r>
            <a:endParaRPr lang="en-US" sz="1200" dirty="0"/>
          </a:p>
        </p:txBody>
      </p:sp>
      <p:sp>
        <p:nvSpPr>
          <p:cNvPr id="28" name="Text 26"/>
          <p:cNvSpPr/>
          <p:nvPr/>
        </p:nvSpPr>
        <p:spPr>
          <a:xfrm>
            <a:off x="7975680" y="5327294"/>
            <a:ext cx="3538509" cy="872338"/>
          </a:xfrm>
          <a:prstGeom prst="rect">
            <a:avLst/>
          </a:prstGeom>
          <a:noFill/>
          <a:ln/>
        </p:spPr>
        <p:txBody>
          <a:bodyPr wrap="square" rtlCol="0" anchor="ctr"/>
          <a:lstStyle/>
          <a:p>
            <a:pPr indent="0" marL="0">
              <a:lnSpc>
                <a:spcPts val="1700"/>
              </a:lnSpc>
              <a:buNone/>
            </a:pPr>
            <a:r>
              <a:rPr lang="en-US" sz="1250" dirty="0">
                <a:solidFill>
                  <a:srgbClr val="14233A"/>
                </a:solidFill>
                <a:latin typeface="Arial" pitchFamily="34" charset="0"/>
                <a:ea typeface="Arial" pitchFamily="34" charset="-122"/>
                <a:cs typeface="Arial" pitchFamily="34" charset="-120"/>
              </a:rPr>
              <a:t>KHÔNG phải sự cố đường truyền của bệnh viện. Đợi vài phút rồi bấm Thử lại</a:t>
            </a:r>
            <a:endParaRPr lang="en-US" sz="1250" dirty="0"/>
          </a:p>
        </p:txBody>
      </p:sp>
      <p:sp>
        <p:nvSpPr>
          <p:cNvPr id="30" name="Shape 27"/>
          <p:cNvSpPr/>
          <p:nvPr/>
        </p:nvSpPr>
        <p:spPr>
          <a:xfrm>
            <a:off x="566928" y="6382512"/>
            <a:ext cx="11057839" cy="0"/>
          </a:xfrm>
          <a:prstGeom prst="line">
            <a:avLst/>
          </a:prstGeom>
          <a:noFill/>
          <a:ln w="9525">
            <a:solidFill>
              <a:srgbClr val="D6E2EE"/>
            </a:solidFill>
            <a:prstDash val="solid"/>
          </a:ln>
        </p:spPr>
      </p:sp>
      <p:sp>
        <p:nvSpPr>
          <p:cNvPr id="31" name="Text 28"/>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32" name="Text 29"/>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46 / 80</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05 / HDSD MCCT · MỤC 7</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Các thông báo phải báo lên — không tự xử lý được</a:t>
            </a:r>
            <a:endParaRPr lang="en-US" sz="2600" dirty="0"/>
          </a:p>
        </p:txBody>
      </p:sp>
      <p:sp>
        <p:nvSpPr>
          <p:cNvPr id="4" name="Shape 2"/>
          <p:cNvSpPr/>
          <p:nvPr/>
        </p:nvSpPr>
        <p:spPr>
          <a:xfrm>
            <a:off x="566928" y="1325880"/>
            <a:ext cx="11057839" cy="629107"/>
          </a:xfrm>
          <a:prstGeom prst="rect">
            <a:avLst/>
          </a:prstGeom>
          <a:solidFill>
            <a:srgbClr val="FFFFFF"/>
          </a:solidFill>
          <a:ln w="12700">
            <a:solidFill>
              <a:srgbClr val="D6E2EE"/>
            </a:solidFill>
            <a:prstDash val="solid"/>
          </a:ln>
        </p:spPr>
      </p:sp>
      <p:sp>
        <p:nvSpPr>
          <p:cNvPr id="5" name="Shape 3"/>
          <p:cNvSpPr/>
          <p:nvPr/>
        </p:nvSpPr>
        <p:spPr>
          <a:xfrm>
            <a:off x="566928" y="1325880"/>
            <a:ext cx="64008" cy="629107"/>
          </a:xfrm>
          <a:prstGeom prst="rect">
            <a:avLst/>
          </a:prstGeom>
          <a:solidFill>
            <a:srgbClr val="C62828"/>
          </a:solidFill>
          <a:ln w="12700">
            <a:solidFill>
              <a:srgbClr val="C62828"/>
            </a:solidFill>
            <a:prstDash val="solid"/>
          </a:ln>
        </p:spPr>
      </p:sp>
      <p:sp>
        <p:nvSpPr>
          <p:cNvPr id="6" name="Text 4"/>
          <p:cNvSpPr/>
          <p:nvPr/>
        </p:nvSpPr>
        <p:spPr>
          <a:xfrm>
            <a:off x="749808" y="1325880"/>
            <a:ext cx="4423136" cy="629107"/>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Không xác thực được với cổng BHXH…</a:t>
            </a:r>
            <a:endParaRPr lang="en-US" sz="1300" dirty="0"/>
          </a:p>
        </p:txBody>
      </p:sp>
      <p:sp>
        <p:nvSpPr>
          <p:cNvPr id="7" name="Text 5"/>
          <p:cNvSpPr/>
          <p:nvPr/>
        </p:nvSpPr>
        <p:spPr>
          <a:xfrm>
            <a:off x="5211220" y="1325880"/>
            <a:ext cx="2653881" cy="629107"/>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Phiên làm việc hết hạn, hoặc địa chỉ IP của máy chủ khác IP đã đăng ký với cơ quan BHXH</a:t>
            </a:r>
            <a:endParaRPr lang="en-US" sz="1200" dirty="0"/>
          </a:p>
        </p:txBody>
      </p:sp>
      <p:sp>
        <p:nvSpPr>
          <p:cNvPr id="8" name="Text 6"/>
          <p:cNvSpPr/>
          <p:nvPr/>
        </p:nvSpPr>
        <p:spPr>
          <a:xfrm>
            <a:off x="7975680" y="1325880"/>
            <a:ext cx="3538509" cy="629107"/>
          </a:xfrm>
          <a:prstGeom prst="rect">
            <a:avLst/>
          </a:prstGeom>
          <a:noFill/>
          <a:ln/>
        </p:spPr>
        <p:txBody>
          <a:bodyPr wrap="square" rtlCol="0" anchor="ctr"/>
          <a:lstStyle/>
          <a:p>
            <a:pPr indent="0" marL="0">
              <a:lnSpc>
                <a:spcPts val="1700"/>
              </a:lnSpc>
              <a:buNone/>
            </a:pPr>
            <a:r>
              <a:rPr lang="en-US" sz="1250" dirty="0">
                <a:solidFill>
                  <a:srgbClr val="14233A"/>
                </a:solidFill>
                <a:latin typeface="Arial" pitchFamily="34" charset="0"/>
                <a:ea typeface="Arial" pitchFamily="34" charset="-122"/>
                <a:cs typeface="Arial" pitchFamily="34" charset="-120"/>
              </a:rPr>
              <a:t>Báo bộ phận công nghệ thông tin</a:t>
            </a:r>
            <a:endParaRPr lang="en-US" sz="1250" dirty="0"/>
          </a:p>
        </p:txBody>
      </p:sp>
      <p:sp>
        <p:nvSpPr>
          <p:cNvPr id="9" name="Shape 7"/>
          <p:cNvSpPr/>
          <p:nvPr/>
        </p:nvSpPr>
        <p:spPr>
          <a:xfrm>
            <a:off x="566928" y="2083003"/>
            <a:ext cx="11057839" cy="629107"/>
          </a:xfrm>
          <a:prstGeom prst="rect">
            <a:avLst/>
          </a:prstGeom>
          <a:solidFill>
            <a:srgbClr val="FFFFFF"/>
          </a:solidFill>
          <a:ln w="12700">
            <a:solidFill>
              <a:srgbClr val="D6E2EE"/>
            </a:solidFill>
            <a:prstDash val="solid"/>
          </a:ln>
        </p:spPr>
      </p:sp>
      <p:sp>
        <p:nvSpPr>
          <p:cNvPr id="10" name="Shape 8"/>
          <p:cNvSpPr/>
          <p:nvPr/>
        </p:nvSpPr>
        <p:spPr>
          <a:xfrm>
            <a:off x="566928" y="2083003"/>
            <a:ext cx="64008" cy="629107"/>
          </a:xfrm>
          <a:prstGeom prst="rect">
            <a:avLst/>
          </a:prstGeom>
          <a:solidFill>
            <a:srgbClr val="C62828"/>
          </a:solidFill>
          <a:ln w="12700">
            <a:solidFill>
              <a:srgbClr val="C62828"/>
            </a:solidFill>
            <a:prstDash val="solid"/>
          </a:ln>
        </p:spPr>
      </p:sp>
      <p:sp>
        <p:nvSpPr>
          <p:cNvPr id="11" name="Text 9"/>
          <p:cNvSpPr/>
          <p:nvPr/>
        </p:nvSpPr>
        <p:spPr>
          <a:xfrm>
            <a:off x="749808" y="2083003"/>
            <a:ext cx="4423136" cy="629107"/>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Tài khoản của cơ sở … đang bị cổng hạn chế tra cứu</a:t>
            </a:r>
            <a:endParaRPr lang="en-US" sz="1300" dirty="0"/>
          </a:p>
        </p:txBody>
      </p:sp>
      <p:sp>
        <p:nvSpPr>
          <p:cNvPr id="12" name="Text 10"/>
          <p:cNvSpPr/>
          <p:nvPr/>
        </p:nvSpPr>
        <p:spPr>
          <a:xfrm>
            <a:off x="5211220" y="2083003"/>
            <a:ext cx="2653881" cy="629107"/>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Vấn đề tài khoản, KHÔNG phải lỗi phần mềm</a:t>
            </a:r>
            <a:endParaRPr lang="en-US" sz="1200" dirty="0"/>
          </a:p>
        </p:txBody>
      </p:sp>
      <p:sp>
        <p:nvSpPr>
          <p:cNvPr id="13" name="Text 11"/>
          <p:cNvSpPr/>
          <p:nvPr/>
        </p:nvSpPr>
        <p:spPr>
          <a:xfrm>
            <a:off x="7975680" y="2083003"/>
            <a:ext cx="3538509" cy="629107"/>
          </a:xfrm>
          <a:prstGeom prst="rect">
            <a:avLst/>
          </a:prstGeom>
          <a:noFill/>
          <a:ln/>
        </p:spPr>
        <p:txBody>
          <a:bodyPr wrap="square" rtlCol="0" anchor="ctr"/>
          <a:lstStyle/>
          <a:p>
            <a:pPr indent="0" marL="0">
              <a:lnSpc>
                <a:spcPts val="1700"/>
              </a:lnSpc>
              <a:buNone/>
            </a:pPr>
            <a:r>
              <a:rPr lang="en-US" sz="1250" dirty="0">
                <a:solidFill>
                  <a:srgbClr val="14233A"/>
                </a:solidFill>
                <a:latin typeface="Arial" pitchFamily="34" charset="0"/>
                <a:ea typeface="Arial" pitchFamily="34" charset="-122"/>
                <a:cs typeface="Arial" pitchFamily="34" charset="-120"/>
              </a:rPr>
              <a:t>Liên hệ cơ quan BHXH tỉnh để được mở lại</a:t>
            </a:r>
            <a:endParaRPr lang="en-US" sz="1250" dirty="0"/>
          </a:p>
        </p:txBody>
      </p:sp>
      <p:sp>
        <p:nvSpPr>
          <p:cNvPr id="14" name="Shape 12"/>
          <p:cNvSpPr/>
          <p:nvPr/>
        </p:nvSpPr>
        <p:spPr>
          <a:xfrm>
            <a:off x="566928" y="2840126"/>
            <a:ext cx="11057839" cy="629107"/>
          </a:xfrm>
          <a:prstGeom prst="rect">
            <a:avLst/>
          </a:prstGeom>
          <a:solidFill>
            <a:srgbClr val="FFFFFF"/>
          </a:solidFill>
          <a:ln w="12700">
            <a:solidFill>
              <a:srgbClr val="D6E2EE"/>
            </a:solidFill>
            <a:prstDash val="solid"/>
          </a:ln>
        </p:spPr>
      </p:sp>
      <p:sp>
        <p:nvSpPr>
          <p:cNvPr id="15" name="Shape 13"/>
          <p:cNvSpPr/>
          <p:nvPr/>
        </p:nvSpPr>
        <p:spPr>
          <a:xfrm>
            <a:off x="566928" y="2840126"/>
            <a:ext cx="64008" cy="629107"/>
          </a:xfrm>
          <a:prstGeom prst="rect">
            <a:avLst/>
          </a:prstGeom>
          <a:solidFill>
            <a:srgbClr val="C62828"/>
          </a:solidFill>
          <a:ln w="12700">
            <a:solidFill>
              <a:srgbClr val="C62828"/>
            </a:solidFill>
            <a:prstDash val="solid"/>
          </a:ln>
        </p:spPr>
      </p:sp>
      <p:sp>
        <p:nvSpPr>
          <p:cNvPr id="16" name="Text 14"/>
          <p:cNvSpPr/>
          <p:nvPr/>
        </p:nvSpPr>
        <p:spPr>
          <a:xfrm>
            <a:off x="749808" y="2840126"/>
            <a:ext cx="4423136" cy="629107"/>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Cơ sở … chưa khai tài khoản cổng BHXH…</a:t>
            </a:r>
            <a:endParaRPr lang="en-US" sz="1300" dirty="0"/>
          </a:p>
        </p:txBody>
      </p:sp>
      <p:sp>
        <p:nvSpPr>
          <p:cNvPr id="17" name="Text 15"/>
          <p:cNvSpPr/>
          <p:nvPr/>
        </p:nvSpPr>
        <p:spPr>
          <a:xfrm>
            <a:off x="5211220" y="2840126"/>
            <a:ext cx="2653881" cy="629107"/>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Cơ sở chưa được cấu hình</a:t>
            </a:r>
            <a:endParaRPr lang="en-US" sz="1200" dirty="0"/>
          </a:p>
        </p:txBody>
      </p:sp>
      <p:sp>
        <p:nvSpPr>
          <p:cNvPr id="18" name="Text 16"/>
          <p:cNvSpPr/>
          <p:nvPr/>
        </p:nvSpPr>
        <p:spPr>
          <a:xfrm>
            <a:off x="7975680" y="2840126"/>
            <a:ext cx="3538509" cy="629107"/>
          </a:xfrm>
          <a:prstGeom prst="rect">
            <a:avLst/>
          </a:prstGeom>
          <a:noFill/>
          <a:ln/>
        </p:spPr>
        <p:txBody>
          <a:bodyPr wrap="square" rtlCol="0" anchor="ctr"/>
          <a:lstStyle/>
          <a:p>
            <a:pPr indent="0" marL="0">
              <a:lnSpc>
                <a:spcPts val="1700"/>
              </a:lnSpc>
              <a:buNone/>
            </a:pPr>
            <a:r>
              <a:rPr lang="en-US" sz="1250" dirty="0">
                <a:solidFill>
                  <a:srgbClr val="14233A"/>
                </a:solidFill>
                <a:latin typeface="Arial" pitchFamily="34" charset="0"/>
                <a:ea typeface="Arial" pitchFamily="34" charset="-122"/>
                <a:cs typeface="Arial" pitchFamily="34" charset="-120"/>
              </a:rPr>
              <a:t>Báo bộ phận công nghệ thông tin khai tài khoản cho cơ sở đó</a:t>
            </a:r>
            <a:endParaRPr lang="en-US" sz="1250" dirty="0"/>
          </a:p>
        </p:txBody>
      </p:sp>
      <p:sp>
        <p:nvSpPr>
          <p:cNvPr id="19" name="Shape 17"/>
          <p:cNvSpPr/>
          <p:nvPr/>
        </p:nvSpPr>
        <p:spPr>
          <a:xfrm>
            <a:off x="566928" y="3597250"/>
            <a:ext cx="11057839" cy="629107"/>
          </a:xfrm>
          <a:prstGeom prst="rect">
            <a:avLst/>
          </a:prstGeom>
          <a:solidFill>
            <a:srgbClr val="FFFFFF"/>
          </a:solidFill>
          <a:ln w="12700">
            <a:solidFill>
              <a:srgbClr val="D6E2EE"/>
            </a:solidFill>
            <a:prstDash val="solid"/>
          </a:ln>
        </p:spPr>
      </p:sp>
      <p:sp>
        <p:nvSpPr>
          <p:cNvPr id="20" name="Shape 18"/>
          <p:cNvSpPr/>
          <p:nvPr/>
        </p:nvSpPr>
        <p:spPr>
          <a:xfrm>
            <a:off x="566928" y="3597250"/>
            <a:ext cx="64008" cy="629107"/>
          </a:xfrm>
          <a:prstGeom prst="rect">
            <a:avLst/>
          </a:prstGeom>
          <a:solidFill>
            <a:srgbClr val="C62828"/>
          </a:solidFill>
          <a:ln w="12700">
            <a:solidFill>
              <a:srgbClr val="C62828"/>
            </a:solidFill>
            <a:prstDash val="solid"/>
          </a:ln>
        </p:spPr>
      </p:sp>
      <p:sp>
        <p:nvSpPr>
          <p:cNvPr id="21" name="Text 19"/>
          <p:cNvSpPr/>
          <p:nvPr/>
        </p:nvSpPr>
        <p:spPr>
          <a:xfrm>
            <a:off x="749808" y="3597250"/>
            <a:ext cx="4423136" cy="629107"/>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Không kết nối được cổng BHXH / Cổng BHXH báo lỗi (500)…</a:t>
            </a:r>
            <a:endParaRPr lang="en-US" sz="1300" dirty="0"/>
          </a:p>
        </p:txBody>
      </p:sp>
      <p:sp>
        <p:nvSpPr>
          <p:cNvPr id="22" name="Text 20"/>
          <p:cNvSpPr/>
          <p:nvPr/>
        </p:nvSpPr>
        <p:spPr>
          <a:xfrm>
            <a:off x="5211220" y="3597250"/>
            <a:ext cx="2653881" cy="629107"/>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Sự cố đường truyền, cổng bảo trì, hoặc lỗi phía hệ thống của cổng</a:t>
            </a:r>
            <a:endParaRPr lang="en-US" sz="1200" dirty="0"/>
          </a:p>
        </p:txBody>
      </p:sp>
      <p:sp>
        <p:nvSpPr>
          <p:cNvPr id="23" name="Text 21"/>
          <p:cNvSpPr/>
          <p:nvPr/>
        </p:nvSpPr>
        <p:spPr>
          <a:xfrm>
            <a:off x="7975680" y="3597250"/>
            <a:ext cx="3538509" cy="629107"/>
          </a:xfrm>
          <a:prstGeom prst="rect">
            <a:avLst/>
          </a:prstGeom>
          <a:noFill/>
          <a:ln/>
        </p:spPr>
        <p:txBody>
          <a:bodyPr wrap="square" rtlCol="0" anchor="ctr"/>
          <a:lstStyle/>
          <a:p>
            <a:pPr indent="0" marL="0">
              <a:lnSpc>
                <a:spcPts val="1700"/>
              </a:lnSpc>
              <a:buNone/>
            </a:pPr>
            <a:r>
              <a:rPr lang="en-US" sz="1250" dirty="0">
                <a:solidFill>
                  <a:srgbClr val="14233A"/>
                </a:solidFill>
                <a:latin typeface="Arial" pitchFamily="34" charset="0"/>
                <a:ea typeface="Arial" pitchFamily="34" charset="-122"/>
                <a:cs typeface="Arial" pitchFamily="34" charset="-120"/>
              </a:rPr>
              <a:t>Chờ vài phút rồi thử lại. Kéo dài thì báo công nghệ thông tin / cơ quan BHXH</a:t>
            </a:r>
            <a:endParaRPr lang="en-US" sz="1250" dirty="0"/>
          </a:p>
        </p:txBody>
      </p:sp>
      <p:sp>
        <p:nvSpPr>
          <p:cNvPr id="24" name="Shape 22"/>
          <p:cNvSpPr/>
          <p:nvPr/>
        </p:nvSpPr>
        <p:spPr>
          <a:xfrm>
            <a:off x="566928" y="4354373"/>
            <a:ext cx="11057839" cy="629107"/>
          </a:xfrm>
          <a:prstGeom prst="rect">
            <a:avLst/>
          </a:prstGeom>
          <a:solidFill>
            <a:srgbClr val="FFFFFF"/>
          </a:solidFill>
          <a:ln w="12700">
            <a:solidFill>
              <a:srgbClr val="D6E2EE"/>
            </a:solidFill>
            <a:prstDash val="solid"/>
          </a:ln>
        </p:spPr>
      </p:sp>
      <p:sp>
        <p:nvSpPr>
          <p:cNvPr id="25" name="Shape 23"/>
          <p:cNvSpPr/>
          <p:nvPr/>
        </p:nvSpPr>
        <p:spPr>
          <a:xfrm>
            <a:off x="566928" y="4354373"/>
            <a:ext cx="64008" cy="629107"/>
          </a:xfrm>
          <a:prstGeom prst="rect">
            <a:avLst/>
          </a:prstGeom>
          <a:solidFill>
            <a:srgbClr val="C62828"/>
          </a:solidFill>
          <a:ln w="12700">
            <a:solidFill>
              <a:srgbClr val="C62828"/>
            </a:solidFill>
            <a:prstDash val="solid"/>
          </a:ln>
        </p:spPr>
      </p:sp>
      <p:sp>
        <p:nvSpPr>
          <p:cNvPr id="26" name="Text 24"/>
          <p:cNvSpPr/>
          <p:nvPr/>
        </p:nvSpPr>
        <p:spPr>
          <a:xfrm>
            <a:off x="749808" y="4354373"/>
            <a:ext cx="4423136" cy="629107"/>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Đã tra cứu được nhưng không lưu được lịch sử tra cứu.</a:t>
            </a:r>
            <a:endParaRPr lang="en-US" sz="1300" dirty="0"/>
          </a:p>
        </p:txBody>
      </p:sp>
      <p:sp>
        <p:nvSpPr>
          <p:cNvPr id="27" name="Text 25"/>
          <p:cNvSpPr/>
          <p:nvPr/>
        </p:nvSpPr>
        <p:spPr>
          <a:xfrm>
            <a:off x="5211220" y="4354373"/>
            <a:ext cx="2653881" cy="629107"/>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Không ghi được vào cơ sở dữ liệu, thường do chưa chạy lệnh tạo bảng</a:t>
            </a:r>
            <a:endParaRPr lang="en-US" sz="1200" dirty="0"/>
          </a:p>
        </p:txBody>
      </p:sp>
      <p:sp>
        <p:nvSpPr>
          <p:cNvPr id="28" name="Text 26"/>
          <p:cNvSpPr/>
          <p:nvPr/>
        </p:nvSpPr>
        <p:spPr>
          <a:xfrm>
            <a:off x="7975680" y="4354373"/>
            <a:ext cx="3538509" cy="629107"/>
          </a:xfrm>
          <a:prstGeom prst="rect">
            <a:avLst/>
          </a:prstGeom>
          <a:noFill/>
          <a:ln/>
        </p:spPr>
        <p:txBody>
          <a:bodyPr wrap="square" rtlCol="0" anchor="ctr"/>
          <a:lstStyle/>
          <a:p>
            <a:pPr indent="0" marL="0">
              <a:lnSpc>
                <a:spcPts val="1700"/>
              </a:lnSpc>
              <a:buNone/>
            </a:pPr>
            <a:r>
              <a:rPr lang="en-US" sz="1250" dirty="0">
                <a:solidFill>
                  <a:srgbClr val="14233A"/>
                </a:solidFill>
                <a:latin typeface="Arial" pitchFamily="34" charset="0"/>
                <a:ea typeface="Arial" pitchFamily="34" charset="-122"/>
                <a:cs typeface="Arial" pitchFamily="34" charset="-120"/>
              </a:rPr>
              <a:t>Kết quả hiển thị VẪN ĐÚNG và dùng được. Báo công nghệ thông tin để khắc phục phần lưu lịch sử</a:t>
            </a:r>
            <a:endParaRPr lang="en-US" sz="1250" dirty="0"/>
          </a:p>
        </p:txBody>
      </p:sp>
      <p:sp>
        <p:nvSpPr>
          <p:cNvPr id="29" name="Shape 27"/>
          <p:cNvSpPr/>
          <p:nvPr/>
        </p:nvSpPr>
        <p:spPr>
          <a:xfrm>
            <a:off x="566928" y="5074920"/>
            <a:ext cx="11057839" cy="1051560"/>
          </a:xfrm>
          <a:prstGeom prst="rect">
            <a:avLst/>
          </a:prstGeom>
          <a:solidFill>
            <a:srgbClr val="FFF4E6"/>
          </a:solidFill>
          <a:ln w="12700">
            <a:solidFill>
              <a:srgbClr val="FFF4E6"/>
            </a:solidFill>
            <a:prstDash val="solid"/>
          </a:ln>
        </p:spPr>
      </p:sp>
      <p:sp>
        <p:nvSpPr>
          <p:cNvPr id="30" name="Shape 28"/>
          <p:cNvSpPr/>
          <p:nvPr/>
        </p:nvSpPr>
        <p:spPr>
          <a:xfrm>
            <a:off x="566928" y="5074920"/>
            <a:ext cx="64008" cy="1051560"/>
          </a:xfrm>
          <a:prstGeom prst="rect">
            <a:avLst/>
          </a:prstGeom>
          <a:solidFill>
            <a:srgbClr val="C96A12"/>
          </a:solidFill>
          <a:ln w="12700">
            <a:solidFill>
              <a:srgbClr val="C96A12"/>
            </a:solidFill>
            <a:prstDash val="solid"/>
          </a:ln>
        </p:spPr>
      </p:sp>
      <p:sp>
        <p:nvSpPr>
          <p:cNvPr id="31" name="Text 29"/>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Khi báo lên, cung cấp đủ: </a:t>
            </a:r>
            <a:pPr indent="0" marL="0">
              <a:lnSpc>
                <a:spcPts val="1900"/>
              </a:lnSpc>
              <a:buNone/>
            </a:pPr>
            <a:r>
              <a:rPr lang="en-US" sz="1300" dirty="0">
                <a:solidFill>
                  <a:srgbClr val="14233A"/>
                </a:solidFill>
                <a:latin typeface="Arial" pitchFamily="34" charset="0"/>
                <a:ea typeface="Arial" pitchFamily="34" charset="-122"/>
                <a:cs typeface="Arial" pitchFamily="34" charset="-120"/>
              </a:rPr>
              <a:t>Nguyên văn thông báo trên màn hình, cơ sở KCB đã chọn, thời điểm tra và mã thẻ đã tra. Thiếu những thông tin này thì bộ phận hỗ trợ phải hỏi lại và mất thêm thời gian.</a:t>
            </a:r>
            <a:endParaRPr lang="en-US" sz="1300" dirty="0"/>
          </a:p>
        </p:txBody>
      </p:sp>
      <p:sp>
        <p:nvSpPr>
          <p:cNvPr id="33" name="Shape 30"/>
          <p:cNvSpPr/>
          <p:nvPr/>
        </p:nvSpPr>
        <p:spPr>
          <a:xfrm>
            <a:off x="566928" y="6382512"/>
            <a:ext cx="11057839" cy="0"/>
          </a:xfrm>
          <a:prstGeom prst="line">
            <a:avLst/>
          </a:prstGeom>
          <a:noFill/>
          <a:ln w="9525">
            <a:solidFill>
              <a:srgbClr val="D6E2EE"/>
            </a:solidFill>
            <a:prstDash val="solid"/>
          </a:ln>
        </p:spPr>
      </p:sp>
      <p:sp>
        <p:nvSpPr>
          <p:cNvPr id="34" name="Text 31"/>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35" name="Text 32"/>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47 / 80</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05 / HDSD MCCT · PHỤ LỤC</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Mức lương cơ sở và 6 tháng lương cơ sở</a:t>
            </a:r>
            <a:endParaRPr lang="en-US" sz="2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57839" cy="914400"/>
        </p:xfrm>
        <a:graphic>
          <a:graphicData uri="http://schemas.openxmlformats.org/drawingml/2006/table">
            <a:tbl>
              <a:tblPr/>
              <a:tblGrid>
                <a:gridCol w="3649087"/>
                <a:gridCol w="3649087"/>
                <a:gridCol w="3759665"/>
              </a:tblGrid>
              <a:tr h="0">
                <a:tc>
                  <a:txBody>
                    <a:bodyPr/>
                    <a:lstStyle/>
                    <a:p>
                      <a:pPr indent="0" marL="0">
                        <a:buNone/>
                      </a:pPr>
                      <a:r>
                        <a:rPr lang="en-US" sz="1400" b="1" dirty="0">
                          <a:solidFill>
                            <a:srgbClr val="FFFFFF"/>
                          </a:solidFill>
                          <a:latin typeface="Arial" pitchFamily="34" charset="0"/>
                          <a:ea typeface="Arial" pitchFamily="34" charset="-122"/>
                          <a:cs typeface="Arial" pitchFamily="34" charset="-120"/>
                        </a:rPr>
                        <a:t>Áp dụng từ ngày</a:t>
                      </a:r>
                      <a:endParaRPr lang="en-US" sz="14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Lương cơ sở</a:t>
                      </a:r>
                      <a:endParaRPr lang="en-US" sz="14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6 tháng lương cơ sở</a:t>
                      </a:r>
                      <a:endParaRPr lang="en-US" sz="14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r>
              <a:tr h="0">
                <a:tc>
                  <a:txBody>
                    <a:bodyPr/>
                    <a:lstStyle/>
                    <a:p>
                      <a:pPr indent="0" marL="0">
                        <a:buNone/>
                      </a:pPr>
                      <a:r>
                        <a:rPr lang="en-US" sz="1400" dirty="0">
                          <a:solidFill>
                            <a:srgbClr val="14233A"/>
                          </a:solidFill>
                          <a:latin typeface="Arial" pitchFamily="34" charset="0"/>
                          <a:ea typeface="Arial" pitchFamily="34" charset="-122"/>
                          <a:cs typeface="Arial" pitchFamily="34" charset="-120"/>
                        </a:rPr>
                        <a:t>01/7/2023</a:t>
                      </a:r>
                      <a:endParaRPr lang="en-US" sz="14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400" dirty="0">
                          <a:solidFill>
                            <a:srgbClr val="14233A"/>
                          </a:solidFill>
                          <a:latin typeface="Arial" pitchFamily="34" charset="0"/>
                          <a:ea typeface="Arial" pitchFamily="34" charset="-122"/>
                          <a:cs typeface="Arial" pitchFamily="34" charset="-120"/>
                        </a:rPr>
                        <a:t>1.800.000 đ</a:t>
                      </a:r>
                      <a:endParaRPr lang="en-US" sz="14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400" dirty="0">
                          <a:solidFill>
                            <a:srgbClr val="14233A"/>
                          </a:solidFill>
                          <a:latin typeface="Arial" pitchFamily="34" charset="0"/>
                          <a:ea typeface="Arial" pitchFamily="34" charset="-122"/>
                          <a:cs typeface="Arial" pitchFamily="34" charset="-120"/>
                        </a:rPr>
                        <a:t>10.800.000 đ</a:t>
                      </a:r>
                      <a:endParaRPr lang="en-US" sz="14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400" dirty="0">
                          <a:solidFill>
                            <a:srgbClr val="14233A"/>
                          </a:solidFill>
                          <a:latin typeface="Arial" pitchFamily="34" charset="0"/>
                          <a:ea typeface="Arial" pitchFamily="34" charset="-122"/>
                          <a:cs typeface="Arial" pitchFamily="34" charset="-120"/>
                        </a:rPr>
                        <a:t>01/7/2024</a:t>
                      </a:r>
                      <a:endParaRPr lang="en-US" sz="14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400" dirty="0">
                          <a:solidFill>
                            <a:srgbClr val="14233A"/>
                          </a:solidFill>
                          <a:latin typeface="Arial" pitchFamily="34" charset="0"/>
                          <a:ea typeface="Arial" pitchFamily="34" charset="-122"/>
                          <a:cs typeface="Arial" pitchFamily="34" charset="-120"/>
                        </a:rPr>
                        <a:t>2.340.000 đ</a:t>
                      </a:r>
                      <a:endParaRPr lang="en-US" sz="14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400" dirty="0">
                          <a:solidFill>
                            <a:srgbClr val="14233A"/>
                          </a:solidFill>
                          <a:latin typeface="Arial" pitchFamily="34" charset="0"/>
                          <a:ea typeface="Arial" pitchFamily="34" charset="-122"/>
                          <a:cs typeface="Arial" pitchFamily="34" charset="-120"/>
                        </a:rPr>
                        <a:t>14.040.000 đ</a:t>
                      </a:r>
                      <a:endParaRPr lang="en-US" sz="14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4233A"/>
                          </a:solidFill>
                          <a:latin typeface="Arial" pitchFamily="34" charset="0"/>
                          <a:ea typeface="Arial" pitchFamily="34" charset="-122"/>
                          <a:cs typeface="Arial" pitchFamily="34" charset="-120"/>
                        </a:rPr>
                        <a:t>01/7/2026</a:t>
                      </a:r>
                      <a:endParaRPr lang="en-US" sz="14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400" b="1" dirty="0">
                          <a:solidFill>
                            <a:srgbClr val="14233A"/>
                          </a:solidFill>
                          <a:latin typeface="Arial" pitchFamily="34" charset="0"/>
                          <a:ea typeface="Arial" pitchFamily="34" charset="-122"/>
                          <a:cs typeface="Arial" pitchFamily="34" charset="-120"/>
                        </a:rPr>
                        <a:t>2.530.000 đ</a:t>
                      </a:r>
                      <a:endParaRPr lang="en-US" sz="14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400" b="1" dirty="0">
                          <a:solidFill>
                            <a:srgbClr val="14233A"/>
                          </a:solidFill>
                          <a:latin typeface="Arial" pitchFamily="34" charset="0"/>
                          <a:ea typeface="Arial" pitchFamily="34" charset="-122"/>
                          <a:cs typeface="Arial" pitchFamily="34" charset="-120"/>
                        </a:rPr>
                        <a:t>15.180.000 đ</a:t>
                      </a:r>
                      <a:endParaRPr lang="en-US" sz="14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bl>
          </a:graphicData>
        </a:graphic>
      </p:graphicFrame>
      <p:sp>
        <p:nvSpPr>
          <p:cNvPr id="5" name="Shape 2"/>
          <p:cNvSpPr/>
          <p:nvPr/>
        </p:nvSpPr>
        <p:spPr>
          <a:xfrm>
            <a:off x="566928" y="5074920"/>
            <a:ext cx="11057839" cy="1051560"/>
          </a:xfrm>
          <a:prstGeom prst="rect">
            <a:avLst/>
          </a:prstGeom>
          <a:solidFill>
            <a:srgbClr val="FFF4E6"/>
          </a:solidFill>
          <a:ln w="12700">
            <a:solidFill>
              <a:srgbClr val="FFF4E6"/>
            </a:solidFill>
            <a:prstDash val="solid"/>
          </a:ln>
        </p:spPr>
      </p:sp>
      <p:sp>
        <p:nvSpPr>
          <p:cNvPr id="6" name="Shape 3"/>
          <p:cNvSpPr/>
          <p:nvPr/>
        </p:nvSpPr>
        <p:spPr>
          <a:xfrm>
            <a:off x="566928" y="5074920"/>
            <a:ext cx="64008" cy="1051560"/>
          </a:xfrm>
          <a:prstGeom prst="rect">
            <a:avLst/>
          </a:prstGeom>
          <a:solidFill>
            <a:srgbClr val="C96A12"/>
          </a:solidFill>
          <a:ln w="12700">
            <a:solidFill>
              <a:srgbClr val="C96A12"/>
            </a:solidFill>
            <a:prstDash val="solid"/>
          </a:ln>
        </p:spPr>
      </p:sp>
      <p:sp>
        <p:nvSpPr>
          <p:cNvPr id="7" name="Text 4"/>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Nhắc lại: </a:t>
            </a:r>
            <a:pPr indent="0" marL="0">
              <a:lnSpc>
                <a:spcPts val="1900"/>
              </a:lnSpc>
              <a:buNone/>
            </a:pPr>
            <a:r>
              <a:rPr lang="en-US" sz="1300" dirty="0">
                <a:solidFill>
                  <a:srgbClr val="14233A"/>
                </a:solidFill>
                <a:latin typeface="Arial" pitchFamily="34" charset="0"/>
                <a:ea typeface="Arial" pitchFamily="34" charset="-122"/>
                <a:cs typeface="Arial" pitchFamily="34" charset="-120"/>
              </a:rPr>
              <a:t>Con số 15.180.000 đ chỉ đúng khi người bệnh không có khoản cùng chi trả nào trước 01/7/2026. Có phát sinh trước mốc đó thì ngưỡng cả năm được tính theo công thức ở mục 5.3 và luôn thấp hơn 15.180.000 đ.</a:t>
            </a:r>
            <a:endParaRPr lang="en-US" sz="1300" dirty="0"/>
          </a:p>
        </p:txBody>
      </p:sp>
      <p:sp>
        <p:nvSpPr>
          <p:cNvPr id="9" name="Shape 5"/>
          <p:cNvSpPr/>
          <p:nvPr/>
        </p:nvSpPr>
        <p:spPr>
          <a:xfrm>
            <a:off x="566928" y="6382512"/>
            <a:ext cx="11057839" cy="0"/>
          </a:xfrm>
          <a:prstGeom prst="line">
            <a:avLst/>
          </a:prstGeom>
          <a:noFill/>
          <a:ln w="9525">
            <a:solidFill>
              <a:srgbClr val="D6E2EE"/>
            </a:solidFill>
            <a:prstDash val="solid"/>
          </a:ln>
        </p:spPr>
      </p:sp>
      <p:sp>
        <p:nvSpPr>
          <p:cNvPr id="10" name="Text 6"/>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1" name="Text 7"/>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48 / 80</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05 / HDSD MCCT · MỤC 8</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Sáu điều cần lưu ý khi trả lời người bệnh</a:t>
            </a:r>
            <a:endParaRPr lang="en-US" sz="2600" dirty="0"/>
          </a:p>
        </p:txBody>
      </p:sp>
      <p:sp>
        <p:nvSpPr>
          <p:cNvPr id="4" name="Text 2"/>
          <p:cNvSpPr/>
          <p:nvPr/>
        </p:nvSpPr>
        <p:spPr>
          <a:xfrm>
            <a:off x="566928" y="1325880"/>
            <a:ext cx="11057839" cy="4892040"/>
          </a:xfrm>
          <a:prstGeom prst="rect">
            <a:avLst/>
          </a:prstGeom>
          <a:noFill/>
          <a:ln/>
        </p:spPr>
        <p:txBody>
          <a:bodyPr wrap="square" rtlCol="0" anchor="t"/>
          <a:lstStyle/>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Số liệu do cổng BHXH cung cấp, phần mềm KHÔNG tự tính. Luôn đối chiếu mốc thời gian "tính đến …" trước khi trả lời</a:t>
            </a:r>
            <a:endParaRPr lang="en-US" sz="1600" dirty="0"/>
          </a:p>
          <a:p>
            <a:pPr marL="342900" indent="-342900">
              <a:lnSpc>
                <a:spcPts val="2400"/>
              </a:lnSpc>
              <a:spcAft>
                <a:spcPts val="1000"/>
              </a:spcAft>
              <a:buSzPct val="100000"/>
              <a:buChar char="▪"/>
            </a:pPr>
            <a:r>
              <a:rPr lang="en-US" sz="1600" b="1" dirty="0">
                <a:solidFill>
                  <a:srgbClr val="C62828"/>
                </a:solidFill>
                <a:latin typeface="Arial" pitchFamily="34" charset="0"/>
                <a:ea typeface="Arial" pitchFamily="34" charset="-122"/>
                <a:cs typeface="Arial" pitchFamily="34" charset="-120"/>
              </a:rPr>
              <a:t>Lũy kế chỉ gồm các đợt KCB mà cơ sở đã gửi hồ sơ đề nghị thanh toán lên cổng. Đợt vừa kết thúc hôm nay thường CHƯA có trong số liệu</a:t>
            </a:r>
            <a:endParaRPr lang="en-US" sz="1600" dirty="0"/>
          </a:p>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Lũy kế tính theo năm tài chính và bao gồm cả các đợt KCB tại CƠ SỞ KHÁC, không chỉ riêng cơ sở đang tra</a:t>
            </a:r>
            <a:endParaRPr lang="en-US" sz="1600" dirty="0"/>
          </a:p>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Mọi lần tra cứu đều được ghi lại, kể cả lần không thành công, phục vụ đối chiếu về sau</a:t>
            </a:r>
            <a:endParaRPr lang="en-US" sz="1600" dirty="0"/>
          </a:p>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Mỗi lần tra đều hỏi thẳng cổng nên kết quả là số liệu mới nhất cổng có tại thời điểm tra</a:t>
            </a:r>
            <a:endParaRPr lang="en-US" sz="1600" dirty="0"/>
          </a:p>
          <a:p>
            <a:pPr marL="342900" indent="-342900">
              <a:lnSpc>
                <a:spcPts val="2400"/>
              </a:lnSpc>
              <a:spcAft>
                <a:spcPts val="1000"/>
              </a:spcAft>
              <a:buSzPct val="100000"/>
              <a:buChar char="▪"/>
            </a:pPr>
            <a:r>
              <a:rPr lang="en-US" sz="1600" b="1" dirty="0">
                <a:solidFill>
                  <a:srgbClr val="1F4E79"/>
                </a:solidFill>
                <a:latin typeface="Arial" pitchFamily="34" charset="0"/>
                <a:ea typeface="Arial" pitchFamily="34" charset="-122"/>
                <a:cs typeface="Arial" pitchFamily="34" charset="-120"/>
              </a:rPr>
              <a:t>Kết quả tra cứu là căn cứ THAM KHẢO, không thay thế thủ tục. Việc xác định đủ điều kiện miễn và cấp giấy chứng nhận thực hiện theo quy định hiện hành</a:t>
            </a:r>
            <a:endParaRPr lang="en-US" sz="1600" dirty="0"/>
          </a:p>
        </p:txBody>
      </p:sp>
      <p:sp>
        <p:nvSpPr>
          <p:cNvPr id="6" name="Shape 3"/>
          <p:cNvSpPr/>
          <p:nvPr/>
        </p:nvSpPr>
        <p:spPr>
          <a:xfrm>
            <a:off x="566928" y="6382512"/>
            <a:ext cx="11057839" cy="0"/>
          </a:xfrm>
          <a:prstGeom prst="line">
            <a:avLst/>
          </a:prstGeom>
          <a:noFill/>
          <a:ln w="9525">
            <a:solidFill>
              <a:srgbClr val="D6E2EE"/>
            </a:solidFill>
            <a:prstDash val="solid"/>
          </a:ln>
        </p:spPr>
      </p:sp>
      <p:sp>
        <p:nvSpPr>
          <p:cNvPr id="7" name="Text 4"/>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8" name="Text 5"/>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49 / 80</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A9FD8"/>
          </a:solidFill>
          <a:ln w="12700">
            <a:solidFill>
              <a:srgbClr val="2A9FD8"/>
            </a:solidFill>
            <a:prstDash val="solid"/>
          </a:ln>
        </p:spPr>
      </p:sp>
      <p:sp>
        <p:nvSpPr>
          <p:cNvPr id="3" name="Text 1"/>
          <p:cNvSpPr/>
          <p:nvPr/>
        </p:nvSpPr>
        <p:spPr>
          <a:xfrm>
            <a:off x="822960" y="2011680"/>
            <a:ext cx="1828800" cy="1371600"/>
          </a:xfrm>
          <a:prstGeom prst="rect">
            <a:avLst/>
          </a:prstGeom>
          <a:noFill/>
          <a:ln/>
        </p:spPr>
        <p:txBody>
          <a:bodyPr wrap="square" rtlCol="0" anchor="ctr"/>
          <a:lstStyle/>
          <a:p>
            <a:pPr indent="0" marL="0">
              <a:buNone/>
            </a:pPr>
            <a:r>
              <a:rPr lang="en-US" sz="8000" b="1" dirty="0">
                <a:solidFill>
                  <a:srgbClr val="2A9FD8"/>
                </a:solidFill>
                <a:latin typeface="Arial" pitchFamily="34" charset="0"/>
                <a:ea typeface="Arial" pitchFamily="34" charset="-122"/>
                <a:cs typeface="Arial" pitchFamily="34" charset="-120"/>
              </a:rPr>
              <a:t>06</a:t>
            </a:r>
            <a:endParaRPr lang="en-US" sz="8000" dirty="0"/>
          </a:p>
        </p:txBody>
      </p:sp>
      <p:sp>
        <p:nvSpPr>
          <p:cNvPr id="4" name="Text 2"/>
          <p:cNvSpPr/>
          <p:nvPr/>
        </p:nvSpPr>
        <p:spPr>
          <a:xfrm>
            <a:off x="2651760" y="2148840"/>
            <a:ext cx="8808415" cy="9144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Tra cứu lỗi hồ sơ theo mã điều trị</a:t>
            </a:r>
            <a:endParaRPr lang="en-US" sz="3200" dirty="0"/>
          </a:p>
        </p:txBody>
      </p:sp>
      <p:sp>
        <p:nvSpPr>
          <p:cNvPr id="5" name="Text 3"/>
          <p:cNvSpPr/>
          <p:nvPr/>
        </p:nvSpPr>
        <p:spPr>
          <a:xfrm>
            <a:off x="2651760" y="3108960"/>
            <a:ext cx="8808415" cy="822960"/>
          </a:xfrm>
          <a:prstGeom prst="rect">
            <a:avLst/>
          </a:prstGeom>
          <a:noFill/>
          <a:ln/>
        </p:spPr>
        <p:txBody>
          <a:bodyPr wrap="square" rtlCol="0" anchor="t"/>
          <a:lstStyle/>
          <a:p>
            <a:pPr indent="0" marL="0">
              <a:lnSpc>
                <a:spcPts val="2200"/>
              </a:lnSpc>
              <a:buNone/>
            </a:pPr>
            <a:r>
              <a:rPr lang="en-US" sz="1500" dirty="0">
                <a:solidFill>
                  <a:srgbClr val="A9C4DC"/>
                </a:solidFill>
                <a:latin typeface="Arial" pitchFamily="34" charset="0"/>
                <a:ea typeface="Arial" pitchFamily="34" charset="-122"/>
                <a:cs typeface="Arial" pitchFamily="34" charset="-120"/>
              </a:rPr>
              <a:t>Một lần quét mã vạch — thấy toàn bộ lỗi của hồ sơ từ cả ba nguồn</a:t>
            </a:r>
            <a:endParaRPr lang="en-US" sz="15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06 / MỤC 5.1</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Chức năng này giải quyết vấn đề gì</a:t>
            </a:r>
            <a:endParaRPr lang="en-US" sz="2600" dirty="0"/>
          </a:p>
        </p:txBody>
      </p:sp>
      <p:sp>
        <p:nvSpPr>
          <p:cNvPr id="4" name="Text 2"/>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B6B7F"/>
                </a:solidFill>
                <a:latin typeface="Arial" pitchFamily="34" charset="0"/>
                <a:ea typeface="Arial" pitchFamily="34" charset="-122"/>
                <a:cs typeface="Arial" pitchFamily="34" charset="-120"/>
              </a:rPr>
              <a:t>Cùng một đợt điều trị có thể bị ghi lỗi ở ba nơi khác nhau. Trước đây phải mở lần lượt ba màn hình và tự lọc ở từng nơi.</a:t>
            </a:r>
            <a:endParaRPr lang="en-US" sz="1300" dirty="0"/>
          </a:p>
        </p:txBody>
      </p:sp>
      <p:sp>
        <p:nvSpPr>
          <p:cNvPr id="5" name="Shape 3"/>
          <p:cNvSpPr/>
          <p:nvPr/>
        </p:nvSpPr>
        <p:spPr>
          <a:xfrm>
            <a:off x="566928" y="1783080"/>
            <a:ext cx="2558720" cy="1417320"/>
          </a:xfrm>
          <a:prstGeom prst="roundRect">
            <a:avLst>
              <a:gd name="adj" fmla="val 5161"/>
            </a:avLst>
          </a:prstGeom>
          <a:solidFill>
            <a:srgbClr val="EEF3F8"/>
          </a:solidFill>
          <a:ln w="12700">
            <a:solidFill>
              <a:srgbClr val="D6E2EE"/>
            </a:solidFill>
            <a:prstDash val="solid"/>
          </a:ln>
        </p:spPr>
      </p:sp>
      <p:sp>
        <p:nvSpPr>
          <p:cNvPr id="6" name="Text 4"/>
          <p:cNvSpPr/>
          <p:nvPr/>
        </p:nvSpPr>
        <p:spPr>
          <a:xfrm>
            <a:off x="676656" y="1911096"/>
            <a:ext cx="2339264" cy="457200"/>
          </a:xfrm>
          <a:prstGeom prst="rect">
            <a:avLst/>
          </a:prstGeom>
          <a:noFill/>
          <a:ln/>
        </p:spPr>
        <p:txBody>
          <a:bodyPr wrap="square" rtlCol="0" anchor="ctr"/>
          <a:lstStyle/>
          <a:p>
            <a:pPr algn="ctr" indent="0" marL="0">
              <a:lnSpc>
                <a:spcPts val="1800"/>
              </a:lnSpc>
              <a:buNone/>
            </a:pPr>
            <a:r>
              <a:rPr lang="en-US" sz="1400" b="1" dirty="0">
                <a:solidFill>
                  <a:srgbClr val="1A5EA8"/>
                </a:solidFill>
                <a:latin typeface="Arial" pitchFamily="34" charset="0"/>
                <a:ea typeface="Arial" pitchFamily="34" charset="-122"/>
                <a:cs typeface="Arial" pitchFamily="34" charset="-120"/>
              </a:rPr>
              <a:t>Sai sót y lệnh</a:t>
            </a:r>
            <a:endParaRPr lang="en-US" sz="1400" dirty="0"/>
          </a:p>
        </p:txBody>
      </p:sp>
      <p:sp>
        <p:nvSpPr>
          <p:cNvPr id="7" name="Text 5"/>
          <p:cNvSpPr/>
          <p:nvPr/>
        </p:nvSpPr>
        <p:spPr>
          <a:xfrm>
            <a:off x="676656" y="2368296"/>
            <a:ext cx="2339264" cy="704088"/>
          </a:xfrm>
          <a:prstGeom prst="rect">
            <a:avLst/>
          </a:prstGeom>
          <a:noFill/>
          <a:ln/>
        </p:spPr>
        <p:txBody>
          <a:bodyPr wrap="square" rtlCol="0" anchor="t"/>
          <a:lstStyle/>
          <a:p>
            <a:pPr algn="ctr" indent="0" marL="0">
              <a:lnSpc>
                <a:spcPts val="1600"/>
              </a:lnSpc>
              <a:buNone/>
            </a:pPr>
            <a:r>
              <a:rPr lang="en-US" sz="1100" dirty="0">
                <a:solidFill>
                  <a:srgbClr val="5B6B7F"/>
                </a:solidFill>
                <a:latin typeface="Arial" pitchFamily="34" charset="0"/>
                <a:ea typeface="Arial" pitchFamily="34" charset="-122"/>
                <a:cs typeface="Arial" pitchFamily="34" charset="-120"/>
              </a:rPr>
              <a:t>Nguồn: bộ quét y lệnh (Phần II)</a:t>
            </a:r>
            <a:endParaRPr lang="en-US" sz="1100" dirty="0"/>
          </a:p>
        </p:txBody>
      </p:sp>
      <p:sp>
        <p:nvSpPr>
          <p:cNvPr id="8" name="Text 6"/>
          <p:cNvSpPr/>
          <p:nvPr/>
        </p:nvSpPr>
        <p:spPr>
          <a:xfrm>
            <a:off x="3125648" y="2327148"/>
            <a:ext cx="274320" cy="329184"/>
          </a:xfrm>
          <a:prstGeom prst="rect">
            <a:avLst/>
          </a:prstGeom>
          <a:noFill/>
          <a:ln/>
        </p:spPr>
        <p:txBody>
          <a:bodyPr wrap="square" rtlCol="0" anchor="ctr"/>
          <a:lstStyle/>
          <a:p>
            <a:pPr algn="ctr" indent="0" marL="0">
              <a:buNone/>
            </a:pPr>
            <a:r>
              <a:rPr lang="en-US" sz="1400" dirty="0">
                <a:solidFill>
                  <a:srgbClr val="5B6B7F"/>
                </a:solidFill>
                <a:latin typeface="Arial" pitchFamily="34" charset="0"/>
                <a:ea typeface="Arial" pitchFamily="34" charset="-122"/>
                <a:cs typeface="Arial" pitchFamily="34" charset="-120"/>
              </a:rPr>
              <a:t>▶</a:t>
            </a:r>
            <a:endParaRPr lang="en-US" sz="1400" dirty="0"/>
          </a:p>
        </p:txBody>
      </p:sp>
      <p:sp>
        <p:nvSpPr>
          <p:cNvPr id="9" name="Shape 7"/>
          <p:cNvSpPr/>
          <p:nvPr/>
        </p:nvSpPr>
        <p:spPr>
          <a:xfrm>
            <a:off x="3399968" y="1783080"/>
            <a:ext cx="2558720" cy="1417320"/>
          </a:xfrm>
          <a:prstGeom prst="roundRect">
            <a:avLst>
              <a:gd name="adj" fmla="val 5161"/>
            </a:avLst>
          </a:prstGeom>
          <a:solidFill>
            <a:srgbClr val="EEF3F8"/>
          </a:solidFill>
          <a:ln w="12700">
            <a:solidFill>
              <a:srgbClr val="D6E2EE"/>
            </a:solidFill>
            <a:prstDash val="solid"/>
          </a:ln>
        </p:spPr>
      </p:sp>
      <p:sp>
        <p:nvSpPr>
          <p:cNvPr id="10" name="Text 8"/>
          <p:cNvSpPr/>
          <p:nvPr/>
        </p:nvSpPr>
        <p:spPr>
          <a:xfrm>
            <a:off x="3509696" y="1911096"/>
            <a:ext cx="2339264" cy="457200"/>
          </a:xfrm>
          <a:prstGeom prst="rect">
            <a:avLst/>
          </a:prstGeom>
          <a:noFill/>
          <a:ln/>
        </p:spPr>
        <p:txBody>
          <a:bodyPr wrap="square" rtlCol="0" anchor="ctr"/>
          <a:lstStyle/>
          <a:p>
            <a:pPr algn="ctr" indent="0" marL="0">
              <a:lnSpc>
                <a:spcPts val="1800"/>
              </a:lnSpc>
              <a:buNone/>
            </a:pPr>
            <a:r>
              <a:rPr lang="en-US" sz="1400" b="1" dirty="0">
                <a:solidFill>
                  <a:srgbClr val="1A5EA8"/>
                </a:solidFill>
                <a:latin typeface="Arial" pitchFamily="34" charset="0"/>
                <a:ea typeface="Arial" pitchFamily="34" charset="-122"/>
                <a:cs typeface="Arial" pitchFamily="34" charset="-120"/>
              </a:rPr>
              <a:t>Lỗi tra thẻ BHYT</a:t>
            </a:r>
            <a:endParaRPr lang="en-US" sz="1400" dirty="0"/>
          </a:p>
        </p:txBody>
      </p:sp>
      <p:sp>
        <p:nvSpPr>
          <p:cNvPr id="11" name="Text 9"/>
          <p:cNvSpPr/>
          <p:nvPr/>
        </p:nvSpPr>
        <p:spPr>
          <a:xfrm>
            <a:off x="3509696" y="2368296"/>
            <a:ext cx="2339264" cy="704088"/>
          </a:xfrm>
          <a:prstGeom prst="rect">
            <a:avLst/>
          </a:prstGeom>
          <a:noFill/>
          <a:ln/>
        </p:spPr>
        <p:txBody>
          <a:bodyPr wrap="square" rtlCol="0" anchor="t"/>
          <a:lstStyle/>
          <a:p>
            <a:pPr algn="ctr" indent="0" marL="0">
              <a:lnSpc>
                <a:spcPts val="1600"/>
              </a:lnSpc>
              <a:buNone/>
            </a:pPr>
            <a:r>
              <a:rPr lang="en-US" sz="1100" dirty="0">
                <a:solidFill>
                  <a:srgbClr val="5B6B7F"/>
                </a:solidFill>
                <a:latin typeface="Arial" pitchFamily="34" charset="0"/>
                <a:ea typeface="Arial" pitchFamily="34" charset="-122"/>
                <a:cs typeface="Arial" pitchFamily="34" charset="-120"/>
              </a:rPr>
              <a:t>Nguồn: tra cứu thẻ tự động lên cổng BHXH</a:t>
            </a:r>
            <a:endParaRPr lang="en-US" sz="1100" dirty="0"/>
          </a:p>
        </p:txBody>
      </p:sp>
      <p:sp>
        <p:nvSpPr>
          <p:cNvPr id="12" name="Text 10"/>
          <p:cNvSpPr/>
          <p:nvPr/>
        </p:nvSpPr>
        <p:spPr>
          <a:xfrm>
            <a:off x="5958688" y="2327148"/>
            <a:ext cx="274320" cy="329184"/>
          </a:xfrm>
          <a:prstGeom prst="rect">
            <a:avLst/>
          </a:prstGeom>
          <a:noFill/>
          <a:ln/>
        </p:spPr>
        <p:txBody>
          <a:bodyPr wrap="square" rtlCol="0" anchor="ctr"/>
          <a:lstStyle/>
          <a:p>
            <a:pPr algn="ctr" indent="0" marL="0">
              <a:buNone/>
            </a:pPr>
            <a:r>
              <a:rPr lang="en-US" sz="1400" dirty="0">
                <a:solidFill>
                  <a:srgbClr val="5B6B7F"/>
                </a:solidFill>
                <a:latin typeface="Arial" pitchFamily="34" charset="0"/>
                <a:ea typeface="Arial" pitchFamily="34" charset="-122"/>
                <a:cs typeface="Arial" pitchFamily="34" charset="-120"/>
              </a:rPr>
              <a:t>▶</a:t>
            </a:r>
            <a:endParaRPr lang="en-US" sz="1400" dirty="0"/>
          </a:p>
        </p:txBody>
      </p:sp>
      <p:sp>
        <p:nvSpPr>
          <p:cNvPr id="13" name="Shape 11"/>
          <p:cNvSpPr/>
          <p:nvPr/>
        </p:nvSpPr>
        <p:spPr>
          <a:xfrm>
            <a:off x="6233008" y="1783080"/>
            <a:ext cx="2558720" cy="1417320"/>
          </a:xfrm>
          <a:prstGeom prst="roundRect">
            <a:avLst>
              <a:gd name="adj" fmla="val 5161"/>
            </a:avLst>
          </a:prstGeom>
          <a:solidFill>
            <a:srgbClr val="EEF3F8"/>
          </a:solidFill>
          <a:ln w="12700">
            <a:solidFill>
              <a:srgbClr val="D6E2EE"/>
            </a:solidFill>
            <a:prstDash val="solid"/>
          </a:ln>
        </p:spPr>
      </p:sp>
      <p:sp>
        <p:nvSpPr>
          <p:cNvPr id="14" name="Text 12"/>
          <p:cNvSpPr/>
          <p:nvPr/>
        </p:nvSpPr>
        <p:spPr>
          <a:xfrm>
            <a:off x="6342736" y="1911096"/>
            <a:ext cx="2339264" cy="457200"/>
          </a:xfrm>
          <a:prstGeom prst="rect">
            <a:avLst/>
          </a:prstGeom>
          <a:noFill/>
          <a:ln/>
        </p:spPr>
        <p:txBody>
          <a:bodyPr wrap="square" rtlCol="0" anchor="ctr"/>
          <a:lstStyle/>
          <a:p>
            <a:pPr algn="ctr" indent="0" marL="0">
              <a:lnSpc>
                <a:spcPts val="1800"/>
              </a:lnSpc>
              <a:buNone/>
            </a:pPr>
            <a:r>
              <a:rPr lang="en-US" sz="1400" b="1" dirty="0">
                <a:solidFill>
                  <a:srgbClr val="1A5EA8"/>
                </a:solidFill>
                <a:latin typeface="Arial" pitchFamily="34" charset="0"/>
                <a:ea typeface="Arial" pitchFamily="34" charset="-122"/>
                <a:cs typeface="Arial" pitchFamily="34" charset="-120"/>
              </a:rPr>
              <a:t>Lỗi XML 3176</a:t>
            </a:r>
            <a:endParaRPr lang="en-US" sz="1400" dirty="0"/>
          </a:p>
        </p:txBody>
      </p:sp>
      <p:sp>
        <p:nvSpPr>
          <p:cNvPr id="15" name="Text 13"/>
          <p:cNvSpPr/>
          <p:nvPr/>
        </p:nvSpPr>
        <p:spPr>
          <a:xfrm>
            <a:off x="6342736" y="2368296"/>
            <a:ext cx="2339264" cy="704088"/>
          </a:xfrm>
          <a:prstGeom prst="rect">
            <a:avLst/>
          </a:prstGeom>
          <a:noFill/>
          <a:ln/>
        </p:spPr>
        <p:txBody>
          <a:bodyPr wrap="square" rtlCol="0" anchor="t"/>
          <a:lstStyle/>
          <a:p>
            <a:pPr algn="ctr" indent="0" marL="0">
              <a:lnSpc>
                <a:spcPts val="1600"/>
              </a:lnSpc>
              <a:buNone/>
            </a:pPr>
            <a:r>
              <a:rPr lang="en-US" sz="1100" dirty="0">
                <a:solidFill>
                  <a:srgbClr val="5B6B7F"/>
                </a:solidFill>
                <a:latin typeface="Arial" pitchFamily="34" charset="0"/>
                <a:ea typeface="Arial" pitchFamily="34" charset="-122"/>
                <a:cs typeface="Arial" pitchFamily="34" charset="-120"/>
              </a:rPr>
              <a:t>Nguồn: kiểm tra hồ sơ và kết quả cổng giám định trả về</a:t>
            </a:r>
            <a:endParaRPr lang="en-US" sz="1100" dirty="0"/>
          </a:p>
        </p:txBody>
      </p:sp>
      <p:sp>
        <p:nvSpPr>
          <p:cNvPr id="16" name="Text 14"/>
          <p:cNvSpPr/>
          <p:nvPr/>
        </p:nvSpPr>
        <p:spPr>
          <a:xfrm>
            <a:off x="8791727" y="2327148"/>
            <a:ext cx="274320" cy="329184"/>
          </a:xfrm>
          <a:prstGeom prst="rect">
            <a:avLst/>
          </a:prstGeom>
          <a:noFill/>
          <a:ln/>
        </p:spPr>
        <p:txBody>
          <a:bodyPr wrap="square" rtlCol="0" anchor="ctr"/>
          <a:lstStyle/>
          <a:p>
            <a:pPr algn="ctr" indent="0" marL="0">
              <a:buNone/>
            </a:pPr>
            <a:r>
              <a:rPr lang="en-US" sz="1400" dirty="0">
                <a:solidFill>
                  <a:srgbClr val="5B6B7F"/>
                </a:solidFill>
                <a:latin typeface="Arial" pitchFamily="34" charset="0"/>
                <a:ea typeface="Arial" pitchFamily="34" charset="-122"/>
                <a:cs typeface="Arial" pitchFamily="34" charset="-120"/>
              </a:rPr>
              <a:t>▶</a:t>
            </a:r>
            <a:endParaRPr lang="en-US" sz="1400" dirty="0"/>
          </a:p>
        </p:txBody>
      </p:sp>
      <p:sp>
        <p:nvSpPr>
          <p:cNvPr id="17" name="Shape 15"/>
          <p:cNvSpPr/>
          <p:nvPr/>
        </p:nvSpPr>
        <p:spPr>
          <a:xfrm>
            <a:off x="9066047" y="1783080"/>
            <a:ext cx="2558720" cy="1417320"/>
          </a:xfrm>
          <a:prstGeom prst="roundRect">
            <a:avLst>
              <a:gd name="adj" fmla="val 5161"/>
            </a:avLst>
          </a:prstGeom>
          <a:solidFill>
            <a:srgbClr val="1A5EA8"/>
          </a:solidFill>
          <a:ln w="12700">
            <a:solidFill>
              <a:srgbClr val="1A5EA8"/>
            </a:solidFill>
            <a:prstDash val="solid"/>
          </a:ln>
        </p:spPr>
      </p:sp>
      <p:sp>
        <p:nvSpPr>
          <p:cNvPr id="18" name="Text 16"/>
          <p:cNvSpPr/>
          <p:nvPr/>
        </p:nvSpPr>
        <p:spPr>
          <a:xfrm>
            <a:off x="9175775" y="1911096"/>
            <a:ext cx="2339264" cy="457200"/>
          </a:xfrm>
          <a:prstGeom prst="rect">
            <a:avLst/>
          </a:prstGeom>
          <a:noFill/>
          <a:ln/>
        </p:spPr>
        <p:txBody>
          <a:bodyPr wrap="square" rtlCol="0" anchor="ctr"/>
          <a:lstStyle/>
          <a:p>
            <a:pPr algn="ctr" indent="0" marL="0">
              <a:lnSpc>
                <a:spcPts val="1800"/>
              </a:lnSpc>
              <a:buNone/>
            </a:pPr>
            <a:r>
              <a:rPr lang="en-US" sz="1400" b="1" dirty="0">
                <a:solidFill>
                  <a:srgbClr val="FFFFFF"/>
                </a:solidFill>
                <a:latin typeface="Arial" pitchFamily="34" charset="0"/>
                <a:ea typeface="Arial" pitchFamily="34" charset="-122"/>
                <a:cs typeface="Arial" pitchFamily="34" charset="-120"/>
              </a:rPr>
              <a:t>Một màn hình duy nhất</a:t>
            </a:r>
            <a:endParaRPr lang="en-US" sz="1400" dirty="0"/>
          </a:p>
        </p:txBody>
      </p:sp>
      <p:sp>
        <p:nvSpPr>
          <p:cNvPr id="19" name="Text 17"/>
          <p:cNvSpPr/>
          <p:nvPr/>
        </p:nvSpPr>
        <p:spPr>
          <a:xfrm>
            <a:off x="9175775" y="2368296"/>
            <a:ext cx="2339264" cy="704088"/>
          </a:xfrm>
          <a:prstGeom prst="rect">
            <a:avLst/>
          </a:prstGeom>
          <a:noFill/>
          <a:ln/>
        </p:spPr>
        <p:txBody>
          <a:bodyPr wrap="square" rtlCol="0" anchor="t"/>
          <a:lstStyle/>
          <a:p>
            <a:pPr algn="ctr" indent="0" marL="0">
              <a:lnSpc>
                <a:spcPts val="1600"/>
              </a:lnSpc>
              <a:buNone/>
            </a:pPr>
            <a:r>
              <a:rPr lang="en-US" sz="1100" dirty="0">
                <a:solidFill>
                  <a:srgbClr val="DCE9F5"/>
                </a:solidFill>
                <a:latin typeface="Arial" pitchFamily="34" charset="0"/>
                <a:ea typeface="Arial" pitchFamily="34" charset="-122"/>
                <a:cs typeface="Arial" pitchFamily="34" charset="-120"/>
              </a:rPr>
              <a:t>Nhập hoặc quét mã điều trị → hiện thông tin hồ sơ + cả ba bảng lỗi</a:t>
            </a:r>
            <a:endParaRPr lang="en-US" sz="1100" dirty="0"/>
          </a:p>
        </p:txBody>
      </p:sp>
      <p:sp>
        <p:nvSpPr>
          <p:cNvPr id="20" name="Text 18"/>
          <p:cNvSpPr/>
          <p:nvPr/>
        </p:nvSpPr>
        <p:spPr>
          <a:xfrm>
            <a:off x="566928" y="3474720"/>
            <a:ext cx="11057839" cy="1554480"/>
          </a:xfrm>
          <a:prstGeom prst="rect">
            <a:avLst/>
          </a:prstGeom>
          <a:noFill/>
          <a:ln/>
        </p:spPr>
        <p:txBody>
          <a:bodyPr wrap="square" rtlCol="0" anchor="t"/>
          <a:lstStyle/>
          <a:p>
            <a:pPr marL="342900" indent="-342900">
              <a:lnSpc>
                <a:spcPts val="1900"/>
              </a:lnSpc>
              <a:spcAft>
                <a:spcPts val="800"/>
              </a:spcAft>
              <a:buSzPct val="100000"/>
              <a:buChar char="▪"/>
            </a:pPr>
            <a:r>
              <a:rPr lang="en-US" sz="1300" dirty="0">
                <a:solidFill>
                  <a:srgbClr val="14233A"/>
                </a:solidFill>
                <a:latin typeface="Arial" pitchFamily="34" charset="0"/>
                <a:ea typeface="Arial" pitchFamily="34" charset="-122"/>
                <a:cs typeface="Arial" pitchFamily="34" charset="-120"/>
              </a:rPr>
              <a:t>Menu Tra cứu lỗi hồ sơ nằm ở cấp NGOÀI CÙNG của thanh menu bên trái, không nằm trong nhóm Kiểm tra sai sót y lệnh.</a:t>
            </a:r>
            <a:endParaRPr lang="en-US" sz="1300" dirty="0"/>
          </a:p>
          <a:p>
            <a:pPr marL="342900" indent="-342900">
              <a:lnSpc>
                <a:spcPts val="1900"/>
              </a:lnSpc>
              <a:spcAft>
                <a:spcPts val="800"/>
              </a:spcAft>
              <a:buSzPct val="100000"/>
              <a:buChar char="▪"/>
            </a:pPr>
            <a:r>
              <a:rPr lang="en-US" sz="1300" dirty="0">
                <a:solidFill>
                  <a:srgbClr val="14233A"/>
                </a:solidFill>
                <a:latin typeface="Arial" pitchFamily="34" charset="0"/>
                <a:ea typeface="Arial" pitchFamily="34" charset="-122"/>
                <a:cs typeface="Arial" pitchFamily="34" charset="-120"/>
              </a:rPr>
              <a:t>Quyền cần có: tra-cuu-loi-ho-so. Quyền này cấp riêng cho khoa phòng, không cần mở quyền quản trị.</a:t>
            </a:r>
            <a:endParaRPr lang="en-US" sz="1300" dirty="0"/>
          </a:p>
          <a:p>
            <a:pPr marL="342900" indent="-342900">
              <a:lnSpc>
                <a:spcPts val="1900"/>
              </a:lnSpc>
              <a:spcAft>
                <a:spcPts val="800"/>
              </a:spcAft>
              <a:buSzPct val="100000"/>
              <a:buChar char="▪"/>
            </a:pPr>
            <a:r>
              <a:rPr lang="en-US" sz="1300" dirty="0">
                <a:solidFill>
                  <a:srgbClr val="14233A"/>
                </a:solidFill>
                <a:latin typeface="Arial" pitchFamily="34" charset="0"/>
                <a:ea typeface="Arial" pitchFamily="34" charset="-122"/>
                <a:cs typeface="Arial" pitchFamily="34" charset="-120"/>
              </a:rPr>
              <a:t>Đây là màn hình tra cứu nhanh tại khoa. Theo dõi theo ngày / theo khoa / theo mức độ vẫn làm ở ba màn hình chuyên trách.</a:t>
            </a:r>
            <a:endParaRPr lang="en-US" sz="1300" dirty="0"/>
          </a:p>
        </p:txBody>
      </p:sp>
      <p:sp>
        <p:nvSpPr>
          <p:cNvPr id="21" name="Shape 19"/>
          <p:cNvSpPr/>
          <p:nvPr/>
        </p:nvSpPr>
        <p:spPr>
          <a:xfrm>
            <a:off x="566928" y="5074920"/>
            <a:ext cx="11057839" cy="1051560"/>
          </a:xfrm>
          <a:prstGeom prst="rect">
            <a:avLst/>
          </a:prstGeom>
          <a:solidFill>
            <a:srgbClr val="FFF4E6"/>
          </a:solidFill>
          <a:ln w="12700">
            <a:solidFill>
              <a:srgbClr val="FFF4E6"/>
            </a:solidFill>
            <a:prstDash val="solid"/>
          </a:ln>
        </p:spPr>
      </p:sp>
      <p:sp>
        <p:nvSpPr>
          <p:cNvPr id="22" name="Shape 20"/>
          <p:cNvSpPr/>
          <p:nvPr/>
        </p:nvSpPr>
        <p:spPr>
          <a:xfrm>
            <a:off x="566928" y="5074920"/>
            <a:ext cx="64008" cy="1051560"/>
          </a:xfrm>
          <a:prstGeom prst="rect">
            <a:avLst/>
          </a:prstGeom>
          <a:solidFill>
            <a:srgbClr val="C96A12"/>
          </a:solidFill>
          <a:ln w="12700">
            <a:solidFill>
              <a:srgbClr val="C96A12"/>
            </a:solidFill>
            <a:prstDash val="solid"/>
          </a:ln>
        </p:spPr>
      </p:sp>
      <p:sp>
        <p:nvSpPr>
          <p:cNvPr id="23" name="Text 21"/>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Lưu ý: </a:t>
            </a:r>
            <a:pPr indent="0" marL="0">
              <a:lnSpc>
                <a:spcPts val="1900"/>
              </a:lnSpc>
              <a:buNone/>
            </a:pPr>
            <a:r>
              <a:rPr lang="en-US" sz="1300" dirty="0">
                <a:solidFill>
                  <a:srgbClr val="14233A"/>
                </a:solidFill>
                <a:latin typeface="Arial" pitchFamily="34" charset="0"/>
                <a:ea typeface="Arial" pitchFamily="34" charset="-122"/>
                <a:cs typeface="Arial" pitchFamily="34" charset="-120"/>
              </a:rPr>
              <a:t>Màn hình chỉ hiển thị lại lỗi đã được ghi nhận trước đó. Mở màn hình này KHÔNG kích hoạt một lượt kiểm tra mới — hồ sơ vừa phát sinh y lệnh có thể chưa kịp xuất hiện lỗi.</a:t>
            </a:r>
            <a:endParaRPr lang="en-US" sz="1300" dirty="0"/>
          </a:p>
        </p:txBody>
      </p:sp>
      <p:sp>
        <p:nvSpPr>
          <p:cNvPr id="25" name="Shape 22"/>
          <p:cNvSpPr/>
          <p:nvPr/>
        </p:nvSpPr>
        <p:spPr>
          <a:xfrm>
            <a:off x="566928" y="6382512"/>
            <a:ext cx="11057839" cy="0"/>
          </a:xfrm>
          <a:prstGeom prst="line">
            <a:avLst/>
          </a:prstGeom>
          <a:noFill/>
          <a:ln w="9525">
            <a:solidFill>
              <a:srgbClr val="D6E2EE"/>
            </a:solidFill>
            <a:prstDash val="solid"/>
          </a:ln>
        </p:spPr>
      </p:sp>
      <p:sp>
        <p:nvSpPr>
          <p:cNvPr id="26" name="Text 23"/>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27" name="Text 24"/>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51 / 80</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06 / MỤC 5.3</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Hai cách đưa mã điều trị vào</a:t>
            </a:r>
            <a:endParaRPr lang="en-US" sz="2600" dirty="0"/>
          </a:p>
        </p:txBody>
      </p:sp>
      <p:sp>
        <p:nvSpPr>
          <p:cNvPr id="4" name="Text 2"/>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B6B7F"/>
                </a:solidFill>
                <a:latin typeface="Arial" pitchFamily="34" charset="0"/>
                <a:ea typeface="Arial" pitchFamily="34" charset="-122"/>
                <a:cs typeface="Arial" pitchFamily="34" charset="-120"/>
              </a:rPr>
              <a:t>Ô nhập nằm ngay đầu màn hình và tự động được đặt con trỏ khi mở trang.</a:t>
            </a:r>
            <a:endParaRPr lang="en-US" sz="1300" dirty="0"/>
          </a:p>
        </p:txBody>
      </p:sp>
      <p:sp>
        <p:nvSpPr>
          <p:cNvPr id="5" name="Shape 3"/>
          <p:cNvSpPr/>
          <p:nvPr/>
        </p:nvSpPr>
        <p:spPr>
          <a:xfrm>
            <a:off x="566928" y="1709928"/>
            <a:ext cx="11057839" cy="566928"/>
          </a:xfrm>
          <a:prstGeom prst="rect">
            <a:avLst/>
          </a:prstGeom>
          <a:solidFill>
            <a:srgbClr val="EEF3F8"/>
          </a:solidFill>
          <a:ln w="12700">
            <a:solidFill>
              <a:srgbClr val="D6E2EE"/>
            </a:solidFill>
            <a:prstDash val="solid"/>
          </a:ln>
        </p:spPr>
      </p:sp>
      <p:sp>
        <p:nvSpPr>
          <p:cNvPr id="6" name="Shape 4"/>
          <p:cNvSpPr/>
          <p:nvPr/>
        </p:nvSpPr>
        <p:spPr>
          <a:xfrm>
            <a:off x="713232" y="1801368"/>
            <a:ext cx="384048" cy="384048"/>
          </a:xfrm>
          <a:prstGeom prst="ellipse">
            <a:avLst/>
          </a:prstGeom>
          <a:solidFill>
            <a:srgbClr val="1A5EA8"/>
          </a:solidFill>
          <a:ln/>
        </p:spPr>
      </p:sp>
      <p:sp>
        <p:nvSpPr>
          <p:cNvPr id="7" name="Text 5"/>
          <p:cNvSpPr/>
          <p:nvPr/>
        </p:nvSpPr>
        <p:spPr>
          <a:xfrm>
            <a:off x="713232" y="1801368"/>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1225296" y="1709928"/>
            <a:ext cx="5750076" cy="566928"/>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Cách 1 — Gõ tay: gõ mã điều trị vào ô Mã điều trị</a:t>
            </a:r>
            <a:endParaRPr lang="en-US" sz="1400" dirty="0"/>
          </a:p>
        </p:txBody>
      </p:sp>
      <p:sp>
        <p:nvSpPr>
          <p:cNvPr id="9" name="Text 7"/>
          <p:cNvSpPr/>
          <p:nvPr/>
        </p:nvSpPr>
        <p:spPr>
          <a:xfrm>
            <a:off x="7085951" y="1709928"/>
            <a:ext cx="4088209" cy="56692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Mã hiện trong ô</a:t>
            </a:r>
            <a:endParaRPr lang="en-US" sz="1200" dirty="0"/>
          </a:p>
        </p:txBody>
      </p:sp>
      <p:sp>
        <p:nvSpPr>
          <p:cNvPr id="10" name="Shape 8"/>
          <p:cNvSpPr/>
          <p:nvPr/>
        </p:nvSpPr>
        <p:spPr>
          <a:xfrm>
            <a:off x="566928" y="2386584"/>
            <a:ext cx="11057839" cy="566928"/>
          </a:xfrm>
          <a:prstGeom prst="rect">
            <a:avLst/>
          </a:prstGeom>
          <a:solidFill>
            <a:srgbClr val="FFFFFF"/>
          </a:solidFill>
          <a:ln w="12700">
            <a:solidFill>
              <a:srgbClr val="D6E2EE"/>
            </a:solidFill>
            <a:prstDash val="solid"/>
          </a:ln>
        </p:spPr>
      </p:sp>
      <p:sp>
        <p:nvSpPr>
          <p:cNvPr id="11" name="Shape 9"/>
          <p:cNvSpPr/>
          <p:nvPr/>
        </p:nvSpPr>
        <p:spPr>
          <a:xfrm>
            <a:off x="713232" y="2478024"/>
            <a:ext cx="384048" cy="384048"/>
          </a:xfrm>
          <a:prstGeom prst="ellipse">
            <a:avLst/>
          </a:prstGeom>
          <a:solidFill>
            <a:srgbClr val="1A5EA8"/>
          </a:solidFill>
          <a:ln/>
        </p:spPr>
      </p:sp>
      <p:sp>
        <p:nvSpPr>
          <p:cNvPr id="12" name="Text 10"/>
          <p:cNvSpPr/>
          <p:nvPr/>
        </p:nvSpPr>
        <p:spPr>
          <a:xfrm>
            <a:off x="713232" y="2478024"/>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1225296" y="2386584"/>
            <a:ext cx="5750076" cy="566928"/>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Nhấn Enter hoặc bấm nút Tra cứu</a:t>
            </a:r>
            <a:endParaRPr lang="en-US" sz="1400" dirty="0"/>
          </a:p>
        </p:txBody>
      </p:sp>
      <p:sp>
        <p:nvSpPr>
          <p:cNvPr id="14" name="Text 12"/>
          <p:cNvSpPr/>
          <p:nvPr/>
        </p:nvSpPr>
        <p:spPr>
          <a:xfrm>
            <a:off x="7085951" y="2386584"/>
            <a:ext cx="4088209" cy="56692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Kết quả hiện bên dưới sau khoảng một giây</a:t>
            </a:r>
            <a:endParaRPr lang="en-US" sz="1200" dirty="0"/>
          </a:p>
        </p:txBody>
      </p:sp>
      <p:sp>
        <p:nvSpPr>
          <p:cNvPr id="15" name="Shape 13"/>
          <p:cNvSpPr/>
          <p:nvPr/>
        </p:nvSpPr>
        <p:spPr>
          <a:xfrm>
            <a:off x="566928" y="3063240"/>
            <a:ext cx="11057839" cy="566928"/>
          </a:xfrm>
          <a:prstGeom prst="rect">
            <a:avLst/>
          </a:prstGeom>
          <a:solidFill>
            <a:srgbClr val="EEF3F8"/>
          </a:solidFill>
          <a:ln w="12700">
            <a:solidFill>
              <a:srgbClr val="D6E2EE"/>
            </a:solidFill>
            <a:prstDash val="solid"/>
          </a:ln>
        </p:spPr>
      </p:sp>
      <p:sp>
        <p:nvSpPr>
          <p:cNvPr id="16" name="Shape 14"/>
          <p:cNvSpPr/>
          <p:nvPr/>
        </p:nvSpPr>
        <p:spPr>
          <a:xfrm>
            <a:off x="713232" y="3154680"/>
            <a:ext cx="384048" cy="384048"/>
          </a:xfrm>
          <a:prstGeom prst="ellipse">
            <a:avLst/>
          </a:prstGeom>
          <a:solidFill>
            <a:srgbClr val="1A5EA8"/>
          </a:solidFill>
          <a:ln/>
        </p:spPr>
      </p:sp>
      <p:sp>
        <p:nvSpPr>
          <p:cNvPr id="17" name="Text 15"/>
          <p:cNvSpPr/>
          <p:nvPr/>
        </p:nvSpPr>
        <p:spPr>
          <a:xfrm>
            <a:off x="713232" y="315468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6"/>
          <p:cNvSpPr/>
          <p:nvPr/>
        </p:nvSpPr>
        <p:spPr>
          <a:xfrm>
            <a:off x="1225296" y="3063240"/>
            <a:ext cx="5750076" cy="566928"/>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Cách 2 — Quét mã vạch: bấm chuột vào ô Mã điều trị (vừa mở trang thì con trỏ đã sẵn ở đó)</a:t>
            </a:r>
            <a:endParaRPr lang="en-US" sz="1400" dirty="0"/>
          </a:p>
        </p:txBody>
      </p:sp>
      <p:sp>
        <p:nvSpPr>
          <p:cNvPr id="19" name="Text 17"/>
          <p:cNvSpPr/>
          <p:nvPr/>
        </p:nvSpPr>
        <p:spPr>
          <a:xfrm>
            <a:off x="7085951" y="3063240"/>
            <a:ext cx="4088209" cy="56692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Con trỏ nhấp nháy trong ô</a:t>
            </a:r>
            <a:endParaRPr lang="en-US" sz="1200" dirty="0"/>
          </a:p>
        </p:txBody>
      </p:sp>
      <p:sp>
        <p:nvSpPr>
          <p:cNvPr id="20" name="Shape 18"/>
          <p:cNvSpPr/>
          <p:nvPr/>
        </p:nvSpPr>
        <p:spPr>
          <a:xfrm>
            <a:off x="566928" y="3739896"/>
            <a:ext cx="11057839" cy="566928"/>
          </a:xfrm>
          <a:prstGeom prst="rect">
            <a:avLst/>
          </a:prstGeom>
          <a:solidFill>
            <a:srgbClr val="FFFFFF"/>
          </a:solidFill>
          <a:ln w="12700">
            <a:solidFill>
              <a:srgbClr val="D6E2EE"/>
            </a:solidFill>
            <a:prstDash val="solid"/>
          </a:ln>
        </p:spPr>
      </p:sp>
      <p:sp>
        <p:nvSpPr>
          <p:cNvPr id="21" name="Shape 19"/>
          <p:cNvSpPr/>
          <p:nvPr/>
        </p:nvSpPr>
        <p:spPr>
          <a:xfrm>
            <a:off x="713232" y="3831336"/>
            <a:ext cx="384048" cy="384048"/>
          </a:xfrm>
          <a:prstGeom prst="ellipse">
            <a:avLst/>
          </a:prstGeom>
          <a:solidFill>
            <a:srgbClr val="1A5EA8"/>
          </a:solidFill>
          <a:ln/>
        </p:spPr>
      </p:sp>
      <p:sp>
        <p:nvSpPr>
          <p:cNvPr id="22" name="Text 20"/>
          <p:cNvSpPr/>
          <p:nvPr/>
        </p:nvSpPr>
        <p:spPr>
          <a:xfrm>
            <a:off x="713232" y="3831336"/>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3" name="Text 21"/>
          <p:cNvSpPr/>
          <p:nvPr/>
        </p:nvSpPr>
        <p:spPr>
          <a:xfrm>
            <a:off x="1225296" y="3739896"/>
            <a:ext cx="5750076" cy="566928"/>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Quét mã vạch in trên phiếu bằng máy quét cầm tay</a:t>
            </a:r>
            <a:endParaRPr lang="en-US" sz="1400" dirty="0"/>
          </a:p>
        </p:txBody>
      </p:sp>
      <p:sp>
        <p:nvSpPr>
          <p:cNvPr id="24" name="Text 22"/>
          <p:cNvSpPr/>
          <p:nvPr/>
        </p:nvSpPr>
        <p:spPr>
          <a:xfrm>
            <a:off x="7085951" y="3739896"/>
            <a:ext cx="4088209" cy="56692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Mã tự điền và kết quả tự hiện ra, không cần bấm nút</a:t>
            </a:r>
            <a:endParaRPr lang="en-US" sz="1200" dirty="0"/>
          </a:p>
        </p:txBody>
      </p:sp>
      <p:sp>
        <p:nvSpPr>
          <p:cNvPr id="25" name="Shape 23"/>
          <p:cNvSpPr/>
          <p:nvPr/>
        </p:nvSpPr>
        <p:spPr>
          <a:xfrm>
            <a:off x="566928" y="4416552"/>
            <a:ext cx="11057839" cy="566928"/>
          </a:xfrm>
          <a:prstGeom prst="rect">
            <a:avLst/>
          </a:prstGeom>
          <a:solidFill>
            <a:srgbClr val="EEF3F8"/>
          </a:solidFill>
          <a:ln w="12700">
            <a:solidFill>
              <a:srgbClr val="D6E2EE"/>
            </a:solidFill>
            <a:prstDash val="solid"/>
          </a:ln>
        </p:spPr>
      </p:sp>
      <p:sp>
        <p:nvSpPr>
          <p:cNvPr id="26" name="Shape 24"/>
          <p:cNvSpPr/>
          <p:nvPr/>
        </p:nvSpPr>
        <p:spPr>
          <a:xfrm>
            <a:off x="713232" y="4507992"/>
            <a:ext cx="384048" cy="384048"/>
          </a:xfrm>
          <a:prstGeom prst="ellipse">
            <a:avLst/>
          </a:prstGeom>
          <a:solidFill>
            <a:srgbClr val="1A5EA8"/>
          </a:solidFill>
          <a:ln/>
        </p:spPr>
      </p:sp>
      <p:sp>
        <p:nvSpPr>
          <p:cNvPr id="27" name="Text 25"/>
          <p:cNvSpPr/>
          <p:nvPr/>
        </p:nvSpPr>
        <p:spPr>
          <a:xfrm>
            <a:off x="713232" y="4507992"/>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8" name="Text 26"/>
          <p:cNvSpPr/>
          <p:nvPr/>
        </p:nvSpPr>
        <p:spPr>
          <a:xfrm>
            <a:off x="1225296" y="4416552"/>
            <a:ext cx="5750076" cy="566928"/>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Quét tiếp phiếu thứ hai</a:t>
            </a:r>
            <a:endParaRPr lang="en-US" sz="1400" dirty="0"/>
          </a:p>
        </p:txBody>
      </p:sp>
      <p:sp>
        <p:nvSpPr>
          <p:cNvPr id="29" name="Text 27"/>
          <p:cNvSpPr/>
          <p:nvPr/>
        </p:nvSpPr>
        <p:spPr>
          <a:xfrm>
            <a:off x="7085951" y="4416552"/>
            <a:ext cx="4088209" cy="56692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Mã cũ tự bị thay bằng mã mới — không cần xoá ô giữa hai lượt quét</a:t>
            </a:r>
            <a:endParaRPr lang="en-US" sz="1200" dirty="0"/>
          </a:p>
        </p:txBody>
      </p:sp>
      <p:sp>
        <p:nvSpPr>
          <p:cNvPr id="30" name="Shape 28"/>
          <p:cNvSpPr/>
          <p:nvPr/>
        </p:nvSpPr>
        <p:spPr>
          <a:xfrm>
            <a:off x="566928" y="5074920"/>
            <a:ext cx="11057839" cy="1051560"/>
          </a:xfrm>
          <a:prstGeom prst="rect">
            <a:avLst/>
          </a:prstGeom>
          <a:solidFill>
            <a:srgbClr val="FFF4E6"/>
          </a:solidFill>
          <a:ln w="12700">
            <a:solidFill>
              <a:srgbClr val="FFF4E6"/>
            </a:solidFill>
            <a:prstDash val="solid"/>
          </a:ln>
        </p:spPr>
      </p:sp>
      <p:sp>
        <p:nvSpPr>
          <p:cNvPr id="31" name="Shape 29"/>
          <p:cNvSpPr/>
          <p:nvPr/>
        </p:nvSpPr>
        <p:spPr>
          <a:xfrm>
            <a:off x="566928" y="5074920"/>
            <a:ext cx="64008" cy="1051560"/>
          </a:xfrm>
          <a:prstGeom prst="rect">
            <a:avLst/>
          </a:prstGeom>
          <a:solidFill>
            <a:srgbClr val="C96A12"/>
          </a:solidFill>
          <a:ln w="12700">
            <a:solidFill>
              <a:srgbClr val="C96A12"/>
            </a:solidFill>
            <a:prstDash val="solid"/>
          </a:ln>
        </p:spPr>
      </p:sp>
      <p:sp>
        <p:nvSpPr>
          <p:cNvPr id="32" name="Text 30"/>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Không dùng camera: </a:t>
            </a:r>
            <a:pPr indent="0" marL="0">
              <a:lnSpc>
                <a:spcPts val="1900"/>
              </a:lnSpc>
              <a:buNone/>
            </a:pPr>
            <a:r>
              <a:rPr lang="en-US" sz="1300" dirty="0">
                <a:solidFill>
                  <a:srgbClr val="14233A"/>
                </a:solidFill>
                <a:latin typeface="Arial" pitchFamily="34" charset="0"/>
                <a:ea typeface="Arial" pitchFamily="34" charset="-122"/>
                <a:cs typeface="Arial" pitchFamily="34" charset="-120"/>
              </a:rPr>
              <a:t>Phần mềm không quét mã bằng camera điện thoại hay máy tính. Chức năng đó đã thử nghiệm và gỡ bỏ vì ảnh camera thiết bị thông thường quá thấp để đọc mã vạch. Dùng máy quét cầm tay hoặc gõ tay.</a:t>
            </a:r>
            <a:endParaRPr lang="en-US" sz="1300" dirty="0"/>
          </a:p>
        </p:txBody>
      </p:sp>
      <p:sp>
        <p:nvSpPr>
          <p:cNvPr id="34" name="Shape 31"/>
          <p:cNvSpPr/>
          <p:nvPr/>
        </p:nvSpPr>
        <p:spPr>
          <a:xfrm>
            <a:off x="566928" y="6382512"/>
            <a:ext cx="11057839" cy="0"/>
          </a:xfrm>
          <a:prstGeom prst="line">
            <a:avLst/>
          </a:prstGeom>
          <a:noFill/>
          <a:ln w="9525">
            <a:solidFill>
              <a:srgbClr val="D6E2EE"/>
            </a:solidFill>
            <a:prstDash val="solid"/>
          </a:ln>
        </p:spPr>
      </p:sp>
      <p:sp>
        <p:nvSpPr>
          <p:cNvPr id="35" name="Text 32"/>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36" name="Text 33"/>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52 / 80</a:t>
            </a:r>
            <a:endParaRPr lang="en-US" sz="8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06 / MỤC 5.4 – 5.5</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Màn hình kết quả tra cứu</a:t>
            </a:r>
            <a:endParaRPr lang="en-US" sz="2600" dirty="0"/>
          </a:p>
        </p:txBody>
      </p:sp>
      <p:pic>
        <p:nvPicPr>
          <p:cNvPr id="4" name="Image 0" descr="C:\Users\tracnn\qlbv\docs\dao-tao\anh\anh-02-tra-cuu-loi-ho-so.png">    </p:cNvPr>
          <p:cNvPicPr>
            <a:picLocks noChangeAspect="1"/>
          </p:cNvPicPr>
          <p:nvPr/>
        </p:nvPicPr>
        <p:blipFill>
          <a:blip r:embed="rId1"/>
          <a:stretch>
            <a:fillRect/>
          </a:stretch>
        </p:blipFill>
        <p:spPr>
          <a:xfrm>
            <a:off x="566928" y="1325880"/>
            <a:ext cx="6465693" cy="3657600"/>
          </a:xfrm>
          <a:prstGeom prst="rect">
            <a:avLst/>
          </a:prstGeom>
        </p:spPr>
      </p:pic>
      <p:sp>
        <p:nvSpPr>
          <p:cNvPr id="5" name="Shape 2"/>
          <p:cNvSpPr/>
          <p:nvPr/>
        </p:nvSpPr>
        <p:spPr>
          <a:xfrm>
            <a:off x="566928" y="1325880"/>
            <a:ext cx="6465693" cy="3657600"/>
          </a:xfrm>
          <a:prstGeom prst="rect">
            <a:avLst/>
          </a:prstGeom>
          <a:ln w="12700">
            <a:solidFill>
              <a:srgbClr val="D6E2EE"/>
            </a:solidFill>
            <a:prstDash val="solid"/>
          </a:ln>
        </p:spPr>
      </p:sp>
      <p:sp>
        <p:nvSpPr>
          <p:cNvPr id="6" name="Text 3"/>
          <p:cNvSpPr/>
          <p:nvPr/>
        </p:nvSpPr>
        <p:spPr>
          <a:xfrm>
            <a:off x="7306941" y="1325880"/>
            <a:ext cx="4317826" cy="3657600"/>
          </a:xfrm>
          <a:prstGeom prst="rect">
            <a:avLst/>
          </a:prstGeom>
          <a:noFill/>
          <a:ln/>
        </p:spPr>
        <p:txBody>
          <a:bodyPr wrap="square" rtlCol="0" anchor="t"/>
          <a:lstStyle/>
          <a:p>
            <a:pPr marL="342900" indent="-342900">
              <a:lnSpc>
                <a:spcPts val="1900"/>
              </a:lnSpc>
              <a:spcAft>
                <a:spcPts val="900"/>
              </a:spcAft>
              <a:buSzPct val="100000"/>
              <a:buChar char="▪"/>
            </a:pPr>
            <a:r>
              <a:rPr lang="en-US" sz="1300" dirty="0">
                <a:solidFill>
                  <a:srgbClr val="14233A"/>
                </a:solidFill>
                <a:latin typeface="Arial" pitchFamily="34" charset="0"/>
                <a:ea typeface="Arial" pitchFamily="34" charset="-122"/>
                <a:cs typeface="Arial" pitchFamily="34" charset="-120"/>
              </a:rPr>
              <a:t>Khối Thông tin hồ sơ lấy trực tiếp từ HIS tại thời điểm tra</a:t>
            </a:r>
            <a:endParaRPr lang="en-US" sz="1300" dirty="0"/>
          </a:p>
          <a:p>
            <a:pPr marL="342900" indent="-342900">
              <a:lnSpc>
                <a:spcPts val="1900"/>
              </a:lnSpc>
              <a:spcAft>
                <a:spcPts val="900"/>
              </a:spcAft>
              <a:buSzPct val="100000"/>
              <a:buChar char="▪"/>
            </a:pPr>
            <a:r>
              <a:rPr lang="en-US" sz="1300" dirty="0">
                <a:solidFill>
                  <a:srgbClr val="14233A"/>
                </a:solidFill>
                <a:latin typeface="Arial" pitchFamily="34" charset="0"/>
                <a:ea typeface="Arial" pitchFamily="34" charset="-122"/>
                <a:cs typeface="Arial" pitchFamily="34" charset="-120"/>
              </a:rPr>
              <a:t>Con số trên tiêu đề mỗi bảng là số dòng lỗi đang có</a:t>
            </a:r>
            <a:endParaRPr lang="en-US" sz="1300" dirty="0"/>
          </a:p>
          <a:p>
            <a:pPr marL="342900" indent="-342900">
              <a:lnSpc>
                <a:spcPts val="1900"/>
              </a:lnSpc>
              <a:spcAft>
                <a:spcPts val="900"/>
              </a:spcAft>
              <a:buSzPct val="100000"/>
              <a:buChar char="▪"/>
            </a:pPr>
            <a:r>
              <a:rPr lang="en-US" sz="1300" dirty="0">
                <a:solidFill>
                  <a:srgbClr val="14233A"/>
                </a:solidFill>
                <a:latin typeface="Arial" pitchFamily="34" charset="0"/>
                <a:ea typeface="Arial" pitchFamily="34" charset="-122"/>
                <a:cs typeface="Arial" pitchFamily="34" charset="-120"/>
              </a:rPr>
              <a:t>Hồ sơ sạch hiện dải màu xanh "Không phát hiện lỗi trên hồ sơ này"</a:t>
            </a:r>
            <a:endParaRPr lang="en-US" sz="1300" dirty="0"/>
          </a:p>
          <a:p>
            <a:pPr marL="342900" indent="-342900">
              <a:lnSpc>
                <a:spcPts val="1900"/>
              </a:lnSpc>
              <a:spcAft>
                <a:spcPts val="900"/>
              </a:spcAft>
              <a:buSzPct val="100000"/>
              <a:buChar char="▪"/>
            </a:pPr>
            <a:r>
              <a:rPr lang="en-US" sz="1300" dirty="0">
                <a:solidFill>
                  <a:srgbClr val="14233A"/>
                </a:solidFill>
                <a:latin typeface="Arial" pitchFamily="34" charset="0"/>
                <a:ea typeface="Arial" pitchFamily="34" charset="-122"/>
                <a:cs typeface="Arial" pitchFamily="34" charset="-120"/>
              </a:rPr>
              <a:t>Cả ba bảng có ô tìm kiếm riêng, bấm tiêu đề cột để sắp xếp, tự phân trang khi quá 10 dòng</a:t>
            </a:r>
            <a:endParaRPr lang="en-US" sz="1300" dirty="0"/>
          </a:p>
          <a:p>
            <a:pPr marL="342900" indent="-342900">
              <a:lnSpc>
                <a:spcPts val="1900"/>
              </a:lnSpc>
              <a:spcAft>
                <a:spcPts val="900"/>
              </a:spcAft>
              <a:buSzPct val="100000"/>
              <a:buChar char="▪"/>
            </a:pPr>
            <a:r>
              <a:rPr lang="en-US" sz="1300" dirty="0">
                <a:solidFill>
                  <a:srgbClr val="14233A"/>
                </a:solidFill>
                <a:latin typeface="Arial" pitchFamily="34" charset="0"/>
                <a:ea typeface="Arial" pitchFamily="34" charset="-122"/>
                <a:cs typeface="Arial" pitchFamily="34" charset="-120"/>
              </a:rPr>
              <a:t>Tra lỗi giữa chừng (mất mạng, hết phiên) thì kết quả cũ bị ẩn hết — tránh nhìn nhầm hồ sơ trước</a:t>
            </a:r>
            <a:endParaRPr lang="en-US" sz="1300" dirty="0"/>
          </a:p>
        </p:txBody>
      </p:sp>
      <p:sp>
        <p:nvSpPr>
          <p:cNvPr id="7" name="Shape 4"/>
          <p:cNvSpPr/>
          <p:nvPr/>
        </p:nvSpPr>
        <p:spPr>
          <a:xfrm>
            <a:off x="566928" y="5074920"/>
            <a:ext cx="11057839" cy="1051560"/>
          </a:xfrm>
          <a:prstGeom prst="rect">
            <a:avLst/>
          </a:prstGeom>
          <a:solidFill>
            <a:srgbClr val="FFF4E6"/>
          </a:solidFill>
          <a:ln w="12700">
            <a:solidFill>
              <a:srgbClr val="FFF4E6"/>
            </a:solidFill>
            <a:prstDash val="solid"/>
          </a:ln>
        </p:spPr>
      </p:sp>
      <p:sp>
        <p:nvSpPr>
          <p:cNvPr id="8" name="Shape 5"/>
          <p:cNvSpPr/>
          <p:nvPr/>
        </p:nvSpPr>
        <p:spPr>
          <a:xfrm>
            <a:off x="566928" y="5074920"/>
            <a:ext cx="64008" cy="1051560"/>
          </a:xfrm>
          <a:prstGeom prst="rect">
            <a:avLst/>
          </a:prstGeom>
          <a:solidFill>
            <a:srgbClr val="C96A12"/>
          </a:solidFill>
          <a:ln w="12700">
            <a:solidFill>
              <a:srgbClr val="C96A12"/>
            </a:solidFill>
            <a:prstDash val="solid"/>
          </a:ln>
        </p:spPr>
      </p:sp>
      <p:sp>
        <p:nvSpPr>
          <p:cNvPr id="9" name="Text 6"/>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Hai khái niệm đừng nhầm: </a:t>
            </a:r>
            <a:pPr indent="0" marL="0">
              <a:lnSpc>
                <a:spcPts val="1900"/>
              </a:lnSpc>
              <a:buNone/>
            </a:pPr>
            <a:r>
              <a:rPr lang="en-US" sz="1300" dirty="0">
                <a:solidFill>
                  <a:srgbClr val="14233A"/>
                </a:solidFill>
                <a:latin typeface="Arial" pitchFamily="34" charset="0"/>
                <a:ea typeface="Arial" pitchFamily="34" charset="-122"/>
                <a:cs typeface="Arial" pitchFamily="34" charset="-120"/>
              </a:rPr>
              <a:t>"Nơi ĐKBĐ" là cơ sở ghi trên thẻ của người bệnh; "Cơ sở KCB" là nơi đang điều trị. Hai trường này thường khác nhau, dùng nhầm sẽ dẫn tới kết quả đối chiếu sai.</a:t>
            </a:r>
            <a:endParaRPr lang="en-US" sz="1300" dirty="0"/>
          </a:p>
        </p:txBody>
      </p:sp>
      <p:sp>
        <p:nvSpPr>
          <p:cNvPr id="11" name="Shape 7"/>
          <p:cNvSpPr/>
          <p:nvPr/>
        </p:nvSpPr>
        <p:spPr>
          <a:xfrm>
            <a:off x="566928" y="6382512"/>
            <a:ext cx="11057839" cy="0"/>
          </a:xfrm>
          <a:prstGeom prst="line">
            <a:avLst/>
          </a:prstGeom>
          <a:noFill/>
          <a:ln w="9525">
            <a:solidFill>
              <a:srgbClr val="D6E2EE"/>
            </a:solidFill>
            <a:prstDash val="solid"/>
          </a:ln>
        </p:spPr>
      </p:sp>
      <p:sp>
        <p:nvSpPr>
          <p:cNvPr id="12" name="Text 8"/>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3" name="Text 9"/>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53 / 80</a:t>
            </a:r>
            <a:endParaRPr lang="en-US" sz="8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06 / MỤC 5.5</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Ba bảng lỗi — đọc cột nào</a:t>
            </a:r>
            <a:endParaRPr lang="en-US" sz="2600" dirty="0"/>
          </a:p>
        </p:txBody>
      </p:sp>
      <p:sp>
        <p:nvSpPr>
          <p:cNvPr id="4" name="Shape 2"/>
          <p:cNvSpPr/>
          <p:nvPr/>
        </p:nvSpPr>
        <p:spPr>
          <a:xfrm>
            <a:off x="566928" y="1325880"/>
            <a:ext cx="3527450" cy="4800600"/>
          </a:xfrm>
          <a:prstGeom prst="rect">
            <a:avLst/>
          </a:prstGeom>
          <a:solidFill>
            <a:srgbClr val="EEF3F8"/>
          </a:solidFill>
          <a:ln w="12700">
            <a:solidFill>
              <a:srgbClr val="D6E2EE"/>
            </a:solidFill>
            <a:prstDash val="solid"/>
          </a:ln>
        </p:spPr>
      </p:sp>
      <p:sp>
        <p:nvSpPr>
          <p:cNvPr id="5" name="Shape 3"/>
          <p:cNvSpPr/>
          <p:nvPr/>
        </p:nvSpPr>
        <p:spPr>
          <a:xfrm>
            <a:off x="566928" y="1325880"/>
            <a:ext cx="3527450" cy="91440"/>
          </a:xfrm>
          <a:prstGeom prst="rect">
            <a:avLst/>
          </a:prstGeom>
          <a:solidFill>
            <a:srgbClr val="C62828"/>
          </a:solidFill>
          <a:ln w="12700">
            <a:solidFill>
              <a:srgbClr val="C62828"/>
            </a:solidFill>
            <a:prstDash val="solid"/>
          </a:ln>
        </p:spPr>
      </p:sp>
      <p:sp>
        <p:nvSpPr>
          <p:cNvPr id="6" name="Text 4"/>
          <p:cNvSpPr/>
          <p:nvPr/>
        </p:nvSpPr>
        <p:spPr>
          <a:xfrm>
            <a:off x="768096" y="1600200"/>
            <a:ext cx="3125114" cy="685800"/>
          </a:xfrm>
          <a:prstGeom prst="rect">
            <a:avLst/>
          </a:prstGeom>
          <a:noFill/>
          <a:ln/>
        </p:spPr>
        <p:txBody>
          <a:bodyPr wrap="square" rtlCol="0" anchor="t"/>
          <a:lstStyle/>
          <a:p>
            <a:pPr indent="0" marL="0">
              <a:lnSpc>
                <a:spcPts val="2100"/>
              </a:lnSpc>
              <a:buNone/>
            </a:pPr>
            <a:r>
              <a:rPr lang="en-US" sz="1600" b="1" dirty="0">
                <a:solidFill>
                  <a:srgbClr val="1A5EA8"/>
                </a:solidFill>
                <a:latin typeface="Arial" pitchFamily="34" charset="0"/>
                <a:ea typeface="Arial" pitchFamily="34" charset="-122"/>
                <a:cs typeface="Arial" pitchFamily="34" charset="-120"/>
              </a:rPr>
              <a:t>Sai sót y lệnh</a:t>
            </a:r>
            <a:endParaRPr lang="en-US" sz="1600" dirty="0"/>
          </a:p>
        </p:txBody>
      </p:sp>
      <p:sp>
        <p:nvSpPr>
          <p:cNvPr id="7" name="Text 5"/>
          <p:cNvSpPr/>
          <p:nvPr/>
        </p:nvSpPr>
        <p:spPr>
          <a:xfrm>
            <a:off x="768096" y="2313432"/>
            <a:ext cx="3125114" cy="3611880"/>
          </a:xfrm>
          <a:prstGeom prst="rect">
            <a:avLst/>
          </a:prstGeom>
          <a:noFill/>
          <a:ln/>
        </p:spPr>
        <p:txBody>
          <a:bodyPr wrap="square" rtlCol="0" anchor="t"/>
          <a:lstStyle/>
          <a:p>
            <a:pPr indent="0" marL="0">
              <a:lnSpc>
                <a:spcPts val="1900"/>
              </a:lnSpc>
              <a:buNone/>
            </a:pPr>
            <a:r>
              <a:rPr lang="en-US" sz="1300" dirty="0">
                <a:solidFill>
                  <a:srgbClr val="14233A"/>
                </a:solidFill>
                <a:latin typeface="Arial" pitchFamily="34" charset="0"/>
                <a:ea typeface="Arial" pitchFamily="34" charset="-122"/>
                <a:cs typeface="Arial" pitchFamily="34" charset="-120"/>
              </a:rPr>
              <a:t>Mức độ · Luật · Nội dung · Phát hiện lúc · Trạng thái · Xử lý</a:t>
            </a:r>
            <a:endParaRPr lang="en-US" sz="1300" dirty="0"/>
          </a:p>
          <a:p>
            <a:pPr indent="0" marL="0">
              <a:lnSpc>
                <a:spcPts val="1900"/>
              </a:lnSpc>
              <a:buNone/>
            </a:pPr>
            <a:endParaRPr lang="en-US" sz="1300" dirty="0"/>
          </a:p>
          <a:p>
            <a:pPr indent="0" marL="0">
              <a:lnSpc>
                <a:spcPts val="1900"/>
              </a:lnSpc>
              <a:buNone/>
            </a:pPr>
            <a:r>
              <a:rPr lang="en-US" sz="1300" dirty="0">
                <a:solidFill>
                  <a:srgbClr val="14233A"/>
                </a:solidFill>
                <a:latin typeface="Arial" pitchFamily="34" charset="0"/>
                <a:ea typeface="Arial" pitchFamily="34" charset="-122"/>
                <a:cs typeface="Arial" pitchFamily="34" charset="-120"/>
              </a:rPr>
              <a:t>Đây là bảng khoa hành động được ngay. Cột Xử lý cho đổi trạng thái tại chỗ.</a:t>
            </a:r>
            <a:endParaRPr lang="en-US" sz="1300" dirty="0"/>
          </a:p>
          <a:p>
            <a:pPr indent="0" marL="0">
              <a:lnSpc>
                <a:spcPts val="1900"/>
              </a:lnSpc>
              <a:buNone/>
            </a:pPr>
            <a:endParaRPr lang="en-US" sz="1300" dirty="0"/>
          </a:p>
          <a:p>
            <a:pPr indent="0" marL="0">
              <a:lnSpc>
                <a:spcPts val="1900"/>
              </a:lnSpc>
              <a:buNone/>
            </a:pPr>
            <a:r>
              <a:rPr lang="en-US" sz="1300" dirty="0">
                <a:solidFill>
                  <a:srgbClr val="14233A"/>
                </a:solidFill>
                <a:latin typeface="Arial" pitchFamily="34" charset="0"/>
                <a:ea typeface="Arial" pitchFamily="34" charset="-122"/>
                <a:cs typeface="Arial" pitchFamily="34" charset="-120"/>
              </a:rPr>
              <a:t>Không hiện các vi phạm đã đánh dấu Bỏ qua.</a:t>
            </a:r>
            <a:endParaRPr lang="en-US" sz="1300" dirty="0"/>
          </a:p>
        </p:txBody>
      </p:sp>
      <p:sp>
        <p:nvSpPr>
          <p:cNvPr id="8" name="Shape 6"/>
          <p:cNvSpPr/>
          <p:nvPr/>
        </p:nvSpPr>
        <p:spPr>
          <a:xfrm>
            <a:off x="4332122" y="1325880"/>
            <a:ext cx="3527450" cy="4800600"/>
          </a:xfrm>
          <a:prstGeom prst="rect">
            <a:avLst/>
          </a:prstGeom>
          <a:solidFill>
            <a:srgbClr val="EEF3F8"/>
          </a:solidFill>
          <a:ln w="12700">
            <a:solidFill>
              <a:srgbClr val="D6E2EE"/>
            </a:solidFill>
            <a:prstDash val="solid"/>
          </a:ln>
        </p:spPr>
      </p:sp>
      <p:sp>
        <p:nvSpPr>
          <p:cNvPr id="9" name="Shape 7"/>
          <p:cNvSpPr/>
          <p:nvPr/>
        </p:nvSpPr>
        <p:spPr>
          <a:xfrm>
            <a:off x="4332122" y="1325880"/>
            <a:ext cx="3527450" cy="91440"/>
          </a:xfrm>
          <a:prstGeom prst="rect">
            <a:avLst/>
          </a:prstGeom>
          <a:solidFill>
            <a:srgbClr val="C96A12"/>
          </a:solidFill>
          <a:ln w="12700">
            <a:solidFill>
              <a:srgbClr val="C96A12"/>
            </a:solidFill>
            <a:prstDash val="solid"/>
          </a:ln>
        </p:spPr>
      </p:sp>
      <p:sp>
        <p:nvSpPr>
          <p:cNvPr id="10" name="Text 8"/>
          <p:cNvSpPr/>
          <p:nvPr/>
        </p:nvSpPr>
        <p:spPr>
          <a:xfrm>
            <a:off x="4533290" y="1600200"/>
            <a:ext cx="3125114" cy="685800"/>
          </a:xfrm>
          <a:prstGeom prst="rect">
            <a:avLst/>
          </a:prstGeom>
          <a:noFill/>
          <a:ln/>
        </p:spPr>
        <p:txBody>
          <a:bodyPr wrap="square" rtlCol="0" anchor="t"/>
          <a:lstStyle/>
          <a:p>
            <a:pPr indent="0" marL="0">
              <a:lnSpc>
                <a:spcPts val="2100"/>
              </a:lnSpc>
              <a:buNone/>
            </a:pPr>
            <a:r>
              <a:rPr lang="en-US" sz="1600" b="1" dirty="0">
                <a:solidFill>
                  <a:srgbClr val="1A5EA8"/>
                </a:solidFill>
                <a:latin typeface="Arial" pitchFamily="34" charset="0"/>
                <a:ea typeface="Arial" pitchFamily="34" charset="-122"/>
                <a:cs typeface="Arial" pitchFamily="34" charset="-120"/>
              </a:rPr>
              <a:t>Lỗi tra thẻ BHYT</a:t>
            </a:r>
            <a:endParaRPr lang="en-US" sz="1600" dirty="0"/>
          </a:p>
        </p:txBody>
      </p:sp>
      <p:sp>
        <p:nvSpPr>
          <p:cNvPr id="11" name="Text 9"/>
          <p:cNvSpPr/>
          <p:nvPr/>
        </p:nvSpPr>
        <p:spPr>
          <a:xfrm>
            <a:off x="4533290" y="2313432"/>
            <a:ext cx="3125114" cy="3611880"/>
          </a:xfrm>
          <a:prstGeom prst="rect">
            <a:avLst/>
          </a:prstGeom>
          <a:noFill/>
          <a:ln/>
        </p:spPr>
        <p:txBody>
          <a:bodyPr wrap="square" rtlCol="0" anchor="t"/>
          <a:lstStyle/>
          <a:p>
            <a:pPr indent="0" marL="0">
              <a:lnSpc>
                <a:spcPts val="1900"/>
              </a:lnSpc>
              <a:buNone/>
            </a:pPr>
            <a:r>
              <a:rPr lang="en-US" sz="1300" dirty="0">
                <a:solidFill>
                  <a:srgbClr val="14233A"/>
                </a:solidFill>
                <a:latin typeface="Arial" pitchFamily="34" charset="0"/>
                <a:ea typeface="Arial" pitchFamily="34" charset="-122"/>
                <a:cs typeface="Arial" pitchFamily="34" charset="-120"/>
              </a:rPr>
              <a:t>Mã tra cứu · Mã kiểm tra · Kết quả · Ghi chú · Mã thẻ · Tra lúc</a:t>
            </a:r>
            <a:endParaRPr lang="en-US" sz="1300" dirty="0"/>
          </a:p>
          <a:p>
            <a:pPr indent="0" marL="0">
              <a:lnSpc>
                <a:spcPts val="1900"/>
              </a:lnSpc>
              <a:buNone/>
            </a:pPr>
            <a:endParaRPr lang="en-US" sz="1300" dirty="0"/>
          </a:p>
          <a:p>
            <a:pPr indent="0" marL="0">
              <a:lnSpc>
                <a:spcPts val="1900"/>
              </a:lnSpc>
              <a:buNone/>
            </a:pPr>
            <a:r>
              <a:rPr lang="en-US" sz="1300" dirty="0">
                <a:solidFill>
                  <a:srgbClr val="14233A"/>
                </a:solidFill>
                <a:latin typeface="Arial" pitchFamily="34" charset="0"/>
                <a:ea typeface="Arial" pitchFamily="34" charset="-122"/>
                <a:cs typeface="Arial" pitchFamily="34" charset="-120"/>
              </a:rPr>
              <a:t>Chỉ có dòng khi kết quả tra thẻ bất thường. Thẻ hợp lệ thì bảng để trống.</a:t>
            </a:r>
            <a:endParaRPr lang="en-US" sz="1300" dirty="0"/>
          </a:p>
          <a:p>
            <a:pPr indent="0" marL="0">
              <a:lnSpc>
                <a:spcPts val="1900"/>
              </a:lnSpc>
              <a:buNone/>
            </a:pPr>
            <a:endParaRPr lang="en-US" sz="1300" dirty="0"/>
          </a:p>
          <a:p>
            <a:pPr indent="0" marL="0">
              <a:lnSpc>
                <a:spcPts val="1900"/>
              </a:lnSpc>
              <a:buNone/>
            </a:pPr>
            <a:r>
              <a:rPr lang="en-US" sz="1300" dirty="0">
                <a:solidFill>
                  <a:srgbClr val="14233A"/>
                </a:solidFill>
                <a:latin typeface="Arial" pitchFamily="34" charset="0"/>
                <a:ea typeface="Arial" pitchFamily="34" charset="-122"/>
                <a:cs typeface="Arial" pitchFamily="34" charset="-120"/>
              </a:rPr>
              <a:t>Ý nghĩa mã: xem chương 3.</a:t>
            </a:r>
            <a:endParaRPr lang="en-US" sz="1300" dirty="0"/>
          </a:p>
        </p:txBody>
      </p:sp>
      <p:sp>
        <p:nvSpPr>
          <p:cNvPr id="12" name="Shape 10"/>
          <p:cNvSpPr/>
          <p:nvPr/>
        </p:nvSpPr>
        <p:spPr>
          <a:xfrm>
            <a:off x="8097317" y="1325880"/>
            <a:ext cx="3527450" cy="4800600"/>
          </a:xfrm>
          <a:prstGeom prst="rect">
            <a:avLst/>
          </a:prstGeom>
          <a:solidFill>
            <a:srgbClr val="EEF3F8"/>
          </a:solidFill>
          <a:ln w="12700">
            <a:solidFill>
              <a:srgbClr val="D6E2EE"/>
            </a:solidFill>
            <a:prstDash val="solid"/>
          </a:ln>
        </p:spPr>
      </p:sp>
      <p:sp>
        <p:nvSpPr>
          <p:cNvPr id="13" name="Shape 11"/>
          <p:cNvSpPr/>
          <p:nvPr/>
        </p:nvSpPr>
        <p:spPr>
          <a:xfrm>
            <a:off x="8097317" y="1325880"/>
            <a:ext cx="3527450" cy="91440"/>
          </a:xfrm>
          <a:prstGeom prst="rect">
            <a:avLst/>
          </a:prstGeom>
          <a:solidFill>
            <a:srgbClr val="2A9FD8"/>
          </a:solidFill>
          <a:ln w="12700">
            <a:solidFill>
              <a:srgbClr val="2A9FD8"/>
            </a:solidFill>
            <a:prstDash val="solid"/>
          </a:ln>
        </p:spPr>
      </p:sp>
      <p:sp>
        <p:nvSpPr>
          <p:cNvPr id="14" name="Text 12"/>
          <p:cNvSpPr/>
          <p:nvPr/>
        </p:nvSpPr>
        <p:spPr>
          <a:xfrm>
            <a:off x="8298485" y="1600200"/>
            <a:ext cx="3125114" cy="685800"/>
          </a:xfrm>
          <a:prstGeom prst="rect">
            <a:avLst/>
          </a:prstGeom>
          <a:noFill/>
          <a:ln/>
        </p:spPr>
        <p:txBody>
          <a:bodyPr wrap="square" rtlCol="0" anchor="t"/>
          <a:lstStyle/>
          <a:p>
            <a:pPr indent="0" marL="0">
              <a:lnSpc>
                <a:spcPts val="2100"/>
              </a:lnSpc>
              <a:buNone/>
            </a:pPr>
            <a:r>
              <a:rPr lang="en-US" sz="1600" b="1" dirty="0">
                <a:solidFill>
                  <a:srgbClr val="1A5EA8"/>
                </a:solidFill>
                <a:latin typeface="Arial" pitchFamily="34" charset="0"/>
                <a:ea typeface="Arial" pitchFamily="34" charset="-122"/>
                <a:cs typeface="Arial" pitchFamily="34" charset="-120"/>
              </a:rPr>
              <a:t>Lỗi XML 3176</a:t>
            </a:r>
            <a:endParaRPr lang="en-US" sz="1600" dirty="0"/>
          </a:p>
        </p:txBody>
      </p:sp>
      <p:sp>
        <p:nvSpPr>
          <p:cNvPr id="15" name="Text 13"/>
          <p:cNvSpPr/>
          <p:nvPr/>
        </p:nvSpPr>
        <p:spPr>
          <a:xfrm>
            <a:off x="8298485" y="2313432"/>
            <a:ext cx="3125114" cy="3611880"/>
          </a:xfrm>
          <a:prstGeom prst="rect">
            <a:avLst/>
          </a:prstGeom>
          <a:noFill/>
          <a:ln/>
        </p:spPr>
        <p:txBody>
          <a:bodyPr wrap="square" rtlCol="0" anchor="t"/>
          <a:lstStyle/>
          <a:p>
            <a:pPr indent="0" marL="0">
              <a:lnSpc>
                <a:spcPts val="1900"/>
              </a:lnSpc>
              <a:buNone/>
            </a:pPr>
            <a:r>
              <a:rPr lang="en-US" sz="1300" dirty="0">
                <a:solidFill>
                  <a:srgbClr val="14233A"/>
                </a:solidFill>
                <a:latin typeface="Arial" pitchFamily="34" charset="0"/>
                <a:ea typeface="Arial" pitchFamily="34" charset="-122"/>
                <a:cs typeface="Arial" pitchFamily="34" charset="-120"/>
              </a:rPr>
              <a:t>XML · STT · Mã lỗi · Tên lỗi · Mô tả · Ngày YL</a:t>
            </a:r>
            <a:endParaRPr lang="en-US" sz="1300" dirty="0"/>
          </a:p>
          <a:p>
            <a:pPr indent="0" marL="0">
              <a:lnSpc>
                <a:spcPts val="1900"/>
              </a:lnSpc>
              <a:buNone/>
            </a:pPr>
            <a:endParaRPr lang="en-US" sz="1300" dirty="0"/>
          </a:p>
          <a:p>
            <a:pPr indent="0" marL="0">
              <a:lnSpc>
                <a:spcPts val="1900"/>
              </a:lnSpc>
              <a:buNone/>
            </a:pPr>
            <a:r>
              <a:rPr lang="en-US" sz="1300" dirty="0">
                <a:solidFill>
                  <a:srgbClr val="14233A"/>
                </a:solidFill>
                <a:latin typeface="Arial" pitchFamily="34" charset="0"/>
                <a:ea typeface="Arial" pitchFamily="34" charset="-122"/>
                <a:cs typeface="Arial" pitchFamily="34" charset="-120"/>
              </a:rPr>
              <a:t>Chỉ có sau khi hồ sơ đã được kiểm và cổng đã trả kết quả. Bảng trống KHÔNG có nghĩa là hồ sơ không có lỗi XML.</a:t>
            </a:r>
            <a:endParaRPr lang="en-US" sz="1300" dirty="0"/>
          </a:p>
          <a:p>
            <a:pPr indent="0" marL="0">
              <a:lnSpc>
                <a:spcPts val="1900"/>
              </a:lnSpc>
              <a:buNone/>
            </a:pPr>
            <a:endParaRPr lang="en-US" sz="1300" dirty="0"/>
          </a:p>
          <a:p>
            <a:pPr indent="0" marL="0">
              <a:lnSpc>
                <a:spcPts val="1900"/>
              </a:lnSpc>
              <a:buNone/>
            </a:pPr>
            <a:r>
              <a:rPr lang="en-US" sz="1300" dirty="0">
                <a:solidFill>
                  <a:srgbClr val="14233A"/>
                </a:solidFill>
                <a:latin typeface="Arial" pitchFamily="34" charset="0"/>
                <a:ea typeface="Arial" pitchFamily="34" charset="-122"/>
                <a:cs typeface="Arial" pitchFamily="34" charset="-120"/>
              </a:rPr>
              <a:t>Xử lý chính: phòng BHYT.</a:t>
            </a:r>
            <a:endParaRPr lang="en-US" sz="1300" dirty="0"/>
          </a:p>
        </p:txBody>
      </p:sp>
      <p:sp>
        <p:nvSpPr>
          <p:cNvPr id="17" name="Shape 14"/>
          <p:cNvSpPr/>
          <p:nvPr/>
        </p:nvSpPr>
        <p:spPr>
          <a:xfrm>
            <a:off x="566928" y="6382512"/>
            <a:ext cx="11057839" cy="0"/>
          </a:xfrm>
          <a:prstGeom prst="line">
            <a:avLst/>
          </a:prstGeom>
          <a:noFill/>
          <a:ln w="9525">
            <a:solidFill>
              <a:srgbClr val="D6E2EE"/>
            </a:solidFill>
            <a:prstDash val="solid"/>
          </a:ln>
        </p:spPr>
      </p:sp>
      <p:sp>
        <p:nvSpPr>
          <p:cNvPr id="18" name="Text 15"/>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9" name="Text 16"/>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54 / 80</a:t>
            </a:r>
            <a:endParaRPr lang="en-US" sz="8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06 / MỤC 5.6 – 5.8</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Ba thao tác còn lại trên màn hình này</a:t>
            </a:r>
            <a:endParaRPr lang="en-US" sz="2600" dirty="0"/>
          </a:p>
        </p:txBody>
      </p:sp>
      <p:sp>
        <p:nvSpPr>
          <p:cNvPr id="4" name="Shape 2"/>
          <p:cNvSpPr/>
          <p:nvPr/>
        </p:nvSpPr>
        <p:spPr>
          <a:xfrm>
            <a:off x="566928" y="1325880"/>
            <a:ext cx="11057839" cy="832104"/>
          </a:xfrm>
          <a:prstGeom prst="rect">
            <a:avLst/>
          </a:prstGeom>
          <a:solidFill>
            <a:srgbClr val="EEF3F8"/>
          </a:solidFill>
          <a:ln w="12700">
            <a:solidFill>
              <a:srgbClr val="D6E2EE"/>
            </a:solidFill>
            <a:prstDash val="solid"/>
          </a:ln>
        </p:spPr>
      </p:sp>
      <p:sp>
        <p:nvSpPr>
          <p:cNvPr id="5" name="Shape 3"/>
          <p:cNvSpPr/>
          <p:nvPr/>
        </p:nvSpPr>
        <p:spPr>
          <a:xfrm>
            <a:off x="713232" y="1549908"/>
            <a:ext cx="384048" cy="384048"/>
          </a:xfrm>
          <a:prstGeom prst="ellipse">
            <a:avLst/>
          </a:prstGeom>
          <a:solidFill>
            <a:srgbClr val="1A5EA8"/>
          </a:solidFill>
          <a:ln/>
        </p:spPr>
      </p:sp>
      <p:sp>
        <p:nvSpPr>
          <p:cNvPr id="6" name="Text 4"/>
          <p:cNvSpPr/>
          <p:nvPr/>
        </p:nvSpPr>
        <p:spPr>
          <a:xfrm>
            <a:off x="713232" y="1549908"/>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25296" y="1325880"/>
            <a:ext cx="5750076" cy="832104"/>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Đổi trạng thái một vi phạm: mở ô chọn ở cột Xử lý, chọn Đã xem / Đã xử lý / Bỏ qua</a:t>
            </a:r>
            <a:endParaRPr lang="en-US" sz="1400" dirty="0"/>
          </a:p>
        </p:txBody>
      </p:sp>
      <p:sp>
        <p:nvSpPr>
          <p:cNvPr id="8" name="Text 6"/>
          <p:cNvSpPr/>
          <p:nvPr/>
        </p:nvSpPr>
        <p:spPr>
          <a:xfrm>
            <a:off x="7085951" y="1325880"/>
            <a:ext cx="4088209" cy="832104"/>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Hệ thống ghi nhận và tự tra cứu lại hồ sơ; cột Trạng thái đổi theo</a:t>
            </a:r>
            <a:endParaRPr lang="en-US" sz="1200" dirty="0"/>
          </a:p>
        </p:txBody>
      </p:sp>
      <p:sp>
        <p:nvSpPr>
          <p:cNvPr id="9" name="Shape 7"/>
          <p:cNvSpPr/>
          <p:nvPr/>
        </p:nvSpPr>
        <p:spPr>
          <a:xfrm>
            <a:off x="566928" y="2267712"/>
            <a:ext cx="11057839" cy="832104"/>
          </a:xfrm>
          <a:prstGeom prst="rect">
            <a:avLst/>
          </a:prstGeom>
          <a:solidFill>
            <a:srgbClr val="FFFFFF"/>
          </a:solidFill>
          <a:ln w="12700">
            <a:solidFill>
              <a:srgbClr val="D6E2EE"/>
            </a:solidFill>
            <a:prstDash val="solid"/>
          </a:ln>
        </p:spPr>
      </p:sp>
      <p:sp>
        <p:nvSpPr>
          <p:cNvPr id="10" name="Shape 8"/>
          <p:cNvSpPr/>
          <p:nvPr/>
        </p:nvSpPr>
        <p:spPr>
          <a:xfrm>
            <a:off x="713232" y="2491740"/>
            <a:ext cx="384048" cy="384048"/>
          </a:xfrm>
          <a:prstGeom prst="ellipse">
            <a:avLst/>
          </a:prstGeom>
          <a:solidFill>
            <a:srgbClr val="1A5EA8"/>
          </a:solidFill>
          <a:ln/>
        </p:spPr>
      </p:sp>
      <p:sp>
        <p:nvSpPr>
          <p:cNvPr id="11" name="Text 9"/>
          <p:cNvSpPr/>
          <p:nvPr/>
        </p:nvSpPr>
        <p:spPr>
          <a:xfrm>
            <a:off x="713232" y="249174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1225296" y="2267712"/>
            <a:ext cx="5750076" cy="832104"/>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In phiếu lỗi: bấm nút In phiếu lỗi</a:t>
            </a:r>
            <a:endParaRPr lang="en-US" sz="1400" dirty="0"/>
          </a:p>
        </p:txBody>
      </p:sp>
      <p:sp>
        <p:nvSpPr>
          <p:cNvPr id="13" name="Text 11"/>
          <p:cNvSpPr/>
          <p:nvPr/>
        </p:nvSpPr>
        <p:spPr>
          <a:xfrm>
            <a:off x="7085951" y="2267712"/>
            <a:ext cx="4088209" cy="832104"/>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Mở trang A4 dọc gồm thông tin hồ sơ và cả ba bảng lỗi, tự gọi hộp thoại in. Mọi tài khoản xem được màn hình đều in được</a:t>
            </a:r>
            <a:endParaRPr lang="en-US" sz="1200" dirty="0"/>
          </a:p>
        </p:txBody>
      </p:sp>
      <p:sp>
        <p:nvSpPr>
          <p:cNvPr id="14" name="Shape 12"/>
          <p:cNvSpPr/>
          <p:nvPr/>
        </p:nvSpPr>
        <p:spPr>
          <a:xfrm>
            <a:off x="566928" y="3209544"/>
            <a:ext cx="11057839" cy="832104"/>
          </a:xfrm>
          <a:prstGeom prst="rect">
            <a:avLst/>
          </a:prstGeom>
          <a:solidFill>
            <a:srgbClr val="EEF3F8"/>
          </a:solidFill>
          <a:ln w="12700">
            <a:solidFill>
              <a:srgbClr val="D6E2EE"/>
            </a:solidFill>
            <a:prstDash val="solid"/>
          </a:ln>
        </p:spPr>
      </p:sp>
      <p:sp>
        <p:nvSpPr>
          <p:cNvPr id="15" name="Shape 13"/>
          <p:cNvSpPr/>
          <p:nvPr/>
        </p:nvSpPr>
        <p:spPr>
          <a:xfrm>
            <a:off x="713232" y="3433572"/>
            <a:ext cx="384048" cy="384048"/>
          </a:xfrm>
          <a:prstGeom prst="ellipse">
            <a:avLst/>
          </a:prstGeom>
          <a:solidFill>
            <a:srgbClr val="1A5EA8"/>
          </a:solidFill>
          <a:ln/>
        </p:spPr>
      </p:sp>
      <p:sp>
        <p:nvSpPr>
          <p:cNvPr id="16" name="Text 14"/>
          <p:cNvSpPr/>
          <p:nvPr/>
        </p:nvSpPr>
        <p:spPr>
          <a:xfrm>
            <a:off x="713232" y="3433572"/>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1225296" y="3209544"/>
            <a:ext cx="5750076" cy="832104"/>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Tra lại thẻ BHYT: bấm nút Tra lại thẻ BHYT</a:t>
            </a:r>
            <a:endParaRPr lang="en-US" sz="1400" dirty="0"/>
          </a:p>
        </p:txBody>
      </p:sp>
      <p:sp>
        <p:nvSpPr>
          <p:cNvPr id="18" name="Text 16"/>
          <p:cNvSpPr/>
          <p:nvPr/>
        </p:nvSpPr>
        <p:spPr>
          <a:xfrm>
            <a:off x="7085951" y="3209544"/>
            <a:ext cx="4088209" cy="832104"/>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Dòng chữ xanh báo đã GỬI yêu cầu — chưa phải đã có kết quả</a:t>
            </a:r>
            <a:endParaRPr lang="en-US" sz="1200" dirty="0"/>
          </a:p>
        </p:txBody>
      </p:sp>
      <p:sp>
        <p:nvSpPr>
          <p:cNvPr id="19" name="Shape 17"/>
          <p:cNvSpPr/>
          <p:nvPr/>
        </p:nvSpPr>
        <p:spPr>
          <a:xfrm>
            <a:off x="566928" y="4151376"/>
            <a:ext cx="11057839" cy="832104"/>
          </a:xfrm>
          <a:prstGeom prst="rect">
            <a:avLst/>
          </a:prstGeom>
          <a:solidFill>
            <a:srgbClr val="FFFFFF"/>
          </a:solidFill>
          <a:ln w="12700">
            <a:solidFill>
              <a:srgbClr val="D6E2EE"/>
            </a:solidFill>
            <a:prstDash val="solid"/>
          </a:ln>
        </p:spPr>
      </p:sp>
      <p:sp>
        <p:nvSpPr>
          <p:cNvPr id="20" name="Shape 18"/>
          <p:cNvSpPr/>
          <p:nvPr/>
        </p:nvSpPr>
        <p:spPr>
          <a:xfrm>
            <a:off x="713232" y="4375404"/>
            <a:ext cx="384048" cy="384048"/>
          </a:xfrm>
          <a:prstGeom prst="ellipse">
            <a:avLst/>
          </a:prstGeom>
          <a:solidFill>
            <a:srgbClr val="1A5EA8"/>
          </a:solidFill>
          <a:ln/>
        </p:spPr>
      </p:sp>
      <p:sp>
        <p:nvSpPr>
          <p:cNvPr id="21" name="Text 19"/>
          <p:cNvSpPr/>
          <p:nvPr/>
        </p:nvSpPr>
        <p:spPr>
          <a:xfrm>
            <a:off x="713232" y="4375404"/>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2" name="Text 20"/>
          <p:cNvSpPr/>
          <p:nvPr/>
        </p:nvSpPr>
        <p:spPr>
          <a:xfrm>
            <a:off x="1225296" y="4151376"/>
            <a:ext cx="5750076" cy="832104"/>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Chờ vài giây rồi bấm Tra cứu lại</a:t>
            </a:r>
            <a:endParaRPr lang="en-US" sz="1400" dirty="0"/>
          </a:p>
        </p:txBody>
      </p:sp>
      <p:sp>
        <p:nvSpPr>
          <p:cNvPr id="23" name="Text 21"/>
          <p:cNvSpPr/>
          <p:nvPr/>
        </p:nvSpPr>
        <p:spPr>
          <a:xfrm>
            <a:off x="7085951" y="4151376"/>
            <a:ext cx="4088209" cy="832104"/>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Bảng Lỗi tra thẻ BHYT hiện kết quả mới</a:t>
            </a:r>
            <a:endParaRPr lang="en-US" sz="1200" dirty="0"/>
          </a:p>
        </p:txBody>
      </p:sp>
      <p:sp>
        <p:nvSpPr>
          <p:cNvPr id="24" name="Shape 22"/>
          <p:cNvSpPr/>
          <p:nvPr/>
        </p:nvSpPr>
        <p:spPr>
          <a:xfrm>
            <a:off x="566928" y="5074920"/>
            <a:ext cx="11057839" cy="1051560"/>
          </a:xfrm>
          <a:prstGeom prst="rect">
            <a:avLst/>
          </a:prstGeom>
          <a:solidFill>
            <a:srgbClr val="FFF4E6"/>
          </a:solidFill>
          <a:ln w="12700">
            <a:solidFill>
              <a:srgbClr val="FFF4E6"/>
            </a:solidFill>
            <a:prstDash val="solid"/>
          </a:ln>
        </p:spPr>
      </p:sp>
      <p:sp>
        <p:nvSpPr>
          <p:cNvPr id="25" name="Shape 23"/>
          <p:cNvSpPr/>
          <p:nvPr/>
        </p:nvSpPr>
        <p:spPr>
          <a:xfrm>
            <a:off x="566928" y="5074920"/>
            <a:ext cx="64008" cy="1051560"/>
          </a:xfrm>
          <a:prstGeom prst="rect">
            <a:avLst/>
          </a:prstGeom>
          <a:solidFill>
            <a:srgbClr val="C96A12"/>
          </a:solidFill>
          <a:ln w="12700">
            <a:solidFill>
              <a:srgbClr val="C96A12"/>
            </a:solidFill>
            <a:prstDash val="solid"/>
          </a:ln>
        </p:spPr>
      </p:sp>
      <p:sp>
        <p:nvSpPr>
          <p:cNvPr id="26" name="Text 24"/>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Về nút Tra lại thẻ: </a:t>
            </a:r>
            <a:pPr indent="0" marL="0">
              <a:lnSpc>
                <a:spcPts val="1900"/>
              </a:lnSpc>
              <a:buNone/>
            </a:pPr>
            <a:r>
              <a:rPr lang="en-US" sz="1300" dirty="0">
                <a:solidFill>
                  <a:srgbClr val="14233A"/>
                </a:solidFill>
                <a:latin typeface="Arial" pitchFamily="34" charset="0"/>
                <a:ea typeface="Arial" pitchFamily="34" charset="-122"/>
                <a:cs typeface="Arial" pitchFamily="34" charset="-120"/>
              </a:rPr>
              <a:t>Yêu cầu được xếp vào hàng đợi nền chứ không chạy ngay, và giới hạn 5 lượt mỗi phút cho mỗi tài khoản. Bấm nhiều lần không làm nhanh hơn. Dùng khi nghi ngờ kết quả cũ đã lạc hậu, ví dụ người bệnh vừa gia hạn thẻ.</a:t>
            </a:r>
            <a:endParaRPr lang="en-US" sz="1300" dirty="0"/>
          </a:p>
        </p:txBody>
      </p:sp>
      <p:sp>
        <p:nvSpPr>
          <p:cNvPr id="28" name="Shape 25"/>
          <p:cNvSpPr/>
          <p:nvPr/>
        </p:nvSpPr>
        <p:spPr>
          <a:xfrm>
            <a:off x="566928" y="6382512"/>
            <a:ext cx="11057839" cy="0"/>
          </a:xfrm>
          <a:prstGeom prst="line">
            <a:avLst/>
          </a:prstGeom>
          <a:noFill/>
          <a:ln w="9525">
            <a:solidFill>
              <a:srgbClr val="D6E2EE"/>
            </a:solidFill>
            <a:prstDash val="solid"/>
          </a:ln>
        </p:spPr>
      </p:sp>
      <p:sp>
        <p:nvSpPr>
          <p:cNvPr id="29" name="Text 26"/>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30" name="Text 27"/>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55 / 80</a:t>
            </a:r>
            <a:endParaRPr lang="en-US" sz="8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06 / MỤC 5.2</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Vì sao tôi không thấy cột Xử lý?</a:t>
            </a:r>
            <a:endParaRPr lang="en-US" sz="2600" dirty="0"/>
          </a:p>
        </p:txBody>
      </p:sp>
      <p:sp>
        <p:nvSpPr>
          <p:cNvPr id="4" name="Text 2"/>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B6B7F"/>
                </a:solidFill>
                <a:latin typeface="Arial" pitchFamily="34" charset="0"/>
                <a:ea typeface="Arial" pitchFamily="34" charset="-122"/>
                <a:cs typeface="Arial" pitchFamily="34" charset="-120"/>
              </a:rPr>
              <a:t>Đây là hành vi đúng thiết kế, không phải lỗi hiển thị.</a:t>
            </a:r>
            <a:endParaRPr lang="en-US" sz="13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5190414"/>
                <a:gridCol w="2933712"/>
                <a:gridCol w="2933712"/>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Việc muốn làm</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Quyền cần có</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Ai thường được cấp</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Tra cứu hồ sơ, xem ba bảng lỗi, in phiếu lỗi, tra lại thẻ BHYT</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b="1" dirty="0">
                          <a:solidFill>
                            <a:srgbClr val="14233A"/>
                          </a:solidFill>
                          <a:latin typeface="Arial" pitchFamily="34" charset="0"/>
                          <a:ea typeface="Arial" pitchFamily="34" charset="-122"/>
                          <a:cs typeface="Arial" pitchFamily="34" charset="-120"/>
                        </a:rPr>
                        <a:t>tra-cuu-loi-ho-so</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Nhân viên khoa phòng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Đổi trạng thái một vi phạm y lệnh ngay trên màn hình này</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b="1" dirty="0">
                          <a:solidFill>
                            <a:srgbClr val="14233A"/>
                          </a:solidFill>
                          <a:latin typeface="Arial" pitchFamily="34" charset="0"/>
                          <a:ea typeface="Arial" pitchFamily="34" charset="-122"/>
                          <a:cs typeface="Arial" pitchFamily="34" charset="-120"/>
                        </a:rPr>
                        <a:t>tra-cuu-loi-ho-so + order-check</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Điều dưỡng trưởng, đầu mối của khoa</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5074920"/>
            <a:ext cx="11057839" cy="1051560"/>
          </a:xfrm>
          <a:prstGeom prst="rect">
            <a:avLst/>
          </a:prstGeom>
          <a:solidFill>
            <a:srgbClr val="FFF4E6"/>
          </a:solidFill>
          <a:ln w="12700">
            <a:solidFill>
              <a:srgbClr val="FFF4E6"/>
            </a:solidFill>
            <a:prstDash val="solid"/>
          </a:ln>
        </p:spPr>
      </p:sp>
      <p:sp>
        <p:nvSpPr>
          <p:cNvPr id="7" name="Shape 4"/>
          <p:cNvSpPr/>
          <p:nvPr/>
        </p:nvSpPr>
        <p:spPr>
          <a:xfrm>
            <a:off x="566928" y="5074920"/>
            <a:ext cx="64008" cy="1051560"/>
          </a:xfrm>
          <a:prstGeom prst="rect">
            <a:avLst/>
          </a:prstGeom>
          <a:solidFill>
            <a:srgbClr val="C96A12"/>
          </a:solidFill>
          <a:ln w="12700">
            <a:solidFill>
              <a:srgbClr val="C96A12"/>
            </a:solidFill>
            <a:prstDash val="solid"/>
          </a:ln>
        </p:spPr>
      </p:sp>
      <p:sp>
        <p:nvSpPr>
          <p:cNvPr id="8" name="Text 5"/>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Không nhìn thấy menu Tra cứu lỗi hồ sơ? </a:t>
            </a:r>
            <a:pPr indent="0" marL="0">
              <a:lnSpc>
                <a:spcPts val="1900"/>
              </a:lnSpc>
              <a:buNone/>
            </a:pPr>
            <a:r>
              <a:rPr lang="en-US" sz="1300" dirty="0">
                <a:solidFill>
                  <a:srgbClr val="14233A"/>
                </a:solidFill>
                <a:latin typeface="Arial" pitchFamily="34" charset="0"/>
                <a:ea typeface="Arial" pitchFamily="34" charset="-122"/>
                <a:cs typeface="Arial" pitchFamily="34" charset="-120"/>
              </a:rPr>
              <a:t>Tài khoản chưa được cấp quyền tra-cuu-loi-ho-so. Đề nghị quản trị hệ thống cấp quyền, sau đó đăng xuất rồi đăng nhập lại.</a:t>
            </a:r>
            <a:endParaRPr lang="en-US" sz="1300" dirty="0"/>
          </a:p>
        </p:txBody>
      </p:sp>
      <p:sp>
        <p:nvSpPr>
          <p:cNvPr id="10" name="Shape 6"/>
          <p:cNvSpPr/>
          <p:nvPr/>
        </p:nvSpPr>
        <p:spPr>
          <a:xfrm>
            <a:off x="566928" y="6382512"/>
            <a:ext cx="11057839" cy="0"/>
          </a:xfrm>
          <a:prstGeom prst="line">
            <a:avLst/>
          </a:prstGeom>
          <a:noFill/>
          <a:ln w="9525">
            <a:solidFill>
              <a:srgbClr val="D6E2EE"/>
            </a:solidFill>
            <a:prstDash val="solid"/>
          </a:ln>
        </p:spPr>
      </p:sp>
      <p:sp>
        <p:nvSpPr>
          <p:cNvPr id="11" name="Text 7"/>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2" name="Text 8"/>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56 / 80</a:t>
            </a:r>
            <a:endParaRPr lang="en-US" sz="8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A9FD8"/>
          </a:solidFill>
          <a:ln w="12700">
            <a:solidFill>
              <a:srgbClr val="2A9FD8"/>
            </a:solidFill>
            <a:prstDash val="solid"/>
          </a:ln>
        </p:spPr>
      </p:sp>
      <p:sp>
        <p:nvSpPr>
          <p:cNvPr id="3" name="Text 1"/>
          <p:cNvSpPr/>
          <p:nvPr/>
        </p:nvSpPr>
        <p:spPr>
          <a:xfrm>
            <a:off x="822960" y="2011680"/>
            <a:ext cx="1828800" cy="1371600"/>
          </a:xfrm>
          <a:prstGeom prst="rect">
            <a:avLst/>
          </a:prstGeom>
          <a:noFill/>
          <a:ln/>
        </p:spPr>
        <p:txBody>
          <a:bodyPr wrap="square" rtlCol="0" anchor="ctr"/>
          <a:lstStyle/>
          <a:p>
            <a:pPr indent="0" marL="0">
              <a:buNone/>
            </a:pPr>
            <a:r>
              <a:rPr lang="en-US" sz="8000" b="1" dirty="0">
                <a:solidFill>
                  <a:srgbClr val="2A9FD8"/>
                </a:solidFill>
                <a:latin typeface="Arial" pitchFamily="34" charset="0"/>
                <a:ea typeface="Arial" pitchFamily="34" charset="-122"/>
                <a:cs typeface="Arial" pitchFamily="34" charset="-120"/>
              </a:rPr>
              <a:t>07</a:t>
            </a:r>
            <a:endParaRPr lang="en-US" sz="8000" dirty="0"/>
          </a:p>
        </p:txBody>
      </p:sp>
      <p:sp>
        <p:nvSpPr>
          <p:cNvPr id="4" name="Text 2"/>
          <p:cNvSpPr/>
          <p:nvPr/>
        </p:nvSpPr>
        <p:spPr>
          <a:xfrm>
            <a:off x="2651760" y="2148840"/>
            <a:ext cx="8808415" cy="9144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Quản lý danh mục BHYT</a:t>
            </a:r>
            <a:endParaRPr lang="en-US" sz="3200" dirty="0"/>
          </a:p>
        </p:txBody>
      </p:sp>
      <p:sp>
        <p:nvSpPr>
          <p:cNvPr id="5" name="Text 3"/>
          <p:cNvSpPr/>
          <p:nvPr/>
        </p:nvSpPr>
        <p:spPr>
          <a:xfrm>
            <a:off x="2651760" y="3108960"/>
            <a:ext cx="8808415" cy="822960"/>
          </a:xfrm>
          <a:prstGeom prst="rect">
            <a:avLst/>
          </a:prstGeom>
          <a:noFill/>
          <a:ln/>
        </p:spPr>
        <p:txBody>
          <a:bodyPr wrap="square" rtlCol="0" anchor="t"/>
          <a:lstStyle/>
          <a:p>
            <a:pPr indent="0" marL="0">
              <a:lnSpc>
                <a:spcPts val="2200"/>
              </a:lnSpc>
              <a:buNone/>
            </a:pPr>
            <a:r>
              <a:rPr lang="en-US" sz="1500" dirty="0">
                <a:solidFill>
                  <a:srgbClr val="A9C4DC"/>
                </a:solidFill>
                <a:latin typeface="Arial" pitchFamily="34" charset="0"/>
                <a:ea typeface="Arial" pitchFamily="34" charset="-122"/>
                <a:cs typeface="Arial" pitchFamily="34" charset="-120"/>
              </a:rPr>
              <a:t>Mười một bộ danh mục · Nguyên tắc chỉ đọc · Nhập khẩu và đọc kết quả · Bốn bộ theo cơ sở</a:t>
            </a:r>
            <a:endParaRPr lang="en-US" sz="15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07 / MỤC 4.1 – 4.2</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Vì sao danh mục là việc ưu tiên</a:t>
            </a:r>
            <a:endParaRPr lang="en-US" sz="2600" dirty="0"/>
          </a:p>
        </p:txBody>
      </p:sp>
      <p:sp>
        <p:nvSpPr>
          <p:cNvPr id="4" name="Text 2"/>
          <p:cNvSpPr/>
          <p:nvPr/>
        </p:nvSpPr>
        <p:spPr>
          <a:xfrm>
            <a:off x="566928" y="1325880"/>
            <a:ext cx="11057839" cy="4114800"/>
          </a:xfrm>
          <a:prstGeom prst="rect">
            <a:avLst/>
          </a:prstGeom>
          <a:noFill/>
          <a:ln/>
        </p:spPr>
        <p:txBody>
          <a:bodyPr wrap="square" rtlCol="0" anchor="t"/>
          <a:lstStyle/>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Danh mục là nền tảng đối chiếu của toàn bộ hai chức năng XML 3176 và kiểm tra y lệnh</a:t>
            </a:r>
            <a:endParaRPr lang="en-US" sz="1600" dirty="0"/>
          </a:p>
          <a:p>
            <a:pPr marL="342900" indent="-342900">
              <a:lnSpc>
                <a:spcPts val="2400"/>
              </a:lnSpc>
              <a:spcAft>
                <a:spcPts val="1000"/>
              </a:spcAft>
              <a:buSzPct val="100000"/>
              <a:buChar char="▪"/>
            </a:pPr>
            <a:r>
              <a:rPr lang="en-US" sz="1600" b="1" dirty="0">
                <a:solidFill>
                  <a:srgbClr val="C62828"/>
                </a:solidFill>
                <a:latin typeface="Arial" pitchFamily="34" charset="0"/>
                <a:ea typeface="Arial" pitchFamily="34" charset="-122"/>
                <a:cs typeface="Arial" pitchFamily="34" charset="-120"/>
              </a:rPr>
              <a:t>Danh mục sai hoặc thiếu → hồ sơ XML báo lỗi hàng loạt và bộ kiểm y lệnh sinh hàng chục nghìn vi phạm giả</a:t>
            </a:r>
            <a:endParaRPr lang="en-US" sz="1600" dirty="0"/>
          </a:p>
          <a:p>
            <a:pPr marL="342900" indent="-342900">
              <a:lnSpc>
                <a:spcPts val="2400"/>
              </a:lnSpc>
              <a:spcAft>
                <a:spcPts val="200"/>
              </a:spcAft>
              <a:buSzPct val="100000"/>
              <a:buChar char="▪"/>
            </a:pPr>
            <a:r>
              <a:rPr lang="en-US" sz="1600" b="1" dirty="0">
                <a:solidFill>
                  <a:srgbClr val="14233A"/>
                </a:solidFill>
                <a:latin typeface="Arial" pitchFamily="34" charset="0"/>
                <a:ea typeface="Arial" pitchFamily="34" charset="-122"/>
                <a:cs typeface="Arial" pitchFamily="34" charset="-120"/>
              </a:rPr>
              <a:t>Mười một bộ danh mục, trong đó BỐN bộ phân biệt theo cơ sở</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   Theo cơ sở: Thuốc · Vật tư y tế · Dịch vụ kỹ thuật · Khoa Phòng Giường</a:t>
            </a:r>
            <a:endParaRPr lang="en-US" sz="1600" dirty="0"/>
          </a:p>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Bảy bộ dùng chung: ICD-10 · ICD-YHCT · Nhân viên y tế · Trang thiết bị · Đơn vị hành chính · Cơ sở KCB · Nghề nghiệp</a:t>
            </a:r>
            <a:endParaRPr lang="en-US" sz="1600" dirty="0"/>
          </a:p>
          <a:p>
            <a:pPr marL="342900" indent="-342900">
              <a:lnSpc>
                <a:spcPts val="2400"/>
              </a:lnSpc>
              <a:spcAft>
                <a:spcPts val="200"/>
              </a:spcAft>
              <a:buSzPct val="100000"/>
              <a:buChar char="▪"/>
            </a:pPr>
            <a:r>
              <a:rPr lang="en-US" sz="1600" b="1" dirty="0">
                <a:solidFill>
                  <a:srgbClr val="1F4E79"/>
                </a:solidFill>
                <a:latin typeface="Arial" pitchFamily="34" charset="0"/>
                <a:ea typeface="Arial" pitchFamily="34" charset="-122"/>
                <a:cs typeface="Arial" pitchFamily="34" charset="-120"/>
              </a:rPr>
              <a:t>Cả mười một màn hình danh mục đều CHỈ ĐỌC — không có nút Thêm/Sửa/Xoá từng dòng</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   Chủ ý thiết kế: nguồn chuẩn là tệp do BHXH phát hành. Cách cập nhật duy nhất là nhập lại tệp Excel</a:t>
            </a:r>
            <a:endParaRPr lang="en-US" sz="1600" dirty="0"/>
          </a:p>
        </p:txBody>
      </p:sp>
      <p:sp>
        <p:nvSpPr>
          <p:cNvPr id="5" name="Shape 3"/>
          <p:cNvSpPr/>
          <p:nvPr/>
        </p:nvSpPr>
        <p:spPr>
          <a:xfrm>
            <a:off x="566928" y="5074920"/>
            <a:ext cx="11057839" cy="1051560"/>
          </a:xfrm>
          <a:prstGeom prst="rect">
            <a:avLst/>
          </a:prstGeom>
          <a:solidFill>
            <a:srgbClr val="FDECEC"/>
          </a:solidFill>
          <a:ln w="12700">
            <a:solidFill>
              <a:srgbClr val="FDECEC"/>
            </a:solidFill>
            <a:prstDash val="solid"/>
          </a:ln>
        </p:spPr>
      </p:sp>
      <p:sp>
        <p:nvSpPr>
          <p:cNvPr id="6" name="Shape 4"/>
          <p:cNvSpPr/>
          <p:nvPr/>
        </p:nvSpPr>
        <p:spPr>
          <a:xfrm>
            <a:off x="566928" y="5074920"/>
            <a:ext cx="64008" cy="1051560"/>
          </a:xfrm>
          <a:prstGeom prst="rect">
            <a:avLst/>
          </a:prstGeom>
          <a:solidFill>
            <a:srgbClr val="C62828"/>
          </a:solidFill>
          <a:ln w="12700">
            <a:solidFill>
              <a:srgbClr val="C62828"/>
            </a:solidFill>
            <a:prstDash val="solid"/>
          </a:ln>
        </p:spPr>
      </p:sp>
      <p:sp>
        <p:nvSpPr>
          <p:cNvPr id="7" name="Text 5"/>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Hai cột quyết định tất cả: </a:t>
            </a:r>
            <a:pPr indent="0" marL="0">
              <a:lnSpc>
                <a:spcPts val="1900"/>
              </a:lnSpc>
              <a:buNone/>
            </a:pPr>
            <a:r>
              <a:rPr lang="en-US" sz="1300" dirty="0">
                <a:solidFill>
                  <a:srgbClr val="14233A"/>
                </a:solidFill>
                <a:latin typeface="Arial" pitchFamily="34" charset="0"/>
                <a:ea typeface="Arial" pitchFamily="34" charset="-122"/>
                <a:cs typeface="Arial" pitchFamily="34" charset="-120"/>
              </a:rPr>
              <a:t>TU_NGAY và DEN_NGAY quyết định danh mục còn hiệu lực hay không. Các quy tắc đối chiếu chỉ chấp nhận dòng còn hiệu lực tại thời điểm phát sinh y lệnh. Nhập danh mục có ngày hiệu lực sai sẽ sinh hàng loạt cảnh báo "mã không có trong danh mục" dù dữ liệu đã nhập.</a:t>
            </a:r>
            <a:endParaRPr lang="en-US" sz="1300" dirty="0"/>
          </a:p>
        </p:txBody>
      </p:sp>
      <p:sp>
        <p:nvSpPr>
          <p:cNvPr id="9" name="Shape 6"/>
          <p:cNvSpPr/>
          <p:nvPr/>
        </p:nvSpPr>
        <p:spPr>
          <a:xfrm>
            <a:off x="566928" y="6382512"/>
            <a:ext cx="11057839" cy="0"/>
          </a:xfrm>
          <a:prstGeom prst="line">
            <a:avLst/>
          </a:prstGeom>
          <a:noFill/>
          <a:ln w="9525">
            <a:solidFill>
              <a:srgbClr val="D6E2EE"/>
            </a:solidFill>
            <a:prstDash val="solid"/>
          </a:ln>
        </p:spPr>
      </p:sp>
      <p:sp>
        <p:nvSpPr>
          <p:cNvPr id="10" name="Text 7"/>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1" name="Text 8"/>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58 / 80</a:t>
            </a:r>
            <a:endParaRPr lang="en-US" sz="8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07 / MỤC 4.3</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Quy trình nhập khẩu danh mục</a:t>
            </a:r>
            <a:endParaRPr lang="en-US" sz="2600" dirty="0"/>
          </a:p>
        </p:txBody>
      </p:sp>
      <p:sp>
        <p:nvSpPr>
          <p:cNvPr id="4" name="Text 2"/>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B6B7F"/>
                </a:solidFill>
                <a:latin typeface="Arial" pitchFamily="34" charset="0"/>
                <a:ea typeface="Arial" pitchFamily="34" charset="-122"/>
                <a:cs typeface="Arial" pitchFamily="34" charset="-120"/>
              </a:rPr>
              <a:t>Đường dẫn: Quản lý danh mục → Nhập khẩu danh mục — cửa duy nhất để cập nhật cả mười một bộ</a:t>
            </a:r>
            <a:endParaRPr lang="en-US" sz="1300" dirty="0"/>
          </a:p>
        </p:txBody>
      </p:sp>
      <p:sp>
        <p:nvSpPr>
          <p:cNvPr id="5" name="Shape 3"/>
          <p:cNvSpPr/>
          <p:nvPr/>
        </p:nvSpPr>
        <p:spPr>
          <a:xfrm>
            <a:off x="566928" y="1709928"/>
            <a:ext cx="11057839" cy="656844"/>
          </a:xfrm>
          <a:prstGeom prst="rect">
            <a:avLst/>
          </a:prstGeom>
          <a:solidFill>
            <a:srgbClr val="EEF3F8"/>
          </a:solidFill>
          <a:ln w="12700">
            <a:solidFill>
              <a:srgbClr val="D6E2EE"/>
            </a:solidFill>
            <a:prstDash val="solid"/>
          </a:ln>
        </p:spPr>
      </p:sp>
      <p:sp>
        <p:nvSpPr>
          <p:cNvPr id="6" name="Shape 4"/>
          <p:cNvSpPr/>
          <p:nvPr/>
        </p:nvSpPr>
        <p:spPr>
          <a:xfrm>
            <a:off x="713232" y="1846326"/>
            <a:ext cx="384048" cy="384048"/>
          </a:xfrm>
          <a:prstGeom prst="ellipse">
            <a:avLst/>
          </a:prstGeom>
          <a:solidFill>
            <a:srgbClr val="1A5EA8"/>
          </a:solidFill>
          <a:ln/>
        </p:spPr>
      </p:sp>
      <p:sp>
        <p:nvSpPr>
          <p:cNvPr id="7" name="Text 5"/>
          <p:cNvSpPr/>
          <p:nvPr/>
        </p:nvSpPr>
        <p:spPr>
          <a:xfrm>
            <a:off x="713232" y="1846326"/>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1225296" y="1709928"/>
            <a:ext cx="5750076" cy="656844"/>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Tải tệp danh mục mới từ cổng giám định BHXH về máy</a:t>
            </a:r>
            <a:endParaRPr lang="en-US" sz="1400" dirty="0"/>
          </a:p>
        </p:txBody>
      </p:sp>
      <p:sp>
        <p:nvSpPr>
          <p:cNvPr id="9" name="Text 7"/>
          <p:cNvSpPr/>
          <p:nvPr/>
        </p:nvSpPr>
        <p:spPr>
          <a:xfrm>
            <a:off x="7085951" y="1709928"/>
            <a:ext cx="4088209" cy="656844"/>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Có tệp Excel nguồn</a:t>
            </a:r>
            <a:endParaRPr lang="en-US" sz="1200" dirty="0"/>
          </a:p>
        </p:txBody>
      </p:sp>
      <p:sp>
        <p:nvSpPr>
          <p:cNvPr id="10" name="Shape 8"/>
          <p:cNvSpPr/>
          <p:nvPr/>
        </p:nvSpPr>
        <p:spPr>
          <a:xfrm>
            <a:off x="566928" y="2476500"/>
            <a:ext cx="11057839" cy="656844"/>
          </a:xfrm>
          <a:prstGeom prst="rect">
            <a:avLst/>
          </a:prstGeom>
          <a:solidFill>
            <a:srgbClr val="FFFFFF"/>
          </a:solidFill>
          <a:ln w="12700">
            <a:solidFill>
              <a:srgbClr val="D6E2EE"/>
            </a:solidFill>
            <a:prstDash val="solid"/>
          </a:ln>
        </p:spPr>
      </p:sp>
      <p:sp>
        <p:nvSpPr>
          <p:cNvPr id="11" name="Shape 9"/>
          <p:cNvSpPr/>
          <p:nvPr/>
        </p:nvSpPr>
        <p:spPr>
          <a:xfrm>
            <a:off x="713232" y="2612898"/>
            <a:ext cx="384048" cy="384048"/>
          </a:xfrm>
          <a:prstGeom prst="ellipse">
            <a:avLst/>
          </a:prstGeom>
          <a:solidFill>
            <a:srgbClr val="1A5EA8"/>
          </a:solidFill>
          <a:ln/>
        </p:spPr>
      </p:sp>
      <p:sp>
        <p:nvSpPr>
          <p:cNvPr id="12" name="Text 10"/>
          <p:cNvSpPr/>
          <p:nvPr/>
        </p:nvSpPr>
        <p:spPr>
          <a:xfrm>
            <a:off x="713232" y="2612898"/>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1225296" y="2476500"/>
            <a:ext cx="5750076" cy="656844"/>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Kiểm tra DÒNG 1 phải là dòng tiêu đề cột — phía trên còn dòng tiêu đề chung thì xoá đi</a:t>
            </a:r>
            <a:endParaRPr lang="en-US" sz="1400" dirty="0"/>
          </a:p>
        </p:txBody>
      </p:sp>
      <p:sp>
        <p:nvSpPr>
          <p:cNvPr id="14" name="Text 12"/>
          <p:cNvSpPr/>
          <p:nvPr/>
        </p:nvSpPr>
        <p:spPr>
          <a:xfrm>
            <a:off x="7085951" y="2476500"/>
            <a:ext cx="4088209" cy="656844"/>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Dữ liệu bắt đầu từ dòng 2. Đây là lỗi phổ biến nhất với tệp tải trực tiếp từ cổng</a:t>
            </a:r>
            <a:endParaRPr lang="en-US" sz="1200" dirty="0"/>
          </a:p>
        </p:txBody>
      </p:sp>
      <p:sp>
        <p:nvSpPr>
          <p:cNvPr id="15" name="Shape 13"/>
          <p:cNvSpPr/>
          <p:nvPr/>
        </p:nvSpPr>
        <p:spPr>
          <a:xfrm>
            <a:off x="566928" y="3243072"/>
            <a:ext cx="11057839" cy="656844"/>
          </a:xfrm>
          <a:prstGeom prst="rect">
            <a:avLst/>
          </a:prstGeom>
          <a:solidFill>
            <a:srgbClr val="EEF3F8"/>
          </a:solidFill>
          <a:ln w="12700">
            <a:solidFill>
              <a:srgbClr val="D6E2EE"/>
            </a:solidFill>
            <a:prstDash val="solid"/>
          </a:ln>
        </p:spPr>
      </p:sp>
      <p:sp>
        <p:nvSpPr>
          <p:cNvPr id="16" name="Shape 14"/>
          <p:cNvSpPr/>
          <p:nvPr/>
        </p:nvSpPr>
        <p:spPr>
          <a:xfrm>
            <a:off x="713232" y="3379470"/>
            <a:ext cx="384048" cy="384048"/>
          </a:xfrm>
          <a:prstGeom prst="ellipse">
            <a:avLst/>
          </a:prstGeom>
          <a:solidFill>
            <a:srgbClr val="1A5EA8"/>
          </a:solidFill>
          <a:ln/>
        </p:spPr>
      </p:sp>
      <p:sp>
        <p:nvSpPr>
          <p:cNvPr id="17" name="Text 15"/>
          <p:cNvSpPr/>
          <p:nvPr/>
        </p:nvSpPr>
        <p:spPr>
          <a:xfrm>
            <a:off x="713232" y="337947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6"/>
          <p:cNvSpPr/>
          <p:nvPr/>
        </p:nvSpPr>
        <p:spPr>
          <a:xfrm>
            <a:off x="1225296" y="3243072"/>
            <a:ext cx="5750076" cy="656844"/>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Chưa chắc về cấu trúc: chọn loại danh mục ở khu Tải biểu mẫu rồi bấm Tải biểu mẫu</a:t>
            </a:r>
            <a:endParaRPr lang="en-US" sz="1400" dirty="0"/>
          </a:p>
        </p:txBody>
      </p:sp>
      <p:sp>
        <p:nvSpPr>
          <p:cNvPr id="19" name="Text 17"/>
          <p:cNvSpPr/>
          <p:nvPr/>
        </p:nvSpPr>
        <p:spPr>
          <a:xfrm>
            <a:off x="7085951" y="3243072"/>
            <a:ext cx="4088209" cy="656844"/>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Tệp mẫu rỗng có đúng tên cột. Cột nền vàng là bắt buộc, cột nền xanh là MA_CSKCB không bắt buộc</a:t>
            </a:r>
            <a:endParaRPr lang="en-US" sz="1200" dirty="0"/>
          </a:p>
        </p:txBody>
      </p:sp>
      <p:sp>
        <p:nvSpPr>
          <p:cNvPr id="20" name="Shape 18"/>
          <p:cNvSpPr/>
          <p:nvPr/>
        </p:nvSpPr>
        <p:spPr>
          <a:xfrm>
            <a:off x="566928" y="4009644"/>
            <a:ext cx="11057839" cy="656844"/>
          </a:xfrm>
          <a:prstGeom prst="rect">
            <a:avLst/>
          </a:prstGeom>
          <a:solidFill>
            <a:srgbClr val="FFFFFF"/>
          </a:solidFill>
          <a:ln w="12700">
            <a:solidFill>
              <a:srgbClr val="D6E2EE"/>
            </a:solidFill>
            <a:prstDash val="solid"/>
          </a:ln>
        </p:spPr>
      </p:sp>
      <p:sp>
        <p:nvSpPr>
          <p:cNvPr id="21" name="Shape 19"/>
          <p:cNvSpPr/>
          <p:nvPr/>
        </p:nvSpPr>
        <p:spPr>
          <a:xfrm>
            <a:off x="713232" y="4146042"/>
            <a:ext cx="384048" cy="384048"/>
          </a:xfrm>
          <a:prstGeom prst="ellipse">
            <a:avLst/>
          </a:prstGeom>
          <a:solidFill>
            <a:srgbClr val="1A5EA8"/>
          </a:solidFill>
          <a:ln/>
        </p:spPr>
      </p:sp>
      <p:sp>
        <p:nvSpPr>
          <p:cNvPr id="22" name="Text 20"/>
          <p:cNvSpPr/>
          <p:nvPr/>
        </p:nvSpPr>
        <p:spPr>
          <a:xfrm>
            <a:off x="713232" y="4146042"/>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3" name="Text 21"/>
          <p:cNvSpPr/>
          <p:nvPr/>
        </p:nvSpPr>
        <p:spPr>
          <a:xfrm>
            <a:off x="1225296" y="4009644"/>
            <a:ext cx="5750076" cy="656844"/>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Chọn Cơ sở khám chữa bệnh TRƯỚC khi kéo tệp vào</a:t>
            </a:r>
            <a:endParaRPr lang="en-US" sz="1400" dirty="0"/>
          </a:p>
        </p:txBody>
      </p:sp>
      <p:sp>
        <p:nvSpPr>
          <p:cNvPr id="24" name="Text 22"/>
          <p:cNvSpPr/>
          <p:nvPr/>
        </p:nvSpPr>
        <p:spPr>
          <a:xfrm>
            <a:off x="7085951" y="4009644"/>
            <a:ext cx="4088209" cy="656844"/>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Chỉ có ý nghĩa với bốn bộ danh mục theo cơ sở — xem slide sau</a:t>
            </a:r>
            <a:endParaRPr lang="en-US" sz="1200" dirty="0"/>
          </a:p>
        </p:txBody>
      </p:sp>
      <p:sp>
        <p:nvSpPr>
          <p:cNvPr id="25" name="Shape 23"/>
          <p:cNvSpPr/>
          <p:nvPr/>
        </p:nvSpPr>
        <p:spPr>
          <a:xfrm>
            <a:off x="566928" y="4776216"/>
            <a:ext cx="11057839" cy="656844"/>
          </a:xfrm>
          <a:prstGeom prst="rect">
            <a:avLst/>
          </a:prstGeom>
          <a:solidFill>
            <a:srgbClr val="EEF3F8"/>
          </a:solidFill>
          <a:ln w="12700">
            <a:solidFill>
              <a:srgbClr val="D6E2EE"/>
            </a:solidFill>
            <a:prstDash val="solid"/>
          </a:ln>
        </p:spPr>
      </p:sp>
      <p:sp>
        <p:nvSpPr>
          <p:cNvPr id="26" name="Shape 24"/>
          <p:cNvSpPr/>
          <p:nvPr/>
        </p:nvSpPr>
        <p:spPr>
          <a:xfrm>
            <a:off x="713232" y="4912614"/>
            <a:ext cx="384048" cy="384048"/>
          </a:xfrm>
          <a:prstGeom prst="ellipse">
            <a:avLst/>
          </a:prstGeom>
          <a:solidFill>
            <a:srgbClr val="1A5EA8"/>
          </a:solidFill>
          <a:ln/>
        </p:spPr>
      </p:sp>
      <p:sp>
        <p:nvSpPr>
          <p:cNvPr id="27" name="Text 25"/>
          <p:cNvSpPr/>
          <p:nvPr/>
        </p:nvSpPr>
        <p:spPr>
          <a:xfrm>
            <a:off x="713232" y="4912614"/>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8" name="Text 26"/>
          <p:cNvSpPr/>
          <p:nvPr/>
        </p:nvSpPr>
        <p:spPr>
          <a:xfrm>
            <a:off x="1225296" y="4776216"/>
            <a:ext cx="5750076" cy="656844"/>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Kéo tệp thả vào khung, chờ xử lý xong</a:t>
            </a:r>
            <a:endParaRPr lang="en-US" sz="1400" dirty="0"/>
          </a:p>
        </p:txBody>
      </p:sp>
      <p:sp>
        <p:nvSpPr>
          <p:cNvPr id="29" name="Text 27"/>
          <p:cNvSpPr/>
          <p:nvPr/>
        </p:nvSpPr>
        <p:spPr>
          <a:xfrm>
            <a:off x="7085951" y="4776216"/>
            <a:ext cx="4088209" cy="656844"/>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Hộp thoại kết quả với năm con số và 20 dòng lỗi đầu tiên</a:t>
            </a:r>
            <a:endParaRPr lang="en-US" sz="1200" dirty="0"/>
          </a:p>
        </p:txBody>
      </p:sp>
      <p:sp>
        <p:nvSpPr>
          <p:cNvPr id="30" name="Shape 28"/>
          <p:cNvSpPr/>
          <p:nvPr/>
        </p:nvSpPr>
        <p:spPr>
          <a:xfrm>
            <a:off x="566928" y="5542788"/>
            <a:ext cx="11057839" cy="656844"/>
          </a:xfrm>
          <a:prstGeom prst="rect">
            <a:avLst/>
          </a:prstGeom>
          <a:solidFill>
            <a:srgbClr val="FFFFFF"/>
          </a:solidFill>
          <a:ln w="12700">
            <a:solidFill>
              <a:srgbClr val="D6E2EE"/>
            </a:solidFill>
            <a:prstDash val="solid"/>
          </a:ln>
        </p:spPr>
      </p:sp>
      <p:sp>
        <p:nvSpPr>
          <p:cNvPr id="31" name="Shape 29"/>
          <p:cNvSpPr/>
          <p:nvPr/>
        </p:nvSpPr>
        <p:spPr>
          <a:xfrm>
            <a:off x="713232" y="5679186"/>
            <a:ext cx="384048" cy="384048"/>
          </a:xfrm>
          <a:prstGeom prst="ellipse">
            <a:avLst/>
          </a:prstGeom>
          <a:solidFill>
            <a:srgbClr val="1A5EA8"/>
          </a:solidFill>
          <a:ln/>
        </p:spPr>
      </p:sp>
      <p:sp>
        <p:nvSpPr>
          <p:cNvPr id="32" name="Text 30"/>
          <p:cNvSpPr/>
          <p:nvPr/>
        </p:nvSpPr>
        <p:spPr>
          <a:xfrm>
            <a:off x="713232" y="5679186"/>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3" name="Text 31"/>
          <p:cNvSpPr/>
          <p:nvPr/>
        </p:nvSpPr>
        <p:spPr>
          <a:xfrm>
            <a:off x="1225296" y="5542788"/>
            <a:ext cx="5750076" cy="656844"/>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Có dòng lỗi thì bấm nút Chi tiết (n) để tải tệp Excel ba cột: Dòng Excel, Loại, Lý do</a:t>
            </a:r>
            <a:endParaRPr lang="en-US" sz="1400" dirty="0"/>
          </a:p>
        </p:txBody>
      </p:sp>
      <p:sp>
        <p:nvSpPr>
          <p:cNvPr id="34" name="Text 32"/>
          <p:cNvSpPr/>
          <p:nvPr/>
        </p:nvSpPr>
        <p:spPr>
          <a:xfrm>
            <a:off x="7085951" y="5542788"/>
            <a:ext cx="4088209" cy="656844"/>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Sửa tệp nguồn rồi nhập lại — nhập lại cùng tệp là AN TOÀN, không nhân đôi dữ liệu</a:t>
            </a:r>
            <a:endParaRPr lang="en-US" sz="1200" dirty="0"/>
          </a:p>
        </p:txBody>
      </p:sp>
      <p:sp>
        <p:nvSpPr>
          <p:cNvPr id="36" name="Shape 33"/>
          <p:cNvSpPr/>
          <p:nvPr/>
        </p:nvSpPr>
        <p:spPr>
          <a:xfrm>
            <a:off x="566928" y="6382512"/>
            <a:ext cx="11057839" cy="0"/>
          </a:xfrm>
          <a:prstGeom prst="line">
            <a:avLst/>
          </a:prstGeom>
          <a:noFill/>
          <a:ln w="9525">
            <a:solidFill>
              <a:srgbClr val="D6E2EE"/>
            </a:solidFill>
            <a:prstDash val="solid"/>
          </a:ln>
        </p:spPr>
      </p:sp>
      <p:sp>
        <p:nvSpPr>
          <p:cNvPr id="37" name="Text 34"/>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38" name="Text 35"/>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59 / 80</a:t>
            </a:r>
            <a:endParaRPr lang="en-US" sz="8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07 / MỤC 4.3.2</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Đọc năm con số kết quả nhập khẩu</a:t>
            </a:r>
            <a:endParaRPr lang="en-US" sz="2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57839" cy="914400"/>
        </p:xfrm>
        <a:graphic>
          <a:graphicData uri="http://schemas.openxmlformats.org/drawingml/2006/table">
            <a:tbl>
              <a:tblPr/>
              <a:tblGrid>
                <a:gridCol w="1769254"/>
                <a:gridCol w="4865449"/>
                <a:gridCol w="4423136"/>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Con số</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Ý nghĩa</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Phải làm gì</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r>
              <a:tr h="0">
                <a:tc>
                  <a:txBody>
                    <a:bodyPr/>
                    <a:lstStyle/>
                    <a:p>
                      <a:pPr indent="0" marL="0">
                        <a:buNone/>
                      </a:pPr>
                      <a:r>
                        <a:rPr lang="en-US" sz="1200" b="1" dirty="0">
                          <a:solidFill>
                            <a:srgbClr val="2E7D32"/>
                          </a:solidFill>
                          <a:latin typeface="Arial" pitchFamily="34" charset="0"/>
                          <a:ea typeface="Arial" pitchFamily="34" charset="-122"/>
                          <a:cs typeface="Arial" pitchFamily="34" charset="-120"/>
                        </a:rPr>
                        <a:t>Đã thêm</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Dòng chưa từng có trong hệ thống, được thêm mới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Không cần làm gì</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Cập nhật</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Dòng đã có nhưng nội dung khác, được ghi đè bằng dữ liệu mới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Không cần làm gì</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Không đổi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Dòng đã có và giống hệt, hệ thống bỏ qua</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Bình thường khi nhập lại tệp cũ. Con số này lớn không phải là lỗi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b="1" dirty="0">
                          <a:solidFill>
                            <a:srgbClr val="B26A00"/>
                          </a:solidFill>
                          <a:latin typeface="Arial" pitchFamily="34" charset="0"/>
                          <a:ea typeface="Arial" pitchFamily="34" charset="-122"/>
                          <a:cs typeface="Arial" pitchFamily="34" charset="-120"/>
                        </a:rPr>
                        <a:t>Bỏ qua</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Dòng thiếu ít nhất một cột bắt buộc — gồm cả dòng trống ở cuối trang tính</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Tải tệp Chi tiết, xem là dòng trống hay dòng dữ liệu thật</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C62828"/>
                          </a:solidFill>
                          <a:latin typeface="Arial" pitchFamily="34" charset="0"/>
                          <a:ea typeface="Arial" pitchFamily="34" charset="-122"/>
                          <a:cs typeface="Arial" pitchFamily="34" charset="-120"/>
                        </a:rPr>
                        <a:t>Lỗi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Dòng không ghi được, thường do ô số chứa ký tự lạ hoặc dữ liệu quá dài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Bắt buộc tải tệp Chi tiết, sửa tệp nguồn rồi nhập lại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bl>
          </a:graphicData>
        </a:graphic>
      </p:graphicFrame>
      <p:sp>
        <p:nvSpPr>
          <p:cNvPr id="5" name="Shape 2"/>
          <p:cNvSpPr/>
          <p:nvPr/>
        </p:nvSpPr>
        <p:spPr>
          <a:xfrm>
            <a:off x="566928" y="5074920"/>
            <a:ext cx="11057839" cy="1051560"/>
          </a:xfrm>
          <a:prstGeom prst="rect">
            <a:avLst/>
          </a:prstGeom>
          <a:solidFill>
            <a:srgbClr val="FFF4E6"/>
          </a:solidFill>
          <a:ln w="12700">
            <a:solidFill>
              <a:srgbClr val="FFF4E6"/>
            </a:solidFill>
            <a:prstDash val="solid"/>
          </a:ln>
        </p:spPr>
      </p:sp>
      <p:sp>
        <p:nvSpPr>
          <p:cNvPr id="6" name="Shape 3"/>
          <p:cNvSpPr/>
          <p:nvPr/>
        </p:nvSpPr>
        <p:spPr>
          <a:xfrm>
            <a:off x="566928" y="5074920"/>
            <a:ext cx="64008" cy="1051560"/>
          </a:xfrm>
          <a:prstGeom prst="rect">
            <a:avLst/>
          </a:prstGeom>
          <a:solidFill>
            <a:srgbClr val="C96A12"/>
          </a:solidFill>
          <a:ln w="12700">
            <a:solidFill>
              <a:srgbClr val="C96A12"/>
            </a:solidFill>
            <a:prstDash val="solid"/>
          </a:ln>
        </p:spPr>
      </p:sp>
      <p:sp>
        <p:nvSpPr>
          <p:cNvPr id="7" name="Text 4"/>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Giới hạn kỹ thuật: </a:t>
            </a:r>
            <a:pPr indent="0" marL="0">
              <a:lnSpc>
                <a:spcPts val="1900"/>
              </a:lnSpc>
              <a:buNone/>
            </a:pPr>
            <a:r>
              <a:rPr lang="en-US" sz="1300" dirty="0">
                <a:solidFill>
                  <a:srgbClr val="14233A"/>
                </a:solidFill>
                <a:latin typeface="Arial" pitchFamily="34" charset="0"/>
                <a:ea typeface="Arial" pitchFamily="34" charset="-122"/>
                <a:cs typeface="Arial" pitchFamily="34" charset="-120"/>
              </a:rPr>
              <a:t>Chỉ nhận .xls/.xlsx tối đa 10 MB. Chỉ đọc trang tính ĐẦU TIÊN. Không cần chọn loại danh mục — hệ thống tự nhận diện theo tên cột. Thứ tự cột không quan trọng, cột thừa bị bỏ qua. Tệp lớn (ICD ~50.000 dòng) xử lý được nhưng chờ tối đa 30 phút.</a:t>
            </a:r>
            <a:endParaRPr lang="en-US" sz="1300" dirty="0"/>
          </a:p>
        </p:txBody>
      </p:sp>
      <p:sp>
        <p:nvSpPr>
          <p:cNvPr id="9" name="Shape 5"/>
          <p:cNvSpPr/>
          <p:nvPr/>
        </p:nvSpPr>
        <p:spPr>
          <a:xfrm>
            <a:off x="566928" y="6382512"/>
            <a:ext cx="11057839" cy="0"/>
          </a:xfrm>
          <a:prstGeom prst="line">
            <a:avLst/>
          </a:prstGeom>
          <a:noFill/>
          <a:ln w="9525">
            <a:solidFill>
              <a:srgbClr val="D6E2EE"/>
            </a:solidFill>
            <a:prstDash val="solid"/>
          </a:ln>
        </p:spPr>
      </p:sp>
      <p:sp>
        <p:nvSpPr>
          <p:cNvPr id="10" name="Text 6"/>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1" name="Text 7"/>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60 / 80</a:t>
            </a:r>
            <a:endParaRPr lang="en-US" sz="8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07 / MỤC 4.5</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Bốn bộ theo cơ sở — nơi dễ sai nhất</a:t>
            </a:r>
            <a:endParaRPr lang="en-US" sz="2600" dirty="0"/>
          </a:p>
        </p:txBody>
      </p:sp>
      <p:sp>
        <p:nvSpPr>
          <p:cNvPr id="4" name="Text 2"/>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B6B7F"/>
                </a:solidFill>
                <a:latin typeface="Arial" pitchFamily="34" charset="0"/>
                <a:ea typeface="Arial" pitchFamily="34" charset="-122"/>
                <a:cs typeface="Arial" pitchFamily="34" charset="-120"/>
              </a:rPr>
              <a:t>Cột MA_CSKCB quyết định dòng thuộc cơ sở nào. Ba tình huống:</a:t>
            </a:r>
            <a:endParaRPr lang="en-US" sz="13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4644292"/>
                <a:gridCol w="6413547"/>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Tình huống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Kết quả</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Tệp có cột MA_CSKCB và có giá trị</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Giá trị TRONG TỆP được dùng, bất kể ô Cơ sở KCB trên màn hình chọn gì</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Tệp không có cột MA_CSKCB (hoặc ô trống) và trên màn hình đã chọn một cơ sở</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Hệ thống điền mã cơ sở đã chọn cho những dòng bỏ trống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Tệp không có MA_CSKCB và màn hình để "Dùng chung cho mọi cơ sở"</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b="1" dirty="0">
                          <a:solidFill>
                            <a:srgbClr val="C62828"/>
                          </a:solidFill>
                          <a:latin typeface="Arial" pitchFamily="34" charset="0"/>
                          <a:ea typeface="Arial" pitchFamily="34" charset="-122"/>
                          <a:cs typeface="Arial" pitchFamily="34" charset="-120"/>
                        </a:rPr>
                        <a:t>Dòng được ghi là dùng chung — có hiệu lực với MỌI cơ sở</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bl>
          </a:graphicData>
        </a:graphic>
      </p:graphicFrame>
      <p:sp>
        <p:nvSpPr>
          <p:cNvPr id="6" name="Shape 3"/>
          <p:cNvSpPr/>
          <p:nvPr/>
        </p:nvSpPr>
        <p:spPr>
          <a:xfrm>
            <a:off x="566928" y="5074920"/>
            <a:ext cx="11057839" cy="1051560"/>
          </a:xfrm>
          <a:prstGeom prst="rect">
            <a:avLst/>
          </a:prstGeom>
          <a:solidFill>
            <a:srgbClr val="FDECEC"/>
          </a:solidFill>
          <a:ln w="12700">
            <a:solidFill>
              <a:srgbClr val="FDECEC"/>
            </a:solidFill>
            <a:prstDash val="solid"/>
          </a:ln>
        </p:spPr>
      </p:sp>
      <p:sp>
        <p:nvSpPr>
          <p:cNvPr id="7" name="Shape 4"/>
          <p:cNvSpPr/>
          <p:nvPr/>
        </p:nvSpPr>
        <p:spPr>
          <a:xfrm>
            <a:off x="566928" y="5074920"/>
            <a:ext cx="64008" cy="1051560"/>
          </a:xfrm>
          <a:prstGeom prst="rect">
            <a:avLst/>
          </a:prstGeom>
          <a:solidFill>
            <a:srgbClr val="C62828"/>
          </a:solidFill>
          <a:ln w="12700">
            <a:solidFill>
              <a:srgbClr val="C62828"/>
            </a:solidFill>
            <a:prstDash val="solid"/>
          </a:ln>
        </p:spPr>
      </p:sp>
      <p:sp>
        <p:nvSpPr>
          <p:cNvPr id="8" name="Text 5"/>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Hậu quả của việc quên chọn cơ sở: </a:t>
            </a:r>
            <a:pPr indent="0" marL="0">
              <a:lnSpc>
                <a:spcPts val="1900"/>
              </a:lnSpc>
              <a:buNone/>
            </a:pPr>
            <a:r>
              <a:rPr lang="en-US" sz="1300" dirty="0">
                <a:solidFill>
                  <a:srgbClr val="14233A"/>
                </a:solidFill>
                <a:latin typeface="Arial" pitchFamily="34" charset="0"/>
                <a:ea typeface="Arial" pitchFamily="34" charset="-122"/>
                <a:cs typeface="Arial" pitchFamily="34" charset="-120"/>
              </a:rPr>
              <a:t>Toàn bộ dữ liệu vào dạng dùng chung và áp cho tất cả các cơ sở — giá dịch vụ của cơ sở này bị áp nhầm cho cơ sở khác. Luôn chọn đúng Cơ sở KCB TRƯỚC khi kéo tệp vào.</a:t>
            </a:r>
            <a:endParaRPr lang="en-US" sz="1300" dirty="0"/>
          </a:p>
        </p:txBody>
      </p:sp>
      <p:sp>
        <p:nvSpPr>
          <p:cNvPr id="10" name="Shape 6"/>
          <p:cNvSpPr/>
          <p:nvPr/>
        </p:nvSpPr>
        <p:spPr>
          <a:xfrm>
            <a:off x="566928" y="6382512"/>
            <a:ext cx="11057839" cy="0"/>
          </a:xfrm>
          <a:prstGeom prst="line">
            <a:avLst/>
          </a:prstGeom>
          <a:noFill/>
          <a:ln w="9525">
            <a:solidFill>
              <a:srgbClr val="D6E2EE"/>
            </a:solidFill>
            <a:prstDash val="solid"/>
          </a:ln>
        </p:spPr>
      </p:sp>
      <p:sp>
        <p:nvSpPr>
          <p:cNvPr id="11" name="Text 7"/>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2" name="Text 8"/>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61 / 80</a:t>
            </a:r>
            <a:endParaRPr lang="en-US" sz="8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07 / MỤC 4.4.2 VÀ 4.7</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Hai thao tác có thể gây hậu quả lớn</a:t>
            </a:r>
            <a:endParaRPr lang="en-US" sz="2600" dirty="0"/>
          </a:p>
        </p:txBody>
      </p:sp>
      <p:sp>
        <p:nvSpPr>
          <p:cNvPr id="4" name="Shape 2"/>
          <p:cNvSpPr/>
          <p:nvPr/>
        </p:nvSpPr>
        <p:spPr>
          <a:xfrm>
            <a:off x="566928" y="1325880"/>
            <a:ext cx="5364328" cy="4800600"/>
          </a:xfrm>
          <a:prstGeom prst="rect">
            <a:avLst/>
          </a:prstGeom>
          <a:solidFill>
            <a:srgbClr val="FFFFFF"/>
          </a:solidFill>
          <a:ln w="12700">
            <a:solidFill>
              <a:srgbClr val="D6E2EE"/>
            </a:solidFill>
            <a:prstDash val="solid"/>
          </a:ln>
        </p:spPr>
      </p:sp>
      <p:sp>
        <p:nvSpPr>
          <p:cNvPr id="5" name="Shape 3"/>
          <p:cNvSpPr/>
          <p:nvPr/>
        </p:nvSpPr>
        <p:spPr>
          <a:xfrm>
            <a:off x="566928" y="1325880"/>
            <a:ext cx="5364328" cy="457200"/>
          </a:xfrm>
          <a:prstGeom prst="rect">
            <a:avLst/>
          </a:prstGeom>
          <a:solidFill>
            <a:srgbClr val="2E7D32"/>
          </a:solidFill>
          <a:ln w="12700">
            <a:solidFill>
              <a:srgbClr val="2E7D32"/>
            </a:solidFill>
            <a:prstDash val="solid"/>
          </a:ln>
        </p:spPr>
      </p:sp>
      <p:sp>
        <p:nvSpPr>
          <p:cNvPr id="6" name="Text 4"/>
          <p:cNvSpPr/>
          <p:nvPr/>
        </p:nvSpPr>
        <p:spPr>
          <a:xfrm>
            <a:off x="731520" y="1325880"/>
            <a:ext cx="5035144"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THAY THẾ TRỌN BỘ — Đơn vị hành chính và Cơ sở KCB</a:t>
            </a:r>
            <a:endParaRPr lang="en-US" sz="1500" dirty="0"/>
          </a:p>
        </p:txBody>
      </p:sp>
      <p:sp>
        <p:nvSpPr>
          <p:cNvPr id="7" name="Text 5"/>
          <p:cNvSpPr/>
          <p:nvPr/>
        </p:nvSpPr>
        <p:spPr>
          <a:xfrm>
            <a:off x="768096" y="1929384"/>
            <a:ext cx="4961992" cy="4050792"/>
          </a:xfrm>
          <a:prstGeom prst="rect">
            <a:avLst/>
          </a:prstGeom>
          <a:noFill/>
          <a:ln/>
        </p:spPr>
        <p:txBody>
          <a:bodyPr wrap="square" rtlCol="0" anchor="t"/>
          <a:lstStyle/>
          <a:p>
            <a:pPr marL="342900" indent="-342900">
              <a:lnSpc>
                <a:spcPts val="1900"/>
              </a:lnSpc>
              <a:spcAft>
                <a:spcPts val="900"/>
              </a:spcAft>
              <a:buSzPct val="100000"/>
              <a:buChar char="▪"/>
            </a:pPr>
            <a:r>
              <a:rPr lang="en-US" sz="1350" dirty="0">
                <a:solidFill>
                  <a:srgbClr val="14233A"/>
                </a:solidFill>
                <a:latin typeface="Arial" pitchFamily="34" charset="0"/>
                <a:ea typeface="Arial" pitchFamily="34" charset="-122"/>
                <a:cs typeface="Arial" pitchFamily="34" charset="-120"/>
              </a:rPr>
              <a:t>Hai bộ này nhập theo kiểu thay thế trọn bộ: toàn bộ dữ liệu cũ bị vô hiệu hoá, chỉ các dòng có trong tệp mới được kích hoạt lại</a:t>
            </a:r>
            <a:endParaRPr lang="en-US" sz="1350" dirty="0"/>
          </a:p>
          <a:p>
            <a:pPr marL="342900" indent="-342900">
              <a:lnSpc>
                <a:spcPts val="1900"/>
              </a:lnSpc>
              <a:spcAft>
                <a:spcPts val="900"/>
              </a:spcAft>
              <a:buSzPct val="100000"/>
              <a:buChar char="▪"/>
            </a:pPr>
            <a:r>
              <a:rPr lang="en-US" sz="1350" dirty="0">
                <a:solidFill>
                  <a:srgbClr val="14233A"/>
                </a:solidFill>
                <a:latin typeface="Arial" pitchFamily="34" charset="0"/>
                <a:ea typeface="Arial" pitchFamily="34" charset="-122"/>
                <a:cs typeface="Arial" pitchFamily="34" charset="-120"/>
              </a:rPr>
              <a:t>Nhập một tệp thiếu dữ liệu → những đơn vị không có trong tệp BIẾN MẤT khỏi hệ thống</a:t>
            </a:r>
            <a:endParaRPr lang="en-US" sz="1350" dirty="0"/>
          </a:p>
          <a:p>
            <a:pPr marL="342900" indent="-342900">
              <a:lnSpc>
                <a:spcPts val="1900"/>
              </a:lnSpc>
              <a:spcAft>
                <a:spcPts val="900"/>
              </a:spcAft>
              <a:buSzPct val="100000"/>
              <a:buChar char="▪"/>
            </a:pPr>
            <a:r>
              <a:rPr lang="en-US" sz="1350" dirty="0">
                <a:solidFill>
                  <a:srgbClr val="14233A"/>
                </a:solidFill>
                <a:latin typeface="Arial" pitchFamily="34" charset="0"/>
                <a:ea typeface="Arial" pitchFamily="34" charset="-122"/>
                <a:cs typeface="Arial" pitchFamily="34" charset="-120"/>
              </a:rPr>
              <a:t>Luôn nhập tệp đầy đủ của toàn quốc, không nhập tệp đã cắt bớt</a:t>
            </a:r>
            <a:endParaRPr lang="en-US" sz="1350" dirty="0"/>
          </a:p>
          <a:p>
            <a:pPr marL="342900" indent="-342900">
              <a:lnSpc>
                <a:spcPts val="1900"/>
              </a:lnSpc>
              <a:spcAft>
                <a:spcPts val="900"/>
              </a:spcAft>
              <a:buSzPct val="100000"/>
              <a:buChar char="▪"/>
            </a:pPr>
            <a:r>
              <a:rPr lang="en-US" sz="1350" dirty="0">
                <a:solidFill>
                  <a:srgbClr val="14233A"/>
                </a:solidFill>
                <a:latin typeface="Arial" pitchFamily="34" charset="0"/>
                <a:ea typeface="Arial" pitchFamily="34" charset="-122"/>
                <a:cs typeface="Arial" pitchFamily="34" charset="-120"/>
              </a:rPr>
              <a:t>Danh mục hành chính hai cấp (từ 2025): 3.321 xã thuộc 34 tỉnh, không còn cấp huyện. Việc chuyển đổi làm MỘT LẦN bằng lệnh riêng, không nhập qua màn hình này</a:t>
            </a:r>
            <a:endParaRPr lang="en-US" sz="1350" dirty="0"/>
          </a:p>
        </p:txBody>
      </p:sp>
      <p:sp>
        <p:nvSpPr>
          <p:cNvPr id="8" name="Shape 6"/>
          <p:cNvSpPr/>
          <p:nvPr/>
        </p:nvSpPr>
        <p:spPr>
          <a:xfrm>
            <a:off x="6260440" y="1325880"/>
            <a:ext cx="5364328" cy="4800600"/>
          </a:xfrm>
          <a:prstGeom prst="rect">
            <a:avLst/>
          </a:prstGeom>
          <a:solidFill>
            <a:srgbClr val="FFFFFF"/>
          </a:solidFill>
          <a:ln w="12700">
            <a:solidFill>
              <a:srgbClr val="D6E2EE"/>
            </a:solidFill>
            <a:prstDash val="solid"/>
          </a:ln>
        </p:spPr>
      </p:sp>
      <p:sp>
        <p:nvSpPr>
          <p:cNvPr id="9" name="Shape 7"/>
          <p:cNvSpPr/>
          <p:nvPr/>
        </p:nvSpPr>
        <p:spPr>
          <a:xfrm>
            <a:off x="6260440" y="1325880"/>
            <a:ext cx="5364328" cy="457200"/>
          </a:xfrm>
          <a:prstGeom prst="rect">
            <a:avLst/>
          </a:prstGeom>
          <a:solidFill>
            <a:srgbClr val="1A5EA8"/>
          </a:solidFill>
          <a:ln w="12700">
            <a:solidFill>
              <a:srgbClr val="1A5EA8"/>
            </a:solidFill>
            <a:prstDash val="solid"/>
          </a:ln>
        </p:spPr>
      </p:sp>
      <p:sp>
        <p:nvSpPr>
          <p:cNvPr id="10" name="Text 8"/>
          <p:cNvSpPr/>
          <p:nvPr/>
        </p:nvSpPr>
        <p:spPr>
          <a:xfrm>
            <a:off x="6425032" y="1325880"/>
            <a:ext cx="5035144"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XOÁ TOÀN BỘ MỘT DANH MỤC</a:t>
            </a:r>
            <a:endParaRPr lang="en-US" sz="1500" dirty="0"/>
          </a:p>
        </p:txBody>
      </p:sp>
      <p:sp>
        <p:nvSpPr>
          <p:cNvPr id="11" name="Text 9"/>
          <p:cNvSpPr/>
          <p:nvPr/>
        </p:nvSpPr>
        <p:spPr>
          <a:xfrm>
            <a:off x="6461608" y="1929384"/>
            <a:ext cx="4961992" cy="4050792"/>
          </a:xfrm>
          <a:prstGeom prst="rect">
            <a:avLst/>
          </a:prstGeom>
          <a:noFill/>
          <a:ln/>
        </p:spPr>
        <p:txBody>
          <a:bodyPr wrap="square" rtlCol="0" anchor="t"/>
          <a:lstStyle/>
          <a:p>
            <a:pPr marL="342900" indent="-342900">
              <a:lnSpc>
                <a:spcPts val="1900"/>
              </a:lnSpc>
              <a:spcAft>
                <a:spcPts val="900"/>
              </a:spcAft>
              <a:buSzPct val="100000"/>
              <a:buChar char="▪"/>
            </a:pPr>
            <a:r>
              <a:rPr lang="en-US" sz="1350" dirty="0">
                <a:solidFill>
                  <a:srgbClr val="14233A"/>
                </a:solidFill>
                <a:latin typeface="Arial" pitchFamily="34" charset="0"/>
                <a:ea typeface="Arial" pitchFamily="34" charset="-122"/>
                <a:cs typeface="Arial" pitchFamily="34" charset="-120"/>
              </a:rPr>
              <a:t>Nằm ở cuối màn Nhập khẩu danh mục, trong khung viền đỏ, chỉ hiện với tài khoản quản trị cao nhất</a:t>
            </a:r>
            <a:endParaRPr lang="en-US" sz="1350" dirty="0"/>
          </a:p>
          <a:p>
            <a:pPr marL="342900" indent="-342900">
              <a:lnSpc>
                <a:spcPts val="1900"/>
              </a:lnSpc>
              <a:spcAft>
                <a:spcPts val="900"/>
              </a:spcAft>
              <a:buSzPct val="100000"/>
              <a:buChar char="▪"/>
            </a:pPr>
            <a:r>
              <a:rPr lang="en-US" sz="1350" dirty="0">
                <a:solidFill>
                  <a:srgbClr val="14233A"/>
                </a:solidFill>
                <a:latin typeface="Arial" pitchFamily="34" charset="0"/>
                <a:ea typeface="Arial" pitchFamily="34" charset="-122"/>
                <a:cs typeface="Arial" pitchFamily="34" charset="-120"/>
              </a:rPr>
              <a:t>Bốn bước: chọn bộ → bấm Đếm số dòng sẽ xoá → gõ chữ XOA (viết hoa, không dấu) → bấm Xoá</a:t>
            </a:r>
            <a:endParaRPr lang="en-US" sz="1350" dirty="0"/>
          </a:p>
          <a:p>
            <a:pPr marL="342900" indent="-342900">
              <a:lnSpc>
                <a:spcPts val="1900"/>
              </a:lnSpc>
              <a:spcAft>
                <a:spcPts val="900"/>
              </a:spcAft>
              <a:buSzPct val="100000"/>
              <a:buChar char="▪"/>
            </a:pPr>
            <a:r>
              <a:rPr lang="en-US" sz="1350" dirty="0">
                <a:solidFill>
                  <a:srgbClr val="14233A"/>
                </a:solidFill>
                <a:latin typeface="Arial" pitchFamily="34" charset="0"/>
                <a:ea typeface="Arial" pitchFamily="34" charset="-122"/>
                <a:cs typeface="Arial" pitchFamily="34" charset="-120"/>
              </a:rPr>
              <a:t>CHỈ xoá khi tệp thay thế đã sẵn sàng trong tay</a:t>
            </a:r>
            <a:endParaRPr lang="en-US" sz="1350" dirty="0"/>
          </a:p>
          <a:p>
            <a:pPr marL="342900" indent="-342900">
              <a:lnSpc>
                <a:spcPts val="1900"/>
              </a:lnSpc>
              <a:spcAft>
                <a:spcPts val="900"/>
              </a:spcAft>
              <a:buSzPct val="100000"/>
              <a:buChar char="▪"/>
            </a:pPr>
            <a:r>
              <a:rPr lang="en-US" sz="1350" dirty="0">
                <a:solidFill>
                  <a:srgbClr val="14233A"/>
                </a:solidFill>
                <a:latin typeface="Arial" pitchFamily="34" charset="0"/>
                <a:ea typeface="Arial" pitchFamily="34" charset="-122"/>
                <a:cs typeface="Arial" pitchFamily="34" charset="-120"/>
              </a:rPr>
              <a:t>Hậu quả thực tế đã ghi nhận trong lúc danh mục trống: hồ sơ XML báo lỗi hàng loạt và bộ kiểm y lệnh sinh hơn 36.000 vi phạm giả chỉ trong vài lượt quét</a:t>
            </a:r>
            <a:endParaRPr lang="en-US" sz="1350" dirty="0"/>
          </a:p>
        </p:txBody>
      </p:sp>
      <p:sp>
        <p:nvSpPr>
          <p:cNvPr id="13" name="Shape 10"/>
          <p:cNvSpPr/>
          <p:nvPr/>
        </p:nvSpPr>
        <p:spPr>
          <a:xfrm>
            <a:off x="566928" y="6382512"/>
            <a:ext cx="11057839" cy="0"/>
          </a:xfrm>
          <a:prstGeom prst="line">
            <a:avLst/>
          </a:prstGeom>
          <a:noFill/>
          <a:ln w="9525">
            <a:solidFill>
              <a:srgbClr val="D6E2EE"/>
            </a:solidFill>
            <a:prstDash val="solid"/>
          </a:ln>
        </p:spPr>
      </p:sp>
      <p:sp>
        <p:nvSpPr>
          <p:cNvPr id="14" name="Text 11"/>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5" name="Text 12"/>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62 / 80</a:t>
            </a:r>
            <a:endParaRPr lang="en-US" sz="8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A9FD8"/>
          </a:solidFill>
          <a:ln w="12700">
            <a:solidFill>
              <a:srgbClr val="2A9FD8"/>
            </a:solidFill>
            <a:prstDash val="solid"/>
          </a:ln>
        </p:spPr>
      </p:sp>
      <p:sp>
        <p:nvSpPr>
          <p:cNvPr id="3" name="Text 1"/>
          <p:cNvSpPr/>
          <p:nvPr/>
        </p:nvSpPr>
        <p:spPr>
          <a:xfrm>
            <a:off x="822960" y="2011680"/>
            <a:ext cx="1828800" cy="1371600"/>
          </a:xfrm>
          <a:prstGeom prst="rect">
            <a:avLst/>
          </a:prstGeom>
          <a:noFill/>
          <a:ln/>
        </p:spPr>
        <p:txBody>
          <a:bodyPr wrap="square" rtlCol="0" anchor="ctr"/>
          <a:lstStyle/>
          <a:p>
            <a:pPr indent="0" marL="0">
              <a:buNone/>
            </a:pPr>
            <a:r>
              <a:rPr lang="en-US" sz="8000" b="1" dirty="0">
                <a:solidFill>
                  <a:srgbClr val="2A9FD8"/>
                </a:solidFill>
                <a:latin typeface="Arial" pitchFamily="34" charset="0"/>
                <a:ea typeface="Arial" pitchFamily="34" charset="-122"/>
                <a:cs typeface="Arial" pitchFamily="34" charset="-120"/>
              </a:rPr>
              <a:t>08</a:t>
            </a:r>
            <a:endParaRPr lang="en-US" sz="8000" dirty="0"/>
          </a:p>
        </p:txBody>
      </p:sp>
      <p:sp>
        <p:nvSpPr>
          <p:cNvPr id="4" name="Text 2"/>
          <p:cNvSpPr/>
          <p:nvPr/>
        </p:nvSpPr>
        <p:spPr>
          <a:xfrm>
            <a:off x="2651760" y="2148840"/>
            <a:ext cx="8808415" cy="9144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Chứng từ điện tử theo Phụ lục 02</a:t>
            </a:r>
            <a:endParaRPr lang="en-US" sz="3200" dirty="0"/>
          </a:p>
        </p:txBody>
      </p:sp>
      <p:sp>
        <p:nvSpPr>
          <p:cNvPr id="5" name="Text 3"/>
          <p:cNvSpPr/>
          <p:nvPr/>
        </p:nvSpPr>
        <p:spPr>
          <a:xfrm>
            <a:off x="2651760" y="3108960"/>
            <a:ext cx="8808415" cy="822960"/>
          </a:xfrm>
          <a:prstGeom prst="rect">
            <a:avLst/>
          </a:prstGeom>
          <a:noFill/>
          <a:ln/>
        </p:spPr>
        <p:txBody>
          <a:bodyPr wrap="square" rtlCol="0" anchor="t"/>
          <a:lstStyle/>
          <a:p>
            <a:pPr indent="0" marL="0">
              <a:lnSpc>
                <a:spcPts val="2200"/>
              </a:lnSpc>
              <a:buNone/>
            </a:pPr>
            <a:r>
              <a:rPr lang="en-US" sz="1500" dirty="0">
                <a:solidFill>
                  <a:srgbClr val="A9C4DC"/>
                </a:solidFill>
                <a:latin typeface="Arial" pitchFamily="34" charset="0"/>
                <a:ea typeface="Arial" pitchFamily="34" charset="-122"/>
                <a:cs typeface="Arial" pitchFamily="34" charset="-120"/>
              </a:rPr>
              <a:t>Giấy ra viện, chứng sinh, báo tử, nghỉ hưởng BHXH · Chín trạng thái gửi · Chống gửi trùng</a:t>
            </a:r>
            <a:endParaRPr lang="en-US" sz="15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08 / MỤC 6.1 – 6.2</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Điểm khác biệt quyết định cách dùng màn hình này</a:t>
            </a:r>
            <a:endParaRPr lang="en-US" sz="2600" dirty="0"/>
          </a:p>
        </p:txBody>
      </p:sp>
      <p:sp>
        <p:nvSpPr>
          <p:cNvPr id="4" name="Text 2"/>
          <p:cNvSpPr/>
          <p:nvPr/>
        </p:nvSpPr>
        <p:spPr>
          <a:xfrm>
            <a:off x="566928" y="1325880"/>
            <a:ext cx="11057839" cy="4114800"/>
          </a:xfrm>
          <a:prstGeom prst="rect">
            <a:avLst/>
          </a:prstGeom>
          <a:noFill/>
          <a:ln/>
        </p:spPr>
        <p:txBody>
          <a:bodyPr wrap="square" rtlCol="0" anchor="t"/>
          <a:lstStyle/>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Nhận tệp XML do phần mềm nghiệp vụ sinh ra, kiểm tra dữ liệu, ký số, gửi lên cổng và theo dõi kết quả</a:t>
            </a:r>
            <a:endParaRPr lang="en-US" sz="1600" dirty="0"/>
          </a:p>
          <a:p>
            <a:pPr marL="342900" indent="-342900">
              <a:lnSpc>
                <a:spcPts val="2400"/>
              </a:lnSpc>
              <a:spcAft>
                <a:spcPts val="200"/>
              </a:spcAft>
              <a:buSzPct val="100000"/>
              <a:buChar char="▪"/>
            </a:pPr>
            <a:r>
              <a:rPr lang="en-US" sz="1600" b="1" dirty="0">
                <a:solidFill>
                  <a:srgbClr val="C62828"/>
                </a:solidFill>
                <a:latin typeface="Arial" pitchFamily="34" charset="0"/>
                <a:ea typeface="Arial" pitchFamily="34" charset="-122"/>
                <a:cs typeface="Arial" pitchFamily="34" charset="-120"/>
              </a:rPr>
              <a:t>Chứng từ Phụ lục 02 KHÔNG mang mã giao dịch do phần mềm tự sinh khi gửi</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   Nghĩa là gửi hai lần thì cổng ghi nhận thành HAI chứng từ — cổng không có căn cứ nhận ra bản trùng</a:t>
            </a:r>
            <a:endParaRPr lang="en-US" sz="1600" dirty="0"/>
          </a:p>
          <a:p>
            <a:pPr marL="342900" indent="-342900">
              <a:lnSpc>
                <a:spcPts val="2400"/>
              </a:lnSpc>
              <a:spcAft>
                <a:spcPts val="1000"/>
              </a:spcAft>
              <a:buSzPct val="100000"/>
              <a:buChar char="▪"/>
            </a:pPr>
            <a:r>
              <a:rPr lang="en-US" sz="1600" b="1" dirty="0">
                <a:solidFill>
                  <a:srgbClr val="1F4E79"/>
                </a:solidFill>
                <a:latin typeface="Arial" pitchFamily="34" charset="0"/>
                <a:ea typeface="Arial" pitchFamily="34" charset="-122"/>
                <a:cs typeface="Arial" pitchFamily="34" charset="-120"/>
              </a:rPr>
              <a:t>Vì vậy toàn bộ màn hình được thiết kế theo hướng "thà không gửi còn hơn gửi trùng"</a:t>
            </a:r>
            <a:endParaRPr lang="en-US" sz="1600" dirty="0"/>
          </a:p>
          <a:p>
            <a:pPr marL="342900" indent="-342900">
              <a:lnSpc>
                <a:spcPts val="2400"/>
              </a:lnSpc>
              <a:spcAft>
                <a:spcPts val="200"/>
              </a:spcAft>
              <a:buSzPct val="100000"/>
              <a:buChar char="▪"/>
            </a:pPr>
            <a:r>
              <a:rPr lang="en-US" sz="1600" b="1" dirty="0">
                <a:solidFill>
                  <a:srgbClr val="14233A"/>
                </a:solidFill>
                <a:latin typeface="Arial" pitchFamily="34" charset="0"/>
                <a:ea typeface="Arial" pitchFamily="34" charset="-122"/>
                <a:cs typeface="Arial" pitchFamily="34" charset="-120"/>
              </a:rPr>
              <a:t>Ba dịch vụ liên thông, ba đầu mối tiếp nhận khác nhau:</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   Chứng từ TT25/2025 (giấy nghỉ việc hưởng BHXH, giấy ra viện, giấy chuyển tuyến…) · Giấy chứng sinh · Giấy báo tử</a:t>
            </a:r>
            <a:endParaRPr lang="en-US" sz="1600" dirty="0"/>
          </a:p>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Quyền cần có: xml-man — cùng quyền với XML 3176</a:t>
            </a:r>
            <a:endParaRPr lang="en-US" sz="1600" dirty="0"/>
          </a:p>
        </p:txBody>
      </p:sp>
      <p:sp>
        <p:nvSpPr>
          <p:cNvPr id="5" name="Shape 3"/>
          <p:cNvSpPr/>
          <p:nvPr/>
        </p:nvSpPr>
        <p:spPr>
          <a:xfrm>
            <a:off x="566928" y="5074920"/>
            <a:ext cx="11057839" cy="1051560"/>
          </a:xfrm>
          <a:prstGeom prst="rect">
            <a:avLst/>
          </a:prstGeom>
          <a:solidFill>
            <a:srgbClr val="FDECEC"/>
          </a:solidFill>
          <a:ln w="12700">
            <a:solidFill>
              <a:srgbClr val="FDECEC"/>
            </a:solidFill>
            <a:prstDash val="solid"/>
          </a:ln>
        </p:spPr>
      </p:sp>
      <p:sp>
        <p:nvSpPr>
          <p:cNvPr id="6" name="Shape 4"/>
          <p:cNvSpPr/>
          <p:nvPr/>
        </p:nvSpPr>
        <p:spPr>
          <a:xfrm>
            <a:off x="566928" y="5074920"/>
            <a:ext cx="64008" cy="1051560"/>
          </a:xfrm>
          <a:prstGeom prst="rect">
            <a:avLst/>
          </a:prstGeom>
          <a:solidFill>
            <a:srgbClr val="C62828"/>
          </a:solidFill>
          <a:ln w="12700">
            <a:solidFill>
              <a:srgbClr val="C62828"/>
            </a:solidFill>
            <a:prstDash val="solid"/>
          </a:ln>
        </p:spPr>
      </p:sp>
      <p:sp>
        <p:nvSpPr>
          <p:cNvPr id="7" name="Text 5"/>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Không có đường rút lại: </a:t>
            </a:r>
            <a:pPr indent="0" marL="0">
              <a:lnSpc>
                <a:spcPts val="1900"/>
              </a:lnSpc>
              <a:buNone/>
            </a:pPr>
            <a:r>
              <a:rPr lang="en-US" sz="1300" dirty="0">
                <a:solidFill>
                  <a:srgbClr val="14233A"/>
                </a:solidFill>
                <a:latin typeface="Arial" pitchFamily="34" charset="0"/>
                <a:ea typeface="Arial" pitchFamily="34" charset="-122"/>
                <a:cs typeface="Arial" pitchFamily="34" charset="-120"/>
              </a:rPr>
              <a:t>Cổng nhận là nhận thật. Chứng từ đã được cổng tiếp nhận thì việc sửa sai phải làm theo quy trình nghiệp vụ với cơ quan bảo hiểm, không phải bằng thao tác trên phần mềm. Đối chiếu kỹ trước khi bấm gửi.</a:t>
            </a:r>
            <a:endParaRPr lang="en-US" sz="1300" dirty="0"/>
          </a:p>
        </p:txBody>
      </p:sp>
      <p:sp>
        <p:nvSpPr>
          <p:cNvPr id="9" name="Shape 6"/>
          <p:cNvSpPr/>
          <p:nvPr/>
        </p:nvSpPr>
        <p:spPr>
          <a:xfrm>
            <a:off x="566928" y="6382512"/>
            <a:ext cx="11057839" cy="0"/>
          </a:xfrm>
          <a:prstGeom prst="line">
            <a:avLst/>
          </a:prstGeom>
          <a:noFill/>
          <a:ln w="9525">
            <a:solidFill>
              <a:srgbClr val="D6E2EE"/>
            </a:solidFill>
            <a:prstDash val="solid"/>
          </a:ln>
        </p:spPr>
      </p:sp>
      <p:sp>
        <p:nvSpPr>
          <p:cNvPr id="10" name="Text 7"/>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1" name="Text 8"/>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64 / 80</a:t>
            </a:r>
            <a:endParaRPr lang="en-US" sz="8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08 / MỤC 6.5</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Chín trạng thái gửi — đọc trước tiên khi hồ sơ chưa lên cổng</a:t>
            </a:r>
            <a:endParaRPr lang="en-US" sz="2600" dirty="0"/>
          </a:p>
        </p:txBody>
      </p:sp>
      <p:sp>
        <p:nvSpPr>
          <p:cNvPr id="4" name="Text 2"/>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B6B7F"/>
                </a:solidFill>
                <a:latin typeface="Arial" pitchFamily="34" charset="0"/>
                <a:ea typeface="Arial" pitchFamily="34" charset="-122"/>
                <a:cs typeface="Arial" pitchFamily="34" charset="-120"/>
              </a:rPr>
              <a:t>Có năm lý do khác nhau khiến hồ sơ chưa được gửi, mỗi lý do cần một người khác nhau xử lý.</a:t>
            </a:r>
            <a:endParaRPr lang="en-US" sz="13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2432725"/>
                <a:gridCol w="3759665"/>
                <a:gridCol w="4865449"/>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Trạng thái</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Nghĩa là gì</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Cần làm gì</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r>
              <a:tr h="0">
                <a:tc>
                  <a:txBody>
                    <a:bodyPr/>
                    <a:lstStyle/>
                    <a:p>
                      <a:pPr indent="0" marL="0">
                        <a:buNone/>
                      </a:pPr>
                      <a:r>
                        <a:rPr lang="en-US" sz="1100" b="1" dirty="0">
                          <a:solidFill>
                            <a:srgbClr val="14233A"/>
                          </a:solidFill>
                          <a:latin typeface="Arial" pitchFamily="34" charset="0"/>
                          <a:ea typeface="Arial" pitchFamily="34" charset="-122"/>
                          <a:cs typeface="Arial" pitchFamily="34" charset="-120"/>
                        </a:rPr>
                        <a:t>Chưa kiểm</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100" dirty="0">
                          <a:solidFill>
                            <a:srgbClr val="14233A"/>
                          </a:solidFill>
                          <a:latin typeface="Arial" pitchFamily="34" charset="0"/>
                          <a:ea typeface="Arial" pitchFamily="34" charset="-122"/>
                          <a:cs typeface="Arial" pitchFamily="34" charset="-120"/>
                        </a:rPr>
                        <a:t>Máy chưa kiểm tra dữ liệu của hồ sơ này</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100" dirty="0">
                          <a:solidFill>
                            <a:srgbClr val="14233A"/>
                          </a:solidFill>
                          <a:latin typeface="Arial" pitchFamily="34" charset="0"/>
                          <a:ea typeface="Arial" pitchFamily="34" charset="-122"/>
                          <a:cs typeface="Arial" pitchFamily="34" charset="-120"/>
                        </a:rPr>
                        <a:t>Chờ vài phút. Cả loạt đứng ở trạng thái này → báo CNTT kiểm tra tiến trình nền</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100" b="1" dirty="0">
                          <a:solidFill>
                            <a:srgbClr val="C62828"/>
                          </a:solidFill>
                          <a:latin typeface="Arial" pitchFamily="34" charset="0"/>
                          <a:ea typeface="Arial" pitchFamily="34" charset="-122"/>
                          <a:cs typeface="Arial" pitchFamily="34" charset="-120"/>
                        </a:rPr>
                        <a:t>Còn lỗi chặn</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100" dirty="0">
                          <a:solidFill>
                            <a:srgbClr val="14233A"/>
                          </a:solidFill>
                          <a:latin typeface="Arial" pitchFamily="34" charset="0"/>
                          <a:ea typeface="Arial" pitchFamily="34" charset="-122"/>
                          <a:cs typeface="Arial" pitchFamily="34" charset="-120"/>
                        </a:rPr>
                        <a:t>Đã kiểm và phát hiện lỗi mức chặn gửi</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100" dirty="0">
                          <a:solidFill>
                            <a:srgbClr val="14233A"/>
                          </a:solidFill>
                          <a:latin typeface="Arial" pitchFamily="34" charset="0"/>
                          <a:ea typeface="Arial" pitchFamily="34" charset="-122"/>
                          <a:cs typeface="Arial" pitchFamily="34" charset="-120"/>
                        </a:rPr>
                        <a:t>Mở chi tiết, xem tab Lỗi, sửa ở phần mềm sinh XML rồi nạp lại</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4233A"/>
                          </a:solidFill>
                          <a:latin typeface="Arial" pitchFamily="34" charset="0"/>
                          <a:ea typeface="Arial" pitchFamily="34" charset="-122"/>
                          <a:cs typeface="Arial" pitchFamily="34" charset="-120"/>
                        </a:rPr>
                        <a:t>Ký số thất bại</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100" dirty="0">
                          <a:solidFill>
                            <a:srgbClr val="14233A"/>
                          </a:solidFill>
                          <a:latin typeface="Arial" pitchFamily="34" charset="0"/>
                          <a:ea typeface="Arial" pitchFamily="34" charset="-122"/>
                          <a:cs typeface="Arial" pitchFamily="34" charset="-120"/>
                        </a:rPr>
                        <a:t>Đã thử ký nhưng không ký được</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100" dirty="0">
                          <a:solidFill>
                            <a:srgbClr val="14233A"/>
                          </a:solidFill>
                          <a:latin typeface="Arial" pitchFamily="34" charset="0"/>
                          <a:ea typeface="Arial" pitchFamily="34" charset="-122"/>
                          <a:cs typeface="Arial" pitchFamily="34" charset="-120"/>
                        </a:rPr>
                        <a:t>Xem dòng "Lỗi ký số" ở màn chi tiết. Thường do thiết bị ký chưa cắm</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100" b="1" dirty="0">
                          <a:solidFill>
                            <a:srgbClr val="14233A"/>
                          </a:solidFill>
                          <a:latin typeface="Arial" pitchFamily="34" charset="0"/>
                          <a:ea typeface="Arial" pitchFamily="34" charset="-122"/>
                          <a:cs typeface="Arial" pitchFamily="34" charset="-120"/>
                        </a:rPr>
                        <a:t>Chưa ký số</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100" dirty="0">
                          <a:solidFill>
                            <a:srgbClr val="14233A"/>
                          </a:solidFill>
                          <a:latin typeface="Arial" pitchFamily="34" charset="0"/>
                          <a:ea typeface="Arial" pitchFamily="34" charset="-122"/>
                          <a:cs typeface="Arial" pitchFamily="34" charset="-120"/>
                        </a:rPr>
                        <a:t>Hồ sơ đủ điều kiện nhưng chưa được ký</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100" dirty="0">
                          <a:solidFill>
                            <a:srgbClr val="14233A"/>
                          </a:solidFill>
                          <a:latin typeface="Arial" pitchFamily="34" charset="0"/>
                          <a:ea typeface="Arial" pitchFamily="34" charset="-122"/>
                          <a:cs typeface="Arial" pitchFamily="34" charset="-120"/>
                        </a:rPr>
                        <a:t>Mở chi tiết và bấm Ký và gửi</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4233A"/>
                          </a:solidFill>
                          <a:latin typeface="Arial" pitchFamily="34" charset="0"/>
                          <a:ea typeface="Arial" pitchFamily="34" charset="-122"/>
                          <a:cs typeface="Arial" pitchFamily="34" charset="-120"/>
                        </a:rPr>
                        <a:t>Chức năng gửi đang tắt</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100" dirty="0">
                          <a:solidFill>
                            <a:srgbClr val="14233A"/>
                          </a:solidFill>
                          <a:latin typeface="Arial" pitchFamily="34" charset="0"/>
                          <a:ea typeface="Arial" pitchFamily="34" charset="-122"/>
                          <a:cs typeface="Arial" pitchFamily="34" charset="-120"/>
                        </a:rPr>
                        <a:t>Cấu hình chặn mọi lượt gửi lên cổng</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100" dirty="0">
                          <a:solidFill>
                            <a:srgbClr val="14233A"/>
                          </a:solidFill>
                          <a:latin typeface="Arial" pitchFamily="34" charset="0"/>
                          <a:ea typeface="Arial" pitchFamily="34" charset="-122"/>
                          <a:cs typeface="Arial" pitchFamily="34" charset="-120"/>
                        </a:rPr>
                        <a:t>Báo quản trị hệ thống bật cấu hình gửi</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100" b="1" dirty="0">
                          <a:solidFill>
                            <a:srgbClr val="14233A"/>
                          </a:solidFill>
                          <a:latin typeface="Arial" pitchFamily="34" charset="0"/>
                          <a:ea typeface="Arial" pitchFamily="34" charset="-122"/>
                          <a:cs typeface="Arial" pitchFamily="34" charset="-120"/>
                        </a:rPr>
                        <a:t>Chờ gửi</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100" dirty="0">
                          <a:solidFill>
                            <a:srgbClr val="14233A"/>
                          </a:solidFill>
                          <a:latin typeface="Arial" pitchFamily="34" charset="0"/>
                          <a:ea typeface="Arial" pitchFamily="34" charset="-122"/>
                          <a:cs typeface="Arial" pitchFamily="34" charset="-120"/>
                        </a:rPr>
                        <a:t>Đã ký, đủ điều kiện, đang chờ đến lượt</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100" dirty="0">
                          <a:solidFill>
                            <a:srgbClr val="14233A"/>
                          </a:solidFill>
                          <a:latin typeface="Arial" pitchFamily="34" charset="0"/>
                          <a:ea typeface="Arial" pitchFamily="34" charset="-122"/>
                          <a:cs typeface="Arial" pitchFamily="34" charset="-120"/>
                        </a:rPr>
                        <a:t>Chờ. Quá lâu thì xem khối Ba hàng đợi trên Dashboard</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E7D32"/>
                          </a:solidFill>
                          <a:latin typeface="Arial" pitchFamily="34" charset="0"/>
                          <a:ea typeface="Arial" pitchFamily="34" charset="-122"/>
                          <a:cs typeface="Arial" pitchFamily="34" charset="-120"/>
                        </a:rPr>
                        <a:t>Đã gửi</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100" dirty="0">
                          <a:solidFill>
                            <a:srgbClr val="14233A"/>
                          </a:solidFill>
                          <a:latin typeface="Arial" pitchFamily="34" charset="0"/>
                          <a:ea typeface="Arial" pitchFamily="34" charset="-122"/>
                          <a:cs typeface="Arial" pitchFamily="34" charset="-120"/>
                        </a:rPr>
                        <a:t>Cổng đã tiếp nhận thành công, đã có mã giao dịch</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100" dirty="0">
                          <a:solidFill>
                            <a:srgbClr val="14233A"/>
                          </a:solidFill>
                          <a:latin typeface="Arial" pitchFamily="34" charset="0"/>
                          <a:ea typeface="Arial" pitchFamily="34" charset="-122"/>
                          <a:cs typeface="Arial" pitchFamily="34" charset="-120"/>
                        </a:rPr>
                        <a:t>Không cần làm gì</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100" b="1" dirty="0">
                          <a:solidFill>
                            <a:srgbClr val="C62828"/>
                          </a:solidFill>
                          <a:latin typeface="Arial" pitchFamily="34" charset="0"/>
                          <a:ea typeface="Arial" pitchFamily="34" charset="-122"/>
                          <a:cs typeface="Arial" pitchFamily="34" charset="-120"/>
                        </a:rPr>
                        <a:t>Cổng từ chối</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100" dirty="0">
                          <a:solidFill>
                            <a:srgbClr val="14233A"/>
                          </a:solidFill>
                          <a:latin typeface="Arial" pitchFamily="34" charset="0"/>
                          <a:ea typeface="Arial" pitchFamily="34" charset="-122"/>
                          <a:cs typeface="Arial" pitchFamily="34" charset="-120"/>
                        </a:rPr>
                        <a:t>Cổng đã trả lời nhưng từ chối tiếp nhận</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100" dirty="0">
                          <a:solidFill>
                            <a:srgbClr val="14233A"/>
                          </a:solidFill>
                          <a:latin typeface="Arial" pitchFamily="34" charset="0"/>
                          <a:ea typeface="Arial" pitchFamily="34" charset="-122"/>
                          <a:cs typeface="Arial" pitchFamily="34" charset="-120"/>
                        </a:rPr>
                        <a:t>Mở chi tiết, đọc mã kết quả và phản hồi của cổng</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4233A"/>
                          </a:solidFill>
                          <a:latin typeface="Arial" pitchFamily="34" charset="0"/>
                          <a:ea typeface="Arial" pitchFamily="34" charset="-122"/>
                          <a:cs typeface="Arial" pitchFamily="34" charset="-120"/>
                        </a:rPr>
                        <a:t>Gửi thất bại</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100" dirty="0">
                          <a:solidFill>
                            <a:srgbClr val="14233A"/>
                          </a:solidFill>
                          <a:latin typeface="Arial" pitchFamily="34" charset="0"/>
                          <a:ea typeface="Arial" pitchFamily="34" charset="-122"/>
                          <a:cs typeface="Arial" pitchFamily="34" charset="-120"/>
                        </a:rPr>
                        <a:t>Không gửi được, thường do lỗi mạng</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100" dirty="0">
                          <a:solidFill>
                            <a:srgbClr val="14233A"/>
                          </a:solidFill>
                          <a:latin typeface="Arial" pitchFamily="34" charset="0"/>
                          <a:ea typeface="Arial" pitchFamily="34" charset="-122"/>
                          <a:cs typeface="Arial" pitchFamily="34" charset="-120"/>
                        </a:rPr>
                        <a:t>Mở chi tiết đọc dòng "Lỗi gửi", gửi lại khi đường truyền ổn định</a:t>
                      </a:r>
                      <a:endParaRPr lang="en-US" sz="11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bl>
          </a:graphicData>
        </a:graphic>
      </p:graphicFrame>
      <p:sp>
        <p:nvSpPr>
          <p:cNvPr id="7" name="Shape 3"/>
          <p:cNvSpPr/>
          <p:nvPr/>
        </p:nvSpPr>
        <p:spPr>
          <a:xfrm>
            <a:off x="566928" y="6382512"/>
            <a:ext cx="11057839" cy="0"/>
          </a:xfrm>
          <a:prstGeom prst="line">
            <a:avLst/>
          </a:prstGeom>
          <a:noFill/>
          <a:ln w="9525">
            <a:solidFill>
              <a:srgbClr val="D6E2EE"/>
            </a:solidFill>
            <a:prstDash val="solid"/>
          </a:ln>
        </p:spPr>
      </p:sp>
      <p:sp>
        <p:nvSpPr>
          <p:cNvPr id="8" name="Text 4"/>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9" name="Text 5"/>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65 / 80</a:t>
            </a:r>
            <a:endParaRPr lang="en-US" sz="8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08 / MỤC 6.4.2</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Bẫy lớn nhất: cột Số lỗi bằng 0</a:t>
            </a:r>
            <a:endParaRPr lang="en-US" sz="2600" dirty="0"/>
          </a:p>
        </p:txBody>
      </p:sp>
      <p:pic>
        <p:nvPicPr>
          <p:cNvPr id="4" name="Image 0" descr="C:\Users\tracnn\qlbv\docs\dao-tao\anh\anh-04-ctdt-so-loi-bang-0.png">    </p:cNvPr>
          <p:cNvPicPr>
            <a:picLocks noChangeAspect="1"/>
          </p:cNvPicPr>
          <p:nvPr/>
        </p:nvPicPr>
        <p:blipFill>
          <a:blip r:embed="rId1"/>
          <a:stretch>
            <a:fillRect/>
          </a:stretch>
        </p:blipFill>
        <p:spPr>
          <a:xfrm>
            <a:off x="566928" y="1325880"/>
            <a:ext cx="7298174" cy="3649087"/>
          </a:xfrm>
          <a:prstGeom prst="rect">
            <a:avLst/>
          </a:prstGeom>
        </p:spPr>
      </p:pic>
      <p:sp>
        <p:nvSpPr>
          <p:cNvPr id="5" name="Shape 2"/>
          <p:cNvSpPr/>
          <p:nvPr/>
        </p:nvSpPr>
        <p:spPr>
          <a:xfrm>
            <a:off x="566928" y="1325880"/>
            <a:ext cx="7298174" cy="3649087"/>
          </a:xfrm>
          <a:prstGeom prst="rect">
            <a:avLst/>
          </a:prstGeom>
          <a:ln w="12700">
            <a:solidFill>
              <a:srgbClr val="D6E2EE"/>
            </a:solidFill>
            <a:prstDash val="solid"/>
          </a:ln>
        </p:spPr>
      </p:sp>
      <p:sp>
        <p:nvSpPr>
          <p:cNvPr id="6" name="Text 3"/>
          <p:cNvSpPr/>
          <p:nvPr/>
        </p:nvSpPr>
        <p:spPr>
          <a:xfrm>
            <a:off x="8139422" y="1325880"/>
            <a:ext cx="3485345" cy="3657600"/>
          </a:xfrm>
          <a:prstGeom prst="rect">
            <a:avLst/>
          </a:prstGeom>
          <a:noFill/>
          <a:ln/>
        </p:spPr>
        <p:txBody>
          <a:bodyPr wrap="square" rtlCol="0" anchor="t"/>
          <a:lstStyle/>
          <a:p>
            <a:pPr marL="342900" indent="-342900">
              <a:lnSpc>
                <a:spcPts val="1900"/>
              </a:lnSpc>
              <a:spcAft>
                <a:spcPts val="900"/>
              </a:spcAft>
              <a:buSzPct val="100000"/>
              <a:buChar char="▪"/>
            </a:pPr>
            <a:r>
              <a:rPr lang="en-US" sz="1300" dirty="0">
                <a:solidFill>
                  <a:srgbClr val="14233A"/>
                </a:solidFill>
                <a:latin typeface="Arial" pitchFamily="34" charset="0"/>
                <a:ea typeface="Arial" pitchFamily="34" charset="-122"/>
                <a:cs typeface="Arial" pitchFamily="34" charset="-120"/>
              </a:rPr>
              <a:t>Số lỗi = 0 KHÔNG có nghĩa là hồ sơ đã sạch</a:t>
            </a:r>
            <a:endParaRPr lang="en-US" sz="1300" dirty="0"/>
          </a:p>
          <a:p>
            <a:pPr marL="342900" indent="-342900">
              <a:lnSpc>
                <a:spcPts val="1900"/>
              </a:lnSpc>
              <a:spcAft>
                <a:spcPts val="900"/>
              </a:spcAft>
              <a:buSzPct val="100000"/>
              <a:buChar char="▪"/>
            </a:pPr>
            <a:r>
              <a:rPr lang="en-US" sz="1300" dirty="0">
                <a:solidFill>
                  <a:srgbClr val="14233A"/>
                </a:solidFill>
                <a:latin typeface="Arial" pitchFamily="34" charset="0"/>
                <a:ea typeface="Arial" pitchFamily="34" charset="-122"/>
                <a:cs typeface="Arial" pitchFamily="34" charset="-120"/>
              </a:rPr>
              <a:t>Nó chỉ có nghĩa đó khi cột Trạng thái gửi KHÁC "Chưa kiểm"</a:t>
            </a:r>
            <a:endParaRPr lang="en-US" sz="1300" dirty="0"/>
          </a:p>
          <a:p>
            <a:pPr marL="342900" indent="-342900">
              <a:lnSpc>
                <a:spcPts val="1900"/>
              </a:lnSpc>
              <a:spcAft>
                <a:spcPts val="900"/>
              </a:spcAft>
              <a:buSzPct val="100000"/>
              <a:buChar char="▪"/>
            </a:pPr>
            <a:r>
              <a:rPr lang="en-US" sz="1300" dirty="0">
                <a:solidFill>
                  <a:srgbClr val="14233A"/>
                </a:solidFill>
                <a:latin typeface="Arial" pitchFamily="34" charset="0"/>
                <a:ea typeface="Arial" pitchFamily="34" charset="-122"/>
                <a:cs typeface="Arial" pitchFamily="34" charset="-120"/>
              </a:rPr>
              <a:t>Hồ sơ vừa nạp chưa được kiểm thì đương nhiên chưa ghi nhận lỗi nào — số 0 lúc đó nghĩa là chưa ai nhìn</a:t>
            </a:r>
            <a:endParaRPr lang="en-US" sz="1300" dirty="0"/>
          </a:p>
          <a:p>
            <a:pPr marL="342900" indent="-342900">
              <a:lnSpc>
                <a:spcPts val="1900"/>
              </a:lnSpc>
              <a:spcAft>
                <a:spcPts val="900"/>
              </a:spcAft>
              <a:buSzPct val="100000"/>
              <a:buChar char="▪"/>
            </a:pPr>
            <a:r>
              <a:rPr lang="en-US" sz="1300" dirty="0">
                <a:solidFill>
                  <a:srgbClr val="14233A"/>
                </a:solidFill>
                <a:latin typeface="Arial" pitchFamily="34" charset="0"/>
                <a:ea typeface="Arial" pitchFamily="34" charset="-122"/>
                <a:cs typeface="Arial" pitchFamily="34" charset="-120"/>
              </a:rPr>
              <a:t>Luôn đọc HAI cột này cùng nhau</a:t>
            </a:r>
            <a:endParaRPr lang="en-US" sz="1300" dirty="0"/>
          </a:p>
          <a:p>
            <a:pPr marL="342900" indent="-342900">
              <a:lnSpc>
                <a:spcPts val="1900"/>
              </a:lnSpc>
              <a:spcAft>
                <a:spcPts val="900"/>
              </a:spcAft>
              <a:buSzPct val="100000"/>
              <a:buChar char="▪"/>
            </a:pPr>
            <a:r>
              <a:rPr lang="en-US" sz="1300" dirty="0">
                <a:solidFill>
                  <a:srgbClr val="14233A"/>
                </a:solidFill>
                <a:latin typeface="Arial" pitchFamily="34" charset="0"/>
                <a:ea typeface="Arial" pitchFamily="34" charset="-122"/>
                <a:cs typeface="Arial" pitchFamily="34" charset="-120"/>
              </a:rPr>
              <a:t>Cột Số lỗi chỉ đếm lỗi mức CHẶN; nhãn tab Lỗi ở màn chi tiết đếm cả cảnh báo nên thường lớn hơn — lệch nhau là bình thường</a:t>
            </a:r>
            <a:endParaRPr lang="en-US" sz="1300" dirty="0"/>
          </a:p>
        </p:txBody>
      </p:sp>
      <p:sp>
        <p:nvSpPr>
          <p:cNvPr id="7" name="Shape 4"/>
          <p:cNvSpPr/>
          <p:nvPr/>
        </p:nvSpPr>
        <p:spPr>
          <a:xfrm>
            <a:off x="566928" y="5074920"/>
            <a:ext cx="11057839" cy="1051560"/>
          </a:xfrm>
          <a:prstGeom prst="rect">
            <a:avLst/>
          </a:prstGeom>
          <a:solidFill>
            <a:srgbClr val="FFF4E6"/>
          </a:solidFill>
          <a:ln w="12700">
            <a:solidFill>
              <a:srgbClr val="FFF4E6"/>
            </a:solidFill>
            <a:prstDash val="solid"/>
          </a:ln>
        </p:spPr>
      </p:sp>
      <p:sp>
        <p:nvSpPr>
          <p:cNvPr id="8" name="Shape 5"/>
          <p:cNvSpPr/>
          <p:nvPr/>
        </p:nvSpPr>
        <p:spPr>
          <a:xfrm>
            <a:off x="566928" y="5074920"/>
            <a:ext cx="64008" cy="1051560"/>
          </a:xfrm>
          <a:prstGeom prst="rect">
            <a:avLst/>
          </a:prstGeom>
          <a:solidFill>
            <a:srgbClr val="C96A12"/>
          </a:solidFill>
          <a:ln w="12700">
            <a:solidFill>
              <a:srgbClr val="C96A12"/>
            </a:solidFill>
            <a:prstDash val="solid"/>
          </a:ln>
        </p:spPr>
      </p:sp>
      <p:sp>
        <p:nvSpPr>
          <p:cNvPr id="9" name="Text 6"/>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Về ba nút xuất Excel: </a:t>
            </a:r>
            <a:pPr indent="0" marL="0">
              <a:lnSpc>
                <a:spcPts val="1900"/>
              </a:lnSpc>
              <a:buNone/>
            </a:pPr>
            <a:r>
              <a:rPr lang="en-US" sz="1300" dirty="0">
                <a:solidFill>
                  <a:srgbClr val="14233A"/>
                </a:solidFill>
                <a:latin typeface="Arial" pitchFamily="34" charset="0"/>
                <a:ea typeface="Arial" pitchFamily="34" charset="-122"/>
                <a:cs typeface="Arial" pitchFamily="34" charset="-120"/>
              </a:rPr>
              <a:t>Ba nút dùng bộ lọc của lần Tải dữ liệu GẦN NHẤT, không phải bộ lọc đang hiện trên màn hình. Đổi ô lọc mà chưa bấm Tải dữ liệu thì tệp xuất ra vẫn theo bộ lọc cũ — đúng bằng những gì đang hiển thị.</a:t>
            </a:r>
            <a:endParaRPr lang="en-US" sz="1300" dirty="0"/>
          </a:p>
        </p:txBody>
      </p:sp>
      <p:sp>
        <p:nvSpPr>
          <p:cNvPr id="11" name="Shape 7"/>
          <p:cNvSpPr/>
          <p:nvPr/>
        </p:nvSpPr>
        <p:spPr>
          <a:xfrm>
            <a:off x="566928" y="6382512"/>
            <a:ext cx="11057839" cy="0"/>
          </a:xfrm>
          <a:prstGeom prst="line">
            <a:avLst/>
          </a:prstGeom>
          <a:noFill/>
          <a:ln w="9525">
            <a:solidFill>
              <a:srgbClr val="D6E2EE"/>
            </a:solidFill>
            <a:prstDash val="solid"/>
          </a:ln>
        </p:spPr>
      </p:sp>
      <p:sp>
        <p:nvSpPr>
          <p:cNvPr id="12" name="Text 8"/>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3" name="Text 9"/>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66 / 80</a:t>
            </a:r>
            <a:endParaRPr lang="en-US" sz="8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08 / MỤC 6.7.1 VÀ 6.7.5</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Ký và gửi — một hồ sơ và nhiều hồ sơ</a:t>
            </a:r>
            <a:endParaRPr lang="en-US" sz="2600" dirty="0"/>
          </a:p>
        </p:txBody>
      </p:sp>
      <p:sp>
        <p:nvSpPr>
          <p:cNvPr id="4" name="Shape 2"/>
          <p:cNvSpPr/>
          <p:nvPr/>
        </p:nvSpPr>
        <p:spPr>
          <a:xfrm>
            <a:off x="566928" y="1325880"/>
            <a:ext cx="11057839" cy="518160"/>
          </a:xfrm>
          <a:prstGeom prst="rect">
            <a:avLst/>
          </a:prstGeom>
          <a:solidFill>
            <a:srgbClr val="EEF3F8"/>
          </a:solidFill>
          <a:ln w="12700">
            <a:solidFill>
              <a:srgbClr val="D6E2EE"/>
            </a:solidFill>
            <a:prstDash val="solid"/>
          </a:ln>
        </p:spPr>
      </p:sp>
      <p:sp>
        <p:nvSpPr>
          <p:cNvPr id="5" name="Shape 3"/>
          <p:cNvSpPr/>
          <p:nvPr/>
        </p:nvSpPr>
        <p:spPr>
          <a:xfrm>
            <a:off x="713232" y="1392936"/>
            <a:ext cx="384048" cy="384048"/>
          </a:xfrm>
          <a:prstGeom prst="ellipse">
            <a:avLst/>
          </a:prstGeom>
          <a:solidFill>
            <a:srgbClr val="1A5EA8"/>
          </a:solidFill>
          <a:ln/>
        </p:spPr>
      </p:sp>
      <p:sp>
        <p:nvSpPr>
          <p:cNvPr id="6" name="Text 4"/>
          <p:cNvSpPr/>
          <p:nvPr/>
        </p:nvSpPr>
        <p:spPr>
          <a:xfrm>
            <a:off x="713232" y="1392936"/>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25296" y="1325880"/>
            <a:ext cx="5750076" cy="518160"/>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Một hồ sơ: mở chi tiết, kiểm tra tab Lỗi không còn lỗi mức chặn, đối chiếu nội dung với chứng từ giấy</a:t>
            </a:r>
            <a:endParaRPr lang="en-US" sz="1400" dirty="0"/>
          </a:p>
        </p:txBody>
      </p:sp>
      <p:sp>
        <p:nvSpPr>
          <p:cNvPr id="8" name="Text 6"/>
          <p:cNvSpPr/>
          <p:nvPr/>
        </p:nvSpPr>
        <p:spPr>
          <a:xfrm>
            <a:off x="7085951" y="1325880"/>
            <a:ext cx="4088209" cy="518160"/>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Xác nhận hồ sơ sạch</a:t>
            </a:r>
            <a:endParaRPr lang="en-US" sz="1200" dirty="0"/>
          </a:p>
        </p:txBody>
      </p:sp>
      <p:sp>
        <p:nvSpPr>
          <p:cNvPr id="9" name="Shape 7"/>
          <p:cNvSpPr/>
          <p:nvPr/>
        </p:nvSpPr>
        <p:spPr>
          <a:xfrm>
            <a:off x="566928" y="1953768"/>
            <a:ext cx="11057839" cy="518160"/>
          </a:xfrm>
          <a:prstGeom prst="rect">
            <a:avLst/>
          </a:prstGeom>
          <a:solidFill>
            <a:srgbClr val="FFFFFF"/>
          </a:solidFill>
          <a:ln w="12700">
            <a:solidFill>
              <a:srgbClr val="D6E2EE"/>
            </a:solidFill>
            <a:prstDash val="solid"/>
          </a:ln>
        </p:spPr>
      </p:sp>
      <p:sp>
        <p:nvSpPr>
          <p:cNvPr id="10" name="Shape 8"/>
          <p:cNvSpPr/>
          <p:nvPr/>
        </p:nvSpPr>
        <p:spPr>
          <a:xfrm>
            <a:off x="713232" y="2020824"/>
            <a:ext cx="384048" cy="384048"/>
          </a:xfrm>
          <a:prstGeom prst="ellipse">
            <a:avLst/>
          </a:prstGeom>
          <a:solidFill>
            <a:srgbClr val="1A5EA8"/>
          </a:solidFill>
          <a:ln/>
        </p:spPr>
      </p:sp>
      <p:sp>
        <p:nvSpPr>
          <p:cNvPr id="11" name="Text 9"/>
          <p:cNvSpPr/>
          <p:nvPr/>
        </p:nvSpPr>
        <p:spPr>
          <a:xfrm>
            <a:off x="713232" y="2020824"/>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1225296" y="1953768"/>
            <a:ext cx="5750076" cy="518160"/>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Bấm Ký và gửi ở góc dưới phải khối thông tin</a:t>
            </a:r>
            <a:endParaRPr lang="en-US" sz="1400" dirty="0"/>
          </a:p>
        </p:txBody>
      </p:sp>
      <p:sp>
        <p:nvSpPr>
          <p:cNvPr id="13" name="Text 11"/>
          <p:cNvSpPr/>
          <p:nvPr/>
        </p:nvSpPr>
        <p:spPr>
          <a:xfrm>
            <a:off x="7085951" y="1953768"/>
            <a:ext cx="4088209" cy="518160"/>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Nút chuyển sang đang xử lý và không bấm lại được. Hồ sơ đã có mã giao dịch thì nút mang tên "Ký và gửi lại"</a:t>
            </a:r>
            <a:endParaRPr lang="en-US" sz="1200" dirty="0"/>
          </a:p>
        </p:txBody>
      </p:sp>
      <p:sp>
        <p:nvSpPr>
          <p:cNvPr id="14" name="Shape 12"/>
          <p:cNvSpPr/>
          <p:nvPr/>
        </p:nvSpPr>
        <p:spPr>
          <a:xfrm>
            <a:off x="566928" y="2581656"/>
            <a:ext cx="11057839" cy="518160"/>
          </a:xfrm>
          <a:prstGeom prst="rect">
            <a:avLst/>
          </a:prstGeom>
          <a:solidFill>
            <a:srgbClr val="EEF3F8"/>
          </a:solidFill>
          <a:ln w="12700">
            <a:solidFill>
              <a:srgbClr val="D6E2EE"/>
            </a:solidFill>
            <a:prstDash val="solid"/>
          </a:ln>
        </p:spPr>
      </p:sp>
      <p:sp>
        <p:nvSpPr>
          <p:cNvPr id="15" name="Shape 13"/>
          <p:cNvSpPr/>
          <p:nvPr/>
        </p:nvSpPr>
        <p:spPr>
          <a:xfrm>
            <a:off x="713232" y="2648712"/>
            <a:ext cx="384048" cy="384048"/>
          </a:xfrm>
          <a:prstGeom prst="ellipse">
            <a:avLst/>
          </a:prstGeom>
          <a:solidFill>
            <a:srgbClr val="1A5EA8"/>
          </a:solidFill>
          <a:ln/>
        </p:spPr>
      </p:sp>
      <p:sp>
        <p:nvSpPr>
          <p:cNvPr id="16" name="Text 14"/>
          <p:cNvSpPr/>
          <p:nvPr/>
        </p:nvSpPr>
        <p:spPr>
          <a:xfrm>
            <a:off x="713232" y="2648712"/>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1225296" y="2581656"/>
            <a:ext cx="5750076" cy="518160"/>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Chờ thông báo, đóng hộp thoại, bấm Tải dữ liệu</a:t>
            </a:r>
            <a:endParaRPr lang="en-US" sz="1400" dirty="0"/>
          </a:p>
        </p:txBody>
      </p:sp>
      <p:sp>
        <p:nvSpPr>
          <p:cNvPr id="18" name="Text 16"/>
          <p:cNvSpPr/>
          <p:nvPr/>
        </p:nvSpPr>
        <p:spPr>
          <a:xfrm>
            <a:off x="7085951" y="2581656"/>
            <a:ext cx="4088209" cy="518160"/>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Cột Trạng thái gửi đổi theo kết quả</a:t>
            </a:r>
            <a:endParaRPr lang="en-US" sz="1200" dirty="0"/>
          </a:p>
        </p:txBody>
      </p:sp>
      <p:sp>
        <p:nvSpPr>
          <p:cNvPr id="19" name="Shape 17"/>
          <p:cNvSpPr/>
          <p:nvPr/>
        </p:nvSpPr>
        <p:spPr>
          <a:xfrm>
            <a:off x="566928" y="3209544"/>
            <a:ext cx="11057839" cy="518160"/>
          </a:xfrm>
          <a:prstGeom prst="rect">
            <a:avLst/>
          </a:prstGeom>
          <a:solidFill>
            <a:srgbClr val="FFFFFF"/>
          </a:solidFill>
          <a:ln w="12700">
            <a:solidFill>
              <a:srgbClr val="D6E2EE"/>
            </a:solidFill>
            <a:prstDash val="solid"/>
          </a:ln>
        </p:spPr>
      </p:sp>
      <p:sp>
        <p:nvSpPr>
          <p:cNvPr id="20" name="Shape 18"/>
          <p:cNvSpPr/>
          <p:nvPr/>
        </p:nvSpPr>
        <p:spPr>
          <a:xfrm>
            <a:off x="713232" y="3276600"/>
            <a:ext cx="384048" cy="384048"/>
          </a:xfrm>
          <a:prstGeom prst="ellipse">
            <a:avLst/>
          </a:prstGeom>
          <a:solidFill>
            <a:srgbClr val="1A5EA8"/>
          </a:solidFill>
          <a:ln/>
        </p:spPr>
      </p:sp>
      <p:sp>
        <p:nvSpPr>
          <p:cNvPr id="21" name="Text 19"/>
          <p:cNvSpPr/>
          <p:nvPr/>
        </p:nvSpPr>
        <p:spPr>
          <a:xfrm>
            <a:off x="713232" y="327660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2" name="Text 20"/>
          <p:cNvSpPr/>
          <p:nvPr/>
        </p:nvSpPr>
        <p:spPr>
          <a:xfrm>
            <a:off x="1225296" y="3209544"/>
            <a:ext cx="5750076" cy="518160"/>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Nhiều hồ sơ: lọc ra nhóm cần gửi (ví dụ Trạng thái = "Ký số thất bại") rồi bấm Tải dữ liệu</a:t>
            </a:r>
            <a:endParaRPr lang="en-US" sz="1400" dirty="0"/>
          </a:p>
        </p:txBody>
      </p:sp>
      <p:sp>
        <p:nvSpPr>
          <p:cNvPr id="23" name="Text 21"/>
          <p:cNvSpPr/>
          <p:nvPr/>
        </p:nvSpPr>
        <p:spPr>
          <a:xfrm>
            <a:off x="7085951" y="3209544"/>
            <a:ext cx="4088209" cy="518160"/>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Danh sách chỉ còn nhóm cần xử lý</a:t>
            </a:r>
            <a:endParaRPr lang="en-US" sz="1200" dirty="0"/>
          </a:p>
        </p:txBody>
      </p:sp>
      <p:sp>
        <p:nvSpPr>
          <p:cNvPr id="24" name="Shape 22"/>
          <p:cNvSpPr/>
          <p:nvPr/>
        </p:nvSpPr>
        <p:spPr>
          <a:xfrm>
            <a:off x="566928" y="3837432"/>
            <a:ext cx="11057839" cy="518160"/>
          </a:xfrm>
          <a:prstGeom prst="rect">
            <a:avLst/>
          </a:prstGeom>
          <a:solidFill>
            <a:srgbClr val="EEF3F8"/>
          </a:solidFill>
          <a:ln w="12700">
            <a:solidFill>
              <a:srgbClr val="D6E2EE"/>
            </a:solidFill>
            <a:prstDash val="solid"/>
          </a:ln>
        </p:spPr>
      </p:sp>
      <p:sp>
        <p:nvSpPr>
          <p:cNvPr id="25" name="Shape 23"/>
          <p:cNvSpPr/>
          <p:nvPr/>
        </p:nvSpPr>
        <p:spPr>
          <a:xfrm>
            <a:off x="713232" y="3904488"/>
            <a:ext cx="384048" cy="384048"/>
          </a:xfrm>
          <a:prstGeom prst="ellipse">
            <a:avLst/>
          </a:prstGeom>
          <a:solidFill>
            <a:srgbClr val="1A5EA8"/>
          </a:solidFill>
          <a:ln/>
        </p:spPr>
      </p:sp>
      <p:sp>
        <p:nvSpPr>
          <p:cNvPr id="26" name="Text 24"/>
          <p:cNvSpPr/>
          <p:nvPr/>
        </p:nvSpPr>
        <p:spPr>
          <a:xfrm>
            <a:off x="713232" y="3904488"/>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7" name="Text 25"/>
          <p:cNvSpPr/>
          <p:nvPr/>
        </p:nvSpPr>
        <p:spPr>
          <a:xfrm>
            <a:off x="1225296" y="3837432"/>
            <a:ext cx="5750076" cy="518160"/>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Tích ô ở đầu từng dòng, hoặc tích ô trên tiêu đề để chọn hết dòng của TRANG ĐANG XEM</a:t>
            </a:r>
            <a:endParaRPr lang="en-US" sz="1400" dirty="0"/>
          </a:p>
        </p:txBody>
      </p:sp>
      <p:sp>
        <p:nvSpPr>
          <p:cNvPr id="28" name="Text 26"/>
          <p:cNvSpPr/>
          <p:nvPr/>
        </p:nvSpPr>
        <p:spPr>
          <a:xfrm>
            <a:off x="7085951" y="3837432"/>
            <a:ext cx="4088209" cy="518160"/>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Số trên nút đổi theo, ví dụ "Ký và gửi đã chọn (12)"</a:t>
            </a:r>
            <a:endParaRPr lang="en-US" sz="1200" dirty="0"/>
          </a:p>
        </p:txBody>
      </p:sp>
      <p:sp>
        <p:nvSpPr>
          <p:cNvPr id="29" name="Shape 27"/>
          <p:cNvSpPr/>
          <p:nvPr/>
        </p:nvSpPr>
        <p:spPr>
          <a:xfrm>
            <a:off x="566928" y="4465320"/>
            <a:ext cx="11057839" cy="518160"/>
          </a:xfrm>
          <a:prstGeom prst="rect">
            <a:avLst/>
          </a:prstGeom>
          <a:solidFill>
            <a:srgbClr val="FFFFFF"/>
          </a:solidFill>
          <a:ln w="12700">
            <a:solidFill>
              <a:srgbClr val="D6E2EE"/>
            </a:solidFill>
            <a:prstDash val="solid"/>
          </a:ln>
        </p:spPr>
      </p:sp>
      <p:sp>
        <p:nvSpPr>
          <p:cNvPr id="30" name="Shape 28"/>
          <p:cNvSpPr/>
          <p:nvPr/>
        </p:nvSpPr>
        <p:spPr>
          <a:xfrm>
            <a:off x="713232" y="4532376"/>
            <a:ext cx="384048" cy="384048"/>
          </a:xfrm>
          <a:prstGeom prst="ellipse">
            <a:avLst/>
          </a:prstGeom>
          <a:solidFill>
            <a:srgbClr val="1A5EA8"/>
          </a:solidFill>
          <a:ln/>
        </p:spPr>
      </p:sp>
      <p:sp>
        <p:nvSpPr>
          <p:cNvPr id="31" name="Text 29"/>
          <p:cNvSpPr/>
          <p:nvPr/>
        </p:nvSpPr>
        <p:spPr>
          <a:xfrm>
            <a:off x="713232" y="4532376"/>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2" name="Text 30"/>
          <p:cNvSpPr/>
          <p:nvPr/>
        </p:nvSpPr>
        <p:spPr>
          <a:xfrm>
            <a:off x="1225296" y="4465320"/>
            <a:ext cx="5750076" cy="518160"/>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Đọc kỹ con số trong hộp thoại rồi xác nhận</a:t>
            </a:r>
            <a:endParaRPr lang="en-US" sz="1400" dirty="0"/>
          </a:p>
        </p:txBody>
      </p:sp>
      <p:sp>
        <p:nvSpPr>
          <p:cNvPr id="33" name="Text 31"/>
          <p:cNvSpPr/>
          <p:nvPr/>
        </p:nvSpPr>
        <p:spPr>
          <a:xfrm>
            <a:off x="7085951" y="4465320"/>
            <a:ext cx="4088209" cy="518160"/>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Bảng kết quả: số hồ sơ đã xếp hàng + danh sách hồ sơ bị bỏ qua kèm lý do từng cái</a:t>
            </a:r>
            <a:endParaRPr lang="en-US" sz="1200" dirty="0"/>
          </a:p>
        </p:txBody>
      </p:sp>
      <p:sp>
        <p:nvSpPr>
          <p:cNvPr id="34" name="Shape 32"/>
          <p:cNvSpPr/>
          <p:nvPr/>
        </p:nvSpPr>
        <p:spPr>
          <a:xfrm>
            <a:off x="566928" y="5074920"/>
            <a:ext cx="11057839" cy="1051560"/>
          </a:xfrm>
          <a:prstGeom prst="rect">
            <a:avLst/>
          </a:prstGeom>
          <a:solidFill>
            <a:srgbClr val="FDECEC"/>
          </a:solidFill>
          <a:ln w="12700">
            <a:solidFill>
              <a:srgbClr val="FDECEC"/>
            </a:solidFill>
            <a:prstDash val="solid"/>
          </a:ln>
        </p:spPr>
      </p:sp>
      <p:sp>
        <p:nvSpPr>
          <p:cNvPr id="35" name="Shape 33"/>
          <p:cNvSpPr/>
          <p:nvPr/>
        </p:nvSpPr>
        <p:spPr>
          <a:xfrm>
            <a:off x="566928" y="5074920"/>
            <a:ext cx="64008" cy="1051560"/>
          </a:xfrm>
          <a:prstGeom prst="rect">
            <a:avLst/>
          </a:prstGeom>
          <a:solidFill>
            <a:srgbClr val="C62828"/>
          </a:solidFill>
          <a:ln w="12700">
            <a:solidFill>
              <a:srgbClr val="C62828"/>
            </a:solidFill>
            <a:prstDash val="solid"/>
          </a:ln>
        </p:spPr>
      </p:sp>
      <p:sp>
        <p:nvSpPr>
          <p:cNvPr id="36" name="Text 34"/>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Tuyệt đối không bấm nút lần nữa trong lúc chờ: </a:t>
            </a:r>
            <a:pPr indent="0" marL="0">
              <a:lnSpc>
                <a:spcPts val="1900"/>
              </a:lnSpc>
              <a:buNone/>
            </a:pPr>
            <a:r>
              <a:rPr lang="en-US" sz="1300" dirty="0">
                <a:solidFill>
                  <a:srgbClr val="14233A"/>
                </a:solidFill>
                <a:latin typeface="Arial" pitchFamily="34" charset="0"/>
                <a:ea typeface="Arial" pitchFamily="34" charset="-122"/>
                <a:cs typeface="Arial" pitchFamily="34" charset="-120"/>
              </a:rPr>
              <a:t>Việc ký và gửi xếp vào hàng đợi nền. Thông báo chỉ có nghĩa yêu cầu đã được nhận, chưa có nghĩa cổng đã tiếp nhận. Mỗi lần bấm là một chứng từ có thể được ghi nhận thêm trên cổng.</a:t>
            </a:r>
            <a:endParaRPr lang="en-US" sz="1300" dirty="0"/>
          </a:p>
        </p:txBody>
      </p:sp>
      <p:sp>
        <p:nvSpPr>
          <p:cNvPr id="38" name="Shape 35"/>
          <p:cNvSpPr/>
          <p:nvPr/>
        </p:nvSpPr>
        <p:spPr>
          <a:xfrm>
            <a:off x="566928" y="6382512"/>
            <a:ext cx="11057839" cy="0"/>
          </a:xfrm>
          <a:prstGeom prst="line">
            <a:avLst/>
          </a:prstGeom>
          <a:noFill/>
          <a:ln w="9525">
            <a:solidFill>
              <a:srgbClr val="D6E2EE"/>
            </a:solidFill>
            <a:prstDash val="solid"/>
          </a:ln>
        </p:spPr>
      </p:sp>
      <p:sp>
        <p:nvSpPr>
          <p:cNvPr id="39" name="Text 36"/>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40" name="Text 37"/>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67 / 80</a:t>
            </a:r>
            <a:endParaRPr lang="en-US" sz="8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08 / MỤC 6.7.6 VÀ 6.7.4</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Hồ sơ nào tích được, hồ sơ nào không</a:t>
            </a:r>
            <a:endParaRPr lang="en-US" sz="2600" dirty="0"/>
          </a:p>
        </p:txBody>
      </p:sp>
      <p:sp>
        <p:nvSpPr>
          <p:cNvPr id="4" name="Text 2"/>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B6B7F"/>
                </a:solidFill>
                <a:latin typeface="Arial" pitchFamily="34" charset="0"/>
                <a:ea typeface="Arial" pitchFamily="34" charset="-122"/>
                <a:cs typeface="Arial" pitchFamily="34" charset="-120"/>
              </a:rPr>
              <a:t>Chỉ bốn trạng thái có ô tích: Chưa ký số · Ký số thất bại · Gửi thất bại · Chờ gửi.</a:t>
            </a:r>
            <a:endParaRPr lang="en-US" sz="13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2875038"/>
                <a:gridCol w="4423136"/>
                <a:gridCol w="3759665"/>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Trạng thái KHÔNG tích được</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Vì sao</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Xử lý thế nào</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Chưa kiểm</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Máy chưa kiểm dữ liệu</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Chờ rồi tải lại danh sách</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Còn lỗi chặn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Phải sửa dữ liệu ở phần mềm sinh XML</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Sửa nguồn rồi nạp lại hồ sơ</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Chức năng gửi đang tắt</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Cấu hình chặn mọi lượt gửi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Báo quản trị hệ thống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Đã gửi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Cổng đã tiếp nhận và cấp mã giao dịch</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Mở màn CHI TIẾT bấm "Ký và gửi lại" — không gửi hàng loạt được</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Cổng từ chối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Luôn cần xác nhận riêng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Mở màn CHI TIẾT để xử lý từng hồ sơ</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bl>
          </a:graphicData>
        </a:graphic>
      </p:graphicFrame>
      <p:sp>
        <p:nvSpPr>
          <p:cNvPr id="6" name="Shape 3"/>
          <p:cNvSpPr/>
          <p:nvPr/>
        </p:nvSpPr>
        <p:spPr>
          <a:xfrm>
            <a:off x="566928" y="5074920"/>
            <a:ext cx="11057839" cy="1051560"/>
          </a:xfrm>
          <a:prstGeom prst="rect">
            <a:avLst/>
          </a:prstGeom>
          <a:solidFill>
            <a:srgbClr val="FDECEC"/>
          </a:solidFill>
          <a:ln w="12700">
            <a:solidFill>
              <a:srgbClr val="FDECEC"/>
            </a:solidFill>
            <a:prstDash val="solid"/>
          </a:ln>
        </p:spPr>
      </p:sp>
      <p:sp>
        <p:nvSpPr>
          <p:cNvPr id="7" name="Shape 4"/>
          <p:cNvSpPr/>
          <p:nvPr/>
        </p:nvSpPr>
        <p:spPr>
          <a:xfrm>
            <a:off x="566928" y="5074920"/>
            <a:ext cx="64008" cy="1051560"/>
          </a:xfrm>
          <a:prstGeom prst="rect">
            <a:avLst/>
          </a:prstGeom>
          <a:solidFill>
            <a:srgbClr val="C62828"/>
          </a:solidFill>
          <a:ln w="12700">
            <a:solidFill>
              <a:srgbClr val="C62828"/>
            </a:solidFill>
            <a:prstDash val="solid"/>
          </a:ln>
        </p:spPr>
      </p:sp>
      <p:sp>
        <p:nvSpPr>
          <p:cNvPr id="8" name="Text 5"/>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Vì sao hai trạng thái cuối không gửi hàng loạt được: </a:t>
            </a:r>
            <a:pPr indent="0" marL="0">
              <a:lnSpc>
                <a:spcPts val="1900"/>
              </a:lnSpc>
              <a:buNone/>
            </a:pPr>
            <a:r>
              <a:rPr lang="en-US" sz="1300" dirty="0">
                <a:solidFill>
                  <a:srgbClr val="14233A"/>
                </a:solidFill>
                <a:latin typeface="Arial" pitchFamily="34" charset="0"/>
                <a:ea typeface="Arial" pitchFamily="34" charset="-122"/>
                <a:cs typeface="Arial" pitchFamily="34" charset="-120"/>
              </a:rPr>
              <a:t>Ở màn chi tiết người bấm đang nhìn đúng hồ sơ đó và phần mềm còn hỏi xác nhận. Trong một lượt 50 dòng thì không ai nhìn từng cái — một lần bấm sẽ gửi lại im lặng những hồ sơ cổng đã nhận, mỗi cái là một chứng từ trùng trên cổng.</a:t>
            </a:r>
            <a:endParaRPr lang="en-US" sz="1300" dirty="0"/>
          </a:p>
        </p:txBody>
      </p:sp>
      <p:sp>
        <p:nvSpPr>
          <p:cNvPr id="10" name="Shape 6"/>
          <p:cNvSpPr/>
          <p:nvPr/>
        </p:nvSpPr>
        <p:spPr>
          <a:xfrm>
            <a:off x="566928" y="6382512"/>
            <a:ext cx="11057839" cy="0"/>
          </a:xfrm>
          <a:prstGeom prst="line">
            <a:avLst/>
          </a:prstGeom>
          <a:noFill/>
          <a:ln w="9525">
            <a:solidFill>
              <a:srgbClr val="D6E2EE"/>
            </a:solidFill>
            <a:prstDash val="solid"/>
          </a:ln>
        </p:spPr>
      </p:sp>
      <p:sp>
        <p:nvSpPr>
          <p:cNvPr id="11" name="Text 7"/>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2" name="Text 8"/>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68 / 80</a:t>
            </a:r>
            <a:endParaRPr lang="en-US" sz="8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08 / MỤC 6.8</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Mã lỗi chứng từ điện tử và trường bắt buộc của giấy ra viện</a:t>
            </a:r>
            <a:endParaRPr lang="en-US" sz="26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57839" cy="914400"/>
        </p:xfrm>
        <a:graphic>
          <a:graphicData uri="http://schemas.openxmlformats.org/drawingml/2006/table">
            <a:tbl>
              <a:tblPr/>
              <a:tblGrid>
                <a:gridCol w="1548097"/>
                <a:gridCol w="7298174"/>
                <a:gridCol w="2211568"/>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Mã lỗi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Mô tả</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Mức độ</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CTDT001</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Thiếu trường bắt buộc</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b="1" dirty="0">
                          <a:solidFill>
                            <a:srgbClr val="C62828"/>
                          </a:solidFill>
                          <a:latin typeface="Arial" pitchFamily="34" charset="0"/>
                          <a:ea typeface="Arial" pitchFamily="34" charset="-122"/>
                          <a:cs typeface="Arial" pitchFamily="34" charset="-120"/>
                        </a:rPr>
                        <a:t>Chặn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CTDT002</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Trường ngày sai định dạng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b="1" dirty="0">
                          <a:solidFill>
                            <a:srgbClr val="C62828"/>
                          </a:solidFill>
                          <a:latin typeface="Arial" pitchFamily="34" charset="0"/>
                          <a:ea typeface="Arial" pitchFamily="34" charset="-122"/>
                          <a:cs typeface="Arial" pitchFamily="34" charset="-120"/>
                        </a:rPr>
                        <a:t>Chặn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CTDT003</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Giới tính ngoài giá trị cho phép</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b="1" dirty="0">
                          <a:solidFill>
                            <a:srgbClr val="C62828"/>
                          </a:solidFill>
                          <a:latin typeface="Arial" pitchFamily="34" charset="0"/>
                          <a:ea typeface="Arial" pitchFamily="34" charset="-122"/>
                          <a:cs typeface="Arial" pitchFamily="34" charset="-120"/>
                        </a:rPr>
                        <a:t>Chặn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CTDT004</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Loại giấy tờ ngoài giá trị cho phép</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b="1" dirty="0">
                          <a:solidFill>
                            <a:srgbClr val="C62828"/>
                          </a:solidFill>
                          <a:latin typeface="Arial" pitchFamily="34" charset="0"/>
                          <a:ea typeface="Arial" pitchFamily="34" charset="-122"/>
                          <a:cs typeface="Arial" pitchFamily="34" charset="-120"/>
                        </a:rPr>
                        <a:t>Chặn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CTDT005</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Trường cờ ngoài giá trị 0 hoặc 1</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B26A00"/>
                          </a:solidFill>
                          <a:latin typeface="Arial" pitchFamily="34" charset="0"/>
                          <a:ea typeface="Arial" pitchFamily="34" charset="-122"/>
                          <a:cs typeface="Arial" pitchFamily="34" charset="-120"/>
                        </a:rPr>
                        <a:t>Cảnh báo</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CTDT006</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Ngày kết thúc sớm hơn ngày bắt đầu</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b="1" dirty="0">
                          <a:solidFill>
                            <a:srgbClr val="C62828"/>
                          </a:solidFill>
                          <a:latin typeface="Arial" pitchFamily="34" charset="0"/>
                          <a:ea typeface="Arial" pitchFamily="34" charset="-122"/>
                          <a:cs typeface="Arial" pitchFamily="34" charset="-120"/>
                        </a:rPr>
                        <a:t>Chặn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CTDT007</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Mã cơ sở trong chứng từ lệch với mã cơ sở của hồ sơ</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b="1" dirty="0">
                          <a:solidFill>
                            <a:srgbClr val="C62828"/>
                          </a:solidFill>
                          <a:latin typeface="Arial" pitchFamily="34" charset="0"/>
                          <a:ea typeface="Arial" pitchFamily="34" charset="-122"/>
                          <a:cs typeface="Arial" pitchFamily="34" charset="-120"/>
                        </a:rPr>
                        <a:t>Chặn</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dirty="0">
                          <a:solidFill>
                            <a:srgbClr val="14233A"/>
                          </a:solidFill>
                          <a:latin typeface="Arial" pitchFamily="34" charset="0"/>
                          <a:ea typeface="Arial" pitchFamily="34" charset="-122"/>
                          <a:cs typeface="Arial" pitchFamily="34" charset="-120"/>
                        </a:rPr>
                        <a:t>CTDT008</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Thiếu mã thẻ bảo hiểm y tế</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B26A00"/>
                          </a:solidFill>
                          <a:latin typeface="Arial" pitchFamily="34" charset="0"/>
                          <a:ea typeface="Arial" pitchFamily="34" charset="-122"/>
                          <a:cs typeface="Arial" pitchFamily="34" charset="-120"/>
                        </a:rPr>
                        <a:t>Cảnh báo</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5074920"/>
            <a:ext cx="11057839" cy="1051560"/>
          </a:xfrm>
          <a:prstGeom prst="rect">
            <a:avLst/>
          </a:prstGeom>
          <a:solidFill>
            <a:srgbClr val="FFF4E6"/>
          </a:solidFill>
          <a:ln w="12700">
            <a:solidFill>
              <a:srgbClr val="FFF4E6"/>
            </a:solidFill>
            <a:prstDash val="solid"/>
          </a:ln>
        </p:spPr>
      </p:sp>
      <p:sp>
        <p:nvSpPr>
          <p:cNvPr id="6" name="Shape 3"/>
          <p:cNvSpPr/>
          <p:nvPr/>
        </p:nvSpPr>
        <p:spPr>
          <a:xfrm>
            <a:off x="566928" y="5074920"/>
            <a:ext cx="64008" cy="1051560"/>
          </a:xfrm>
          <a:prstGeom prst="rect">
            <a:avLst/>
          </a:prstGeom>
          <a:solidFill>
            <a:srgbClr val="C96A12"/>
          </a:solidFill>
          <a:ln w="12700">
            <a:solidFill>
              <a:srgbClr val="C96A12"/>
            </a:solidFill>
            <a:prstDash val="solid"/>
          </a:ln>
        </p:spPr>
      </p:sp>
      <p:sp>
        <p:nvSpPr>
          <p:cNvPr id="7" name="Text 4"/>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Giấy ra viện — trường bắt buộc: </a:t>
            </a:r>
            <a:pPr indent="0" marL="0">
              <a:lnSpc>
                <a:spcPts val="1900"/>
              </a:lnSpc>
              <a:buNone/>
            </a:pPr>
            <a:r>
              <a:rPr lang="en-US" sz="1300" dirty="0">
                <a:solidFill>
                  <a:srgbClr val="14233A"/>
                </a:solidFill>
                <a:latin typeface="Arial" pitchFamily="34" charset="0"/>
                <a:ea typeface="Arial" pitchFamily="34" charset="-122"/>
                <a:cs typeface="Arial" pitchFamily="34" charset="-120"/>
              </a:rPr>
              <a:t>Người bệnh: Mã BHXH, Họ tên, Ngày sinh, Giới tính, Địa chỉ, Nghề nghiệp, Loại giấy tờ. Đợt điều trị: Mã khoa, Ngày vào, Ngày ra, Chẩn đoán, Mã và Tên bệnh ICD-10, Phương pháp điều trị. Chứng từ: Ngày chứng từ, Thủ trưởng đơn vị, Tên trưởng khoa, Mã chứng chỉ hành nghề của trưởng khoa.</a:t>
            </a:r>
            <a:endParaRPr lang="en-US" sz="1300" dirty="0"/>
          </a:p>
        </p:txBody>
      </p:sp>
      <p:sp>
        <p:nvSpPr>
          <p:cNvPr id="9" name="Shape 5"/>
          <p:cNvSpPr/>
          <p:nvPr/>
        </p:nvSpPr>
        <p:spPr>
          <a:xfrm>
            <a:off x="566928" y="6382512"/>
            <a:ext cx="11057839" cy="0"/>
          </a:xfrm>
          <a:prstGeom prst="line">
            <a:avLst/>
          </a:prstGeom>
          <a:noFill/>
          <a:ln w="9525">
            <a:solidFill>
              <a:srgbClr val="D6E2EE"/>
            </a:solidFill>
            <a:prstDash val="solid"/>
          </a:ln>
        </p:spPr>
      </p:sp>
      <p:sp>
        <p:nvSpPr>
          <p:cNvPr id="10" name="Text 6"/>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1" name="Text 7"/>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69 / 80</a:t>
            </a:r>
            <a:endParaRPr lang="en-US" sz="8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A9FD8"/>
          </a:solidFill>
          <a:ln w="12700">
            <a:solidFill>
              <a:srgbClr val="2A9FD8"/>
            </a:solidFill>
            <a:prstDash val="solid"/>
          </a:ln>
        </p:spPr>
      </p:sp>
      <p:sp>
        <p:nvSpPr>
          <p:cNvPr id="3" name="Text 1"/>
          <p:cNvSpPr/>
          <p:nvPr/>
        </p:nvSpPr>
        <p:spPr>
          <a:xfrm>
            <a:off x="822960" y="2011680"/>
            <a:ext cx="1828800" cy="1371600"/>
          </a:xfrm>
          <a:prstGeom prst="rect">
            <a:avLst/>
          </a:prstGeom>
          <a:noFill/>
          <a:ln/>
        </p:spPr>
        <p:txBody>
          <a:bodyPr wrap="square" rtlCol="0" anchor="ctr"/>
          <a:lstStyle/>
          <a:p>
            <a:pPr indent="0" marL="0">
              <a:buNone/>
            </a:pPr>
            <a:r>
              <a:rPr lang="en-US" sz="8000" b="1" dirty="0">
                <a:solidFill>
                  <a:srgbClr val="2A9FD8"/>
                </a:solidFill>
                <a:latin typeface="Arial" pitchFamily="34" charset="0"/>
                <a:ea typeface="Arial" pitchFamily="34" charset="-122"/>
                <a:cs typeface="Arial" pitchFamily="34" charset="-120"/>
              </a:rPr>
              <a:t>09</a:t>
            </a:r>
            <a:endParaRPr lang="en-US" sz="8000" dirty="0"/>
          </a:p>
        </p:txBody>
      </p:sp>
      <p:sp>
        <p:nvSpPr>
          <p:cNvPr id="4" name="Text 2"/>
          <p:cNvSpPr/>
          <p:nvPr/>
        </p:nvSpPr>
        <p:spPr>
          <a:xfrm>
            <a:off x="2651760" y="2148840"/>
            <a:ext cx="8808415" cy="9144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Danh mục theo Thông tư 12/2026</a:t>
            </a:r>
            <a:endParaRPr lang="en-US" sz="3200" dirty="0"/>
          </a:p>
        </p:txBody>
      </p:sp>
      <p:sp>
        <p:nvSpPr>
          <p:cNvPr id="5" name="Text 3"/>
          <p:cNvSpPr/>
          <p:nvPr/>
        </p:nvSpPr>
        <p:spPr>
          <a:xfrm>
            <a:off x="2651760" y="3108960"/>
            <a:ext cx="8808415" cy="822960"/>
          </a:xfrm>
          <a:prstGeom prst="rect">
            <a:avLst/>
          </a:prstGeom>
          <a:noFill/>
          <a:ln/>
        </p:spPr>
        <p:txBody>
          <a:bodyPr wrap="square" rtlCol="0" anchor="t"/>
          <a:lstStyle/>
          <a:p>
            <a:pPr indent="0" marL="0">
              <a:lnSpc>
                <a:spcPts val="2200"/>
              </a:lnSpc>
              <a:buNone/>
            </a:pPr>
            <a:r>
              <a:rPr lang="en-US" sz="1500" dirty="0">
                <a:solidFill>
                  <a:srgbClr val="A9C4DC"/>
                </a:solidFill>
                <a:latin typeface="Arial" pitchFamily="34" charset="0"/>
                <a:ea typeface="Arial" pitchFamily="34" charset="-122"/>
                <a:cs typeface="Arial" pitchFamily="34" charset="-120"/>
              </a:rPr>
              <a:t>Sáu mẫu cơ sở tự khai · Nạp và gửi · Đồng bộ sang bộ danh mục · Dashboard độ phủ</a:t>
            </a:r>
            <a:endParaRPr lang="en-US" sz="15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09 / MỤC 7.1 VÀ 7.3</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Sáu mẫu danh mục và nơi chúng đi tới</a:t>
            </a:r>
            <a:endParaRPr lang="en-US" sz="2600" dirty="0"/>
          </a:p>
        </p:txBody>
      </p:sp>
      <p:sp>
        <p:nvSpPr>
          <p:cNvPr id="4" name="Text 2"/>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B6B7F"/>
                </a:solidFill>
                <a:latin typeface="Arial" pitchFamily="34" charset="0"/>
                <a:ea typeface="Arial" pitchFamily="34" charset="-122"/>
                <a:cs typeface="Arial" pitchFamily="34" charset="-120"/>
              </a:rPr>
              <a:t>Đây là danh mục cơ sở TỰ KHAI về năng lực của mình, khác với danh mục BHXH ban hành ở Phần IV. Mỗi mẫu là một tệp Excel riêng, gửi tới một đầu mối riêng — không gộp nhiều mẫu vào một tệp.</a:t>
            </a:r>
            <a:endParaRPr lang="en-US" sz="13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1548097"/>
                <a:gridCol w="6413547"/>
                <a:gridCol w="3096195"/>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Mẫu</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Nội dung khai báo</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Ghi sang bộ danh mục</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Mẫu 01/DM</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Bộ phận chuyên môn KCB BHYT: khoa phòng, số bàn khám, số giường theo từng loại</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Danh mục Khoa phòng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Mẫu 02/DM</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Nhân lực thực hiện KCB BHYT: người hành nghề, chứng chỉ, phạm vi hoạt động</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Danh mục Nhân viên y tế</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Mẫu 03/DM</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Thuốc, máu, chế phẩm máu</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Danh mục Thuốc</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Mẫu 04/DM</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Thiết bị y tế, tức vật tư y tế</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Danh mục Vật tư y tế</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Mẫu 05/DM</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Dịch vụ khám bệnh, chữa bệnh, kèm bảng con thuốc và vật tư đi theo dịch vụ</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Danh mục Dịch vụ kỹ thuật</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200" b="1" dirty="0">
                          <a:solidFill>
                            <a:srgbClr val="14233A"/>
                          </a:solidFill>
                          <a:latin typeface="Arial" pitchFamily="34" charset="0"/>
                          <a:ea typeface="Arial" pitchFamily="34" charset="-122"/>
                          <a:cs typeface="Arial" pitchFamily="34" charset="-120"/>
                        </a:rPr>
                        <a:t>Mẫu 06/DM</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Thiết bị y tế thực hiện dịch vụ kỹ thuật</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200" dirty="0">
                          <a:solidFill>
                            <a:srgbClr val="14233A"/>
                          </a:solidFill>
                          <a:latin typeface="Arial" pitchFamily="34" charset="0"/>
                          <a:ea typeface="Arial" pitchFamily="34" charset="-122"/>
                          <a:cs typeface="Arial" pitchFamily="34" charset="-120"/>
                        </a:rPr>
                        <a:t>Danh mục Thiết bị</a:t>
                      </a:r>
                      <a:endParaRPr lang="en-US" sz="12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5074920"/>
            <a:ext cx="11057839" cy="1051560"/>
          </a:xfrm>
          <a:prstGeom prst="rect">
            <a:avLst/>
          </a:prstGeom>
          <a:solidFill>
            <a:srgbClr val="FFF4E6"/>
          </a:solidFill>
          <a:ln w="12700">
            <a:solidFill>
              <a:srgbClr val="FFF4E6"/>
            </a:solidFill>
            <a:prstDash val="solid"/>
          </a:ln>
        </p:spPr>
      </p:sp>
      <p:sp>
        <p:nvSpPr>
          <p:cNvPr id="7" name="Shape 4"/>
          <p:cNvSpPr/>
          <p:nvPr/>
        </p:nvSpPr>
        <p:spPr>
          <a:xfrm>
            <a:off x="566928" y="5074920"/>
            <a:ext cx="64008" cy="1051560"/>
          </a:xfrm>
          <a:prstGeom prst="rect">
            <a:avLst/>
          </a:prstGeom>
          <a:solidFill>
            <a:srgbClr val="C96A12"/>
          </a:solidFill>
          <a:ln w="12700">
            <a:solidFill>
              <a:srgbClr val="C96A12"/>
            </a:solidFill>
            <a:prstDash val="solid"/>
          </a:ln>
        </p:spPr>
      </p:sp>
      <p:sp>
        <p:nvSpPr>
          <p:cNvPr id="8" name="Text 5"/>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Chỉ khi cổng chấp nhận thì dữ liệu mới có hiệu lực: </a:t>
            </a:r>
            <a:pPr indent="0" marL="0">
              <a:lnSpc>
                <a:spcPts val="1900"/>
              </a:lnSpc>
              <a:buNone/>
            </a:pPr>
            <a:r>
              <a:rPr lang="en-US" sz="1300" dirty="0">
                <a:solidFill>
                  <a:srgbClr val="14233A"/>
                </a:solidFill>
                <a:latin typeface="Arial" pitchFamily="34" charset="0"/>
                <a:ea typeface="Arial" pitchFamily="34" charset="-122"/>
                <a:cs typeface="Arial" pitchFamily="34" charset="-120"/>
              </a:rPr>
              <a:t>Cổng trả về mã tiếp nhận thành công thì phần mềm mới ghi sang bộ danh mục. Đây là chủ ý: danh mục dùng để kiểm hồ sơ XML 3176 phải đúng bằng bản mà cơ quan bảo hiểm đã nhận, vì khi giám định họ sẽ so với chính bản đó.</a:t>
            </a:r>
            <a:endParaRPr lang="en-US" sz="1300" dirty="0"/>
          </a:p>
        </p:txBody>
      </p:sp>
      <p:sp>
        <p:nvSpPr>
          <p:cNvPr id="10" name="Shape 6"/>
          <p:cNvSpPr/>
          <p:nvPr/>
        </p:nvSpPr>
        <p:spPr>
          <a:xfrm>
            <a:off x="566928" y="6382512"/>
            <a:ext cx="11057839" cy="0"/>
          </a:xfrm>
          <a:prstGeom prst="line">
            <a:avLst/>
          </a:prstGeom>
          <a:noFill/>
          <a:ln w="9525">
            <a:solidFill>
              <a:srgbClr val="D6E2EE"/>
            </a:solidFill>
            <a:prstDash val="solid"/>
          </a:ln>
        </p:spPr>
      </p:sp>
      <p:sp>
        <p:nvSpPr>
          <p:cNvPr id="11" name="Text 7"/>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2" name="Text 8"/>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71 / 80</a:t>
            </a:r>
            <a:endParaRPr lang="en-US" sz="8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09 / MỤC 7.4</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Nạp danh mục TT12 vào phần mềm</a:t>
            </a:r>
            <a:endParaRPr lang="en-US" sz="2600" dirty="0"/>
          </a:p>
        </p:txBody>
      </p:sp>
      <p:sp>
        <p:nvSpPr>
          <p:cNvPr id="4" name="Text 2"/>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B6B7F"/>
                </a:solidFill>
                <a:latin typeface="Arial" pitchFamily="34" charset="0"/>
                <a:ea typeface="Arial" pitchFamily="34" charset="-122"/>
                <a:cs typeface="Arial" pitchFamily="34" charset="-120"/>
              </a:rPr>
              <a:t>Chỉ có MỘT đường đưa dữ liệu vào: màn hình Nạp danh mục. Không có tiến trình nền quét thư mục.</a:t>
            </a:r>
            <a:endParaRPr lang="en-US" sz="1300" dirty="0"/>
          </a:p>
        </p:txBody>
      </p:sp>
      <p:sp>
        <p:nvSpPr>
          <p:cNvPr id="5" name="Shape 3"/>
          <p:cNvSpPr/>
          <p:nvPr/>
        </p:nvSpPr>
        <p:spPr>
          <a:xfrm>
            <a:off x="566928" y="1709928"/>
            <a:ext cx="11057839" cy="566928"/>
          </a:xfrm>
          <a:prstGeom prst="rect">
            <a:avLst/>
          </a:prstGeom>
          <a:solidFill>
            <a:srgbClr val="EEF3F8"/>
          </a:solidFill>
          <a:ln w="12700">
            <a:solidFill>
              <a:srgbClr val="D6E2EE"/>
            </a:solidFill>
            <a:prstDash val="solid"/>
          </a:ln>
        </p:spPr>
      </p:sp>
      <p:sp>
        <p:nvSpPr>
          <p:cNvPr id="6" name="Shape 4"/>
          <p:cNvSpPr/>
          <p:nvPr/>
        </p:nvSpPr>
        <p:spPr>
          <a:xfrm>
            <a:off x="713232" y="1801368"/>
            <a:ext cx="384048" cy="384048"/>
          </a:xfrm>
          <a:prstGeom prst="ellipse">
            <a:avLst/>
          </a:prstGeom>
          <a:solidFill>
            <a:srgbClr val="1A5EA8"/>
          </a:solidFill>
          <a:ln/>
        </p:spPr>
      </p:sp>
      <p:sp>
        <p:nvSpPr>
          <p:cNvPr id="7" name="Text 5"/>
          <p:cNvSpPr/>
          <p:nvPr/>
        </p:nvSpPr>
        <p:spPr>
          <a:xfrm>
            <a:off x="713232" y="1801368"/>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1225296" y="1709928"/>
            <a:ext cx="5750076" cy="566928"/>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Mở Hồ sơ XML → Danh mục TT12 → Nạp danh mục, chọn Mẫu rồi bấm Tải biểu mẫu</a:t>
            </a:r>
            <a:endParaRPr lang="en-US" sz="1400" dirty="0"/>
          </a:p>
        </p:txBody>
      </p:sp>
      <p:sp>
        <p:nvSpPr>
          <p:cNvPr id="9" name="Text 7"/>
          <p:cNvSpPr/>
          <p:nvPr/>
        </p:nvSpPr>
        <p:spPr>
          <a:xfrm>
            <a:off x="7085951" y="1709928"/>
            <a:ext cx="4088209" cy="56692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Tải về tệp Excel rỗng có sẵn dòng tiêu đề đúng của mẫu đã chọn</a:t>
            </a:r>
            <a:endParaRPr lang="en-US" sz="1200" dirty="0"/>
          </a:p>
        </p:txBody>
      </p:sp>
      <p:sp>
        <p:nvSpPr>
          <p:cNvPr id="10" name="Shape 8"/>
          <p:cNvSpPr/>
          <p:nvPr/>
        </p:nvSpPr>
        <p:spPr>
          <a:xfrm>
            <a:off x="566928" y="2386584"/>
            <a:ext cx="11057839" cy="566928"/>
          </a:xfrm>
          <a:prstGeom prst="rect">
            <a:avLst/>
          </a:prstGeom>
          <a:solidFill>
            <a:srgbClr val="FFFFFF"/>
          </a:solidFill>
          <a:ln w="12700">
            <a:solidFill>
              <a:srgbClr val="D6E2EE"/>
            </a:solidFill>
            <a:prstDash val="solid"/>
          </a:ln>
        </p:spPr>
      </p:sp>
      <p:sp>
        <p:nvSpPr>
          <p:cNvPr id="11" name="Shape 9"/>
          <p:cNvSpPr/>
          <p:nvPr/>
        </p:nvSpPr>
        <p:spPr>
          <a:xfrm>
            <a:off x="713232" y="2478024"/>
            <a:ext cx="384048" cy="384048"/>
          </a:xfrm>
          <a:prstGeom prst="ellipse">
            <a:avLst/>
          </a:prstGeom>
          <a:solidFill>
            <a:srgbClr val="1A5EA8"/>
          </a:solidFill>
          <a:ln/>
        </p:spPr>
      </p:sp>
      <p:sp>
        <p:nvSpPr>
          <p:cNvPr id="12" name="Text 10"/>
          <p:cNvSpPr/>
          <p:nvPr/>
        </p:nvSpPr>
        <p:spPr>
          <a:xfrm>
            <a:off x="713232" y="2478024"/>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1225296" y="2386584"/>
            <a:ext cx="5750076" cy="566928"/>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Điền dữ liệu vào biểu mẫu — KHÔNG đổi tên cột, không chèn thêm cột, không chèn dòng trống phía trên tiêu đề</a:t>
            </a:r>
            <a:endParaRPr lang="en-US" sz="1400" dirty="0"/>
          </a:p>
        </p:txBody>
      </p:sp>
      <p:sp>
        <p:nvSpPr>
          <p:cNvPr id="14" name="Text 12"/>
          <p:cNvSpPr/>
          <p:nvPr/>
        </p:nvSpPr>
        <p:spPr>
          <a:xfrm>
            <a:off x="7085951" y="2386584"/>
            <a:ext cx="4088209" cy="56692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Phần mềm nhận diện mẫu bằng chính dòng tiêu đề</a:t>
            </a:r>
            <a:endParaRPr lang="en-US" sz="1200" dirty="0"/>
          </a:p>
        </p:txBody>
      </p:sp>
      <p:sp>
        <p:nvSpPr>
          <p:cNvPr id="15" name="Shape 13"/>
          <p:cNvSpPr/>
          <p:nvPr/>
        </p:nvSpPr>
        <p:spPr>
          <a:xfrm>
            <a:off x="566928" y="3063240"/>
            <a:ext cx="11057839" cy="566928"/>
          </a:xfrm>
          <a:prstGeom prst="rect">
            <a:avLst/>
          </a:prstGeom>
          <a:solidFill>
            <a:srgbClr val="EEF3F8"/>
          </a:solidFill>
          <a:ln w="12700">
            <a:solidFill>
              <a:srgbClr val="D6E2EE"/>
            </a:solidFill>
            <a:prstDash val="solid"/>
          </a:ln>
        </p:spPr>
      </p:sp>
      <p:sp>
        <p:nvSpPr>
          <p:cNvPr id="16" name="Shape 14"/>
          <p:cNvSpPr/>
          <p:nvPr/>
        </p:nvSpPr>
        <p:spPr>
          <a:xfrm>
            <a:off x="713232" y="3154680"/>
            <a:ext cx="384048" cy="384048"/>
          </a:xfrm>
          <a:prstGeom prst="ellipse">
            <a:avLst/>
          </a:prstGeom>
          <a:solidFill>
            <a:srgbClr val="1A5EA8"/>
          </a:solidFill>
          <a:ln/>
        </p:spPr>
      </p:sp>
      <p:sp>
        <p:nvSpPr>
          <p:cNvPr id="17" name="Text 15"/>
          <p:cNvSpPr/>
          <p:nvPr/>
        </p:nvSpPr>
        <p:spPr>
          <a:xfrm>
            <a:off x="713232" y="315468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6"/>
          <p:cNvSpPr/>
          <p:nvPr/>
        </p:nvSpPr>
        <p:spPr>
          <a:xfrm>
            <a:off x="1225296" y="3063240"/>
            <a:ext cx="5750076" cy="566928"/>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Chọn Cơ sở khám chữa bệnh — đây là ô BẮT BUỘC</a:t>
            </a:r>
            <a:endParaRPr lang="en-US" sz="1400" dirty="0"/>
          </a:p>
        </p:txBody>
      </p:sp>
      <p:sp>
        <p:nvSpPr>
          <p:cNvPr id="19" name="Text 17"/>
          <p:cNvSpPr/>
          <p:nvPr/>
        </p:nvSpPr>
        <p:spPr>
          <a:xfrm>
            <a:off x="7085951" y="3063240"/>
            <a:ext cx="4088209" cy="56692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Mã cơ sở này quyết định tài khoản dùng để gửi lên cổng</a:t>
            </a:r>
            <a:endParaRPr lang="en-US" sz="1200" dirty="0"/>
          </a:p>
        </p:txBody>
      </p:sp>
      <p:sp>
        <p:nvSpPr>
          <p:cNvPr id="20" name="Shape 18"/>
          <p:cNvSpPr/>
          <p:nvPr/>
        </p:nvSpPr>
        <p:spPr>
          <a:xfrm>
            <a:off x="566928" y="3739896"/>
            <a:ext cx="11057839" cy="566928"/>
          </a:xfrm>
          <a:prstGeom prst="rect">
            <a:avLst/>
          </a:prstGeom>
          <a:solidFill>
            <a:srgbClr val="FFFFFF"/>
          </a:solidFill>
          <a:ln w="12700">
            <a:solidFill>
              <a:srgbClr val="D6E2EE"/>
            </a:solidFill>
            <a:prstDash val="solid"/>
          </a:ln>
        </p:spPr>
      </p:sp>
      <p:sp>
        <p:nvSpPr>
          <p:cNvPr id="21" name="Shape 19"/>
          <p:cNvSpPr/>
          <p:nvPr/>
        </p:nvSpPr>
        <p:spPr>
          <a:xfrm>
            <a:off x="713232" y="3831336"/>
            <a:ext cx="384048" cy="384048"/>
          </a:xfrm>
          <a:prstGeom prst="ellipse">
            <a:avLst/>
          </a:prstGeom>
          <a:solidFill>
            <a:srgbClr val="1A5EA8"/>
          </a:solidFill>
          <a:ln/>
        </p:spPr>
      </p:sp>
      <p:sp>
        <p:nvSpPr>
          <p:cNvPr id="22" name="Text 20"/>
          <p:cNvSpPr/>
          <p:nvPr/>
        </p:nvSpPr>
        <p:spPr>
          <a:xfrm>
            <a:off x="713232" y="3831336"/>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3" name="Text 21"/>
          <p:cNvSpPr/>
          <p:nvPr/>
        </p:nvSpPr>
        <p:spPr>
          <a:xfrm>
            <a:off x="1225296" y="3739896"/>
            <a:ext cx="5750076" cy="566928"/>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Kéo tệp Excel vào khung; có thể kéo nhiều tệp một lượt</a:t>
            </a:r>
            <a:endParaRPr lang="en-US" sz="1400" dirty="0"/>
          </a:p>
        </p:txBody>
      </p:sp>
      <p:sp>
        <p:nvSpPr>
          <p:cNvPr id="24" name="Text 22"/>
          <p:cNvSpPr/>
          <p:nvPr/>
        </p:nvSpPr>
        <p:spPr>
          <a:xfrm>
            <a:off x="7085951" y="3739896"/>
            <a:ext cx="4088209" cy="56692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Mỗi tệp trở thành một hồ sơ riêng</a:t>
            </a:r>
            <a:endParaRPr lang="en-US" sz="1200" dirty="0"/>
          </a:p>
        </p:txBody>
      </p:sp>
      <p:sp>
        <p:nvSpPr>
          <p:cNvPr id="25" name="Shape 23"/>
          <p:cNvSpPr/>
          <p:nvPr/>
        </p:nvSpPr>
        <p:spPr>
          <a:xfrm>
            <a:off x="566928" y="4416552"/>
            <a:ext cx="11057839" cy="566928"/>
          </a:xfrm>
          <a:prstGeom prst="rect">
            <a:avLst/>
          </a:prstGeom>
          <a:solidFill>
            <a:srgbClr val="EEF3F8"/>
          </a:solidFill>
          <a:ln w="12700">
            <a:solidFill>
              <a:srgbClr val="D6E2EE"/>
            </a:solidFill>
            <a:prstDash val="solid"/>
          </a:ln>
        </p:spPr>
      </p:sp>
      <p:sp>
        <p:nvSpPr>
          <p:cNvPr id="26" name="Shape 24"/>
          <p:cNvSpPr/>
          <p:nvPr/>
        </p:nvSpPr>
        <p:spPr>
          <a:xfrm>
            <a:off x="713232" y="4507992"/>
            <a:ext cx="384048" cy="384048"/>
          </a:xfrm>
          <a:prstGeom prst="ellipse">
            <a:avLst/>
          </a:prstGeom>
          <a:solidFill>
            <a:srgbClr val="1A5EA8"/>
          </a:solidFill>
          <a:ln/>
        </p:spPr>
      </p:sp>
      <p:sp>
        <p:nvSpPr>
          <p:cNvPr id="27" name="Text 25"/>
          <p:cNvSpPr/>
          <p:nvPr/>
        </p:nvSpPr>
        <p:spPr>
          <a:xfrm>
            <a:off x="713232" y="4507992"/>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8" name="Text 26"/>
          <p:cNvSpPr/>
          <p:nvPr/>
        </p:nvSpPr>
        <p:spPr>
          <a:xfrm>
            <a:off x="1225296" y="4416552"/>
            <a:ext cx="5750076" cy="566928"/>
          </a:xfrm>
          <a:prstGeom prst="rect">
            <a:avLst/>
          </a:prstGeom>
          <a:noFill/>
          <a:ln/>
        </p:spPr>
        <p:txBody>
          <a:bodyPr wrap="square" rtlCol="0" anchor="ctr"/>
          <a:lstStyle/>
          <a:p>
            <a:pPr indent="0" marL="0">
              <a:lnSpc>
                <a:spcPts val="1900"/>
              </a:lnSpc>
              <a:buNone/>
            </a:pPr>
            <a:r>
              <a:rPr lang="en-US" sz="1400" dirty="0">
                <a:solidFill>
                  <a:srgbClr val="14233A"/>
                </a:solidFill>
                <a:latin typeface="Arial" pitchFamily="34" charset="0"/>
                <a:ea typeface="Arial" pitchFamily="34" charset="-122"/>
                <a:cs typeface="Arial" pitchFamily="34" charset="-120"/>
              </a:rPr>
              <a:t>Chờ bảng kết quả nạp; sau đó mở Danh sách hồ sơ xem kết quả kiểm lỗi</a:t>
            </a:r>
            <a:endParaRPr lang="en-US" sz="1400" dirty="0"/>
          </a:p>
        </p:txBody>
      </p:sp>
      <p:sp>
        <p:nvSpPr>
          <p:cNvPr id="29" name="Text 27"/>
          <p:cNvSpPr/>
          <p:nvPr/>
        </p:nvSpPr>
        <p:spPr>
          <a:xfrm>
            <a:off x="7085951" y="4416552"/>
            <a:ext cx="4088209" cy="56692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Mỗi dòng cho biết Thành công hay Thất bại, kèm mã hồ sơ và số dòng đọc được</a:t>
            </a:r>
            <a:endParaRPr lang="en-US" sz="1200" dirty="0"/>
          </a:p>
        </p:txBody>
      </p:sp>
      <p:sp>
        <p:nvSpPr>
          <p:cNvPr id="30" name="Shape 28"/>
          <p:cNvSpPr/>
          <p:nvPr/>
        </p:nvSpPr>
        <p:spPr>
          <a:xfrm>
            <a:off x="566928" y="5074920"/>
            <a:ext cx="11057839" cy="1051560"/>
          </a:xfrm>
          <a:prstGeom prst="rect">
            <a:avLst/>
          </a:prstGeom>
          <a:solidFill>
            <a:srgbClr val="FDECEC"/>
          </a:solidFill>
          <a:ln w="12700">
            <a:solidFill>
              <a:srgbClr val="FDECEC"/>
            </a:solidFill>
            <a:prstDash val="solid"/>
          </a:ln>
        </p:spPr>
      </p:sp>
      <p:sp>
        <p:nvSpPr>
          <p:cNvPr id="31" name="Shape 29"/>
          <p:cNvSpPr/>
          <p:nvPr/>
        </p:nvSpPr>
        <p:spPr>
          <a:xfrm>
            <a:off x="566928" y="5074920"/>
            <a:ext cx="64008" cy="1051560"/>
          </a:xfrm>
          <a:prstGeom prst="rect">
            <a:avLst/>
          </a:prstGeom>
          <a:solidFill>
            <a:srgbClr val="C62828"/>
          </a:solidFill>
          <a:ln w="12700">
            <a:solidFill>
              <a:srgbClr val="C62828"/>
            </a:solidFill>
            <a:prstDash val="solid"/>
          </a:ln>
        </p:spPr>
      </p:sp>
      <p:sp>
        <p:nvSpPr>
          <p:cNvPr id="32" name="Text 30"/>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Quy tắc khớp mã cơ sở rất chặt: </a:t>
            </a:r>
            <a:pPr indent="0" marL="0">
              <a:lnSpc>
                <a:spcPts val="1900"/>
              </a:lnSpc>
              <a:buNone/>
            </a:pPr>
            <a:r>
              <a:rPr lang="en-US" sz="1300" dirty="0">
                <a:solidFill>
                  <a:srgbClr val="14233A"/>
                </a:solidFill>
                <a:latin typeface="Arial" pitchFamily="34" charset="0"/>
                <a:ea typeface="Arial" pitchFamily="34" charset="-122"/>
                <a:cs typeface="Arial" pitchFamily="34" charset="-120"/>
              </a:rPr>
              <a:t>Phần mềm đối chiếu TOÀN BỘ giá trị cột MA_CSKCB trong tệp với mã cơ sở đã chọn. Chỉ cần MỘT dòng lệch là cả tệp bị từ chối, không nạp một phần. Lý do: mã cơ sở quyết định tài khoản gửi lên cổng — lệch nhau thì cổng vẫn nhận và danh mục bị ghi sang nhầm đơn vị, hỏng lặng lẽ.</a:t>
            </a:r>
            <a:endParaRPr lang="en-US" sz="1300" dirty="0"/>
          </a:p>
        </p:txBody>
      </p:sp>
      <p:sp>
        <p:nvSpPr>
          <p:cNvPr id="34" name="Shape 31"/>
          <p:cNvSpPr/>
          <p:nvPr/>
        </p:nvSpPr>
        <p:spPr>
          <a:xfrm>
            <a:off x="566928" y="6382512"/>
            <a:ext cx="11057839" cy="0"/>
          </a:xfrm>
          <a:prstGeom prst="line">
            <a:avLst/>
          </a:prstGeom>
          <a:noFill/>
          <a:ln w="9525">
            <a:solidFill>
              <a:srgbClr val="D6E2EE"/>
            </a:solidFill>
            <a:prstDash val="solid"/>
          </a:ln>
        </p:spPr>
      </p:sp>
      <p:sp>
        <p:nvSpPr>
          <p:cNvPr id="35" name="Text 32"/>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36" name="Text 33"/>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72 / 80</a:t>
            </a:r>
            <a:endParaRPr lang="en-US" sz="8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09 / MỤC 7.7 – 7.9</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Ký, gửi, đồng bộ và hai nút cứu hộ</a:t>
            </a:r>
            <a:endParaRPr lang="en-US" sz="2600" dirty="0"/>
          </a:p>
        </p:txBody>
      </p:sp>
      <p:sp>
        <p:nvSpPr>
          <p:cNvPr id="4" name="Text 2"/>
          <p:cNvSpPr/>
          <p:nvPr/>
        </p:nvSpPr>
        <p:spPr>
          <a:xfrm>
            <a:off x="566928" y="1325880"/>
            <a:ext cx="11057839" cy="4114800"/>
          </a:xfrm>
          <a:prstGeom prst="rect">
            <a:avLst/>
          </a:prstGeom>
          <a:noFill/>
          <a:ln/>
        </p:spPr>
        <p:txBody>
          <a:bodyPr wrap="square" rtlCol="0" anchor="t"/>
          <a:lstStyle/>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Bấm "Ký và gửi" MỘT lần là phần mềm chạy trọn cả hai bước: ký số trước, ký xong tự gửi</a:t>
            </a:r>
            <a:endParaRPr lang="en-US" sz="1600" dirty="0"/>
          </a:p>
          <a:p>
            <a:pPr marL="342900" indent="-342900">
              <a:lnSpc>
                <a:spcPts val="2400"/>
              </a:lnSpc>
              <a:spcAft>
                <a:spcPts val="200"/>
              </a:spcAft>
              <a:buSzPct val="100000"/>
              <a:buChar char="▪"/>
            </a:pPr>
            <a:r>
              <a:rPr lang="en-US" sz="1600" b="1" dirty="0">
                <a:solidFill>
                  <a:srgbClr val="14233A"/>
                </a:solidFill>
                <a:latin typeface="Arial" pitchFamily="34" charset="0"/>
                <a:ea typeface="Arial" pitchFamily="34" charset="-122"/>
                <a:cs typeface="Arial" pitchFamily="34" charset="-120"/>
              </a:rPr>
              <a:t>Hai bước chạy ở hai hàng đợi riêng nên kết quả xuất hiện dần: cột Đã ký đổi trước, lát sau mới có Mã giao dịch</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   Bấm xong không thấy gì đổi ngay là bình thường — chờ vài giây rồi bấm Tải dữ liệu</a:t>
            </a:r>
            <a:endParaRPr lang="en-US" sz="1600" dirty="0"/>
          </a:p>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Bấm lại khi lượt trước còn chạy: phần mềm báo "đang xử lý ở một lượt khác" — đây là chốt chống gửi trùng</a:t>
            </a:r>
            <a:endParaRPr lang="en-US" sz="1600" dirty="0"/>
          </a:p>
          <a:p>
            <a:pPr marL="342900" indent="-342900">
              <a:lnSpc>
                <a:spcPts val="2400"/>
              </a:lnSpc>
              <a:spcAft>
                <a:spcPts val="200"/>
              </a:spcAft>
              <a:buSzPct val="100000"/>
              <a:buChar char="▪"/>
            </a:pPr>
            <a:r>
              <a:rPr lang="en-US" sz="1600" b="1" dirty="0">
                <a:solidFill>
                  <a:srgbClr val="14233A"/>
                </a:solidFill>
                <a:latin typeface="Arial" pitchFamily="34" charset="0"/>
                <a:ea typeface="Arial" pitchFamily="34" charset="-122"/>
                <a:cs typeface="Arial" pitchFamily="34" charset="-120"/>
              </a:rPr>
              <a:t>Gửi nhiều: tích chọn rồi bấm "Ký và gửi đã chọn", tối đa 50 hồ sơ mỗi lượt</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   Đọc kỹ danh sách hồ sơ BỊ BỎ QUA trong bảng kết quả — đó chính là những hồ sơ chưa đi</a:t>
            </a:r>
            <a:endParaRPr lang="en-US" sz="1600" dirty="0"/>
          </a:p>
          <a:p>
            <a:pPr marL="342900" indent="-342900">
              <a:lnSpc>
                <a:spcPts val="2400"/>
              </a:lnSpc>
              <a:spcAft>
                <a:spcPts val="1000"/>
              </a:spcAft>
              <a:buSzPct val="100000"/>
              <a:buChar char="▪"/>
            </a:pPr>
            <a:r>
              <a:rPr lang="en-US" sz="1600" b="1" dirty="0">
                <a:solidFill>
                  <a:srgbClr val="2E7D32"/>
                </a:solidFill>
                <a:latin typeface="Arial" pitchFamily="34" charset="0"/>
                <a:ea typeface="Arial" pitchFamily="34" charset="-122"/>
                <a:cs typeface="Arial" pitchFamily="34" charset="-120"/>
              </a:rPr>
              <a:t>Cổng trả mã 200 → phần mềm tự ghi toàn bộ dòng sang bộ danh mục, cột "Đã đồng bộ" chuyển trạng thái</a:t>
            </a:r>
            <a:endParaRPr lang="en-US" sz="1600" dirty="0"/>
          </a:p>
          <a:p>
            <a:pPr marL="342900" indent="-342900">
              <a:lnSpc>
                <a:spcPts val="2400"/>
              </a:lnSpc>
              <a:spcAft>
                <a:spcPts val="200"/>
              </a:spcAft>
              <a:buSzPct val="100000"/>
              <a:buChar char="▪"/>
            </a:pPr>
            <a:r>
              <a:rPr lang="en-US" sz="1600" b="1" dirty="0">
                <a:solidFill>
                  <a:srgbClr val="1F4E79"/>
                </a:solidFill>
                <a:latin typeface="Arial" pitchFamily="34" charset="0"/>
                <a:ea typeface="Arial" pitchFamily="34" charset="-122"/>
                <a:cs typeface="Arial" pitchFamily="34" charset="-120"/>
              </a:rPr>
              <a:t>Hai nút cứu hộ (chỉ tài khoản quản trị cao nhất, chỉ hiện đúng lúc cần):</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   "Kiểm lại" khi hồ sơ kẹt ở chưa kiểm · "Đồng bộ lại danh mục" khi cổng đã tiếp nhận nhưng cột Đã đồng bộ vẫn trống — KHÔNG gửi lại lên cổng</a:t>
            </a:r>
            <a:endParaRPr lang="en-US" sz="1600" dirty="0"/>
          </a:p>
        </p:txBody>
      </p:sp>
      <p:sp>
        <p:nvSpPr>
          <p:cNvPr id="5" name="Shape 3"/>
          <p:cNvSpPr/>
          <p:nvPr/>
        </p:nvSpPr>
        <p:spPr>
          <a:xfrm>
            <a:off x="566928" y="5074920"/>
            <a:ext cx="11057839" cy="1051560"/>
          </a:xfrm>
          <a:prstGeom prst="rect">
            <a:avLst/>
          </a:prstGeom>
          <a:solidFill>
            <a:srgbClr val="FFF4E6"/>
          </a:solidFill>
          <a:ln w="12700">
            <a:solidFill>
              <a:srgbClr val="FFF4E6"/>
            </a:solidFill>
            <a:prstDash val="solid"/>
          </a:ln>
        </p:spPr>
      </p:sp>
      <p:sp>
        <p:nvSpPr>
          <p:cNvPr id="6" name="Shape 4"/>
          <p:cNvSpPr/>
          <p:nvPr/>
        </p:nvSpPr>
        <p:spPr>
          <a:xfrm>
            <a:off x="566928" y="5074920"/>
            <a:ext cx="64008" cy="1051560"/>
          </a:xfrm>
          <a:prstGeom prst="rect">
            <a:avLst/>
          </a:prstGeom>
          <a:solidFill>
            <a:srgbClr val="C96A12"/>
          </a:solidFill>
          <a:ln w="12700">
            <a:solidFill>
              <a:srgbClr val="C96A12"/>
            </a:solidFill>
            <a:prstDash val="solid"/>
          </a:ln>
        </p:spPr>
      </p:sp>
      <p:sp>
        <p:nvSpPr>
          <p:cNvPr id="7" name="Text 5"/>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Mã kết quả cổng trả về: </a:t>
            </a:r>
            <a:pPr indent="0" marL="0">
              <a:lnSpc>
                <a:spcPts val="1900"/>
              </a:lnSpc>
              <a:buNone/>
            </a:pPr>
            <a:r>
              <a:rPr lang="en-US" sz="1300" dirty="0">
                <a:solidFill>
                  <a:srgbClr val="14233A"/>
                </a:solidFill>
                <a:latin typeface="Arial" pitchFamily="34" charset="0"/>
                <a:ea typeface="Arial" pitchFamily="34" charset="-122"/>
                <a:cs typeface="Arial" pitchFamily="34" charset="-120"/>
              </a:rPr>
              <a:t>200 = tiếp nhận thành công · 123/124/125/202/204/205 = lỗi nội dung tệp, sửa Excel rồi nạp lại thành hồ sơ mới · 401/402/403 = mã cơ sở, tài khoản hoặc quyền, báo CNTT · 500 = lỗi phía cổng, phần mềm tự thử lại tối đa ba lần.</a:t>
            </a:r>
            <a:endParaRPr lang="en-US" sz="1300" dirty="0"/>
          </a:p>
        </p:txBody>
      </p:sp>
      <p:sp>
        <p:nvSpPr>
          <p:cNvPr id="9" name="Shape 6"/>
          <p:cNvSpPr/>
          <p:nvPr/>
        </p:nvSpPr>
        <p:spPr>
          <a:xfrm>
            <a:off x="566928" y="6382512"/>
            <a:ext cx="11057839" cy="0"/>
          </a:xfrm>
          <a:prstGeom prst="line">
            <a:avLst/>
          </a:prstGeom>
          <a:noFill/>
          <a:ln w="9525">
            <a:solidFill>
              <a:srgbClr val="D6E2EE"/>
            </a:solidFill>
            <a:prstDash val="solid"/>
          </a:ln>
        </p:spPr>
      </p:sp>
      <p:sp>
        <p:nvSpPr>
          <p:cNvPr id="10" name="Text 7"/>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1" name="Text 8"/>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73 / 80</a:t>
            </a:r>
            <a:endParaRPr lang="en-US" sz="8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09 / MỤC 7.10BIS VÀ 7.12</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Xuất XML kèm chữ ký số và Dashboard độ phủ</a:t>
            </a:r>
            <a:endParaRPr lang="en-US" sz="2600" dirty="0"/>
          </a:p>
        </p:txBody>
      </p:sp>
      <p:sp>
        <p:nvSpPr>
          <p:cNvPr id="4" name="Text 2"/>
          <p:cNvSpPr/>
          <p:nvPr/>
        </p:nvSpPr>
        <p:spPr>
          <a:xfrm>
            <a:off x="566928" y="1325880"/>
            <a:ext cx="11057839" cy="4114800"/>
          </a:xfrm>
          <a:prstGeom prst="rect">
            <a:avLst/>
          </a:prstGeom>
          <a:noFill/>
          <a:ln/>
        </p:spPr>
        <p:txBody>
          <a:bodyPr wrap="square" rtlCol="0" anchor="t"/>
          <a:lstStyle/>
          <a:p>
            <a:pPr marL="342900" indent="-342900">
              <a:lnSpc>
                <a:spcPts val="2400"/>
              </a:lnSpc>
              <a:spcAft>
                <a:spcPts val="200"/>
              </a:spcAft>
              <a:buSzPct val="100000"/>
              <a:buChar char="▪"/>
            </a:pPr>
            <a:r>
              <a:rPr lang="en-US" sz="1600" b="1" dirty="0">
                <a:solidFill>
                  <a:srgbClr val="14233A"/>
                </a:solidFill>
                <a:latin typeface="Arial" pitchFamily="34" charset="0"/>
                <a:ea typeface="Arial" pitchFamily="34" charset="-122"/>
                <a:cs typeface="Arial" pitchFamily="34" charset="-120"/>
              </a:rPr>
              <a:t>Xuất XML: tích chọn hồ sơ (dùng chung ô tích với nút Ký và gửi) rồi bấm "Xuất XML đã chọn"</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   Một hồ sơ thì tải thẳng tệp .xml; nhiều hồ sơ thì tải về ZIP. Tối đa 50 hồ sơ mỗi lượt</a:t>
            </a:r>
            <a:endParaRPr lang="en-US" sz="1600" dirty="0"/>
          </a:p>
          <a:p>
            <a:pPr marL="342900" indent="-342900">
              <a:lnSpc>
                <a:spcPts val="2400"/>
              </a:lnSpc>
              <a:spcAft>
                <a:spcPts val="200"/>
              </a:spcAft>
              <a:buSzPct val="100000"/>
              <a:buChar char="▪"/>
            </a:pPr>
            <a:r>
              <a:rPr lang="en-US" sz="1600" b="1" dirty="0">
                <a:solidFill>
                  <a:srgbClr val="1F4E79"/>
                </a:solidFill>
                <a:latin typeface="Arial" pitchFamily="34" charset="0"/>
                <a:ea typeface="Arial" pitchFamily="34" charset="-122"/>
                <a:cs typeface="Arial" pitchFamily="34" charset="-120"/>
              </a:rPr>
              <a:t>Đọc TÊN TỆP để phân biệt hai loại bản xuất:</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   …-da-ky.xml = bản THẬT đã ký và đã gửi, dùng để đối chiếu với cơ quan bảo hiểm · …-chua-ky.xml = bản dựng lại để xem trước, thẻ chữ ký để trống</a:t>
            </a:r>
            <a:endParaRPr lang="en-US" sz="1600" dirty="0"/>
          </a:p>
          <a:p>
            <a:pPr marL="342900" indent="-342900">
              <a:lnSpc>
                <a:spcPts val="2400"/>
              </a:lnSpc>
              <a:spcAft>
                <a:spcPts val="200"/>
              </a:spcAft>
              <a:buSzPct val="100000"/>
              <a:buChar char="▪"/>
            </a:pPr>
            <a:r>
              <a:rPr lang="en-US" sz="1600" b="1" dirty="0">
                <a:solidFill>
                  <a:srgbClr val="14233A"/>
                </a:solidFill>
                <a:latin typeface="Arial" pitchFamily="34" charset="0"/>
                <a:ea typeface="Arial" pitchFamily="34" charset="-122"/>
                <a:cs typeface="Arial" pitchFamily="34" charset="-120"/>
              </a:rPr>
              <a:t>Mỗi ZIP luôn kèm tệp _ke-khai.csv liệt kê từng hồ sơ: mã, mẫu, tình trạng và lý do</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   Thiếu tệp XML trong ZIP thì mở tệp kê là biết ngay vì sao</a:t>
            </a:r>
            <a:endParaRPr lang="en-US" sz="1600" dirty="0"/>
          </a:p>
          <a:p>
            <a:pPr marL="342900" indent="-342900">
              <a:lnSpc>
                <a:spcPts val="2400"/>
              </a:lnSpc>
              <a:spcAft>
                <a:spcPts val="1000"/>
              </a:spcAft>
              <a:buSzPct val="100000"/>
              <a:buChar char="▪"/>
            </a:pPr>
            <a:r>
              <a:rPr lang="en-US" sz="1600" b="1" dirty="0">
                <a:solidFill>
                  <a:srgbClr val="14233A"/>
                </a:solidFill>
                <a:latin typeface="Arial" pitchFamily="34" charset="0"/>
                <a:ea typeface="Arial" pitchFamily="34" charset="-122"/>
                <a:cs typeface="Arial" pitchFamily="34" charset="-120"/>
              </a:rPr>
              <a:t>Dashboard độ phủ: lưới 6 hàng (sáu mẫu) × các cột là cơ sở KCB</a:t>
            </a:r>
            <a:endParaRPr lang="en-US" sz="1600" dirty="0"/>
          </a:p>
          <a:p>
            <a:pPr marL="342900" indent="-342900">
              <a:lnSpc>
                <a:spcPts val="2400"/>
              </a:lnSpc>
              <a:spcAft>
                <a:spcPts val="200"/>
              </a:spcAft>
              <a:buSzPct val="100000"/>
              <a:buChar char="▪"/>
            </a:pPr>
            <a:r>
              <a:rPr lang="en-US" sz="1600" b="1" dirty="0">
                <a:solidFill>
                  <a:srgbClr val="14233A"/>
                </a:solidFill>
                <a:latin typeface="Arial" pitchFamily="34" charset="0"/>
                <a:ea typeface="Arial" pitchFamily="34" charset="-122"/>
                <a:cs typeface="Arial" pitchFamily="34" charset="-120"/>
              </a:rPr>
              <a:t>Ô "Đã tiếp nhận" kèm ngày và số dòng của LẦN GỬI GẦN NHẤT; ô "Chưa gửi" gộp cả chưa nộp lẫn bị từ chối</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   Muốn biết là trường hợp nào thì xem khối "Hồ sơ đang dở dang" bên dưới</a:t>
            </a:r>
            <a:endParaRPr lang="en-US" sz="1600" dirty="0"/>
          </a:p>
        </p:txBody>
      </p:sp>
      <p:sp>
        <p:nvSpPr>
          <p:cNvPr id="5" name="Shape 3"/>
          <p:cNvSpPr/>
          <p:nvPr/>
        </p:nvSpPr>
        <p:spPr>
          <a:xfrm>
            <a:off x="566928" y="5074920"/>
            <a:ext cx="11057839" cy="1051560"/>
          </a:xfrm>
          <a:prstGeom prst="rect">
            <a:avLst/>
          </a:prstGeom>
          <a:solidFill>
            <a:srgbClr val="FFF4E6"/>
          </a:solidFill>
          <a:ln w="12700">
            <a:solidFill>
              <a:srgbClr val="FFF4E6"/>
            </a:solidFill>
            <a:prstDash val="solid"/>
          </a:ln>
        </p:spPr>
      </p:sp>
      <p:sp>
        <p:nvSpPr>
          <p:cNvPr id="6" name="Shape 4"/>
          <p:cNvSpPr/>
          <p:nvPr/>
        </p:nvSpPr>
        <p:spPr>
          <a:xfrm>
            <a:off x="566928" y="5074920"/>
            <a:ext cx="64008" cy="1051560"/>
          </a:xfrm>
          <a:prstGeom prst="rect">
            <a:avLst/>
          </a:prstGeom>
          <a:solidFill>
            <a:srgbClr val="C96A12"/>
          </a:solidFill>
          <a:ln w="12700">
            <a:solidFill>
              <a:srgbClr val="C96A12"/>
            </a:solidFill>
            <a:prstDash val="solid"/>
          </a:ln>
        </p:spPr>
      </p:sp>
      <p:sp>
        <p:nvSpPr>
          <p:cNvPr id="7" name="Text 5"/>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Dashboard không có bộ lọc thời gian — đó là cố ý: </a:t>
            </a:r>
            <a:pPr indent="0" marL="0">
              <a:lnSpc>
                <a:spcPts val="1900"/>
              </a:lnSpc>
              <a:buNone/>
            </a:pPr>
            <a:r>
              <a:rPr lang="en-US" sz="1300" dirty="0">
                <a:solidFill>
                  <a:srgbClr val="14233A"/>
                </a:solidFill>
                <a:latin typeface="Arial" pitchFamily="34" charset="0"/>
                <a:ea typeface="Arial" pitchFamily="34" charset="-122"/>
                <a:cs typeface="Arial" pitchFamily="34" charset="-120"/>
              </a:rPr>
              <a:t>Câu hỏi "đã được cổng tiếp nhận hay chưa" là câu hỏi trên toàn bộ thời gian; giới hạn theo khoảng ngày sẽ làm một mẫu gửi từ lâu hiện thành chưa gửi. Thông tư 12 cũng không quy định chu kỳ gửi cố định — danh mục chỉ gửi khi có thay đổi.</a:t>
            </a:r>
            <a:endParaRPr lang="en-US" sz="1300" dirty="0"/>
          </a:p>
        </p:txBody>
      </p:sp>
      <p:sp>
        <p:nvSpPr>
          <p:cNvPr id="9" name="Shape 6"/>
          <p:cNvSpPr/>
          <p:nvPr/>
        </p:nvSpPr>
        <p:spPr>
          <a:xfrm>
            <a:off x="566928" y="6382512"/>
            <a:ext cx="11057839" cy="0"/>
          </a:xfrm>
          <a:prstGeom prst="line">
            <a:avLst/>
          </a:prstGeom>
          <a:noFill/>
          <a:ln w="9525">
            <a:solidFill>
              <a:srgbClr val="D6E2EE"/>
            </a:solidFill>
            <a:prstDash val="solid"/>
          </a:ln>
        </p:spPr>
      </p:sp>
      <p:sp>
        <p:nvSpPr>
          <p:cNvPr id="10" name="Text 7"/>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1" name="Text 8"/>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74 / 80</a:t>
            </a:r>
            <a:endParaRPr lang="en-US" sz="8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A9FD8"/>
          </a:solidFill>
          <a:ln w="12700">
            <a:solidFill>
              <a:srgbClr val="2A9FD8"/>
            </a:solidFill>
            <a:prstDash val="solid"/>
          </a:ln>
        </p:spPr>
      </p:sp>
      <p:sp>
        <p:nvSpPr>
          <p:cNvPr id="3" name="Text 1"/>
          <p:cNvSpPr/>
          <p:nvPr/>
        </p:nvSpPr>
        <p:spPr>
          <a:xfrm>
            <a:off x="822960" y="2011680"/>
            <a:ext cx="1828800" cy="1371600"/>
          </a:xfrm>
          <a:prstGeom prst="rect">
            <a:avLst/>
          </a:prstGeom>
          <a:noFill/>
          <a:ln/>
        </p:spPr>
        <p:txBody>
          <a:bodyPr wrap="square" rtlCol="0" anchor="ctr"/>
          <a:lstStyle/>
          <a:p>
            <a:pPr indent="0" marL="0">
              <a:buNone/>
            </a:pPr>
            <a:r>
              <a:rPr lang="en-US" sz="8000" b="1" dirty="0">
                <a:solidFill>
                  <a:srgbClr val="2A9FD8"/>
                </a:solidFill>
                <a:latin typeface="Arial" pitchFamily="34" charset="0"/>
                <a:ea typeface="Arial" pitchFamily="34" charset="-122"/>
                <a:cs typeface="Arial" pitchFamily="34" charset="-120"/>
              </a:rPr>
              <a:t>10</a:t>
            </a:r>
            <a:endParaRPr lang="en-US" sz="8000" dirty="0"/>
          </a:p>
        </p:txBody>
      </p:sp>
      <p:sp>
        <p:nvSpPr>
          <p:cNvPr id="4" name="Text 2"/>
          <p:cNvSpPr/>
          <p:nvPr/>
        </p:nvSpPr>
        <p:spPr>
          <a:xfrm>
            <a:off x="2651760" y="2148840"/>
            <a:ext cx="8808415" cy="9144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Phân công, tình huống và giới hạn</a:t>
            </a:r>
            <a:endParaRPr lang="en-US" sz="3200" dirty="0"/>
          </a:p>
        </p:txBody>
      </p:sp>
      <p:sp>
        <p:nvSpPr>
          <p:cNvPr id="5" name="Text 3"/>
          <p:cNvSpPr/>
          <p:nvPr/>
        </p:nvSpPr>
        <p:spPr>
          <a:xfrm>
            <a:off x="2651760" y="3108960"/>
            <a:ext cx="8808415" cy="822960"/>
          </a:xfrm>
          <a:prstGeom prst="rect">
            <a:avLst/>
          </a:prstGeom>
          <a:noFill/>
          <a:ln/>
        </p:spPr>
        <p:txBody>
          <a:bodyPr wrap="square" rtlCol="0" anchor="t"/>
          <a:lstStyle/>
          <a:p>
            <a:pPr indent="0" marL="0">
              <a:lnSpc>
                <a:spcPts val="2200"/>
              </a:lnSpc>
              <a:buNone/>
            </a:pPr>
            <a:r>
              <a:rPr lang="en-US" sz="1500" dirty="0">
                <a:solidFill>
                  <a:srgbClr val="A9C4DC"/>
                </a:solidFill>
                <a:latin typeface="Arial" pitchFamily="34" charset="0"/>
                <a:ea typeface="Arial" pitchFamily="34" charset="-122"/>
                <a:cs typeface="Arial" pitchFamily="34" charset="-120"/>
              </a:rPr>
              <a:t>Ai làm gì · Tình huống thường gặp · Những gì phần mềm chưa làm được</a:t>
            </a:r>
            <a:endParaRPr lang="en-US" sz="15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10 / RANH GIỚI TRÁCH NHIỆM</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Ai làm gì</a:t>
            </a:r>
            <a:endParaRPr lang="en-US" sz="26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57839" cy="914400"/>
        </p:xfrm>
        <a:graphic>
          <a:graphicData uri="http://schemas.openxmlformats.org/drawingml/2006/table">
            <a:tbl>
              <a:tblPr/>
              <a:tblGrid>
                <a:gridCol w="1790317"/>
                <a:gridCol w="4844387"/>
                <a:gridCol w="4423136"/>
              </a:tblGrid>
              <a:tr h="0">
                <a:tc>
                  <a:txBody>
                    <a:bodyPr/>
                    <a:lstStyle/>
                    <a:p>
                      <a:pPr indent="0" marL="0">
                        <a:buNone/>
                      </a:pPr>
                      <a:r>
                        <a:rPr lang="en-US" sz="1300" b="1" dirty="0">
                          <a:solidFill>
                            <a:srgbClr val="FFFFFF"/>
                          </a:solidFill>
                          <a:latin typeface="Arial" pitchFamily="34" charset="0"/>
                          <a:ea typeface="Arial" pitchFamily="34" charset="-122"/>
                          <a:cs typeface="Arial" pitchFamily="34" charset="-120"/>
                        </a:rPr>
                        <a:t>Khối</a:t>
                      </a:r>
                      <a:endParaRPr lang="en-US" sz="13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Tự làm</a:t>
                      </a:r>
                      <a:endParaRPr lang="en-US" sz="13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Báo công nghệ thông tin / cơ quan BHXH</a:t>
                      </a:r>
                      <a:endParaRPr lang="en-US" sz="13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1A5EA8"/>
                    </a:solidFill>
                  </a:tcPr>
                </a:tc>
              </a:tr>
              <a:tr h="0">
                <a:tc>
                  <a:txBody>
                    <a:bodyPr/>
                    <a:lstStyle/>
                    <a:p>
                      <a:pPr indent="0" marL="0">
                        <a:buNone/>
                      </a:pPr>
                      <a:r>
                        <a:rPr lang="en-US" sz="1300" b="1" dirty="0">
                          <a:solidFill>
                            <a:srgbClr val="14233A"/>
                          </a:solidFill>
                          <a:latin typeface="Arial" pitchFamily="34" charset="0"/>
                          <a:ea typeface="Arial" pitchFamily="34" charset="-122"/>
                          <a:cs typeface="Arial" pitchFamily="34" charset="-120"/>
                        </a:rPr>
                        <a:t>Các khoa lâm sàng</a:t>
                      </a:r>
                      <a:endParaRPr lang="en-US" sz="13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300" dirty="0">
                          <a:solidFill>
                            <a:srgbClr val="14233A"/>
                          </a:solidFill>
                          <a:latin typeface="Arial" pitchFamily="34" charset="0"/>
                          <a:ea typeface="Arial" pitchFamily="34" charset="-122"/>
                          <a:cs typeface="Arial" pitchFamily="34" charset="-120"/>
                        </a:rPr>
                        <a:t>Sửa dữ liệu gốc trên HIS: y lệnh, ICD, giờ y lệnh, người thực hiện, chứng chỉ hành nghề; thông tin hành chính lệch với cổng (họ tên, ngày sinh, giới tính, nơi ĐKBĐ). Đánh dấu Đã xử lý / Bỏ qua kèm ghi chú. Quét mã tra lỗi, in phiếu lỗi</a:t>
                      </a:r>
                      <a:endParaRPr lang="en-US" sz="13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c>
                  <a:txBody>
                    <a:bodyPr/>
                    <a:lstStyle/>
                    <a:p>
                      <a:pPr indent="0" marL="0">
                        <a:buNone/>
                      </a:pPr>
                      <a:r>
                        <a:rPr lang="en-US" sz="1300" dirty="0">
                          <a:solidFill>
                            <a:srgbClr val="14233A"/>
                          </a:solidFill>
                          <a:latin typeface="Arial" pitchFamily="34" charset="0"/>
                          <a:ea typeface="Arial" pitchFamily="34" charset="-122"/>
                          <a:cs typeface="Arial" pitchFamily="34" charset="-120"/>
                        </a:rPr>
                        <a:t>Bộ quét dừng (cột "Chạy gần nhất" quá vài phút, cột "Lỗi" khác 0). Thiếu quyền, không thấy menu. "Không lấy được thông tin từ HIS"</a:t>
                      </a:r>
                      <a:endParaRPr lang="en-US" sz="13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EEF3F8"/>
                    </a:solidFill>
                  </a:tcPr>
                </a:tc>
              </a:tr>
              <a:tr h="0">
                <a:tc>
                  <a:txBody>
                    <a:bodyPr/>
                    <a:lstStyle/>
                    <a:p>
                      <a:pPr indent="0" marL="0">
                        <a:buNone/>
                      </a:pPr>
                      <a:r>
                        <a:rPr lang="en-US" sz="1300" b="1" dirty="0">
                          <a:solidFill>
                            <a:srgbClr val="14233A"/>
                          </a:solidFill>
                          <a:latin typeface="Arial" pitchFamily="34" charset="0"/>
                          <a:ea typeface="Arial" pitchFamily="34" charset="-122"/>
                          <a:cs typeface="Arial" pitchFamily="34" charset="-120"/>
                        </a:rPr>
                        <a:t>Các phòng ban chức năng</a:t>
                      </a:r>
                      <a:endParaRPr lang="en-US" sz="13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300" dirty="0">
                          <a:solidFill>
                            <a:srgbClr val="14233A"/>
                          </a:solidFill>
                          <a:latin typeface="Arial" pitchFamily="34" charset="0"/>
                          <a:ea typeface="Arial" pitchFamily="34" charset="-122"/>
                          <a:cs typeface="Arial" pitchFamily="34" charset="-120"/>
                        </a:rPr>
                        <a:t>Nạp và theo dõi hồ sơ XML, giao việc theo khoa. Nhập danh mục BHYT, đặt mức lỗi. Ký và gửi chứng từ điện tử, danh mục TT12. Giữ mã giao dịch để đối soát. Tra MCCT: đọc mốc "tính đến …", kiểm riêng vế 5 năm liên tục</a:t>
                      </a:r>
                      <a:endParaRPr lang="en-US" sz="13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c>
                  <a:txBody>
                    <a:bodyPr/>
                    <a:lstStyle/>
                    <a:p>
                      <a:pPr indent="0" marL="0">
                        <a:buNone/>
                      </a:pPr>
                      <a:r>
                        <a:rPr lang="en-US" sz="1300" dirty="0">
                          <a:solidFill>
                            <a:srgbClr val="14233A"/>
                          </a:solidFill>
                          <a:latin typeface="Arial" pitchFamily="34" charset="0"/>
                          <a:ea typeface="Arial" pitchFamily="34" charset="-122"/>
                          <a:cs typeface="Arial" pitchFamily="34" charset="-120"/>
                        </a:rPr>
                        <a:t>Hàng đợi đứng, cả loạt "Chưa kiểm". Lỗi ký số (HSM, USB Token, chứng thư). Mã 401 / 403 từ cổng. Bật tắt tự gửi. Nạp mã lỗi mới sau nâng cấp. Tài khoản bị cổng hạn chế tra cứu → BHXH tỉnh. Lương cơ sở đổi → CNTT cập nhật</a:t>
                      </a:r>
                      <a:endParaRPr lang="en-US" sz="1300" dirty="0">
                        <a:latin typeface="Arial" charset="0"/>
                        <a:ea typeface="Arial" charset="0"/>
                        <a:cs typeface="Arial" charset="0"/>
                      </a:endParaRPr>
                    </a:p>
                  </a:txBody>
                  <a:tcPr marL="76200" marR="76200" marT="50800" marB="50800" anchor="ctr">
                    <a:lnL w="12700" cap="flat" cmpd="sng" algn="ctr">
                      <a:solidFill>
                        <a:srgbClr val="D6E2EE"/>
                      </a:solidFill>
                      <a:prstDash val="solid"/>
                      <a:round/>
                      <a:headEnd type="none" w="med" len="med"/>
                      <a:tailEnd type="none" w="med" len="med"/>
                    </a:lnL>
                    <a:lnR w="12700" cap="flat" cmpd="sng" algn="ctr">
                      <a:solidFill>
                        <a:srgbClr val="D6E2EE"/>
                      </a:solidFill>
                      <a:prstDash val="solid"/>
                      <a:round/>
                      <a:headEnd type="none" w="med" len="med"/>
                      <a:tailEnd type="none" w="med" len="med"/>
                    </a:lnR>
                    <a:lnT w="12700" cap="flat" cmpd="sng" algn="ctr">
                      <a:solidFill>
                        <a:srgbClr val="D6E2EE"/>
                      </a:solidFill>
                      <a:prstDash val="solid"/>
                      <a:round/>
                      <a:headEnd type="none" w="med" len="med"/>
                      <a:tailEnd type="none" w="med" len="med"/>
                    </a:lnT>
                    <a:lnB w="12700" cap="flat" cmpd="sng" algn="ctr">
                      <a:solidFill>
                        <a:srgbClr val="D6E2EE"/>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5074920"/>
            <a:ext cx="11057839" cy="1051560"/>
          </a:xfrm>
          <a:prstGeom prst="rect">
            <a:avLst/>
          </a:prstGeom>
          <a:solidFill>
            <a:srgbClr val="FFF4E6"/>
          </a:solidFill>
          <a:ln w="12700">
            <a:solidFill>
              <a:srgbClr val="FFF4E6"/>
            </a:solidFill>
            <a:prstDash val="solid"/>
          </a:ln>
        </p:spPr>
      </p:sp>
      <p:sp>
        <p:nvSpPr>
          <p:cNvPr id="6" name="Shape 3"/>
          <p:cNvSpPr/>
          <p:nvPr/>
        </p:nvSpPr>
        <p:spPr>
          <a:xfrm>
            <a:off x="566928" y="5074920"/>
            <a:ext cx="64008" cy="1051560"/>
          </a:xfrm>
          <a:prstGeom prst="rect">
            <a:avLst/>
          </a:prstGeom>
          <a:solidFill>
            <a:srgbClr val="C96A12"/>
          </a:solidFill>
          <a:ln w="12700">
            <a:solidFill>
              <a:srgbClr val="C96A12"/>
            </a:solidFill>
            <a:prstDash val="solid"/>
          </a:ln>
        </p:spPr>
      </p:sp>
      <p:sp>
        <p:nvSpPr>
          <p:cNvPr id="7" name="Text 4"/>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96A12"/>
                </a:solidFill>
                <a:latin typeface="Arial" pitchFamily="34" charset="0"/>
                <a:ea typeface="Arial" pitchFamily="34" charset="-122"/>
                <a:cs typeface="Arial" pitchFamily="34" charset="-120"/>
              </a:rPr>
              <a:t>Khi báo lên: </a:t>
            </a:r>
            <a:pPr indent="0" marL="0">
              <a:lnSpc>
                <a:spcPts val="1900"/>
              </a:lnSpc>
              <a:buNone/>
            </a:pPr>
            <a:r>
              <a:rPr lang="en-US" sz="1300" dirty="0">
                <a:solidFill>
                  <a:srgbClr val="14233A"/>
                </a:solidFill>
                <a:latin typeface="Arial" pitchFamily="34" charset="0"/>
                <a:ea typeface="Arial" pitchFamily="34" charset="-122"/>
                <a:cs typeface="Arial" pitchFamily="34" charset="-120"/>
              </a:rPr>
              <a:t>Gửi kèm nguyên văn thông báo (chụp màn hình), mã điều trị hoặc mã hồ sơ, cơ sở KCB và thời điểm xảy ra. Cột Sub có nút sao chép nguyên văn thông điệp cổng.</a:t>
            </a:r>
            <a:endParaRPr lang="en-US" sz="1300" dirty="0"/>
          </a:p>
        </p:txBody>
      </p:sp>
      <p:sp>
        <p:nvSpPr>
          <p:cNvPr id="9" name="Shape 5"/>
          <p:cNvSpPr/>
          <p:nvPr/>
        </p:nvSpPr>
        <p:spPr>
          <a:xfrm>
            <a:off x="566928" y="6382512"/>
            <a:ext cx="11057839" cy="0"/>
          </a:xfrm>
          <a:prstGeom prst="line">
            <a:avLst/>
          </a:prstGeom>
          <a:noFill/>
          <a:ln w="9525">
            <a:solidFill>
              <a:srgbClr val="D6E2EE"/>
            </a:solidFill>
            <a:prstDash val="solid"/>
          </a:ln>
        </p:spPr>
      </p:sp>
      <p:sp>
        <p:nvSpPr>
          <p:cNvPr id="10" name="Text 6"/>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1" name="Text 7"/>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76 / 80</a:t>
            </a:r>
            <a:endParaRPr lang="en-US" sz="8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10 / MỤC 2.8 VÀ 5.9</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Tình huống thường gặp tại khoa lâm sàng</a:t>
            </a:r>
            <a:endParaRPr lang="en-US" sz="2600" dirty="0"/>
          </a:p>
        </p:txBody>
      </p:sp>
      <p:sp>
        <p:nvSpPr>
          <p:cNvPr id="4" name="Shape 2"/>
          <p:cNvSpPr/>
          <p:nvPr/>
        </p:nvSpPr>
        <p:spPr>
          <a:xfrm>
            <a:off x="566928" y="1325880"/>
            <a:ext cx="11057839" cy="872338"/>
          </a:xfrm>
          <a:prstGeom prst="rect">
            <a:avLst/>
          </a:prstGeom>
          <a:solidFill>
            <a:srgbClr val="FFFFFF"/>
          </a:solidFill>
          <a:ln w="12700">
            <a:solidFill>
              <a:srgbClr val="D6E2EE"/>
            </a:solidFill>
            <a:prstDash val="solid"/>
          </a:ln>
        </p:spPr>
      </p:sp>
      <p:sp>
        <p:nvSpPr>
          <p:cNvPr id="5" name="Shape 3"/>
          <p:cNvSpPr/>
          <p:nvPr/>
        </p:nvSpPr>
        <p:spPr>
          <a:xfrm>
            <a:off x="566928" y="1325880"/>
            <a:ext cx="64008" cy="872338"/>
          </a:xfrm>
          <a:prstGeom prst="rect">
            <a:avLst/>
          </a:prstGeom>
          <a:solidFill>
            <a:srgbClr val="C62828"/>
          </a:solidFill>
          <a:ln w="12700">
            <a:solidFill>
              <a:srgbClr val="C62828"/>
            </a:solidFill>
            <a:prstDash val="solid"/>
          </a:ln>
        </p:spPr>
      </p:sp>
      <p:sp>
        <p:nvSpPr>
          <p:cNvPr id="6" name="Text 4"/>
          <p:cNvSpPr/>
          <p:nvPr/>
        </p:nvSpPr>
        <p:spPr>
          <a:xfrm>
            <a:off x="749808" y="1325880"/>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Bảng trống, không có dòng nào</a:t>
            </a:r>
            <a:endParaRPr lang="en-US" sz="1300" dirty="0"/>
          </a:p>
        </p:txBody>
      </p:sp>
      <p:sp>
        <p:nvSpPr>
          <p:cNvPr id="7" name="Text 5"/>
          <p:cNvSpPr/>
          <p:nvPr/>
        </p:nvSpPr>
        <p:spPr>
          <a:xfrm>
            <a:off x="5211220" y="1325880"/>
            <a:ext cx="2653881" cy="87233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Bộ lọc quá hẹp (mặc định chỉ ngày hôm nay), hoặc bộ quét đang dừng</a:t>
            </a:r>
            <a:endParaRPr lang="en-US" sz="1200" dirty="0"/>
          </a:p>
        </p:txBody>
      </p:sp>
      <p:sp>
        <p:nvSpPr>
          <p:cNvPr id="8" name="Text 6"/>
          <p:cNvSpPr/>
          <p:nvPr/>
        </p:nvSpPr>
        <p:spPr>
          <a:xfrm>
            <a:off x="7975680" y="1325880"/>
            <a:ext cx="3538509" cy="872338"/>
          </a:xfrm>
          <a:prstGeom prst="rect">
            <a:avLst/>
          </a:prstGeom>
          <a:noFill/>
          <a:ln/>
        </p:spPr>
        <p:txBody>
          <a:bodyPr wrap="square" rtlCol="0" anchor="ctr"/>
          <a:lstStyle/>
          <a:p>
            <a:pPr indent="0" marL="0">
              <a:lnSpc>
                <a:spcPts val="1700"/>
              </a:lnSpc>
              <a:buNone/>
            </a:pPr>
            <a:r>
              <a:rPr lang="en-US" sz="1250" dirty="0">
                <a:solidFill>
                  <a:srgbClr val="14233A"/>
                </a:solidFill>
                <a:latin typeface="Arial" pitchFamily="34" charset="0"/>
                <a:ea typeface="Arial" pitchFamily="34" charset="-122"/>
                <a:cs typeface="Arial" pitchFamily="34" charset="-120"/>
              </a:rPr>
              <a:t>Mở rộng khoảng ngày rồi bấm Tải dữ liệu. Vẫn trống thì mở hộp Thống kê quét, xem cột Chạy gần nhất</a:t>
            </a:r>
            <a:endParaRPr lang="en-US" sz="1250" dirty="0"/>
          </a:p>
        </p:txBody>
      </p:sp>
      <p:sp>
        <p:nvSpPr>
          <p:cNvPr id="9" name="Shape 7"/>
          <p:cNvSpPr/>
          <p:nvPr/>
        </p:nvSpPr>
        <p:spPr>
          <a:xfrm>
            <a:off x="566928" y="2326234"/>
            <a:ext cx="11057839" cy="872338"/>
          </a:xfrm>
          <a:prstGeom prst="rect">
            <a:avLst/>
          </a:prstGeom>
          <a:solidFill>
            <a:srgbClr val="FFFFFF"/>
          </a:solidFill>
          <a:ln w="12700">
            <a:solidFill>
              <a:srgbClr val="D6E2EE"/>
            </a:solidFill>
            <a:prstDash val="solid"/>
          </a:ln>
        </p:spPr>
      </p:sp>
      <p:sp>
        <p:nvSpPr>
          <p:cNvPr id="10" name="Shape 8"/>
          <p:cNvSpPr/>
          <p:nvPr/>
        </p:nvSpPr>
        <p:spPr>
          <a:xfrm>
            <a:off x="566928" y="2326234"/>
            <a:ext cx="64008" cy="872338"/>
          </a:xfrm>
          <a:prstGeom prst="rect">
            <a:avLst/>
          </a:prstGeom>
          <a:solidFill>
            <a:srgbClr val="C62828"/>
          </a:solidFill>
          <a:ln w="12700">
            <a:solidFill>
              <a:srgbClr val="C62828"/>
            </a:solidFill>
            <a:prstDash val="solid"/>
          </a:ln>
        </p:spPr>
      </p:sp>
      <p:sp>
        <p:nvSpPr>
          <p:cNvPr id="11" name="Text 9"/>
          <p:cNvSpPr/>
          <p:nvPr/>
        </p:nvSpPr>
        <p:spPr>
          <a:xfrm>
            <a:off x="749808" y="2326234"/>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Ba bảng lỗi đều trống nhưng biết chắc hồ sơ có lỗi</a:t>
            </a:r>
            <a:endParaRPr lang="en-US" sz="1300" dirty="0"/>
          </a:p>
        </p:txBody>
      </p:sp>
      <p:sp>
        <p:nvSpPr>
          <p:cNvPr id="12" name="Text 10"/>
          <p:cNvSpPr/>
          <p:nvPr/>
        </p:nvSpPr>
        <p:spPr>
          <a:xfrm>
            <a:off x="5211220" y="2326234"/>
            <a:ext cx="2653881" cy="87233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Lỗi chưa được ghi nhận: bộ quét chưa chạy tới, hoặc hồ sơ chưa kiểm XML, hoặc chưa tra thẻ</a:t>
            </a:r>
            <a:endParaRPr lang="en-US" sz="1200" dirty="0"/>
          </a:p>
        </p:txBody>
      </p:sp>
      <p:sp>
        <p:nvSpPr>
          <p:cNvPr id="13" name="Text 11"/>
          <p:cNvSpPr/>
          <p:nvPr/>
        </p:nvSpPr>
        <p:spPr>
          <a:xfrm>
            <a:off x="7975680" y="2326234"/>
            <a:ext cx="3538509" cy="872338"/>
          </a:xfrm>
          <a:prstGeom prst="rect">
            <a:avLst/>
          </a:prstGeom>
          <a:noFill/>
          <a:ln/>
        </p:spPr>
        <p:txBody>
          <a:bodyPr wrap="square" rtlCol="0" anchor="ctr"/>
          <a:lstStyle/>
          <a:p>
            <a:pPr indent="0" marL="0">
              <a:lnSpc>
                <a:spcPts val="1700"/>
              </a:lnSpc>
              <a:buNone/>
            </a:pPr>
            <a:r>
              <a:rPr lang="en-US" sz="1250" dirty="0">
                <a:solidFill>
                  <a:srgbClr val="14233A"/>
                </a:solidFill>
                <a:latin typeface="Arial" pitchFamily="34" charset="0"/>
                <a:ea typeface="Arial" pitchFamily="34" charset="-122"/>
                <a:cs typeface="Arial" pitchFamily="34" charset="-120"/>
              </a:rPr>
              <a:t>Chờ khoảng một phút cho bộ quét y lệnh. Lỗi XML chỉ có sau khi hồ sơ đã gửi và cổng trả kết quả</a:t>
            </a:r>
            <a:endParaRPr lang="en-US" sz="1250" dirty="0"/>
          </a:p>
        </p:txBody>
      </p:sp>
      <p:sp>
        <p:nvSpPr>
          <p:cNvPr id="14" name="Shape 12"/>
          <p:cNvSpPr/>
          <p:nvPr/>
        </p:nvSpPr>
        <p:spPr>
          <a:xfrm>
            <a:off x="566928" y="3326587"/>
            <a:ext cx="11057839" cy="872338"/>
          </a:xfrm>
          <a:prstGeom prst="rect">
            <a:avLst/>
          </a:prstGeom>
          <a:solidFill>
            <a:srgbClr val="FFFFFF"/>
          </a:solidFill>
          <a:ln w="12700">
            <a:solidFill>
              <a:srgbClr val="D6E2EE"/>
            </a:solidFill>
            <a:prstDash val="solid"/>
          </a:ln>
        </p:spPr>
      </p:sp>
      <p:sp>
        <p:nvSpPr>
          <p:cNvPr id="15" name="Shape 13"/>
          <p:cNvSpPr/>
          <p:nvPr/>
        </p:nvSpPr>
        <p:spPr>
          <a:xfrm>
            <a:off x="566928" y="3326587"/>
            <a:ext cx="64008" cy="872338"/>
          </a:xfrm>
          <a:prstGeom prst="rect">
            <a:avLst/>
          </a:prstGeom>
          <a:solidFill>
            <a:srgbClr val="C62828"/>
          </a:solidFill>
          <a:ln w="12700">
            <a:solidFill>
              <a:srgbClr val="C62828"/>
            </a:solidFill>
            <a:prstDash val="solid"/>
          </a:ln>
        </p:spPr>
      </p:sp>
      <p:sp>
        <p:nvSpPr>
          <p:cNvPr id="16" name="Text 14"/>
          <p:cNvSpPr/>
          <p:nvPr/>
        </p:nvSpPr>
        <p:spPr>
          <a:xfrm>
            <a:off x="749808" y="3326587"/>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Không tìm thấy hồ sơ với mã này trên HIS</a:t>
            </a:r>
            <a:endParaRPr lang="en-US" sz="1300" dirty="0"/>
          </a:p>
        </p:txBody>
      </p:sp>
      <p:sp>
        <p:nvSpPr>
          <p:cNvPr id="17" name="Text 15"/>
          <p:cNvSpPr/>
          <p:nvPr/>
        </p:nvSpPr>
        <p:spPr>
          <a:xfrm>
            <a:off x="5211220" y="3326587"/>
            <a:ext cx="2653881" cy="87233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Gõ sai mã điều trị, hoặc hồ sơ thuộc cơ sở khác</a:t>
            </a:r>
            <a:endParaRPr lang="en-US" sz="1200" dirty="0"/>
          </a:p>
        </p:txBody>
      </p:sp>
      <p:sp>
        <p:nvSpPr>
          <p:cNvPr id="18" name="Text 16"/>
          <p:cNvSpPr/>
          <p:nvPr/>
        </p:nvSpPr>
        <p:spPr>
          <a:xfrm>
            <a:off x="7975680" y="3326587"/>
            <a:ext cx="3538509" cy="872338"/>
          </a:xfrm>
          <a:prstGeom prst="rect">
            <a:avLst/>
          </a:prstGeom>
          <a:noFill/>
          <a:ln/>
        </p:spPr>
        <p:txBody>
          <a:bodyPr wrap="square" rtlCol="0" anchor="ctr"/>
          <a:lstStyle/>
          <a:p>
            <a:pPr indent="0" marL="0">
              <a:lnSpc>
                <a:spcPts val="1700"/>
              </a:lnSpc>
              <a:buNone/>
            </a:pPr>
            <a:r>
              <a:rPr lang="en-US" sz="1250" dirty="0">
                <a:solidFill>
                  <a:srgbClr val="14233A"/>
                </a:solidFill>
                <a:latin typeface="Arial" pitchFamily="34" charset="0"/>
                <a:ea typeface="Arial" pitchFamily="34" charset="-122"/>
                <a:cs typeface="Arial" pitchFamily="34" charset="-120"/>
              </a:rPr>
              <a:t>Kiểm tra lại mã. Nếu ba bảng lỗi bên dưới vẫn có dữ liệu thì mã đúng, chỉ là hồ sơ không còn trên HIS</a:t>
            </a:r>
            <a:endParaRPr lang="en-US" sz="1250" dirty="0"/>
          </a:p>
        </p:txBody>
      </p:sp>
      <p:sp>
        <p:nvSpPr>
          <p:cNvPr id="19" name="Shape 17"/>
          <p:cNvSpPr/>
          <p:nvPr/>
        </p:nvSpPr>
        <p:spPr>
          <a:xfrm>
            <a:off x="566928" y="4326941"/>
            <a:ext cx="11057839" cy="872338"/>
          </a:xfrm>
          <a:prstGeom prst="rect">
            <a:avLst/>
          </a:prstGeom>
          <a:solidFill>
            <a:srgbClr val="FFFFFF"/>
          </a:solidFill>
          <a:ln w="12700">
            <a:solidFill>
              <a:srgbClr val="D6E2EE"/>
            </a:solidFill>
            <a:prstDash val="solid"/>
          </a:ln>
        </p:spPr>
      </p:sp>
      <p:sp>
        <p:nvSpPr>
          <p:cNvPr id="20" name="Shape 18"/>
          <p:cNvSpPr/>
          <p:nvPr/>
        </p:nvSpPr>
        <p:spPr>
          <a:xfrm>
            <a:off x="566928" y="4326941"/>
            <a:ext cx="64008" cy="872338"/>
          </a:xfrm>
          <a:prstGeom prst="rect">
            <a:avLst/>
          </a:prstGeom>
          <a:solidFill>
            <a:srgbClr val="C62828"/>
          </a:solidFill>
          <a:ln w="12700">
            <a:solidFill>
              <a:srgbClr val="C62828"/>
            </a:solidFill>
            <a:prstDash val="solid"/>
          </a:ln>
        </p:spPr>
      </p:sp>
      <p:sp>
        <p:nvSpPr>
          <p:cNvPr id="21" name="Text 19"/>
          <p:cNvSpPr/>
          <p:nvPr/>
        </p:nvSpPr>
        <p:spPr>
          <a:xfrm>
            <a:off x="749808" y="4326941"/>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Bấm Tra lại thẻ BHYT nhưng kết quả không đổi</a:t>
            </a:r>
            <a:endParaRPr lang="en-US" sz="1300" dirty="0"/>
          </a:p>
        </p:txBody>
      </p:sp>
      <p:sp>
        <p:nvSpPr>
          <p:cNvPr id="22" name="Text 20"/>
          <p:cNvSpPr/>
          <p:nvPr/>
        </p:nvSpPr>
        <p:spPr>
          <a:xfrm>
            <a:off x="5211220" y="4326941"/>
            <a:ext cx="2653881" cy="87233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Yêu cầu chạy ở hàng đợi nền, chưa xong</a:t>
            </a:r>
            <a:endParaRPr lang="en-US" sz="1200" dirty="0"/>
          </a:p>
        </p:txBody>
      </p:sp>
      <p:sp>
        <p:nvSpPr>
          <p:cNvPr id="23" name="Text 21"/>
          <p:cNvSpPr/>
          <p:nvPr/>
        </p:nvSpPr>
        <p:spPr>
          <a:xfrm>
            <a:off x="7975680" y="4326941"/>
            <a:ext cx="3538509" cy="872338"/>
          </a:xfrm>
          <a:prstGeom prst="rect">
            <a:avLst/>
          </a:prstGeom>
          <a:noFill/>
          <a:ln/>
        </p:spPr>
        <p:txBody>
          <a:bodyPr wrap="square" rtlCol="0" anchor="ctr"/>
          <a:lstStyle/>
          <a:p>
            <a:pPr indent="0" marL="0">
              <a:lnSpc>
                <a:spcPts val="1700"/>
              </a:lnSpc>
              <a:buNone/>
            </a:pPr>
            <a:r>
              <a:rPr lang="en-US" sz="1250" dirty="0">
                <a:solidFill>
                  <a:srgbClr val="14233A"/>
                </a:solidFill>
                <a:latin typeface="Arial" pitchFamily="34" charset="0"/>
                <a:ea typeface="Arial" pitchFamily="34" charset="-122"/>
                <a:cs typeface="Arial" pitchFamily="34" charset="-120"/>
              </a:rPr>
              <a:t>Chờ vài giây rồi bấm Tra cứu lại. Sau vài phút vẫn không đổi thì báo công nghệ thông tin</a:t>
            </a:r>
            <a:endParaRPr lang="en-US" sz="1250" dirty="0"/>
          </a:p>
        </p:txBody>
      </p:sp>
      <p:sp>
        <p:nvSpPr>
          <p:cNvPr id="24" name="Shape 22"/>
          <p:cNvSpPr/>
          <p:nvPr/>
        </p:nvSpPr>
        <p:spPr>
          <a:xfrm>
            <a:off x="566928" y="5327294"/>
            <a:ext cx="11057839" cy="872338"/>
          </a:xfrm>
          <a:prstGeom prst="rect">
            <a:avLst/>
          </a:prstGeom>
          <a:solidFill>
            <a:srgbClr val="FFFFFF"/>
          </a:solidFill>
          <a:ln w="12700">
            <a:solidFill>
              <a:srgbClr val="D6E2EE"/>
            </a:solidFill>
            <a:prstDash val="solid"/>
          </a:ln>
        </p:spPr>
      </p:sp>
      <p:sp>
        <p:nvSpPr>
          <p:cNvPr id="25" name="Shape 23"/>
          <p:cNvSpPr/>
          <p:nvPr/>
        </p:nvSpPr>
        <p:spPr>
          <a:xfrm>
            <a:off x="566928" y="5327294"/>
            <a:ext cx="64008" cy="872338"/>
          </a:xfrm>
          <a:prstGeom prst="rect">
            <a:avLst/>
          </a:prstGeom>
          <a:solidFill>
            <a:srgbClr val="C62828"/>
          </a:solidFill>
          <a:ln w="12700">
            <a:solidFill>
              <a:srgbClr val="C62828"/>
            </a:solidFill>
            <a:prstDash val="solid"/>
          </a:ln>
        </p:spPr>
      </p:sp>
      <p:sp>
        <p:nvSpPr>
          <p:cNvPr id="26" name="Text 24"/>
          <p:cNvSpPr/>
          <p:nvPr/>
        </p:nvSpPr>
        <p:spPr>
          <a:xfrm>
            <a:off x="749808" y="5327294"/>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Số liệu trên màn hình khác số liệu HIS</a:t>
            </a:r>
            <a:endParaRPr lang="en-US" sz="1300" dirty="0"/>
          </a:p>
        </p:txBody>
      </p:sp>
      <p:sp>
        <p:nvSpPr>
          <p:cNvPr id="27" name="Text 25"/>
          <p:cNvSpPr/>
          <p:nvPr/>
        </p:nvSpPr>
        <p:spPr>
          <a:xfrm>
            <a:off x="5211220" y="5327294"/>
            <a:ext cx="2653881" cy="87233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Độ trễ của bộ quét, hoặc quy tắc liên quan đang tắt</a:t>
            </a:r>
            <a:endParaRPr lang="en-US" sz="1200" dirty="0"/>
          </a:p>
        </p:txBody>
      </p:sp>
      <p:sp>
        <p:nvSpPr>
          <p:cNvPr id="28" name="Text 26"/>
          <p:cNvSpPr/>
          <p:nvPr/>
        </p:nvSpPr>
        <p:spPr>
          <a:xfrm>
            <a:off x="7975680" y="5327294"/>
            <a:ext cx="3538509" cy="872338"/>
          </a:xfrm>
          <a:prstGeom prst="rect">
            <a:avLst/>
          </a:prstGeom>
          <a:noFill/>
          <a:ln/>
        </p:spPr>
        <p:txBody>
          <a:bodyPr wrap="square" rtlCol="0" anchor="ctr"/>
          <a:lstStyle/>
          <a:p>
            <a:pPr indent="0" marL="0">
              <a:lnSpc>
                <a:spcPts val="1700"/>
              </a:lnSpc>
              <a:buNone/>
            </a:pPr>
            <a:r>
              <a:rPr lang="en-US" sz="1250" dirty="0">
                <a:solidFill>
                  <a:srgbClr val="14233A"/>
                </a:solidFill>
                <a:latin typeface="Arial" pitchFamily="34" charset="0"/>
                <a:ea typeface="Arial" pitchFamily="34" charset="-122"/>
                <a:cs typeface="Arial" pitchFamily="34" charset="-120"/>
              </a:rPr>
              <a:t>Chờ vài phút rồi tải lại. Nếu nghi ngờ quy tắc bị tắt thì báo phòng ban chức năng</a:t>
            </a:r>
            <a:endParaRPr lang="en-US" sz="1250" dirty="0"/>
          </a:p>
        </p:txBody>
      </p:sp>
      <p:sp>
        <p:nvSpPr>
          <p:cNvPr id="30" name="Shape 27"/>
          <p:cNvSpPr/>
          <p:nvPr/>
        </p:nvSpPr>
        <p:spPr>
          <a:xfrm>
            <a:off x="566928" y="6382512"/>
            <a:ext cx="11057839" cy="0"/>
          </a:xfrm>
          <a:prstGeom prst="line">
            <a:avLst/>
          </a:prstGeom>
          <a:noFill/>
          <a:ln w="9525">
            <a:solidFill>
              <a:srgbClr val="D6E2EE"/>
            </a:solidFill>
            <a:prstDash val="solid"/>
          </a:ln>
        </p:spPr>
      </p:sp>
      <p:sp>
        <p:nvSpPr>
          <p:cNvPr id="31" name="Text 28"/>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32" name="Text 29"/>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77 / 80</a:t>
            </a:r>
            <a:endParaRPr lang="en-US" sz="8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10 / TỔNG HỢP MỤC 1.9, 4.9, 6.13, 7.11</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Tình huống thường gặp ở các phòng ban chức năng</a:t>
            </a:r>
            <a:endParaRPr lang="en-US" sz="2600" dirty="0"/>
          </a:p>
        </p:txBody>
      </p:sp>
      <p:sp>
        <p:nvSpPr>
          <p:cNvPr id="4" name="Shape 2"/>
          <p:cNvSpPr/>
          <p:nvPr/>
        </p:nvSpPr>
        <p:spPr>
          <a:xfrm>
            <a:off x="566928" y="1325880"/>
            <a:ext cx="11057839" cy="872338"/>
          </a:xfrm>
          <a:prstGeom prst="rect">
            <a:avLst/>
          </a:prstGeom>
          <a:solidFill>
            <a:srgbClr val="FFFFFF"/>
          </a:solidFill>
          <a:ln w="12700">
            <a:solidFill>
              <a:srgbClr val="D6E2EE"/>
            </a:solidFill>
            <a:prstDash val="solid"/>
          </a:ln>
        </p:spPr>
      </p:sp>
      <p:sp>
        <p:nvSpPr>
          <p:cNvPr id="5" name="Shape 3"/>
          <p:cNvSpPr/>
          <p:nvPr/>
        </p:nvSpPr>
        <p:spPr>
          <a:xfrm>
            <a:off x="566928" y="1325880"/>
            <a:ext cx="64008" cy="872338"/>
          </a:xfrm>
          <a:prstGeom prst="rect">
            <a:avLst/>
          </a:prstGeom>
          <a:solidFill>
            <a:srgbClr val="C62828"/>
          </a:solidFill>
          <a:ln w="12700">
            <a:solidFill>
              <a:srgbClr val="C62828"/>
            </a:solidFill>
            <a:prstDash val="solid"/>
          </a:ln>
        </p:spPr>
      </p:sp>
      <p:sp>
        <p:nvSpPr>
          <p:cNvPr id="6" name="Text 4"/>
          <p:cNvSpPr/>
          <p:nvPr/>
        </p:nvSpPr>
        <p:spPr>
          <a:xfrm>
            <a:off x="749808" y="1325880"/>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Không thể xác định loại danh mục. Vui lòng kiểm tra lại cấu trúc file.</a:t>
            </a:r>
            <a:endParaRPr lang="en-US" sz="1300" dirty="0"/>
          </a:p>
        </p:txBody>
      </p:sp>
      <p:sp>
        <p:nvSpPr>
          <p:cNvPr id="7" name="Text 5"/>
          <p:cNvSpPr/>
          <p:nvPr/>
        </p:nvSpPr>
        <p:spPr>
          <a:xfrm>
            <a:off x="5211220" y="1325880"/>
            <a:ext cx="2653881" cy="87233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Dòng 1 không phải dòng tiêu đề cột — phổ biến nhất với tệp tải trực tiếp từ cổng</a:t>
            </a:r>
            <a:endParaRPr lang="en-US" sz="1200" dirty="0"/>
          </a:p>
        </p:txBody>
      </p:sp>
      <p:sp>
        <p:nvSpPr>
          <p:cNvPr id="8" name="Text 6"/>
          <p:cNvSpPr/>
          <p:nvPr/>
        </p:nvSpPr>
        <p:spPr>
          <a:xfrm>
            <a:off x="7975680" y="1325880"/>
            <a:ext cx="3538509" cy="872338"/>
          </a:xfrm>
          <a:prstGeom prst="rect">
            <a:avLst/>
          </a:prstGeom>
          <a:noFill/>
          <a:ln/>
        </p:spPr>
        <p:txBody>
          <a:bodyPr wrap="square" rtlCol="0" anchor="ctr"/>
          <a:lstStyle/>
          <a:p>
            <a:pPr indent="0" marL="0">
              <a:lnSpc>
                <a:spcPts val="1700"/>
              </a:lnSpc>
              <a:buNone/>
            </a:pPr>
            <a:r>
              <a:rPr lang="en-US" sz="1250" dirty="0">
                <a:solidFill>
                  <a:srgbClr val="14233A"/>
                </a:solidFill>
                <a:latin typeface="Arial" pitchFamily="34" charset="0"/>
                <a:ea typeface="Arial" pitchFamily="34" charset="-122"/>
                <a:cs typeface="Arial" pitchFamily="34" charset="-120"/>
              </a:rPr>
              <a:t>Xoá các dòng phía trên để tiêu đề về dòng 1. Hoặc tải biểu mẫu và dán dữ liệu vào</a:t>
            </a:r>
            <a:endParaRPr lang="en-US" sz="1250" dirty="0"/>
          </a:p>
        </p:txBody>
      </p:sp>
      <p:sp>
        <p:nvSpPr>
          <p:cNvPr id="9" name="Shape 7"/>
          <p:cNvSpPr/>
          <p:nvPr/>
        </p:nvSpPr>
        <p:spPr>
          <a:xfrm>
            <a:off x="566928" y="2326234"/>
            <a:ext cx="11057839" cy="872338"/>
          </a:xfrm>
          <a:prstGeom prst="rect">
            <a:avLst/>
          </a:prstGeom>
          <a:solidFill>
            <a:srgbClr val="FFFFFF"/>
          </a:solidFill>
          <a:ln w="12700">
            <a:solidFill>
              <a:srgbClr val="D6E2EE"/>
            </a:solidFill>
            <a:prstDash val="solid"/>
          </a:ln>
        </p:spPr>
      </p:sp>
      <p:sp>
        <p:nvSpPr>
          <p:cNvPr id="10" name="Shape 8"/>
          <p:cNvSpPr/>
          <p:nvPr/>
        </p:nvSpPr>
        <p:spPr>
          <a:xfrm>
            <a:off x="566928" y="2326234"/>
            <a:ext cx="64008" cy="872338"/>
          </a:xfrm>
          <a:prstGeom prst="rect">
            <a:avLst/>
          </a:prstGeom>
          <a:solidFill>
            <a:srgbClr val="C62828"/>
          </a:solidFill>
          <a:ln w="12700">
            <a:solidFill>
              <a:srgbClr val="C62828"/>
            </a:solidFill>
            <a:prstDash val="solid"/>
          </a:ln>
        </p:spPr>
      </p:sp>
      <p:sp>
        <p:nvSpPr>
          <p:cNvPr id="11" name="Text 9"/>
          <p:cNvSpPr/>
          <p:nvPr/>
        </p:nvSpPr>
        <p:spPr>
          <a:xfrm>
            <a:off x="749808" y="2326234"/>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Số lỗi hiện 0 nhưng hồ sơ vẫn không gửi được</a:t>
            </a:r>
            <a:endParaRPr lang="en-US" sz="1300" dirty="0"/>
          </a:p>
        </p:txBody>
      </p:sp>
      <p:sp>
        <p:nvSpPr>
          <p:cNvPr id="12" name="Text 10"/>
          <p:cNvSpPr/>
          <p:nvPr/>
        </p:nvSpPr>
        <p:spPr>
          <a:xfrm>
            <a:off x="5211220" y="2326234"/>
            <a:ext cx="2653881" cy="87233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Hồ sơ chưa được kiểm; số 0 chỉ có nghĩa là chưa ai nhìn</a:t>
            </a:r>
            <a:endParaRPr lang="en-US" sz="1200" dirty="0"/>
          </a:p>
        </p:txBody>
      </p:sp>
      <p:sp>
        <p:nvSpPr>
          <p:cNvPr id="13" name="Text 11"/>
          <p:cNvSpPr/>
          <p:nvPr/>
        </p:nvSpPr>
        <p:spPr>
          <a:xfrm>
            <a:off x="7975680" y="2326234"/>
            <a:ext cx="3538509" cy="872338"/>
          </a:xfrm>
          <a:prstGeom prst="rect">
            <a:avLst/>
          </a:prstGeom>
          <a:noFill/>
          <a:ln/>
        </p:spPr>
        <p:txBody>
          <a:bodyPr wrap="square" rtlCol="0" anchor="ctr"/>
          <a:lstStyle/>
          <a:p>
            <a:pPr indent="0" marL="0">
              <a:lnSpc>
                <a:spcPts val="1700"/>
              </a:lnSpc>
              <a:buNone/>
            </a:pPr>
            <a:r>
              <a:rPr lang="en-US" sz="1250" dirty="0">
                <a:solidFill>
                  <a:srgbClr val="14233A"/>
                </a:solidFill>
                <a:latin typeface="Arial" pitchFamily="34" charset="0"/>
                <a:ea typeface="Arial" pitchFamily="34" charset="-122"/>
                <a:cs typeface="Arial" pitchFamily="34" charset="-120"/>
              </a:rPr>
              <a:t>Đọc cột Trạng thái gửi. Nếu là "Chưa kiểm" thì chờ, không phải hồ sơ đã sạch</a:t>
            </a:r>
            <a:endParaRPr lang="en-US" sz="1250" dirty="0"/>
          </a:p>
        </p:txBody>
      </p:sp>
      <p:sp>
        <p:nvSpPr>
          <p:cNvPr id="14" name="Shape 12"/>
          <p:cNvSpPr/>
          <p:nvPr/>
        </p:nvSpPr>
        <p:spPr>
          <a:xfrm>
            <a:off x="566928" y="3326587"/>
            <a:ext cx="11057839" cy="872338"/>
          </a:xfrm>
          <a:prstGeom prst="rect">
            <a:avLst/>
          </a:prstGeom>
          <a:solidFill>
            <a:srgbClr val="FFFFFF"/>
          </a:solidFill>
          <a:ln w="12700">
            <a:solidFill>
              <a:srgbClr val="D6E2EE"/>
            </a:solidFill>
            <a:prstDash val="solid"/>
          </a:ln>
        </p:spPr>
      </p:sp>
      <p:sp>
        <p:nvSpPr>
          <p:cNvPr id="15" name="Shape 13"/>
          <p:cNvSpPr/>
          <p:nvPr/>
        </p:nvSpPr>
        <p:spPr>
          <a:xfrm>
            <a:off x="566928" y="3326587"/>
            <a:ext cx="64008" cy="872338"/>
          </a:xfrm>
          <a:prstGeom prst="rect">
            <a:avLst/>
          </a:prstGeom>
          <a:solidFill>
            <a:srgbClr val="C62828"/>
          </a:solidFill>
          <a:ln w="12700">
            <a:solidFill>
              <a:srgbClr val="C62828"/>
            </a:solidFill>
            <a:prstDash val="solid"/>
          </a:ln>
        </p:spPr>
      </p:sp>
      <p:sp>
        <p:nvSpPr>
          <p:cNvPr id="16" name="Text 14"/>
          <p:cNvSpPr/>
          <p:nvPr/>
        </p:nvSpPr>
        <p:spPr>
          <a:xfrm>
            <a:off x="749808" y="3326587"/>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Nạp lại hồ sơ xong thì mã giao dịch biến mất</a:t>
            </a:r>
            <a:endParaRPr lang="en-US" sz="1300" dirty="0"/>
          </a:p>
        </p:txBody>
      </p:sp>
      <p:sp>
        <p:nvSpPr>
          <p:cNvPr id="17" name="Text 15"/>
          <p:cNvSpPr/>
          <p:nvPr/>
        </p:nvSpPr>
        <p:spPr>
          <a:xfrm>
            <a:off x="5211220" y="3326587"/>
            <a:ext cx="2653881" cy="87233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Nạp đè xoá kết quả lần gửi trước, vì nội dung đã đổi</a:t>
            </a:r>
            <a:endParaRPr lang="en-US" sz="1200" dirty="0"/>
          </a:p>
        </p:txBody>
      </p:sp>
      <p:sp>
        <p:nvSpPr>
          <p:cNvPr id="18" name="Text 16"/>
          <p:cNvSpPr/>
          <p:nvPr/>
        </p:nvSpPr>
        <p:spPr>
          <a:xfrm>
            <a:off x="7975680" y="3326587"/>
            <a:ext cx="3538509" cy="872338"/>
          </a:xfrm>
          <a:prstGeom prst="rect">
            <a:avLst/>
          </a:prstGeom>
          <a:noFill/>
          <a:ln/>
        </p:spPr>
        <p:txBody>
          <a:bodyPr wrap="square" rtlCol="0" anchor="ctr"/>
          <a:lstStyle/>
          <a:p>
            <a:pPr indent="0" marL="0">
              <a:lnSpc>
                <a:spcPts val="1700"/>
              </a:lnSpc>
              <a:buNone/>
            </a:pPr>
            <a:r>
              <a:rPr lang="en-US" sz="1250" dirty="0">
                <a:solidFill>
                  <a:srgbClr val="14233A"/>
                </a:solidFill>
                <a:latin typeface="Arial" pitchFamily="34" charset="0"/>
                <a:ea typeface="Arial" pitchFamily="34" charset="-122"/>
                <a:cs typeface="Arial" pitchFamily="34" charset="-120"/>
              </a:rPr>
              <a:t>Đúng thiết kế. Dấu vết lần gửi cũ nằm ở khối Lịch sử gửi trong màn chi tiết</a:t>
            </a:r>
            <a:endParaRPr lang="en-US" sz="1250" dirty="0"/>
          </a:p>
        </p:txBody>
      </p:sp>
      <p:sp>
        <p:nvSpPr>
          <p:cNvPr id="19" name="Shape 17"/>
          <p:cNvSpPr/>
          <p:nvPr/>
        </p:nvSpPr>
        <p:spPr>
          <a:xfrm>
            <a:off x="566928" y="4326941"/>
            <a:ext cx="11057839" cy="872338"/>
          </a:xfrm>
          <a:prstGeom prst="rect">
            <a:avLst/>
          </a:prstGeom>
          <a:solidFill>
            <a:srgbClr val="FFFFFF"/>
          </a:solidFill>
          <a:ln w="12700">
            <a:solidFill>
              <a:srgbClr val="D6E2EE"/>
            </a:solidFill>
            <a:prstDash val="solid"/>
          </a:ln>
        </p:spPr>
      </p:sp>
      <p:sp>
        <p:nvSpPr>
          <p:cNvPr id="20" name="Shape 18"/>
          <p:cNvSpPr/>
          <p:nvPr/>
        </p:nvSpPr>
        <p:spPr>
          <a:xfrm>
            <a:off x="566928" y="4326941"/>
            <a:ext cx="64008" cy="872338"/>
          </a:xfrm>
          <a:prstGeom prst="rect">
            <a:avLst/>
          </a:prstGeom>
          <a:solidFill>
            <a:srgbClr val="C62828"/>
          </a:solidFill>
          <a:ln w="12700">
            <a:solidFill>
              <a:srgbClr val="C62828"/>
            </a:solidFill>
            <a:prstDash val="solid"/>
          </a:ln>
        </p:spPr>
      </p:sp>
      <p:sp>
        <p:nvSpPr>
          <p:cNvPr id="21" name="Text 19"/>
          <p:cNvSpPr/>
          <p:nvPr/>
        </p:nvSpPr>
        <p:spPr>
          <a:xfrm>
            <a:off x="749808" y="4326941"/>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Cổng đã tiếp nhận nhưng cột Đã đồng bộ vẫn trống (TT12)</a:t>
            </a:r>
            <a:endParaRPr lang="en-US" sz="1300" dirty="0"/>
          </a:p>
        </p:txBody>
      </p:sp>
      <p:sp>
        <p:nvSpPr>
          <p:cNvPr id="22" name="Text 20"/>
          <p:cNvSpPr/>
          <p:nvPr/>
        </p:nvSpPr>
        <p:spPr>
          <a:xfrm>
            <a:off x="5211220" y="4326941"/>
            <a:ext cx="2653881" cy="87233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Bước ghi sang danh mục hỏng giữa chừng</a:t>
            </a:r>
            <a:endParaRPr lang="en-US" sz="1200" dirty="0"/>
          </a:p>
        </p:txBody>
      </p:sp>
      <p:sp>
        <p:nvSpPr>
          <p:cNvPr id="23" name="Text 21"/>
          <p:cNvSpPr/>
          <p:nvPr/>
        </p:nvSpPr>
        <p:spPr>
          <a:xfrm>
            <a:off x="7975680" y="4326941"/>
            <a:ext cx="3538509" cy="872338"/>
          </a:xfrm>
          <a:prstGeom prst="rect">
            <a:avLst/>
          </a:prstGeom>
          <a:noFill/>
          <a:ln/>
        </p:spPr>
        <p:txBody>
          <a:bodyPr wrap="square" rtlCol="0" anchor="ctr"/>
          <a:lstStyle/>
          <a:p>
            <a:pPr indent="0" marL="0">
              <a:lnSpc>
                <a:spcPts val="1700"/>
              </a:lnSpc>
              <a:buNone/>
            </a:pPr>
            <a:r>
              <a:rPr lang="en-US" sz="1250" dirty="0">
                <a:solidFill>
                  <a:srgbClr val="14233A"/>
                </a:solidFill>
                <a:latin typeface="Arial" pitchFamily="34" charset="0"/>
                <a:ea typeface="Arial" pitchFamily="34" charset="-122"/>
                <a:cs typeface="Arial" pitchFamily="34" charset="-120"/>
              </a:rPr>
              <a:t>Dùng nút "Đồng bộ lại danh mục". KHÔNG bấm gửi lại</a:t>
            </a:r>
            <a:endParaRPr lang="en-US" sz="1250" dirty="0"/>
          </a:p>
        </p:txBody>
      </p:sp>
      <p:sp>
        <p:nvSpPr>
          <p:cNvPr id="24" name="Shape 22"/>
          <p:cNvSpPr/>
          <p:nvPr/>
        </p:nvSpPr>
        <p:spPr>
          <a:xfrm>
            <a:off x="566928" y="5327294"/>
            <a:ext cx="11057839" cy="872338"/>
          </a:xfrm>
          <a:prstGeom prst="rect">
            <a:avLst/>
          </a:prstGeom>
          <a:solidFill>
            <a:srgbClr val="FFFFFF"/>
          </a:solidFill>
          <a:ln w="12700">
            <a:solidFill>
              <a:srgbClr val="D6E2EE"/>
            </a:solidFill>
            <a:prstDash val="solid"/>
          </a:ln>
        </p:spPr>
      </p:sp>
      <p:sp>
        <p:nvSpPr>
          <p:cNvPr id="25" name="Shape 23"/>
          <p:cNvSpPr/>
          <p:nvPr/>
        </p:nvSpPr>
        <p:spPr>
          <a:xfrm>
            <a:off x="566928" y="5327294"/>
            <a:ext cx="64008" cy="872338"/>
          </a:xfrm>
          <a:prstGeom prst="rect">
            <a:avLst/>
          </a:prstGeom>
          <a:solidFill>
            <a:srgbClr val="C62828"/>
          </a:solidFill>
          <a:ln w="12700">
            <a:solidFill>
              <a:srgbClr val="C62828"/>
            </a:solidFill>
            <a:prstDash val="solid"/>
          </a:ln>
        </p:spPr>
      </p:sp>
      <p:sp>
        <p:nvSpPr>
          <p:cNvPr id="26" name="Text 24"/>
          <p:cNvSpPr/>
          <p:nvPr/>
        </p:nvSpPr>
        <p:spPr>
          <a:xfrm>
            <a:off x="749808" y="5327294"/>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Tệp Excel xuất ra khác với bảng đang xem</a:t>
            </a:r>
            <a:endParaRPr lang="en-US" sz="1300" dirty="0"/>
          </a:p>
        </p:txBody>
      </p:sp>
      <p:sp>
        <p:nvSpPr>
          <p:cNvPr id="27" name="Text 25"/>
          <p:cNvSpPr/>
          <p:nvPr/>
        </p:nvSpPr>
        <p:spPr>
          <a:xfrm>
            <a:off x="5211220" y="5327294"/>
            <a:ext cx="2653881" cy="872338"/>
          </a:xfrm>
          <a:prstGeom prst="rect">
            <a:avLst/>
          </a:prstGeom>
          <a:noFill/>
          <a:ln/>
        </p:spPr>
        <p:txBody>
          <a:bodyPr wrap="square" rtlCol="0" anchor="ctr"/>
          <a:lstStyle/>
          <a:p>
            <a:pPr indent="0" marL="0">
              <a:lnSpc>
                <a:spcPts val="1700"/>
              </a:lnSpc>
              <a:buNone/>
            </a:pPr>
            <a:r>
              <a:rPr lang="en-US" sz="1200" dirty="0">
                <a:solidFill>
                  <a:srgbClr val="5B6B7F"/>
                </a:solidFill>
                <a:latin typeface="Arial" pitchFamily="34" charset="0"/>
                <a:ea typeface="Arial" pitchFamily="34" charset="-122"/>
                <a:cs typeface="Arial" pitchFamily="34" charset="-120"/>
              </a:rPr>
              <a:t>Đã đổi ô lọc nhưng chưa bấm Tải dữ liệu</a:t>
            </a:r>
            <a:endParaRPr lang="en-US" sz="1200" dirty="0"/>
          </a:p>
        </p:txBody>
      </p:sp>
      <p:sp>
        <p:nvSpPr>
          <p:cNvPr id="28" name="Text 26"/>
          <p:cNvSpPr/>
          <p:nvPr/>
        </p:nvSpPr>
        <p:spPr>
          <a:xfrm>
            <a:off x="7975680" y="5327294"/>
            <a:ext cx="3538509" cy="872338"/>
          </a:xfrm>
          <a:prstGeom prst="rect">
            <a:avLst/>
          </a:prstGeom>
          <a:noFill/>
          <a:ln/>
        </p:spPr>
        <p:txBody>
          <a:bodyPr wrap="square" rtlCol="0" anchor="ctr"/>
          <a:lstStyle/>
          <a:p>
            <a:pPr indent="0" marL="0">
              <a:lnSpc>
                <a:spcPts val="1700"/>
              </a:lnSpc>
              <a:buNone/>
            </a:pPr>
            <a:r>
              <a:rPr lang="en-US" sz="1250" dirty="0">
                <a:solidFill>
                  <a:srgbClr val="14233A"/>
                </a:solidFill>
                <a:latin typeface="Arial" pitchFamily="34" charset="0"/>
                <a:ea typeface="Arial" pitchFamily="34" charset="-122"/>
                <a:cs typeface="Arial" pitchFamily="34" charset="-120"/>
              </a:rPr>
              <a:t>Bấm Tải dữ liệu rồi xuất lại. Tệp luôn theo bộ lọc của lần tải gần nhất</a:t>
            </a:r>
            <a:endParaRPr lang="en-US" sz="1250" dirty="0"/>
          </a:p>
        </p:txBody>
      </p:sp>
      <p:sp>
        <p:nvSpPr>
          <p:cNvPr id="30" name="Shape 27"/>
          <p:cNvSpPr/>
          <p:nvPr/>
        </p:nvSpPr>
        <p:spPr>
          <a:xfrm>
            <a:off x="566928" y="6382512"/>
            <a:ext cx="11057839" cy="0"/>
          </a:xfrm>
          <a:prstGeom prst="line">
            <a:avLst/>
          </a:prstGeom>
          <a:noFill/>
          <a:ln w="9525">
            <a:solidFill>
              <a:srgbClr val="D6E2EE"/>
            </a:solidFill>
            <a:prstDash val="solid"/>
          </a:ln>
        </p:spPr>
      </p:sp>
      <p:sp>
        <p:nvSpPr>
          <p:cNvPr id="31" name="Text 28"/>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32" name="Text 29"/>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78 / 80</a:t>
            </a:r>
            <a:endParaRPr lang="en-US" sz="8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1A5EA8"/>
                </a:solidFill>
                <a:latin typeface="Arial" pitchFamily="34" charset="0"/>
                <a:ea typeface="Arial" pitchFamily="34" charset="-122"/>
                <a:cs typeface="Arial" pitchFamily="34" charset="-120"/>
              </a:rPr>
              <a:t>10 / GIỚI HẠN</a:t>
            </a:r>
            <a:endParaRPr lang="en-US" sz="1100" dirty="0"/>
          </a:p>
        </p:txBody>
      </p:sp>
      <p:sp>
        <p:nvSpPr>
          <p:cNvPr id="3" name="Text 1"/>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0B1F3A"/>
                </a:solidFill>
                <a:latin typeface="Arial" pitchFamily="34" charset="0"/>
                <a:ea typeface="Arial" pitchFamily="34" charset="-122"/>
                <a:cs typeface="Arial" pitchFamily="34" charset="-120"/>
              </a:rPr>
              <a:t>Những gì phần mềm chưa làm được</a:t>
            </a:r>
            <a:endParaRPr lang="en-US" sz="2600" dirty="0"/>
          </a:p>
        </p:txBody>
      </p:sp>
      <p:sp>
        <p:nvSpPr>
          <p:cNvPr id="4" name="Text 2"/>
          <p:cNvSpPr/>
          <p:nvPr/>
        </p:nvSpPr>
        <p:spPr>
          <a:xfrm>
            <a:off x="566928" y="1325880"/>
            <a:ext cx="11057839" cy="4114800"/>
          </a:xfrm>
          <a:prstGeom prst="rect">
            <a:avLst/>
          </a:prstGeom>
          <a:noFill/>
          <a:ln/>
        </p:spPr>
        <p:txBody>
          <a:bodyPr wrap="square" rtlCol="0" anchor="t"/>
          <a:lstStyle/>
          <a:p>
            <a:pPr marL="342900" indent="-342900">
              <a:lnSpc>
                <a:spcPts val="2400"/>
              </a:lnSpc>
              <a:spcAft>
                <a:spcPts val="200"/>
              </a:spcAft>
              <a:buSzPct val="100000"/>
              <a:buChar char="▪"/>
            </a:pPr>
            <a:r>
              <a:rPr lang="en-US" sz="1600" b="1" dirty="0">
                <a:solidFill>
                  <a:srgbClr val="14233A"/>
                </a:solidFill>
                <a:latin typeface="Arial" pitchFamily="34" charset="0"/>
                <a:ea typeface="Arial" pitchFamily="34" charset="-122"/>
                <a:cs typeface="Arial" pitchFamily="34" charset="-120"/>
              </a:rPr>
              <a:t>Chưa đồng nhất với toàn bộ quy tắc giám định của BHXH</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   Hồ sơ qua được Tiền giám định vẫn có thể bị cổng trả về — luôn đọc kết quả ở bước 05</a:t>
            </a:r>
            <a:endParaRPr lang="en-US" sz="1600" dirty="0"/>
          </a:p>
          <a:p>
            <a:pPr marL="342900" indent="-342900">
              <a:lnSpc>
                <a:spcPts val="2400"/>
              </a:lnSpc>
              <a:spcAft>
                <a:spcPts val="200"/>
              </a:spcAft>
              <a:buSzPct val="100000"/>
              <a:buChar char="▪"/>
            </a:pPr>
            <a:r>
              <a:rPr lang="en-US" sz="1600" b="1" dirty="0">
                <a:solidFill>
                  <a:srgbClr val="14233A"/>
                </a:solidFill>
                <a:latin typeface="Arial" pitchFamily="34" charset="0"/>
                <a:ea typeface="Arial" pitchFamily="34" charset="-122"/>
                <a:cs typeface="Arial" pitchFamily="34" charset="-120"/>
              </a:rPr>
              <a:t>Chỉ bắt được lỗi đã có trong bộ quy tắc</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   Quy định mới ban hành thì luôn có độ trễ cập nhật. Đề xuất quy tắc mới: gửi đủ điều kiện sai, mức độ, trường hợp loại trừ và căn cứ pháp lý</a:t>
            </a:r>
            <a:endParaRPr lang="en-US" sz="1600" dirty="0"/>
          </a:p>
          <a:p>
            <a:pPr marL="342900" indent="-342900">
              <a:lnSpc>
                <a:spcPts val="2400"/>
              </a:lnSpc>
              <a:spcAft>
                <a:spcPts val="200"/>
              </a:spcAft>
              <a:buSzPct val="100000"/>
              <a:buChar char="▪"/>
            </a:pPr>
            <a:r>
              <a:rPr lang="en-US" sz="1600" b="1" dirty="0">
                <a:solidFill>
                  <a:srgbClr val="14233A"/>
                </a:solidFill>
                <a:latin typeface="Arial" pitchFamily="34" charset="0"/>
                <a:ea typeface="Arial" pitchFamily="34" charset="-122"/>
                <a:cs typeface="Arial" pitchFamily="34" charset="-120"/>
              </a:rPr>
              <a:t>Kết quả phụ thuộc danh mục</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   Danh mục thiếu hoặc sai ngày hiệu lực sẽ sinh lỗi giả hàng loạt</a:t>
            </a:r>
            <a:endParaRPr lang="en-US" sz="1600" dirty="0"/>
          </a:p>
          <a:p>
            <a:pPr marL="342900" indent="-342900">
              <a:lnSpc>
                <a:spcPts val="2400"/>
              </a:lnSpc>
              <a:spcAft>
                <a:spcPts val="200"/>
              </a:spcAft>
              <a:buSzPct val="100000"/>
              <a:buChar char="▪"/>
            </a:pPr>
            <a:r>
              <a:rPr lang="en-US" sz="1600" b="1" dirty="0">
                <a:solidFill>
                  <a:srgbClr val="14233A"/>
                </a:solidFill>
                <a:latin typeface="Arial" pitchFamily="34" charset="0"/>
                <a:ea typeface="Arial" pitchFamily="34" charset="-122"/>
                <a:cs typeface="Arial" pitchFamily="34" charset="-120"/>
              </a:rPr>
              <a:t>Kiểm tra y lệnh có độ trễ và không quét lùi</a:t>
            </a:r>
            <a:endParaRPr lang="en-US" sz="1600" dirty="0"/>
          </a:p>
          <a:p>
            <a:pPr indent="0" marL="0">
              <a:lnSpc>
                <a:spcPts val="2400"/>
              </a:lnSpc>
              <a:spcAft>
                <a:spcPts val="1000"/>
              </a:spcAft>
              <a:buNone/>
            </a:pPr>
            <a:r>
              <a:rPr lang="en-US" sz="1300" dirty="0">
                <a:solidFill>
                  <a:srgbClr val="5B6B7F"/>
                </a:solidFill>
                <a:latin typeface="Arial" pitchFamily="34" charset="0"/>
                <a:ea typeface="Arial" pitchFamily="34" charset="-122"/>
                <a:cs typeface="Arial" pitchFamily="34" charset="-120"/>
              </a:rPr>
              <a:t>   Phiếu đã quét không được đánh giá lại trừ khi chính phiếu đó bị sửa trên HIS</a:t>
            </a:r>
            <a:endParaRPr lang="en-US" sz="1600" dirty="0"/>
          </a:p>
        </p:txBody>
      </p:sp>
      <p:sp>
        <p:nvSpPr>
          <p:cNvPr id="5" name="Shape 3"/>
          <p:cNvSpPr/>
          <p:nvPr/>
        </p:nvSpPr>
        <p:spPr>
          <a:xfrm>
            <a:off x="566928" y="5074920"/>
            <a:ext cx="11057839" cy="1051560"/>
          </a:xfrm>
          <a:prstGeom prst="rect">
            <a:avLst/>
          </a:prstGeom>
          <a:solidFill>
            <a:srgbClr val="FDECEC"/>
          </a:solidFill>
          <a:ln w="12700">
            <a:solidFill>
              <a:srgbClr val="FDECEC"/>
            </a:solidFill>
            <a:prstDash val="solid"/>
          </a:ln>
        </p:spPr>
      </p:sp>
      <p:sp>
        <p:nvSpPr>
          <p:cNvPr id="6" name="Shape 4"/>
          <p:cNvSpPr/>
          <p:nvPr/>
        </p:nvSpPr>
        <p:spPr>
          <a:xfrm>
            <a:off x="566928" y="5074920"/>
            <a:ext cx="64008" cy="1051560"/>
          </a:xfrm>
          <a:prstGeom prst="rect">
            <a:avLst/>
          </a:prstGeom>
          <a:solidFill>
            <a:srgbClr val="C62828"/>
          </a:solidFill>
          <a:ln w="12700">
            <a:solidFill>
              <a:srgbClr val="C62828"/>
            </a:solidFill>
            <a:prstDash val="solid"/>
          </a:ln>
        </p:spPr>
      </p:sp>
      <p:sp>
        <p:nvSpPr>
          <p:cNvPr id="7" name="Text 5"/>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Nguyên tắc cuối cùng: </a:t>
            </a:r>
            <a:pPr indent="0" marL="0">
              <a:lnSpc>
                <a:spcPts val="1900"/>
              </a:lnSpc>
              <a:buNone/>
            </a:pPr>
            <a:r>
              <a:rPr lang="en-US" sz="1300" dirty="0">
                <a:solidFill>
                  <a:srgbClr val="14233A"/>
                </a:solidFill>
                <a:latin typeface="Arial" pitchFamily="34" charset="0"/>
                <a:ea typeface="Arial" pitchFamily="34" charset="-122"/>
                <a:cs typeface="Arial" pitchFamily="34" charset="-120"/>
              </a:rPr>
              <a:t>Phần mềm là công cụ hỗ trợ, không thay thế quyết định chuyên môn. Trách nhiệm cuối cùng vẫn thuộc về đơn vị tạo lập và kiểm soát hồ sơ.</a:t>
            </a:r>
            <a:endParaRPr lang="en-US" sz="1300" dirty="0"/>
          </a:p>
        </p:txBody>
      </p:sp>
      <p:sp>
        <p:nvSpPr>
          <p:cNvPr id="9" name="Shape 6"/>
          <p:cNvSpPr/>
          <p:nvPr/>
        </p:nvSpPr>
        <p:spPr>
          <a:xfrm>
            <a:off x="566928" y="6382512"/>
            <a:ext cx="11057839" cy="0"/>
          </a:xfrm>
          <a:prstGeom prst="line">
            <a:avLst/>
          </a:prstGeom>
          <a:noFill/>
          <a:ln w="9525">
            <a:solidFill>
              <a:srgbClr val="D6E2EE"/>
            </a:solidFill>
            <a:prstDash val="solid"/>
          </a:ln>
        </p:spPr>
      </p:sp>
      <p:sp>
        <p:nvSpPr>
          <p:cNvPr id="10" name="Text 7"/>
          <p:cNvSpPr/>
          <p:nvPr/>
        </p:nvSpPr>
        <p:spPr>
          <a:xfrm>
            <a:off x="566928" y="6437376"/>
            <a:ext cx="9686239" cy="256032"/>
          </a:xfrm>
          <a:prstGeom prst="rect">
            <a:avLst/>
          </a:prstGeom>
          <a:noFill/>
          <a:ln/>
        </p:spPr>
        <p:txBody>
          <a:bodyPr wrap="square" rtlCol="0" anchor="ctr"/>
          <a:lstStyle/>
          <a:p>
            <a:pPr indent="0" marL="0">
              <a:buNone/>
            </a:pPr>
            <a:r>
              <a:rPr lang="en-US" sz="850" b="1" spc="50" kern="0" dirty="0">
                <a:solidFill>
                  <a:srgbClr val="5B6B7F"/>
                </a:solidFill>
                <a:latin typeface="Arial" pitchFamily="34" charset="0"/>
                <a:ea typeface="Arial" pitchFamily="34" charset="-122"/>
                <a:cs typeface="Arial" pitchFamily="34" charset="-120"/>
              </a:rPr>
              <a:t>GIẢI PHÁP TIỀN GIÁM ĐỊNH · ĐÀO TẠO NGƯỜI DÙNG</a:t>
            </a:r>
            <a:endParaRPr lang="en-US" sz="850" dirty="0"/>
          </a:p>
        </p:txBody>
      </p:sp>
      <p:sp>
        <p:nvSpPr>
          <p:cNvPr id="11" name="Text 8"/>
          <p:cNvSpPr/>
          <p:nvPr/>
        </p:nvSpPr>
        <p:spPr>
          <a:xfrm>
            <a:off x="10253167" y="6437376"/>
            <a:ext cx="1371600" cy="256032"/>
          </a:xfrm>
          <a:prstGeom prst="rect">
            <a:avLst/>
          </a:prstGeom>
          <a:noFill/>
          <a:ln/>
        </p:spPr>
        <p:txBody>
          <a:bodyPr wrap="square" rtlCol="0" anchor="ctr"/>
          <a:lstStyle/>
          <a:p>
            <a:pPr algn="r" indent="0" marL="0">
              <a:buNone/>
            </a:pPr>
            <a:r>
              <a:rPr lang="en-US" sz="850" b="1" dirty="0">
                <a:solidFill>
                  <a:srgbClr val="5B6B7F"/>
                </a:solidFill>
                <a:latin typeface="Arial" pitchFamily="34" charset="0"/>
                <a:ea typeface="Arial" pitchFamily="34" charset="-122"/>
                <a:cs typeface="Arial" pitchFamily="34" charset="-120"/>
              </a:rPr>
              <a:t>79 / 80</a:t>
            </a:r>
            <a:endParaRPr lang="en-US" sz="8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A9FD8"/>
          </a:solidFill>
          <a:ln w="12700">
            <a:solidFill>
              <a:srgbClr val="2A9FD8"/>
            </a:solidFill>
            <a:prstDash val="solid"/>
          </a:ln>
        </p:spPr>
      </p:sp>
      <p:sp>
        <p:nvSpPr>
          <p:cNvPr id="3" name="Text 1"/>
          <p:cNvSpPr/>
          <p:nvPr/>
        </p:nvSpPr>
        <p:spPr>
          <a:xfrm>
            <a:off x="822960" y="1097280"/>
            <a:ext cx="10545775" cy="73152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Tóm lại — năm điều mang về</a:t>
            </a:r>
            <a:endParaRPr lang="en-US" sz="3200" dirty="0"/>
          </a:p>
        </p:txBody>
      </p:sp>
      <p:sp>
        <p:nvSpPr>
          <p:cNvPr id="4" name="Shape 2"/>
          <p:cNvSpPr/>
          <p:nvPr/>
        </p:nvSpPr>
        <p:spPr>
          <a:xfrm>
            <a:off x="822960" y="1920240"/>
            <a:ext cx="2926080" cy="0"/>
          </a:xfrm>
          <a:prstGeom prst="line">
            <a:avLst/>
          </a:prstGeom>
          <a:noFill/>
          <a:ln w="38100">
            <a:solidFill>
              <a:srgbClr val="2A9FD8"/>
            </a:solidFill>
            <a:prstDash val="solid"/>
          </a:ln>
        </p:spPr>
      </p:sp>
      <p:sp>
        <p:nvSpPr>
          <p:cNvPr id="5" name="Text 3"/>
          <p:cNvSpPr/>
          <p:nvPr/>
        </p:nvSpPr>
        <p:spPr>
          <a:xfrm>
            <a:off x="822960" y="2240280"/>
            <a:ext cx="10545775" cy="2743200"/>
          </a:xfrm>
          <a:prstGeom prst="rect">
            <a:avLst/>
          </a:prstGeom>
          <a:noFill/>
          <a:ln/>
        </p:spPr>
        <p:txBody>
          <a:bodyPr wrap="square" rtlCol="0" anchor="t"/>
          <a:lstStyle/>
          <a:p>
            <a:pPr marL="342900" indent="-342900">
              <a:lnSpc>
                <a:spcPts val="2400"/>
              </a:lnSpc>
              <a:spcAft>
                <a:spcPts val="1200"/>
              </a:spcAft>
              <a:buSzPct val="100000"/>
              <a:buChar char="▪"/>
            </a:pPr>
            <a:r>
              <a:rPr lang="en-US" sz="1600" dirty="0">
                <a:solidFill>
                  <a:srgbClr val="DCE9F5"/>
                </a:solidFill>
                <a:latin typeface="Arial" pitchFamily="34" charset="0"/>
                <a:ea typeface="Arial" pitchFamily="34" charset="-122"/>
                <a:cs typeface="Arial" pitchFamily="34" charset="-120"/>
              </a:rPr>
              <a:t>Tiền giám định là điểm kiểm soát trước khi ký số và gửi cổng — lỗi phải sửa tại đơn vị phát sinh, trên HIS.</a:t>
            </a:r>
            <a:endParaRPr lang="en-US" sz="1600" dirty="0"/>
          </a:p>
          <a:p>
            <a:pPr marL="342900" indent="-342900">
              <a:lnSpc>
                <a:spcPts val="2400"/>
              </a:lnSpc>
              <a:spcAft>
                <a:spcPts val="1200"/>
              </a:spcAft>
              <a:buSzPct val="100000"/>
              <a:buChar char="▪"/>
            </a:pPr>
            <a:r>
              <a:rPr lang="en-US" sz="1600" dirty="0">
                <a:solidFill>
                  <a:srgbClr val="DCE9F5"/>
                </a:solidFill>
                <a:latin typeface="Arial" pitchFamily="34" charset="0"/>
                <a:ea typeface="Arial" pitchFamily="34" charset="-122"/>
                <a:cs typeface="Arial" pitchFamily="34" charset="-120"/>
              </a:rPr>
              <a:t>Năm bước: Nạp hồ sơ → Kiểm tra dữ liệu → Ký số → Gửi cổng → Theo dõi kết quả. Sửa xong phải nạp lại.</a:t>
            </a:r>
            <a:endParaRPr lang="en-US" sz="1600" dirty="0"/>
          </a:p>
          <a:p>
            <a:pPr marL="342900" indent="-342900">
              <a:lnSpc>
                <a:spcPts val="2400"/>
              </a:lnSpc>
              <a:spcAft>
                <a:spcPts val="1200"/>
              </a:spcAft>
              <a:buSzPct val="100000"/>
              <a:buChar char="▪"/>
            </a:pPr>
            <a:r>
              <a:rPr lang="en-US" sz="1600" dirty="0">
                <a:solidFill>
                  <a:srgbClr val="DCE9F5"/>
                </a:solidFill>
                <a:latin typeface="Arial" pitchFamily="34" charset="0"/>
                <a:ea typeface="Arial" pitchFamily="34" charset="-122"/>
                <a:cs typeface="Arial" pitchFamily="34" charset="-120"/>
              </a:rPr>
              <a:t>Lỗi Nghiêm trọng chặn hồ sơ; "Bỏ qua" là vĩnh viễn và luôn phải ghi lý do.</a:t>
            </a:r>
            <a:endParaRPr lang="en-US" sz="1600" dirty="0"/>
          </a:p>
          <a:p>
            <a:pPr marL="342900" indent="-342900">
              <a:lnSpc>
                <a:spcPts val="2400"/>
              </a:lnSpc>
              <a:spcAft>
                <a:spcPts val="1200"/>
              </a:spcAft>
              <a:buSzPct val="100000"/>
              <a:buChar char="▪"/>
            </a:pPr>
            <a:r>
              <a:rPr lang="en-US" sz="1600" dirty="0">
                <a:solidFill>
                  <a:srgbClr val="DCE9F5"/>
                </a:solidFill>
                <a:latin typeface="Arial" pitchFamily="34" charset="0"/>
                <a:ea typeface="Arial" pitchFamily="34" charset="-122"/>
                <a:cs typeface="Arial" pitchFamily="34" charset="-120"/>
              </a:rPr>
              <a:t>Cổng nhận là nhận thật. Chứng từ điện tử gửi hai lần là hai chứng từ.</a:t>
            </a:r>
            <a:endParaRPr lang="en-US" sz="1600" dirty="0"/>
          </a:p>
          <a:p>
            <a:pPr marL="342900" indent="-342900">
              <a:lnSpc>
                <a:spcPts val="2400"/>
              </a:lnSpc>
              <a:spcAft>
                <a:spcPts val="1200"/>
              </a:spcAft>
              <a:buSzPct val="100000"/>
              <a:buChar char="▪"/>
            </a:pPr>
            <a:r>
              <a:rPr lang="en-US" sz="1600" dirty="0">
                <a:solidFill>
                  <a:srgbClr val="DCE9F5"/>
                </a:solidFill>
                <a:latin typeface="Arial" pitchFamily="34" charset="0"/>
                <a:ea typeface="Arial" pitchFamily="34" charset="-122"/>
                <a:cs typeface="Arial" pitchFamily="34" charset="-120"/>
              </a:rPr>
              <a:t>Đủ ngưỡng tiền cùng chi trả mới là một nửa điều kiện miễn; luôn đọc mốc "tính đến …".</a:t>
            </a:r>
            <a:endParaRPr lang="en-US" sz="1600" dirty="0"/>
          </a:p>
        </p:txBody>
      </p:sp>
      <p:sp>
        <p:nvSpPr>
          <p:cNvPr id="6" name="Text 4"/>
          <p:cNvSpPr/>
          <p:nvPr/>
        </p:nvSpPr>
        <p:spPr>
          <a:xfrm>
            <a:off x="822960" y="5394960"/>
            <a:ext cx="10545775" cy="822960"/>
          </a:xfrm>
          <a:prstGeom prst="rect">
            <a:avLst/>
          </a:prstGeom>
          <a:noFill/>
          <a:ln/>
        </p:spPr>
        <p:txBody>
          <a:bodyPr wrap="square" rtlCol="0" anchor="ctr"/>
          <a:lstStyle/>
          <a:p>
            <a:pPr indent="0" marL="0">
              <a:lnSpc>
                <a:spcPts val="2000"/>
              </a:lnSpc>
              <a:buNone/>
            </a:pPr>
            <a:r>
              <a:rPr lang="en-US" sz="1300" dirty="0">
                <a:solidFill>
                  <a:srgbClr val="A9C4DC"/>
                </a:solidFill>
                <a:latin typeface="Arial" pitchFamily="34" charset="0"/>
                <a:ea typeface="Arial" pitchFamily="34" charset="-122"/>
                <a:cs typeface="Arial" pitchFamily="34" charset="-120"/>
              </a:rPr>
              <a:t>Tra cứu chi tiết: HDSD XML3176 – OrderCheck – Thẻ BHYT – Danh mục (Phần I – VII, Phụ lục A, B) · HDSD tra cứu MCCT</a:t>
            </a:r>
            <a:endParaRPr lang="en-US" sz="1300" dirty="0"/>
          </a:p>
          <a:p>
            <a:pPr indent="0" marL="0">
              <a:lnSpc>
                <a:spcPts val="2000"/>
              </a:lnSpc>
              <a:buNone/>
            </a:pPr>
            <a:r>
              <a:rPr lang="en-US" sz="1300" dirty="0">
                <a:solidFill>
                  <a:srgbClr val="A9C4DC"/>
                </a:solidFill>
                <a:latin typeface="Arial" pitchFamily="34" charset="0"/>
                <a:ea typeface="Arial" pitchFamily="34" charset="-122"/>
                <a:cs typeface="Arial" pitchFamily="34" charset="-120"/>
              </a:rPr>
              <a:t>Hỗ trợ: Phòng Công nghệ thông tin — số máy lẻ: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80</Slides>
  <Notes>80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80</vt:i4>
      </vt:variant>
    </vt:vector>
  </HeadingPairs>
  <TitlesOfParts>
    <vt:vector size="8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vector>
  </TitlesOfParts>
  <Company>Phần mềm quản lý bệnh viện qlbv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Giải pháp Tiền giám định — Tài liệu đào tạo người dùng</dc:title>
  <dc:subject>Hướng dẫn sử dụng phần mềm qlbv cho các khoa lâm sàng và các phòng ban chức năng</dc:subject>
  <dc:creator>Phòng Công nghệ thông tin</dc:creator>
  <cp:lastModifiedBy>Phòng Công nghệ thông tin</cp:lastModifiedBy>
  <cp:revision>1</cp:revision>
  <dcterms:created xsi:type="dcterms:W3CDTF">2026-09-23T09:13:28Z</dcterms:created>
  <dcterms:modified xsi:type="dcterms:W3CDTF">2026-09-23T09:13:28Z</dcterms:modified>
</cp:coreProperties>
</file>